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</p:sldIdLst>
  <p:notesMasterIdLst>
    <p:notesMasterId r:id="rId8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notesMaster" Target="notesMasters/notesMaster1.xml"/><Relationship Id="rId87" Type="http://schemas.openxmlformats.org/officeDocument/2006/relationships/presProps" Target="presProps.xml"/><Relationship Id="rId88" Type="http://schemas.openxmlformats.org/officeDocument/2006/relationships/viewProps" Target="viewProps.xml"/><Relationship Id="rId89" Type="http://schemas.openxmlformats.org/officeDocument/2006/relationships/theme" Target="theme/theme1.xml"/><Relationship Id="rId9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unit. Each lesson has a section slide, key words, pictures, quick quizzes and an activity.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1: How does a digital device work?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objectives together. At the end of the lesson, come back to this slide and ask pupils to show thumbs up, sideways or down for each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digital device processes information; it does more than just on and off. Misconception: electrical does not mean digital. A torch or lamp only has on and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digital device processes information; it does more than just on and off. Misconception: electrical does not mean digital. A torch or lamp only has on and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Demonstrate in a word processor: type a letter and discuss what happens.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 animations: star or football becoming bigger; ×2; 2→4 then 5→7 shows there can be more than one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Try other numbers. Does the machine work with ANY number?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Try other numbers. Does the machine work with ANY number?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vote with fingers (1, 2, 3) or on mini whiteboards before the answer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vote with fingers (1, 2, 3) or on mini whiteboards before the answer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A3 Activity sheet – Processes. Suggest simple rules for support, like make a number bigger.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Inputs: keyboard, mouse/touchpad, on-off button, camera, microphone. Outputs: screen, speakers, status lights.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2: What parts make up a digital device?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objectives together. At the end of the lesson, come back to this slide and ask pupils to show thumbs up, sideways or down for each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Venn diagram answers: input—keyboard, mouse, microphone, pedestrian button. Output—speakers, monitor, printer, traffic lights. Both—touchscreen (also a multifunction printer). Neither—cable.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vote with fingers (1, 2, 3) or on mini whiteboards before the answer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vote with fingers (1, 2, 3) or on mini whiteboards before the answer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A2 Activity sheet. Support: focus on devices pupils can see in the classroom.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A3 Activity sheet. Pupils present inventions and explain input, process and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Explorer task: include multiple inputs and/or outputs.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vote with fingers (1, 2, 3) or on mini whiteboards before the answer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vote with fingers (1, 2, 3) or on mini whiteboards before the answer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3: How do digital devices help us?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objectives together. At the end of the lesson, come back to this slide and ask pupils to show thumbs up, sideways or down for each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make the same piece of art both ways. Use Paint, JS Paint, Paintz or Brushes Redux.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A1: What can you use a digital device for? Ask pupils to add their own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Digital tools: brush, fill, undo, redo. Ideally split over an art lesson and a computing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 review: which did you prefer? How did you fix mistakes? What input devices did you use?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vote with fingers (1, 2, 3) or on mini whiteboards before the answer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vote with fingers (1, 2, 3) or on mini whiteboards before the answer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Example: I can edit my story, change the font, use spell check, and save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4: How am I connected?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objectives together. At the end of the lesson, come back to this slide and ask pupils to show thumbs up, sideways or down for each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Net + work: the connections help us work together. A1 My connections sheet: names or drawings of 5–10 people, then add extra lines in a second colour.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A1 Activity sheet – My connections. Scaffold: imagine you have good news—who would you tell?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Explorer task: discuss different ways of passing a message around the network.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A2 Activity sheet. Remind pupils to be patient. Seat in the middle gets more messages; repeat with swapped seats.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Discussion: What is working well? What is frustrating?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Nominate one pupil to be the switch. Pass a message from the earlier activity through the switch.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vote with fingers (1, 2, 3) or on mini whiteboards before the answer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vote with fingers (1, 2, 3) or on mini whiteboards before the answer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Plenary think-pair-share.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5: How are computers connected?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objectives together. At the end of the lesson, come back to this slide and ask pupils to show thumbs up, sideways or down for each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play: string represents wires. Follow the journey of a file from computer 1 to the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where is the file? On the server. Which computers can use it? Any on the network. Does it matter if computer 1 is switched off? 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vote with fingers (1, 2, 3) or on mini whiteboards before the answer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vote with fingers (1, 2, 3) or on mini whiteboards before the answer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Misconception: Wi-Fi is not the internet. It is just a way of connecting to a network.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steps: wireless device → WAP → switch → server → switch → WAP → wireless device.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vote with fingers (1, 2, 3) or on mini whiteboards before the answer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vote with fingers (1, 2, 3) or on mini whiteboards before the answer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Plenary matching activity. The Year 3 hub has a Match the Columns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6: What does our school network look like?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objectives together. At the end of the lesson, come back to this slide and ask pupils to show thumbs up, sideways or down for each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introduce Ethernet cable and socket as the proper names.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 discussion: What does the school network let us do? Why is it useful for more than one person to see information?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Support: turn it into an I-spy game, scavenger hunt or tally chart. Explorer: what is each device’s job? Is it vital or optional?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A2 Activity sheet – Scavenger hunt.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A3 Mapping a network. Show how switch, server, printer, desktop computers and wireless devices connect.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Plenary slides 10–11. Links to the Year 4 unit The Internet.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vote with fingers (1, 2, 3) or on mini whiteboards before the answer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vote with fingers (1, 2, 3) or on mini whiteboards before the answer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★: Unit review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vote with fingers (1, 2, 3) or on mini whiteboards before the answer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vote with fingers (1, 2, 3) or on mini whiteboards before the answer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vote with fingers (1, 2, 3) or on mini whiteboards before the answer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vote with fingers (1, 2, 3) or on mini whiteboards before the answer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vote with fingers (1, 2, 3) or on mini whiteboards before the answer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vote with fingers (1, 2, 3) or on mini whiteboards before the answer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vote with fingers (1, 2, 3) or on mini whiteboards before the answer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vote with fingers (1, 2, 3) or on mini whiteboards before the answer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vote with fingers (1, 2, 3) or on mini whiteboards before the answer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vote with fingers (1, 2, 3) or on mini whiteboards before the answer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Pupils hold up 1, 2 or 3 fingers for each statement.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png"/><Relationship Id="rId4" Type="http://schemas.openxmlformats.org/officeDocument/2006/relationships/image" Target="../media/image-5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image" Target="../media/image-6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image" Target="../media/image-63-3.png"/><Relationship Id="rId4" Type="http://schemas.openxmlformats.org/officeDocument/2006/relationships/image" Target="../media/image-6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image" Target="../media/image-65-3.png"/><Relationship Id="rId4" Type="http://schemas.openxmlformats.org/officeDocument/2006/relationships/image" Target="../media/image-6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image" Target="../media/image-83-3.png"/><Relationship Id="rId4" Type="http://schemas.openxmlformats.org/officeDocument/2006/relationships/image" Target="../media/image-83-4.png"/><Relationship Id="rId5" Type="http://schemas.openxmlformats.org/officeDocument/2006/relationships/image" Target="../media/image-83-5.png"/><Relationship Id="rId6" Type="http://schemas.openxmlformats.org/officeDocument/2006/relationships/image" Target="../media/image-83-6.png"/><Relationship Id="rId7" Type="http://schemas.openxmlformats.org/officeDocument/2006/relationships/image" Target="../media/image-83-7.png"/><Relationship Id="rId8" Type="http://schemas.openxmlformats.org/officeDocument/2006/relationships/image" Target="../media/image-83-8.png"/><Relationship Id="rId9" Type="http://schemas.openxmlformats.org/officeDocument/2006/relationships/image" Target="../media/image-83-9.png"/><Relationship Id="rId10" Type="http://schemas.openxmlformats.org/officeDocument/2006/relationships/image" Target="../media/image-83-10.png"/><Relationship Id="rId11" Type="http://schemas.openxmlformats.org/officeDocument/2006/relationships/image" Target="../media/image-83-11.png"/><Relationship Id="rId12" Type="http://schemas.openxmlformats.org/officeDocument/2006/relationships/image" Target="../media/image-83-12.png"/><Relationship Id="rId13" Type="http://schemas.openxmlformats.org/officeDocument/2006/relationships/image" Target="../media/image-83-13.png"/><Relationship Id="rId14" Type="http://schemas.openxmlformats.org/officeDocument/2006/relationships/image" Target="../media/image-83-14.png"/><Relationship Id="rId15" Type="http://schemas.openxmlformats.org/officeDocument/2006/relationships/image" Target="../media/image-83-15.png"/><Relationship Id="rId16" Type="http://schemas.openxmlformats.org/officeDocument/2006/relationships/slideLayout" Target="../slideLayouts/slideLayout3.xml"/><Relationship Id="rId17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image" Target="../media/image-84-3.png"/><Relationship Id="rId4" Type="http://schemas.openxmlformats.org/officeDocument/2006/relationships/image" Target="../media/image-8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 1"/>
          <p:cNvSpPr/>
          <p:nvPr/>
        </p:nvSpPr>
        <p:spPr>
          <a:xfrm>
            <a:off x="6035040" y="457200"/>
            <a:ext cx="3840480" cy="3840480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" name="Blob 2"/>
          <p:cNvSpPr/>
          <p:nvPr/>
        </p:nvSpPr>
        <p:spPr>
          <a:xfrm>
            <a:off x="7223760" y="2926080"/>
            <a:ext cx="2926080" cy="2926080"/>
          </a:xfrm>
          <a:prstGeom prst="ellipse">
            <a:avLst/>
          </a:prstGeom>
          <a:solidFill>
            <a:srgbClr val="3D3470"/>
          </a:solidFill>
          <a:ln w="12700">
            <a:solidFill>
              <a:srgbClr val="3D3470"/>
            </a:solidFill>
            <a:prstDash val="solid"/>
          </a:ln>
        </p:spPr>
      </p:sp>
      <p:sp>
        <p:nvSpPr>
          <p:cNvPr id="4" name="Text 3"/>
          <p:cNvSpPr txBox="1"/>
          <p:nvPr/>
        </p:nvSpPr>
        <p:spPr>
          <a:xfrm>
            <a:off x="548640" y="1188720"/>
            <a:ext cx="5669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Computers</a:t>
            </a:r>
            <a:endParaRPr lang="en-US" sz="4400" dirty="0"/>
          </a:p>
        </p:txBody>
      </p:sp>
      <p:sp>
        <p:nvSpPr>
          <p:cNvPr id="5" name="Text 4"/>
          <p:cNvSpPr txBox="1"/>
          <p:nvPr/>
        </p:nvSpPr>
        <p:spPr>
          <a:xfrm>
            <a:off x="548640" y="310896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 · Computing systems and networks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D9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whole unit in one adventure!</a:t>
            </a:r>
            <a:endParaRPr lang="en-US" sz="2000" dirty="0"/>
          </a:p>
        </p:txBody>
      </p:sp>
      <p:pic>
        <p:nvPicPr>
          <p:cNvPr id="6" name="Icon 5" descr="Fa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685800"/>
            <a:ext cx="822960" cy="822960"/>
          </a:xfrm>
          <a:prstGeom prst="rect">
            <a:avLst/>
          </a:prstGeom>
        </p:spPr>
      </p:pic>
      <p:pic>
        <p:nvPicPr>
          <p:cNvPr id="7" name="Icon 6" descr="FaDesk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685800"/>
            <a:ext cx="822960" cy="822960"/>
          </a:xfrm>
          <a:prstGeom prst="rect">
            <a:avLst/>
          </a:prstGeom>
        </p:spPr>
      </p:pic>
      <p:pic>
        <p:nvPicPr>
          <p:cNvPr id="8" name="Icon 7" descr="FaNetworkWir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965960"/>
            <a:ext cx="822960" cy="822960"/>
          </a:xfrm>
          <a:prstGeom prst="rect">
            <a:avLst/>
          </a:prstGeom>
        </p:spPr>
      </p:pic>
      <p:pic>
        <p:nvPicPr>
          <p:cNvPr id="9" name="Icon 8" descr="FaWif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196596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9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" name="Text 1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adventure: 6 lessons</a:t>
            </a:r>
            <a:endParaRPr lang="en-US" sz="3000" dirty="0"/>
          </a:p>
        </p:txBody>
      </p:sp>
      <p:sp>
        <p:nvSpPr>
          <p:cNvPr id="4" name="Card 11"/>
          <p:cNvSpPr/>
          <p:nvPr/>
        </p:nvSpPr>
        <p:spPr>
          <a:xfrm>
            <a:off x="457200" y="118872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5" name="Dot 12"/>
          <p:cNvSpPr/>
          <p:nvPr/>
        </p:nvSpPr>
        <p:spPr>
          <a:xfrm>
            <a:off x="640080" y="1371600"/>
            <a:ext cx="640080" cy="64008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con 13" descr="Fa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527048"/>
            <a:ext cx="329184" cy="329184"/>
          </a:xfrm>
          <a:prstGeom prst="rect">
            <a:avLst/>
          </a:prstGeom>
        </p:spPr>
      </p:pic>
      <p:sp>
        <p:nvSpPr>
          <p:cNvPr id="7" name="Text 14"/>
          <p:cNvSpPr txBox="1"/>
          <p:nvPr/>
        </p:nvSpPr>
        <p:spPr>
          <a:xfrm>
            <a:off x="1417320" y="1325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How does a digital device work?</a:t>
            </a:r>
            <a:endParaRPr lang="en-US" sz="2000" dirty="0"/>
          </a:p>
        </p:txBody>
      </p:sp>
      <p:sp>
        <p:nvSpPr>
          <p:cNvPr id="8" name="Text 15"/>
          <p:cNvSpPr txBox="1"/>
          <p:nvPr/>
        </p:nvSpPr>
        <p:spPr>
          <a:xfrm>
            <a:off x="640080" y="21031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Input, process, output</a:t>
            </a:r>
            <a:endParaRPr lang="en-US" sz="1700" dirty="0"/>
          </a:p>
        </p:txBody>
      </p:sp>
      <p:sp>
        <p:nvSpPr>
          <p:cNvPr id="9" name="Card 16"/>
          <p:cNvSpPr/>
          <p:nvPr/>
        </p:nvSpPr>
        <p:spPr>
          <a:xfrm>
            <a:off x="3246120" y="118872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17"/>
          <p:cNvSpPr/>
          <p:nvPr/>
        </p:nvSpPr>
        <p:spPr>
          <a:xfrm>
            <a:off x="3429000" y="1371600"/>
            <a:ext cx="640080" cy="640080"/>
          </a:xfrm>
          <a:prstGeom prst="ellipse">
            <a:avLst/>
          </a:prstGeom>
          <a:solidFill>
            <a:srgbClr val="FF5C8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con 18" descr="FaM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1527048"/>
            <a:ext cx="329184" cy="329184"/>
          </a:xfrm>
          <a:prstGeom prst="rect">
            <a:avLst/>
          </a:prstGeom>
        </p:spPr>
      </p:pic>
      <p:sp>
        <p:nvSpPr>
          <p:cNvPr id="12" name="Text 19"/>
          <p:cNvSpPr txBox="1"/>
          <p:nvPr/>
        </p:nvSpPr>
        <p:spPr>
          <a:xfrm>
            <a:off x="4206240" y="1325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What parts make up a device?</a:t>
            </a:r>
            <a:endParaRPr lang="en-US" sz="2000" dirty="0"/>
          </a:p>
        </p:txBody>
      </p:sp>
      <p:sp>
        <p:nvSpPr>
          <p:cNvPr id="13" name="Text 20"/>
          <p:cNvSpPr txBox="1"/>
          <p:nvPr/>
        </p:nvSpPr>
        <p:spPr>
          <a:xfrm>
            <a:off x="3429000" y="21031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and output devices</a:t>
            </a:r>
            <a:endParaRPr lang="en-US" sz="1700" dirty="0"/>
          </a:p>
        </p:txBody>
      </p:sp>
      <p:sp>
        <p:nvSpPr>
          <p:cNvPr id="14" name="Card 21"/>
          <p:cNvSpPr/>
          <p:nvPr/>
        </p:nvSpPr>
        <p:spPr>
          <a:xfrm>
            <a:off x="6035040" y="118872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5" name="Dot 22"/>
          <p:cNvSpPr/>
          <p:nvPr/>
        </p:nvSpPr>
        <p:spPr>
          <a:xfrm>
            <a:off x="6217920" y="1371600"/>
            <a:ext cx="640080" cy="640080"/>
          </a:xfrm>
          <a:prstGeom prst="ellipse">
            <a:avLst/>
          </a:prstGeom>
          <a:solidFill>
            <a:srgbClr val="4DA3E0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con 23" descr="FaPaintBru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527048"/>
            <a:ext cx="329184" cy="329184"/>
          </a:xfrm>
          <a:prstGeom prst="rect">
            <a:avLst/>
          </a:prstGeom>
        </p:spPr>
      </p:pic>
      <p:sp>
        <p:nvSpPr>
          <p:cNvPr id="17" name="Text 24"/>
          <p:cNvSpPr txBox="1"/>
          <p:nvPr/>
        </p:nvSpPr>
        <p:spPr>
          <a:xfrm>
            <a:off x="6995160" y="1325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D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How do devices help us?</a:t>
            </a:r>
            <a:endParaRPr lang="en-US" sz="2000" dirty="0"/>
          </a:p>
        </p:txBody>
      </p:sp>
      <p:sp>
        <p:nvSpPr>
          <p:cNvPr id="18" name="Text 25"/>
          <p:cNvSpPr txBox="1"/>
          <p:nvPr/>
        </p:nvSpPr>
        <p:spPr>
          <a:xfrm>
            <a:off x="6217920" y="21031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and non-digital tools</a:t>
            </a:r>
            <a:endParaRPr lang="en-US" sz="1700" dirty="0"/>
          </a:p>
        </p:txBody>
      </p:sp>
      <p:sp>
        <p:nvSpPr>
          <p:cNvPr id="19" name="Card 26"/>
          <p:cNvSpPr/>
          <p:nvPr/>
        </p:nvSpPr>
        <p:spPr>
          <a:xfrm>
            <a:off x="457200" y="306324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20" name="Dot 27"/>
          <p:cNvSpPr/>
          <p:nvPr/>
        </p:nvSpPr>
        <p:spPr>
          <a:xfrm>
            <a:off x="640080" y="3246120"/>
            <a:ext cx="640080" cy="640080"/>
          </a:xfrm>
          <a:prstGeom prst="ellipse">
            <a:avLst/>
          </a:prstGeom>
          <a:solidFill>
            <a:srgbClr val="1FB89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con 28" descr="FaUserFriend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3401568"/>
            <a:ext cx="329184" cy="329184"/>
          </a:xfrm>
          <a:prstGeom prst="rect">
            <a:avLst/>
          </a:prstGeom>
        </p:spPr>
      </p:pic>
      <p:sp>
        <p:nvSpPr>
          <p:cNvPr id="22" name="Text 29"/>
          <p:cNvSpPr txBox="1"/>
          <p:nvPr/>
        </p:nvSpPr>
        <p:spPr>
          <a:xfrm>
            <a:off x="1417320" y="32004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B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How am I connected?</a:t>
            </a:r>
            <a:endParaRPr lang="en-US" sz="2000" dirty="0"/>
          </a:p>
        </p:txBody>
      </p:sp>
      <p:sp>
        <p:nvSpPr>
          <p:cNvPr id="23" name="Text 30"/>
          <p:cNvSpPr txBox="1"/>
          <p:nvPr/>
        </p:nvSpPr>
        <p:spPr>
          <a:xfrm>
            <a:off x="640080" y="39776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and networks</a:t>
            </a:r>
            <a:endParaRPr lang="en-US" sz="1700" dirty="0"/>
          </a:p>
        </p:txBody>
      </p:sp>
      <p:sp>
        <p:nvSpPr>
          <p:cNvPr id="24" name="Card 31"/>
          <p:cNvSpPr/>
          <p:nvPr/>
        </p:nvSpPr>
        <p:spPr>
          <a:xfrm>
            <a:off x="3246120" y="306324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25" name="Dot 32"/>
          <p:cNvSpPr/>
          <p:nvPr/>
        </p:nvSpPr>
        <p:spPr>
          <a:xfrm>
            <a:off x="3429000" y="3246120"/>
            <a:ext cx="640080" cy="640080"/>
          </a:xfrm>
          <a:prstGeom prst="ellipse">
            <a:avLst/>
          </a:prstGeom>
          <a:solidFill>
            <a:srgbClr val="6C63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6" name="Icon 33" descr="FaServ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4448" y="3401568"/>
            <a:ext cx="329184" cy="329184"/>
          </a:xfrm>
          <a:prstGeom prst="rect">
            <a:avLst/>
          </a:prstGeom>
        </p:spPr>
      </p:pic>
      <p:sp>
        <p:nvSpPr>
          <p:cNvPr id="27" name="Text 34"/>
          <p:cNvSpPr txBox="1"/>
          <p:nvPr/>
        </p:nvSpPr>
        <p:spPr>
          <a:xfrm>
            <a:off x="4206240" y="32004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How are computers connected?</a:t>
            </a:r>
            <a:endParaRPr lang="en-US" sz="2000" dirty="0"/>
          </a:p>
        </p:txBody>
      </p:sp>
      <p:sp>
        <p:nvSpPr>
          <p:cNvPr id="28" name="Text 35"/>
          <p:cNvSpPr txBox="1"/>
          <p:nvPr/>
        </p:nvSpPr>
        <p:spPr>
          <a:xfrm>
            <a:off x="3429000" y="39776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Switch, server and Wi-Fi</a:t>
            </a:r>
            <a:endParaRPr lang="en-US" sz="1700" dirty="0"/>
          </a:p>
        </p:txBody>
      </p:sp>
      <p:sp>
        <p:nvSpPr>
          <p:cNvPr id="29" name="Card 36"/>
          <p:cNvSpPr/>
          <p:nvPr/>
        </p:nvSpPr>
        <p:spPr>
          <a:xfrm>
            <a:off x="6035040" y="306324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30" name="Dot 37"/>
          <p:cNvSpPr/>
          <p:nvPr/>
        </p:nvSpPr>
        <p:spPr>
          <a:xfrm>
            <a:off x="6217920" y="3246120"/>
            <a:ext cx="640080" cy="64008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1" name="Icon 38" descr="FaSchoo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3401568"/>
            <a:ext cx="329184" cy="329184"/>
          </a:xfrm>
          <a:prstGeom prst="rect">
            <a:avLst/>
          </a:prstGeom>
        </p:spPr>
      </p:pic>
      <p:sp>
        <p:nvSpPr>
          <p:cNvPr id="32" name="Text 39"/>
          <p:cNvSpPr txBox="1"/>
          <p:nvPr/>
        </p:nvSpPr>
        <p:spPr>
          <a:xfrm>
            <a:off x="6995160" y="32004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Our school network</a:t>
            </a:r>
            <a:endParaRPr lang="en-US" sz="2000" dirty="0"/>
          </a:p>
        </p:txBody>
      </p:sp>
      <p:sp>
        <p:nvSpPr>
          <p:cNvPr id="33" name="Text 40"/>
          <p:cNvSpPr txBox="1"/>
          <p:nvPr/>
        </p:nvSpPr>
        <p:spPr>
          <a:xfrm>
            <a:off x="6217920" y="39776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tour and a map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41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FF9A3D"/>
          </a:solidFill>
          <a:ln w="12700">
            <a:solidFill>
              <a:srgbClr val="FF9A3D"/>
            </a:solidFill>
            <a:prstDash val="solid"/>
          </a:ln>
        </p:spPr>
      </p:sp>
      <p:sp>
        <p:nvSpPr>
          <p:cNvPr id="3" name="Text 42"/>
          <p:cNvSpPr txBox="1"/>
          <p:nvPr/>
        </p:nvSpPr>
        <p:spPr>
          <a:xfrm>
            <a:off x="914400" y="822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D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</a:t>
            </a:r>
            <a:endParaRPr lang="en-US" sz="2000" dirty="0"/>
          </a:p>
        </p:txBody>
      </p:sp>
      <p:sp>
        <p:nvSpPr>
          <p:cNvPr id="4" name="Text 43"/>
          <p:cNvSpPr txBox="1"/>
          <p:nvPr/>
        </p:nvSpPr>
        <p:spPr>
          <a:xfrm>
            <a:off x="914400" y="137160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a digital device work?</a:t>
            </a:r>
            <a:endParaRPr lang="en-US" sz="3800" dirty="0"/>
          </a:p>
        </p:txBody>
      </p:sp>
      <p:sp>
        <p:nvSpPr>
          <p:cNvPr id="5" name="Text 44"/>
          <p:cNvSpPr txBox="1"/>
          <p:nvPr/>
        </p:nvSpPr>
        <p:spPr>
          <a:xfrm>
            <a:off x="914400" y="338328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D9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all digital devices have in common?</a:t>
            </a:r>
            <a:endParaRPr lang="en-US" sz="2000" dirty="0"/>
          </a:p>
        </p:txBody>
      </p:sp>
      <p:sp>
        <p:nvSpPr>
          <p:cNvPr id="6" name="Blob 45"/>
          <p:cNvSpPr/>
          <p:nvPr/>
        </p:nvSpPr>
        <p:spPr>
          <a:xfrm>
            <a:off x="6766560" y="1188720"/>
            <a:ext cx="2011680" cy="201168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9A3D"/>
            </a:solidFill>
            <a:prstDash val="solid"/>
          </a:ln>
        </p:spPr>
      </p:sp>
      <p:pic>
        <p:nvPicPr>
          <p:cNvPr id="7" name="Icon 46" descr="Fa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69164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47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FF9A3D"/>
          </a:solidFill>
          <a:ln w="12700">
            <a:solidFill>
              <a:srgbClr val="FF9A3D"/>
            </a:solidFill>
            <a:prstDash val="solid"/>
          </a:ln>
        </p:spPr>
      </p:sp>
      <p:sp>
        <p:nvSpPr>
          <p:cNvPr id="3" name="Text 48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 can…</a:t>
            </a:r>
            <a:endParaRPr lang="en-US" sz="3000" dirty="0"/>
          </a:p>
        </p:txBody>
      </p:sp>
      <p:sp>
        <p:nvSpPr>
          <p:cNvPr id="4" name="Card 49"/>
          <p:cNvSpPr/>
          <p:nvPr/>
        </p:nvSpPr>
        <p:spPr>
          <a:xfrm>
            <a:off x="457200" y="1234440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5" name="Dot 50"/>
          <p:cNvSpPr/>
          <p:nvPr/>
        </p:nvSpPr>
        <p:spPr>
          <a:xfrm>
            <a:off x="640080" y="1389888"/>
            <a:ext cx="603504" cy="603504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con 51" descr="Fa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536192"/>
            <a:ext cx="310896" cy="310896"/>
          </a:xfrm>
          <a:prstGeom prst="rect">
            <a:avLst/>
          </a:prstGeom>
        </p:spPr>
      </p:pic>
      <p:sp>
        <p:nvSpPr>
          <p:cNvPr id="7" name="Text 52"/>
          <p:cNvSpPr txBox="1"/>
          <p:nvPr/>
        </p:nvSpPr>
        <p:spPr>
          <a:xfrm>
            <a:off x="1463040" y="123444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that digital devices accept inputs</a:t>
            </a:r>
            <a:endParaRPr lang="en-US" sz="2000" dirty="0"/>
          </a:p>
        </p:txBody>
      </p:sp>
      <p:sp>
        <p:nvSpPr>
          <p:cNvPr id="8" name="Card 53"/>
          <p:cNvSpPr/>
          <p:nvPr/>
        </p:nvSpPr>
        <p:spPr>
          <a:xfrm>
            <a:off x="457200" y="2286000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9" name="Dot 54"/>
          <p:cNvSpPr/>
          <p:nvPr/>
        </p:nvSpPr>
        <p:spPr>
          <a:xfrm>
            <a:off x="640080" y="2441448"/>
            <a:ext cx="603504" cy="603504"/>
          </a:xfrm>
          <a:prstGeom prst="ellipse">
            <a:avLst/>
          </a:prstGeom>
          <a:solidFill>
            <a:srgbClr val="FF5C8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con 55" descr="FaDesk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2587752"/>
            <a:ext cx="310896" cy="310896"/>
          </a:xfrm>
          <a:prstGeom prst="rect">
            <a:avLst/>
          </a:prstGeom>
        </p:spPr>
      </p:pic>
      <p:sp>
        <p:nvSpPr>
          <p:cNvPr id="11" name="Text 56"/>
          <p:cNvSpPr txBox="1"/>
          <p:nvPr/>
        </p:nvSpPr>
        <p:spPr>
          <a:xfrm>
            <a:off x="1463040" y="228600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that digital devices produce outputs</a:t>
            </a:r>
            <a:endParaRPr lang="en-US" sz="2000" dirty="0"/>
          </a:p>
        </p:txBody>
      </p:sp>
      <p:sp>
        <p:nvSpPr>
          <p:cNvPr id="12" name="Card 57"/>
          <p:cNvSpPr/>
          <p:nvPr/>
        </p:nvSpPr>
        <p:spPr>
          <a:xfrm>
            <a:off x="457200" y="3337560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3" name="Dot 58"/>
          <p:cNvSpPr/>
          <p:nvPr/>
        </p:nvSpPr>
        <p:spPr>
          <a:xfrm>
            <a:off x="640080" y="3493008"/>
            <a:ext cx="603504" cy="603504"/>
          </a:xfrm>
          <a:prstGeom prst="ellipse">
            <a:avLst/>
          </a:prstGeom>
          <a:solidFill>
            <a:srgbClr val="4DA3E0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 59" descr="FaList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3639312"/>
            <a:ext cx="310896" cy="310896"/>
          </a:xfrm>
          <a:prstGeom prst="rect">
            <a:avLst/>
          </a:prstGeom>
        </p:spPr>
      </p:pic>
      <p:sp>
        <p:nvSpPr>
          <p:cNvPr id="15" name="Text 60"/>
          <p:cNvSpPr txBox="1"/>
          <p:nvPr/>
        </p:nvSpPr>
        <p:spPr>
          <a:xfrm>
            <a:off x="1463040" y="333756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follow a process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61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FF9A3D"/>
          </a:solidFill>
          <a:ln w="12700">
            <a:solidFill>
              <a:srgbClr val="FF9A3D"/>
            </a:solidFill>
            <a:prstDash val="solid"/>
          </a:ln>
        </p:spPr>
      </p:sp>
      <p:sp>
        <p:nvSpPr>
          <p:cNvPr id="3" name="Text 62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</a:t>
            </a:r>
            <a:endParaRPr lang="en-US" sz="3000" dirty="0"/>
          </a:p>
        </p:txBody>
      </p:sp>
      <p:sp>
        <p:nvSpPr>
          <p:cNvPr id="4" name="Card 63"/>
          <p:cNvSpPr/>
          <p:nvPr/>
        </p:nvSpPr>
        <p:spPr>
          <a:xfrm>
            <a:off x="457200" y="1188720"/>
            <a:ext cx="41148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5" name="Dot 64"/>
          <p:cNvSpPr/>
          <p:nvPr/>
        </p:nvSpPr>
        <p:spPr>
          <a:xfrm>
            <a:off x="640080" y="1371600"/>
            <a:ext cx="731520" cy="73152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con 65" descr="FaTablet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1545336"/>
            <a:ext cx="384048" cy="384048"/>
          </a:xfrm>
          <a:prstGeom prst="rect">
            <a:avLst/>
          </a:prstGeom>
        </p:spPr>
      </p:pic>
      <p:sp>
        <p:nvSpPr>
          <p:cNvPr id="7" name="Text 66"/>
          <p:cNvSpPr txBox="1"/>
          <p:nvPr/>
        </p:nvSpPr>
        <p:spPr>
          <a:xfrm>
            <a:off x="1554480" y="1325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device</a:t>
            </a:r>
            <a:endParaRPr lang="en-US" sz="2400" dirty="0"/>
          </a:p>
        </p:txBody>
      </p:sp>
      <p:sp>
        <p:nvSpPr>
          <p:cNvPr id="8" name="Text 67"/>
          <p:cNvSpPr txBox="1"/>
          <p:nvPr/>
        </p:nvSpPr>
        <p:spPr>
          <a:xfrm>
            <a:off x="1554480" y="1828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that can process information, not just switch on and off</a:t>
            </a:r>
            <a:endParaRPr lang="en-US" sz="1800" dirty="0"/>
          </a:p>
        </p:txBody>
      </p:sp>
      <p:sp>
        <p:nvSpPr>
          <p:cNvPr id="9" name="Card 68"/>
          <p:cNvSpPr/>
          <p:nvPr/>
        </p:nvSpPr>
        <p:spPr>
          <a:xfrm>
            <a:off x="4663440" y="1188720"/>
            <a:ext cx="41148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69"/>
          <p:cNvSpPr/>
          <p:nvPr/>
        </p:nvSpPr>
        <p:spPr>
          <a:xfrm>
            <a:off x="4846320" y="1371600"/>
            <a:ext cx="731520" cy="731520"/>
          </a:xfrm>
          <a:prstGeom prst="ellipse">
            <a:avLst/>
          </a:prstGeom>
          <a:solidFill>
            <a:srgbClr val="FF5C8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con 70" descr="FaKey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0056" y="1545336"/>
            <a:ext cx="384048" cy="384048"/>
          </a:xfrm>
          <a:prstGeom prst="rect">
            <a:avLst/>
          </a:prstGeom>
        </p:spPr>
      </p:pic>
      <p:sp>
        <p:nvSpPr>
          <p:cNvPr id="12" name="Text 71"/>
          <p:cNvSpPr txBox="1"/>
          <p:nvPr/>
        </p:nvSpPr>
        <p:spPr>
          <a:xfrm>
            <a:off x="5760720" y="1325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2400" dirty="0"/>
          </a:p>
        </p:txBody>
      </p:sp>
      <p:sp>
        <p:nvSpPr>
          <p:cNvPr id="13" name="Text 72"/>
          <p:cNvSpPr txBox="1"/>
          <p:nvPr/>
        </p:nvSpPr>
        <p:spPr>
          <a:xfrm>
            <a:off x="5760720" y="1828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put IN to a device</a:t>
            </a:r>
            <a:endParaRPr lang="en-US" sz="1800" dirty="0"/>
          </a:p>
        </p:txBody>
      </p:sp>
      <p:sp>
        <p:nvSpPr>
          <p:cNvPr id="14" name="Card 73"/>
          <p:cNvSpPr/>
          <p:nvPr/>
        </p:nvSpPr>
        <p:spPr>
          <a:xfrm>
            <a:off x="457200" y="3108960"/>
            <a:ext cx="41148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5" name="Dot 74"/>
          <p:cNvSpPr/>
          <p:nvPr/>
        </p:nvSpPr>
        <p:spPr>
          <a:xfrm>
            <a:off x="640080" y="3291840"/>
            <a:ext cx="731520" cy="731520"/>
          </a:xfrm>
          <a:prstGeom prst="ellipse">
            <a:avLst/>
          </a:prstGeom>
          <a:solidFill>
            <a:srgbClr val="4DA3E0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con 75" descr="FaCo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3465576"/>
            <a:ext cx="384048" cy="384048"/>
          </a:xfrm>
          <a:prstGeom prst="rect">
            <a:avLst/>
          </a:prstGeom>
        </p:spPr>
      </p:pic>
      <p:sp>
        <p:nvSpPr>
          <p:cNvPr id="17" name="Text 76"/>
          <p:cNvSpPr txBox="1"/>
          <p:nvPr/>
        </p:nvSpPr>
        <p:spPr>
          <a:xfrm>
            <a:off x="1554480" y="3246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D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2400" dirty="0"/>
          </a:p>
        </p:txBody>
      </p:sp>
      <p:sp>
        <p:nvSpPr>
          <p:cNvPr id="18" name="Text 77"/>
          <p:cNvSpPr txBox="1"/>
          <p:nvPr/>
        </p:nvSpPr>
        <p:spPr>
          <a:xfrm>
            <a:off x="1554480" y="37490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device DOES with the input</a:t>
            </a:r>
            <a:endParaRPr lang="en-US" sz="1800" dirty="0"/>
          </a:p>
        </p:txBody>
      </p:sp>
      <p:sp>
        <p:nvSpPr>
          <p:cNvPr id="19" name="Card 78"/>
          <p:cNvSpPr/>
          <p:nvPr/>
        </p:nvSpPr>
        <p:spPr>
          <a:xfrm>
            <a:off x="4663440" y="3108960"/>
            <a:ext cx="41148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20" name="Dot 79"/>
          <p:cNvSpPr/>
          <p:nvPr/>
        </p:nvSpPr>
        <p:spPr>
          <a:xfrm>
            <a:off x="4846320" y="3291840"/>
            <a:ext cx="731520" cy="731520"/>
          </a:xfrm>
          <a:prstGeom prst="ellipse">
            <a:avLst/>
          </a:prstGeom>
          <a:solidFill>
            <a:srgbClr val="1FB89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con 80" descr="FaDesk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0056" y="3465576"/>
            <a:ext cx="384048" cy="384048"/>
          </a:xfrm>
          <a:prstGeom prst="rect">
            <a:avLst/>
          </a:prstGeom>
        </p:spPr>
      </p:pic>
      <p:sp>
        <p:nvSpPr>
          <p:cNvPr id="22" name="Text 81"/>
          <p:cNvSpPr txBox="1"/>
          <p:nvPr/>
        </p:nvSpPr>
        <p:spPr>
          <a:xfrm>
            <a:off x="5760720" y="3246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B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2400" dirty="0"/>
          </a:p>
        </p:txBody>
      </p:sp>
      <p:sp>
        <p:nvSpPr>
          <p:cNvPr id="23" name="Text 82"/>
          <p:cNvSpPr txBox="1"/>
          <p:nvPr/>
        </p:nvSpPr>
        <p:spPr>
          <a:xfrm>
            <a:off x="5760720" y="37490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OUT of the device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83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FF9A3D"/>
          </a:solidFill>
          <a:ln w="12700">
            <a:solidFill>
              <a:srgbClr val="FF9A3D"/>
            </a:solidFill>
            <a:prstDash val="solid"/>
          </a:ln>
        </p:spPr>
      </p:sp>
      <p:sp>
        <p:nvSpPr>
          <p:cNvPr id="3" name="Text 84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or not?</a:t>
            </a:r>
            <a:endParaRPr lang="en-US" sz="3000" dirty="0"/>
          </a:p>
        </p:txBody>
      </p:sp>
      <p:sp>
        <p:nvSpPr>
          <p:cNvPr id="4" name="Card 85"/>
          <p:cNvSpPr/>
          <p:nvPr/>
        </p:nvSpPr>
        <p:spPr>
          <a:xfrm>
            <a:off x="457200" y="1188720"/>
            <a:ext cx="25603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5" name="Icon 86" descr="FaTablet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17320"/>
            <a:ext cx="548640" cy="548640"/>
          </a:xfrm>
          <a:prstGeom prst="rect">
            <a:avLst/>
          </a:prstGeom>
        </p:spPr>
      </p:pic>
      <p:sp>
        <p:nvSpPr>
          <p:cNvPr id="6" name="Text 87"/>
          <p:cNvSpPr txBox="1"/>
          <p:nvPr/>
        </p:nvSpPr>
        <p:spPr>
          <a:xfrm>
            <a:off x="1371600" y="12801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</a:t>
            </a:r>
            <a:endParaRPr lang="en-US" sz="1800" dirty="0"/>
          </a:p>
        </p:txBody>
      </p:sp>
      <p:sp>
        <p:nvSpPr>
          <p:cNvPr id="7" name="Card 88"/>
          <p:cNvSpPr/>
          <p:nvPr/>
        </p:nvSpPr>
        <p:spPr>
          <a:xfrm>
            <a:off x="3291840" y="1188720"/>
            <a:ext cx="25603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8" name="Icon 89" descr="Fa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417320"/>
            <a:ext cx="548640" cy="548640"/>
          </a:xfrm>
          <a:prstGeom prst="rect">
            <a:avLst/>
          </a:prstGeom>
        </p:spPr>
      </p:pic>
      <p:sp>
        <p:nvSpPr>
          <p:cNvPr id="9" name="Text 90"/>
          <p:cNvSpPr txBox="1"/>
          <p:nvPr/>
        </p:nvSpPr>
        <p:spPr>
          <a:xfrm>
            <a:off x="4206240" y="12801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Torch (it is electrical but not digital)</a:t>
            </a:r>
            <a:endParaRPr lang="en-US" sz="1800" dirty="0"/>
          </a:p>
        </p:txBody>
      </p:sp>
      <p:sp>
        <p:nvSpPr>
          <p:cNvPr id="10" name="Card 91"/>
          <p:cNvSpPr/>
          <p:nvPr/>
        </p:nvSpPr>
        <p:spPr>
          <a:xfrm>
            <a:off x="6126480" y="1188720"/>
            <a:ext cx="25603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11" name="Icon 92" descr="FaVolume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417320"/>
            <a:ext cx="548640" cy="548640"/>
          </a:xfrm>
          <a:prstGeom prst="rect">
            <a:avLst/>
          </a:prstGeom>
        </p:spPr>
      </p:pic>
      <p:sp>
        <p:nvSpPr>
          <p:cNvPr id="12" name="Text 93"/>
          <p:cNvSpPr txBox="1"/>
          <p:nvPr/>
        </p:nvSpPr>
        <p:spPr>
          <a:xfrm>
            <a:off x="7040880" y="12801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speaker</a:t>
            </a:r>
            <a:endParaRPr lang="en-US" sz="1800" dirty="0"/>
          </a:p>
        </p:txBody>
      </p:sp>
      <p:sp>
        <p:nvSpPr>
          <p:cNvPr id="13" name="Card 94"/>
          <p:cNvSpPr/>
          <p:nvPr/>
        </p:nvSpPr>
        <p:spPr>
          <a:xfrm>
            <a:off x="457200" y="2743200"/>
            <a:ext cx="25603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14" name="Icon 95" descr="FaLight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971800"/>
            <a:ext cx="548640" cy="548640"/>
          </a:xfrm>
          <a:prstGeom prst="rect">
            <a:avLst/>
          </a:prstGeom>
        </p:spPr>
      </p:pic>
      <p:sp>
        <p:nvSpPr>
          <p:cNvPr id="15" name="Text 96"/>
          <p:cNvSpPr txBox="1"/>
          <p:nvPr/>
        </p:nvSpPr>
        <p:spPr>
          <a:xfrm>
            <a:off x="1371600" y="28346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</a:t>
            </a:r>
            <a:endParaRPr lang="en-US" sz="1800" dirty="0"/>
          </a:p>
        </p:txBody>
      </p:sp>
      <p:sp>
        <p:nvSpPr>
          <p:cNvPr id="16" name="Card 97"/>
          <p:cNvSpPr/>
          <p:nvPr/>
        </p:nvSpPr>
        <p:spPr>
          <a:xfrm>
            <a:off x="3291840" y="2743200"/>
            <a:ext cx="25603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17" name="Icon 98" descr="FaCamer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2971800"/>
            <a:ext cx="548640" cy="548640"/>
          </a:xfrm>
          <a:prstGeom prst="rect">
            <a:avLst/>
          </a:prstGeom>
        </p:spPr>
      </p:pic>
      <p:sp>
        <p:nvSpPr>
          <p:cNvPr id="18" name="Text 99"/>
          <p:cNvSpPr txBox="1"/>
          <p:nvPr/>
        </p:nvSpPr>
        <p:spPr>
          <a:xfrm>
            <a:off x="4206240" y="28346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camera</a:t>
            </a:r>
            <a:endParaRPr lang="en-US" sz="1800" dirty="0"/>
          </a:p>
        </p:txBody>
      </p:sp>
      <p:sp>
        <p:nvSpPr>
          <p:cNvPr id="19" name="Card 100"/>
          <p:cNvSpPr/>
          <p:nvPr/>
        </p:nvSpPr>
        <p:spPr>
          <a:xfrm>
            <a:off x="6126480" y="2743200"/>
            <a:ext cx="25603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20" name="Icon 101" descr="FaBoo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2971800"/>
            <a:ext cx="548640" cy="548640"/>
          </a:xfrm>
          <a:prstGeom prst="rect">
            <a:avLst/>
          </a:prstGeom>
        </p:spPr>
      </p:pic>
      <p:sp>
        <p:nvSpPr>
          <p:cNvPr id="21" name="Text 102"/>
          <p:cNvSpPr txBox="1"/>
          <p:nvPr/>
        </p:nvSpPr>
        <p:spPr>
          <a:xfrm>
            <a:off x="7040880" y="28346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book</a:t>
            </a:r>
            <a:endParaRPr lang="en-US" sz="1800" dirty="0"/>
          </a:p>
        </p:txBody>
      </p:sp>
      <p:sp>
        <p:nvSpPr>
          <p:cNvPr id="22" name="Text 103"/>
          <p:cNvSpPr txBox="1"/>
          <p:nvPr/>
        </p:nvSpPr>
        <p:spPr>
          <a:xfrm>
            <a:off x="457200" y="4480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Decide: DIGITAL ✔ or NOT DIGITAL ✖?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104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" name="Text 105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Digital or not? — answers</a:t>
            </a:r>
            <a:endParaRPr lang="en-US" sz="3000" dirty="0"/>
          </a:p>
        </p:txBody>
      </p:sp>
      <p:sp>
        <p:nvSpPr>
          <p:cNvPr id="4" name="Card 106"/>
          <p:cNvSpPr/>
          <p:nvPr/>
        </p:nvSpPr>
        <p:spPr>
          <a:xfrm>
            <a:off x="457200" y="1188720"/>
            <a:ext cx="2560320" cy="1417320"/>
          </a:xfrm>
          <a:prstGeom prst="roundRect">
            <a:avLst>
              <a:gd name="adj" fmla="val 7742"/>
            </a:avLst>
          </a:prstGeom>
          <a:solidFill>
            <a:srgbClr val="D9F5E6"/>
          </a:solidFill>
          <a:ln w="31750">
            <a:solidFill>
              <a:srgbClr val="2E9E5B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5" name="Icon 107" descr="FaTablet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17320"/>
            <a:ext cx="548640" cy="548640"/>
          </a:xfrm>
          <a:prstGeom prst="rect">
            <a:avLst/>
          </a:prstGeom>
        </p:spPr>
      </p:pic>
      <p:sp>
        <p:nvSpPr>
          <p:cNvPr id="6" name="Text 108"/>
          <p:cNvSpPr txBox="1"/>
          <p:nvPr/>
        </p:nvSpPr>
        <p:spPr>
          <a:xfrm>
            <a:off x="1371600" y="12801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</a:t>
            </a:r>
            <a:endParaRPr lang="en-US" sz="1800" dirty="0"/>
          </a:p>
        </p:txBody>
      </p:sp>
      <p:sp>
        <p:nvSpPr>
          <p:cNvPr id="7" name="Text 109"/>
          <p:cNvSpPr txBox="1"/>
          <p:nvPr/>
        </p:nvSpPr>
        <p:spPr>
          <a:xfrm>
            <a:off x="594360" y="21488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✔</a:t>
            </a:r>
            <a:endParaRPr lang="en-US" sz="1600" dirty="0"/>
          </a:p>
        </p:txBody>
      </p:sp>
      <p:sp>
        <p:nvSpPr>
          <p:cNvPr id="8" name="Card 110"/>
          <p:cNvSpPr/>
          <p:nvPr/>
        </p:nvSpPr>
        <p:spPr>
          <a:xfrm>
            <a:off x="3291840" y="1188720"/>
            <a:ext cx="2560320" cy="1417320"/>
          </a:xfrm>
          <a:prstGeom prst="roundRect">
            <a:avLst>
              <a:gd name="adj" fmla="val 7742"/>
            </a:avLst>
          </a:prstGeom>
          <a:solidFill>
            <a:srgbClr val="FFE3E8"/>
          </a:solidFill>
          <a:ln w="31750">
            <a:solidFill>
              <a:srgbClr val="D64545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9" name="Icon 111" descr="Fa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417320"/>
            <a:ext cx="548640" cy="548640"/>
          </a:xfrm>
          <a:prstGeom prst="rect">
            <a:avLst/>
          </a:prstGeom>
        </p:spPr>
      </p:pic>
      <p:sp>
        <p:nvSpPr>
          <p:cNvPr id="10" name="Text 112"/>
          <p:cNvSpPr txBox="1"/>
          <p:nvPr/>
        </p:nvSpPr>
        <p:spPr>
          <a:xfrm>
            <a:off x="4206240" y="12801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Torch (it is electrical but not digital)</a:t>
            </a:r>
            <a:endParaRPr lang="en-US" sz="1800" dirty="0"/>
          </a:p>
        </p:txBody>
      </p:sp>
      <p:sp>
        <p:nvSpPr>
          <p:cNvPr id="11" name="Text 113"/>
          <p:cNvSpPr txBox="1"/>
          <p:nvPr/>
        </p:nvSpPr>
        <p:spPr>
          <a:xfrm>
            <a:off x="3429000" y="21488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DIGITAL ✖</a:t>
            </a:r>
            <a:endParaRPr lang="en-US" sz="1600" dirty="0"/>
          </a:p>
        </p:txBody>
      </p:sp>
      <p:sp>
        <p:nvSpPr>
          <p:cNvPr id="12" name="Card 114"/>
          <p:cNvSpPr/>
          <p:nvPr/>
        </p:nvSpPr>
        <p:spPr>
          <a:xfrm>
            <a:off x="6126480" y="1188720"/>
            <a:ext cx="2560320" cy="1417320"/>
          </a:xfrm>
          <a:prstGeom prst="roundRect">
            <a:avLst>
              <a:gd name="adj" fmla="val 7742"/>
            </a:avLst>
          </a:prstGeom>
          <a:solidFill>
            <a:srgbClr val="D9F5E6"/>
          </a:solidFill>
          <a:ln w="31750">
            <a:solidFill>
              <a:srgbClr val="2E9E5B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13" name="Icon 115" descr="FaVolume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417320"/>
            <a:ext cx="548640" cy="548640"/>
          </a:xfrm>
          <a:prstGeom prst="rect">
            <a:avLst/>
          </a:prstGeom>
        </p:spPr>
      </p:pic>
      <p:sp>
        <p:nvSpPr>
          <p:cNvPr id="14" name="Text 116"/>
          <p:cNvSpPr txBox="1"/>
          <p:nvPr/>
        </p:nvSpPr>
        <p:spPr>
          <a:xfrm>
            <a:off x="7040880" y="128016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speaker</a:t>
            </a:r>
            <a:endParaRPr lang="en-US" sz="1800" dirty="0"/>
          </a:p>
        </p:txBody>
      </p:sp>
      <p:sp>
        <p:nvSpPr>
          <p:cNvPr id="15" name="Text 117"/>
          <p:cNvSpPr txBox="1"/>
          <p:nvPr/>
        </p:nvSpPr>
        <p:spPr>
          <a:xfrm>
            <a:off x="6263640" y="21488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✔</a:t>
            </a:r>
            <a:endParaRPr lang="en-US" sz="1600" dirty="0"/>
          </a:p>
        </p:txBody>
      </p:sp>
      <p:sp>
        <p:nvSpPr>
          <p:cNvPr id="16" name="Card 118"/>
          <p:cNvSpPr/>
          <p:nvPr/>
        </p:nvSpPr>
        <p:spPr>
          <a:xfrm>
            <a:off x="457200" y="2743200"/>
            <a:ext cx="2560320" cy="1417320"/>
          </a:xfrm>
          <a:prstGeom prst="roundRect">
            <a:avLst>
              <a:gd name="adj" fmla="val 7742"/>
            </a:avLst>
          </a:prstGeom>
          <a:solidFill>
            <a:srgbClr val="FFE3E8"/>
          </a:solidFill>
          <a:ln w="31750">
            <a:solidFill>
              <a:srgbClr val="D64545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17" name="Icon 119" descr="FaLight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971800"/>
            <a:ext cx="548640" cy="548640"/>
          </a:xfrm>
          <a:prstGeom prst="rect">
            <a:avLst/>
          </a:prstGeom>
        </p:spPr>
      </p:pic>
      <p:sp>
        <p:nvSpPr>
          <p:cNvPr id="18" name="Text 120"/>
          <p:cNvSpPr txBox="1"/>
          <p:nvPr/>
        </p:nvSpPr>
        <p:spPr>
          <a:xfrm>
            <a:off x="1371600" y="28346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</a:t>
            </a:r>
            <a:endParaRPr lang="en-US" sz="1800" dirty="0"/>
          </a:p>
        </p:txBody>
      </p:sp>
      <p:sp>
        <p:nvSpPr>
          <p:cNvPr id="19" name="Text 121"/>
          <p:cNvSpPr txBox="1"/>
          <p:nvPr/>
        </p:nvSpPr>
        <p:spPr>
          <a:xfrm>
            <a:off x="594360" y="3703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DIGITAL ✖</a:t>
            </a:r>
            <a:endParaRPr lang="en-US" sz="1600" dirty="0"/>
          </a:p>
        </p:txBody>
      </p:sp>
      <p:sp>
        <p:nvSpPr>
          <p:cNvPr id="20" name="Card 122"/>
          <p:cNvSpPr/>
          <p:nvPr/>
        </p:nvSpPr>
        <p:spPr>
          <a:xfrm>
            <a:off x="3291840" y="2743200"/>
            <a:ext cx="2560320" cy="1417320"/>
          </a:xfrm>
          <a:prstGeom prst="roundRect">
            <a:avLst>
              <a:gd name="adj" fmla="val 7742"/>
            </a:avLst>
          </a:prstGeom>
          <a:solidFill>
            <a:srgbClr val="D9F5E6"/>
          </a:solidFill>
          <a:ln w="31750">
            <a:solidFill>
              <a:srgbClr val="2E9E5B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21" name="Icon 123" descr="FaCamer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2971800"/>
            <a:ext cx="548640" cy="548640"/>
          </a:xfrm>
          <a:prstGeom prst="rect">
            <a:avLst/>
          </a:prstGeom>
        </p:spPr>
      </p:pic>
      <p:sp>
        <p:nvSpPr>
          <p:cNvPr id="22" name="Text 124"/>
          <p:cNvSpPr txBox="1"/>
          <p:nvPr/>
        </p:nvSpPr>
        <p:spPr>
          <a:xfrm>
            <a:off x="4206240" y="28346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camera</a:t>
            </a:r>
            <a:endParaRPr lang="en-US" sz="1800" dirty="0"/>
          </a:p>
        </p:txBody>
      </p:sp>
      <p:sp>
        <p:nvSpPr>
          <p:cNvPr id="23" name="Text 125"/>
          <p:cNvSpPr txBox="1"/>
          <p:nvPr/>
        </p:nvSpPr>
        <p:spPr>
          <a:xfrm>
            <a:off x="3429000" y="3703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✔</a:t>
            </a:r>
            <a:endParaRPr lang="en-US" sz="1600" dirty="0"/>
          </a:p>
        </p:txBody>
      </p:sp>
      <p:sp>
        <p:nvSpPr>
          <p:cNvPr id="24" name="Card 126"/>
          <p:cNvSpPr/>
          <p:nvPr/>
        </p:nvSpPr>
        <p:spPr>
          <a:xfrm>
            <a:off x="6126480" y="2743200"/>
            <a:ext cx="2560320" cy="1417320"/>
          </a:xfrm>
          <a:prstGeom prst="roundRect">
            <a:avLst>
              <a:gd name="adj" fmla="val 7742"/>
            </a:avLst>
          </a:prstGeom>
          <a:solidFill>
            <a:srgbClr val="FFE3E8"/>
          </a:solidFill>
          <a:ln w="31750">
            <a:solidFill>
              <a:srgbClr val="D64545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25" name="Icon 127" descr="FaBoo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2971800"/>
            <a:ext cx="548640" cy="548640"/>
          </a:xfrm>
          <a:prstGeom prst="rect">
            <a:avLst/>
          </a:prstGeom>
        </p:spPr>
      </p:pic>
      <p:sp>
        <p:nvSpPr>
          <p:cNvPr id="26" name="Text 128"/>
          <p:cNvSpPr txBox="1"/>
          <p:nvPr/>
        </p:nvSpPr>
        <p:spPr>
          <a:xfrm>
            <a:off x="7040880" y="28346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book</a:t>
            </a:r>
            <a:endParaRPr lang="en-US" sz="1800" dirty="0"/>
          </a:p>
        </p:txBody>
      </p:sp>
      <p:sp>
        <p:nvSpPr>
          <p:cNvPr id="27" name="Text 129"/>
          <p:cNvSpPr txBox="1"/>
          <p:nvPr/>
        </p:nvSpPr>
        <p:spPr>
          <a:xfrm>
            <a:off x="6263640" y="3703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DIGITAL ✖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130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FF9A3D"/>
          </a:solidFill>
          <a:ln w="12700">
            <a:solidFill>
              <a:srgbClr val="FF9A3D"/>
            </a:solidFill>
            <a:prstDash val="solid"/>
          </a:ln>
        </p:spPr>
      </p:sp>
      <p:sp>
        <p:nvSpPr>
          <p:cNvPr id="3" name="Text 131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· Process · Output</a:t>
            </a:r>
            <a:endParaRPr lang="en-US" sz="3000" dirty="0"/>
          </a:p>
        </p:txBody>
      </p:sp>
      <p:sp>
        <p:nvSpPr>
          <p:cNvPr id="4" name="Card 132"/>
          <p:cNvSpPr/>
          <p:nvPr/>
        </p:nvSpPr>
        <p:spPr>
          <a:xfrm>
            <a:off x="548640" y="1051560"/>
            <a:ext cx="5120640" cy="3639312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5" name="Picture 133" descr="Keyboard, chip and screen showing input, process and outp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4937760" cy="3456432"/>
          </a:xfrm>
          <a:prstGeom prst="rect">
            <a:avLst/>
          </a:prstGeom>
        </p:spPr>
      </p:pic>
      <p:sp>
        <p:nvSpPr>
          <p:cNvPr id="6" name="Text 134"/>
          <p:cNvSpPr txBox="1"/>
          <p:nvPr/>
        </p:nvSpPr>
        <p:spPr>
          <a:xfrm>
            <a:off x="5897880" y="1234440"/>
            <a:ext cx="2834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a key (INPUT). The computer follows its program (PROCESS). The letter appears on screen (OUTPUT).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135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FF9A3D"/>
          </a:solidFill>
          <a:ln w="12700">
            <a:solidFill>
              <a:srgbClr val="FF9A3D"/>
            </a:solidFill>
            <a:prstDash val="solid"/>
          </a:ln>
        </p:spPr>
      </p:sp>
      <p:sp>
        <p:nvSpPr>
          <p:cNvPr id="3" name="Text 136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×2 machine</a:t>
            </a:r>
            <a:endParaRPr lang="en-US" sz="3000" dirty="0"/>
          </a:p>
        </p:txBody>
      </p:sp>
      <p:sp>
        <p:nvSpPr>
          <p:cNvPr id="4" name="Card 137"/>
          <p:cNvSpPr/>
          <p:nvPr/>
        </p:nvSpPr>
        <p:spPr>
          <a:xfrm>
            <a:off x="548640" y="1051560"/>
            <a:ext cx="5120640" cy="3639312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5" name="Picture 138" descr="Function machine turning 2 into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4937760" cy="3456432"/>
          </a:xfrm>
          <a:prstGeom prst="rect">
            <a:avLst/>
          </a:prstGeom>
        </p:spPr>
      </p:pic>
      <p:sp>
        <p:nvSpPr>
          <p:cNvPr id="6" name="Text 139"/>
          <p:cNvSpPr txBox="1"/>
          <p:nvPr/>
        </p:nvSpPr>
        <p:spPr>
          <a:xfrm>
            <a:off x="5897880" y="1234440"/>
            <a:ext cx="2834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number IN. The machine does a PROCESS. A new number comes OUT. What does this machine do?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140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FF9A3D"/>
          </a:solidFill>
          <a:ln w="12700">
            <a:solidFill>
              <a:srgbClr val="FF9A3D"/>
            </a:solidFill>
            <a:prstDash val="solid"/>
          </a:ln>
        </p:spPr>
      </p:sp>
      <p:sp>
        <p:nvSpPr>
          <p:cNvPr id="3" name="Text 141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quiz</a:t>
            </a:r>
            <a:endParaRPr lang="en-US" sz="3000" dirty="0"/>
          </a:p>
        </p:txBody>
      </p:sp>
      <p:sp>
        <p:nvSpPr>
          <p:cNvPr id="4" name="Text 142"/>
          <p:cNvSpPr txBox="1"/>
          <p:nvPr/>
        </p:nvSpPr>
        <p:spPr>
          <a:xfrm>
            <a:off x="457200" y="10515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3 goes into the ×2 machine. What comes out?</a:t>
            </a:r>
            <a:endParaRPr lang="en-US" sz="2000" dirty="0"/>
          </a:p>
        </p:txBody>
      </p:sp>
      <p:sp>
        <p:nvSpPr>
          <p:cNvPr id="5" name="Card 143"/>
          <p:cNvSpPr/>
          <p:nvPr/>
        </p:nvSpPr>
        <p:spPr>
          <a:xfrm>
            <a:off x="457200" y="2194560"/>
            <a:ext cx="402336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144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145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146"/>
          <p:cNvSpPr txBox="1"/>
          <p:nvPr/>
        </p:nvSpPr>
        <p:spPr>
          <a:xfrm>
            <a:off x="1188720" y="2194560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9" name="Card 147"/>
          <p:cNvSpPr/>
          <p:nvPr/>
        </p:nvSpPr>
        <p:spPr>
          <a:xfrm>
            <a:off x="457200" y="3017520"/>
            <a:ext cx="402336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148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149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150"/>
          <p:cNvSpPr txBox="1"/>
          <p:nvPr/>
        </p:nvSpPr>
        <p:spPr>
          <a:xfrm>
            <a:off x="1188720" y="3017520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13" name="Card 151"/>
          <p:cNvSpPr/>
          <p:nvPr/>
        </p:nvSpPr>
        <p:spPr>
          <a:xfrm>
            <a:off x="457200" y="3840480"/>
            <a:ext cx="402336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152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53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154"/>
          <p:cNvSpPr txBox="1"/>
          <p:nvPr/>
        </p:nvSpPr>
        <p:spPr>
          <a:xfrm>
            <a:off x="1188720" y="3840480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800" dirty="0"/>
          </a:p>
        </p:txBody>
      </p:sp>
      <p:sp>
        <p:nvSpPr>
          <p:cNvPr id="17" name="Card 155"/>
          <p:cNvSpPr/>
          <p:nvPr/>
        </p:nvSpPr>
        <p:spPr>
          <a:xfrm>
            <a:off x="4480560" y="1051560"/>
            <a:ext cx="429768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18" name="Picture 156" descr="Quiz pic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143000"/>
            <a:ext cx="411480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157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" name="Text 158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The answer</a:t>
            </a:r>
            <a:endParaRPr lang="en-US" sz="3000" dirty="0"/>
          </a:p>
        </p:txBody>
      </p:sp>
      <p:sp>
        <p:nvSpPr>
          <p:cNvPr id="4" name="Text 159"/>
          <p:cNvSpPr txBox="1"/>
          <p:nvPr/>
        </p:nvSpPr>
        <p:spPr>
          <a:xfrm>
            <a:off x="457200" y="10515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3 goes into the ×2 machine. What comes out?</a:t>
            </a:r>
            <a:endParaRPr lang="en-US" sz="2000" dirty="0"/>
          </a:p>
        </p:txBody>
      </p:sp>
      <p:sp>
        <p:nvSpPr>
          <p:cNvPr id="5" name="Card 160"/>
          <p:cNvSpPr/>
          <p:nvPr/>
        </p:nvSpPr>
        <p:spPr>
          <a:xfrm>
            <a:off x="457200" y="2194560"/>
            <a:ext cx="402336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161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162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163"/>
          <p:cNvSpPr txBox="1"/>
          <p:nvPr/>
        </p:nvSpPr>
        <p:spPr>
          <a:xfrm>
            <a:off x="1188720" y="2194560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9" name="Card 164"/>
          <p:cNvSpPr/>
          <p:nvPr/>
        </p:nvSpPr>
        <p:spPr>
          <a:xfrm>
            <a:off x="457200" y="3017520"/>
            <a:ext cx="4023360" cy="713232"/>
          </a:xfrm>
          <a:prstGeom prst="roundRect">
            <a:avLst>
              <a:gd name="adj" fmla="val 15385"/>
            </a:avLst>
          </a:prstGeom>
          <a:solidFill>
            <a:srgbClr val="D9F5E6"/>
          </a:solidFill>
          <a:ln w="38100">
            <a:solidFill>
              <a:srgbClr val="2E9E5B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165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166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167"/>
          <p:cNvSpPr txBox="1"/>
          <p:nvPr/>
        </p:nvSpPr>
        <p:spPr>
          <a:xfrm>
            <a:off x="1188720" y="3017520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13" name="Card 168"/>
          <p:cNvSpPr/>
          <p:nvPr/>
        </p:nvSpPr>
        <p:spPr>
          <a:xfrm>
            <a:off x="457200" y="3840480"/>
            <a:ext cx="402336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169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70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171"/>
          <p:cNvSpPr txBox="1"/>
          <p:nvPr/>
        </p:nvSpPr>
        <p:spPr>
          <a:xfrm>
            <a:off x="1188720" y="3840480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800" dirty="0"/>
          </a:p>
        </p:txBody>
      </p:sp>
      <p:sp>
        <p:nvSpPr>
          <p:cNvPr id="17" name="Card 172"/>
          <p:cNvSpPr/>
          <p:nvPr/>
        </p:nvSpPr>
        <p:spPr>
          <a:xfrm>
            <a:off x="4480560" y="1051560"/>
            <a:ext cx="429768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18" name="Picture 173" descr="Quiz pic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143000"/>
            <a:ext cx="4114800" cy="2880360"/>
          </a:xfrm>
          <a:prstGeom prst="rect">
            <a:avLst/>
          </a:prstGeom>
        </p:spPr>
      </p:pic>
      <p:sp>
        <p:nvSpPr>
          <p:cNvPr id="19" name="Text 174"/>
          <p:cNvSpPr txBox="1"/>
          <p:nvPr/>
        </p:nvSpPr>
        <p:spPr>
          <a:xfrm>
            <a:off x="4572000" y="38404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2 = 6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175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FF9A3D"/>
          </a:solidFill>
          <a:ln w="12700">
            <a:solidFill>
              <a:srgbClr val="FF9A3D"/>
            </a:solidFill>
            <a:prstDash val="solid"/>
          </a:ln>
        </p:spPr>
      </p:sp>
      <p:sp>
        <p:nvSpPr>
          <p:cNvPr id="3" name="Text 176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quiz</a:t>
            </a:r>
            <a:endParaRPr lang="en-US" sz="3000" dirty="0"/>
          </a:p>
        </p:txBody>
      </p:sp>
      <p:sp>
        <p:nvSpPr>
          <p:cNvPr id="4" name="Text 177"/>
          <p:cNvSpPr txBox="1"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5 → output 7 and input 2 → output 4. What is the process?</a:t>
            </a:r>
            <a:endParaRPr lang="en-US" sz="2600" dirty="0"/>
          </a:p>
        </p:txBody>
      </p:sp>
      <p:sp>
        <p:nvSpPr>
          <p:cNvPr id="5" name="Card 178"/>
          <p:cNvSpPr/>
          <p:nvPr/>
        </p:nvSpPr>
        <p:spPr>
          <a:xfrm>
            <a:off x="457200" y="219456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179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180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181"/>
          <p:cNvSpPr txBox="1"/>
          <p:nvPr/>
        </p:nvSpPr>
        <p:spPr>
          <a:xfrm>
            <a:off x="1188720" y="219456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2</a:t>
            </a:r>
            <a:endParaRPr lang="en-US" sz="2200" dirty="0"/>
          </a:p>
        </p:txBody>
      </p:sp>
      <p:sp>
        <p:nvSpPr>
          <p:cNvPr id="9" name="Card 182"/>
          <p:cNvSpPr/>
          <p:nvPr/>
        </p:nvSpPr>
        <p:spPr>
          <a:xfrm>
            <a:off x="457200" y="301752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183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184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185"/>
          <p:cNvSpPr txBox="1"/>
          <p:nvPr/>
        </p:nvSpPr>
        <p:spPr>
          <a:xfrm>
            <a:off x="1188720" y="301752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away 2</a:t>
            </a:r>
            <a:endParaRPr lang="en-US" sz="2200" dirty="0"/>
          </a:p>
        </p:txBody>
      </p:sp>
      <p:sp>
        <p:nvSpPr>
          <p:cNvPr id="13" name="Card 186"/>
          <p:cNvSpPr/>
          <p:nvPr/>
        </p:nvSpPr>
        <p:spPr>
          <a:xfrm>
            <a:off x="457200" y="384048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187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88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189"/>
          <p:cNvSpPr txBox="1"/>
          <p:nvPr/>
        </p:nvSpPr>
        <p:spPr>
          <a:xfrm>
            <a:off x="1188720" y="384048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2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190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" name="Text 191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The answer</a:t>
            </a:r>
            <a:endParaRPr lang="en-US" sz="3000" dirty="0"/>
          </a:p>
        </p:txBody>
      </p:sp>
      <p:sp>
        <p:nvSpPr>
          <p:cNvPr id="4" name="Text 192"/>
          <p:cNvSpPr txBox="1"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5 → output 7 and input 2 → output 4. What is the process?</a:t>
            </a:r>
            <a:endParaRPr lang="en-US" sz="2600" dirty="0"/>
          </a:p>
        </p:txBody>
      </p:sp>
      <p:sp>
        <p:nvSpPr>
          <p:cNvPr id="5" name="Card 193"/>
          <p:cNvSpPr/>
          <p:nvPr/>
        </p:nvSpPr>
        <p:spPr>
          <a:xfrm>
            <a:off x="457200" y="219456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D9F5E6"/>
          </a:solidFill>
          <a:ln w="38100">
            <a:solidFill>
              <a:srgbClr val="2E9E5B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194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195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196"/>
          <p:cNvSpPr txBox="1"/>
          <p:nvPr/>
        </p:nvSpPr>
        <p:spPr>
          <a:xfrm>
            <a:off x="1188720" y="219456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2</a:t>
            </a:r>
            <a:endParaRPr lang="en-US" sz="2200" dirty="0"/>
          </a:p>
        </p:txBody>
      </p:sp>
      <p:sp>
        <p:nvSpPr>
          <p:cNvPr id="9" name="Card 197"/>
          <p:cNvSpPr/>
          <p:nvPr/>
        </p:nvSpPr>
        <p:spPr>
          <a:xfrm>
            <a:off x="457200" y="301752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198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199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200"/>
          <p:cNvSpPr txBox="1"/>
          <p:nvPr/>
        </p:nvSpPr>
        <p:spPr>
          <a:xfrm>
            <a:off x="1188720" y="301752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away 2</a:t>
            </a:r>
            <a:endParaRPr lang="en-US" sz="2200" dirty="0"/>
          </a:p>
        </p:txBody>
      </p:sp>
      <p:sp>
        <p:nvSpPr>
          <p:cNvPr id="13" name="Card 201"/>
          <p:cNvSpPr/>
          <p:nvPr/>
        </p:nvSpPr>
        <p:spPr>
          <a:xfrm>
            <a:off x="457200" y="384048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202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203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204"/>
          <p:cNvSpPr txBox="1"/>
          <p:nvPr/>
        </p:nvSpPr>
        <p:spPr>
          <a:xfrm>
            <a:off x="1188720" y="384048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2</a:t>
            </a:r>
            <a:endParaRPr lang="en-US" sz="2200" dirty="0"/>
          </a:p>
        </p:txBody>
      </p:sp>
      <p:sp>
        <p:nvSpPr>
          <p:cNvPr id="17" name="Text 205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2: 5+2 = 7 and 2+2 = 4.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206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FF9A3D"/>
          </a:solidFill>
          <a:ln w="12700">
            <a:solidFill>
              <a:srgbClr val="FF9A3D"/>
            </a:solidFill>
            <a:prstDash val="solid"/>
          </a:ln>
        </p:spPr>
      </p:sp>
      <p:sp>
        <p:nvSpPr>
          <p:cNvPr id="3" name="Text 207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Activity: Make your own IPO machine</a:t>
            </a:r>
            <a:endParaRPr lang="en-US" sz="3000" dirty="0"/>
          </a:p>
        </p:txBody>
      </p:sp>
      <p:sp>
        <p:nvSpPr>
          <p:cNvPr id="4" name="Tag 208"/>
          <p:cNvSpPr/>
          <p:nvPr/>
        </p:nvSpPr>
        <p:spPr>
          <a:xfrm>
            <a:off x="7223760" y="384048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F9A3D"/>
          </a:solidFill>
          <a:ln w="12700">
            <a:solidFill>
              <a:srgbClr val="FF9A3D"/>
            </a:solidFill>
            <a:prstDash val="solid"/>
          </a:ln>
        </p:spPr>
      </p:sp>
      <p:sp>
        <p:nvSpPr>
          <p:cNvPr id="5" name="Text 209"/>
          <p:cNvSpPr txBox="1"/>
          <p:nvPr/>
        </p:nvSpPr>
        <p:spPr>
          <a:xfrm>
            <a:off x="7223760" y="3840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1600" dirty="0"/>
          </a:p>
        </p:txBody>
      </p:sp>
      <p:sp>
        <p:nvSpPr>
          <p:cNvPr id="6" name="Card 210"/>
          <p:cNvSpPr/>
          <p:nvPr/>
        </p:nvSpPr>
        <p:spPr>
          <a:xfrm>
            <a:off x="457200" y="1188720"/>
            <a:ext cx="82296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7" name="Dot 211"/>
          <p:cNvSpPr/>
          <p:nvPr/>
        </p:nvSpPr>
        <p:spPr>
          <a:xfrm>
            <a:off x="594360" y="135102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212"/>
          <p:cNvSpPr txBox="1"/>
          <p:nvPr/>
        </p:nvSpPr>
        <p:spPr>
          <a:xfrm>
            <a:off x="594360" y="135102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213"/>
          <p:cNvSpPr txBox="1"/>
          <p:nvPr/>
        </p:nvSpPr>
        <p:spPr>
          <a:xfrm>
            <a:off x="1188720" y="1188720"/>
            <a:ext cx="73152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 INPUT: a number or a shape.</a:t>
            </a:r>
            <a:endParaRPr lang="en-US" sz="1900" dirty="0"/>
          </a:p>
        </p:txBody>
      </p:sp>
      <p:sp>
        <p:nvSpPr>
          <p:cNvPr id="10" name="Card 214"/>
          <p:cNvSpPr/>
          <p:nvPr/>
        </p:nvSpPr>
        <p:spPr>
          <a:xfrm>
            <a:off x="457200" y="2080260"/>
            <a:ext cx="82296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1" name="Dot 215"/>
          <p:cNvSpPr/>
          <p:nvPr/>
        </p:nvSpPr>
        <p:spPr>
          <a:xfrm>
            <a:off x="594360" y="224256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216"/>
          <p:cNvSpPr txBox="1"/>
          <p:nvPr/>
        </p:nvSpPr>
        <p:spPr>
          <a:xfrm>
            <a:off x="594360" y="22425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217"/>
          <p:cNvSpPr txBox="1"/>
          <p:nvPr/>
        </p:nvSpPr>
        <p:spPr>
          <a:xfrm>
            <a:off x="1188720" y="2080260"/>
            <a:ext cx="73152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PROCESS: make it bigger, smaller, or do a sum.</a:t>
            </a:r>
            <a:endParaRPr lang="en-US" sz="1900" dirty="0"/>
          </a:p>
        </p:txBody>
      </p:sp>
      <p:sp>
        <p:nvSpPr>
          <p:cNvPr id="14" name="Card 218"/>
          <p:cNvSpPr/>
          <p:nvPr/>
        </p:nvSpPr>
        <p:spPr>
          <a:xfrm>
            <a:off x="457200" y="2971800"/>
            <a:ext cx="82296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5" name="Dot 219"/>
          <p:cNvSpPr/>
          <p:nvPr/>
        </p:nvSpPr>
        <p:spPr>
          <a:xfrm>
            <a:off x="594360" y="313410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220"/>
          <p:cNvSpPr txBox="1"/>
          <p:nvPr/>
        </p:nvSpPr>
        <p:spPr>
          <a:xfrm>
            <a:off x="594360" y="313410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221"/>
          <p:cNvSpPr txBox="1"/>
          <p:nvPr/>
        </p:nvSpPr>
        <p:spPr>
          <a:xfrm>
            <a:off x="1188720" y="2971800"/>
            <a:ext cx="73152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what comes OUT.</a:t>
            </a:r>
            <a:endParaRPr lang="en-US" sz="1900" dirty="0"/>
          </a:p>
        </p:txBody>
      </p:sp>
      <p:sp>
        <p:nvSpPr>
          <p:cNvPr id="18" name="Card 222"/>
          <p:cNvSpPr/>
          <p:nvPr/>
        </p:nvSpPr>
        <p:spPr>
          <a:xfrm>
            <a:off x="457200" y="3863340"/>
            <a:ext cx="82296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9" name="Dot 223"/>
          <p:cNvSpPr/>
          <p:nvPr/>
        </p:nvSpPr>
        <p:spPr>
          <a:xfrm>
            <a:off x="594360" y="402564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224"/>
          <p:cNvSpPr txBox="1"/>
          <p:nvPr/>
        </p:nvSpPr>
        <p:spPr>
          <a:xfrm>
            <a:off x="594360" y="40256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225"/>
          <p:cNvSpPr txBox="1"/>
          <p:nvPr/>
        </p:nvSpPr>
        <p:spPr>
          <a:xfrm>
            <a:off x="1188720" y="3863340"/>
            <a:ext cx="73152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with a partner. Can they guess your process?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226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FF9A3D"/>
          </a:solidFill>
          <a:ln w="12700">
            <a:solidFill>
              <a:srgbClr val="FF9A3D"/>
            </a:solidFill>
            <a:prstDash val="solid"/>
          </a:ln>
        </p:spPr>
      </p:sp>
      <p:sp>
        <p:nvSpPr>
          <p:cNvPr id="3" name="Text 227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· Pair · Share</a:t>
            </a:r>
            <a:endParaRPr lang="en-US" sz="3000" dirty="0"/>
          </a:p>
        </p:txBody>
      </p:sp>
      <p:sp>
        <p:nvSpPr>
          <p:cNvPr id="4" name="Card 228"/>
          <p:cNvSpPr/>
          <p:nvPr/>
        </p:nvSpPr>
        <p:spPr>
          <a:xfrm>
            <a:off x="822960" y="1280160"/>
            <a:ext cx="74980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5" name="Text 229"/>
          <p:cNvSpPr txBox="1"/>
          <p:nvPr/>
        </p:nvSpPr>
        <p:spPr>
          <a:xfrm>
            <a:off x="1188720" y="137160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laptop has at least THREE inputs and THREE outputs. Can you name them?</a:t>
            </a:r>
            <a:endParaRPr lang="en-US" sz="2600" dirty="0"/>
          </a:p>
        </p:txBody>
      </p:sp>
      <p:pic>
        <p:nvPicPr>
          <p:cNvPr id="6" name="Icon 230" descr="FaUserFrie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8880" y="3749040"/>
            <a:ext cx="731520" cy="731520"/>
          </a:xfrm>
          <a:prstGeom prst="rect">
            <a:avLst/>
          </a:prstGeom>
        </p:spPr>
      </p:pic>
      <p:pic>
        <p:nvPicPr>
          <p:cNvPr id="7" name="Icon 231" descr="FaCommentDo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3749040"/>
            <a:ext cx="731520" cy="731520"/>
          </a:xfrm>
          <a:prstGeom prst="rect">
            <a:avLst/>
          </a:prstGeom>
        </p:spPr>
      </p:pic>
      <p:pic>
        <p:nvPicPr>
          <p:cNvPr id="8" name="Icon 232" descr="FaHandsHelp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3749040"/>
            <a:ext cx="731520" cy="731520"/>
          </a:xfrm>
          <a:prstGeom prst="rect">
            <a:avLst/>
          </a:prstGeom>
        </p:spPr>
      </p:pic>
      <p:sp>
        <p:nvSpPr>
          <p:cNvPr id="9" name="Text 233"/>
          <p:cNvSpPr txBox="1"/>
          <p:nvPr/>
        </p:nvSpPr>
        <p:spPr>
          <a:xfrm>
            <a:off x="2286000" y="45262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</a:t>
            </a:r>
            <a:endParaRPr lang="en-US" sz="1600" dirty="0"/>
          </a:p>
        </p:txBody>
      </p:sp>
      <p:sp>
        <p:nvSpPr>
          <p:cNvPr id="10" name="Text 234"/>
          <p:cNvSpPr txBox="1"/>
          <p:nvPr/>
        </p:nvSpPr>
        <p:spPr>
          <a:xfrm>
            <a:off x="4023360" y="45262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</a:t>
            </a:r>
            <a:endParaRPr lang="en-US" sz="1600" dirty="0"/>
          </a:p>
        </p:txBody>
      </p:sp>
      <p:sp>
        <p:nvSpPr>
          <p:cNvPr id="11" name="Text 235"/>
          <p:cNvSpPr txBox="1"/>
          <p:nvPr/>
        </p:nvSpPr>
        <p:spPr>
          <a:xfrm>
            <a:off x="5760720" y="45262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236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1FB89A"/>
          </a:solidFill>
          <a:ln w="12700">
            <a:solidFill>
              <a:srgbClr val="1FB89A"/>
            </a:solidFill>
            <a:prstDash val="solid"/>
          </a:ln>
        </p:spPr>
      </p:sp>
      <p:sp>
        <p:nvSpPr>
          <p:cNvPr id="3" name="Text 237"/>
          <p:cNvSpPr txBox="1"/>
          <p:nvPr/>
        </p:nvSpPr>
        <p:spPr>
          <a:xfrm>
            <a:off x="914400" y="822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D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</a:t>
            </a:r>
            <a:endParaRPr lang="en-US" sz="2000" dirty="0"/>
          </a:p>
        </p:txBody>
      </p:sp>
      <p:sp>
        <p:nvSpPr>
          <p:cNvPr id="4" name="Text 238"/>
          <p:cNvSpPr txBox="1"/>
          <p:nvPr/>
        </p:nvSpPr>
        <p:spPr>
          <a:xfrm>
            <a:off x="914400" y="137160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parts make up a digital device?</a:t>
            </a:r>
            <a:endParaRPr lang="en-US" sz="3800" dirty="0"/>
          </a:p>
        </p:txBody>
      </p:sp>
      <p:sp>
        <p:nvSpPr>
          <p:cNvPr id="5" name="Text 239"/>
          <p:cNvSpPr txBox="1"/>
          <p:nvPr/>
        </p:nvSpPr>
        <p:spPr>
          <a:xfrm>
            <a:off x="914400" y="338328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D9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we tell inputs from outputs?</a:t>
            </a:r>
            <a:endParaRPr lang="en-US" sz="2000" dirty="0"/>
          </a:p>
        </p:txBody>
      </p:sp>
      <p:sp>
        <p:nvSpPr>
          <p:cNvPr id="6" name="Blob 240"/>
          <p:cNvSpPr/>
          <p:nvPr/>
        </p:nvSpPr>
        <p:spPr>
          <a:xfrm>
            <a:off x="6766560" y="1188720"/>
            <a:ext cx="2011680" cy="2011680"/>
          </a:xfrm>
          <a:prstGeom prst="ellipse">
            <a:avLst/>
          </a:prstGeom>
          <a:solidFill>
            <a:srgbClr val="1FB89A"/>
          </a:solidFill>
          <a:ln w="12700">
            <a:solidFill>
              <a:srgbClr val="1FB89A"/>
            </a:solidFill>
            <a:prstDash val="solid"/>
          </a:ln>
        </p:spPr>
      </p:sp>
      <p:pic>
        <p:nvPicPr>
          <p:cNvPr id="7" name="Icon 241" descr="FaM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69164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242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1FB89A"/>
          </a:solidFill>
          <a:ln w="12700">
            <a:solidFill>
              <a:srgbClr val="1FB89A"/>
            </a:solidFill>
            <a:prstDash val="solid"/>
          </a:ln>
        </p:spPr>
      </p:sp>
      <p:sp>
        <p:nvSpPr>
          <p:cNvPr id="3" name="Text 243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 can…</a:t>
            </a:r>
            <a:endParaRPr lang="en-US" sz="3000" dirty="0"/>
          </a:p>
        </p:txBody>
      </p:sp>
      <p:sp>
        <p:nvSpPr>
          <p:cNvPr id="4" name="Card 244"/>
          <p:cNvSpPr/>
          <p:nvPr/>
        </p:nvSpPr>
        <p:spPr>
          <a:xfrm>
            <a:off x="457200" y="1234440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5" name="Dot 245"/>
          <p:cNvSpPr/>
          <p:nvPr/>
        </p:nvSpPr>
        <p:spPr>
          <a:xfrm>
            <a:off x="640080" y="1389888"/>
            <a:ext cx="603504" cy="603504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con 246" descr="FaTh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536192"/>
            <a:ext cx="310896" cy="310896"/>
          </a:xfrm>
          <a:prstGeom prst="rect">
            <a:avLst/>
          </a:prstGeom>
        </p:spPr>
      </p:pic>
      <p:sp>
        <p:nvSpPr>
          <p:cNvPr id="7" name="Text 247"/>
          <p:cNvSpPr txBox="1"/>
          <p:nvPr/>
        </p:nvSpPr>
        <p:spPr>
          <a:xfrm>
            <a:off x="1463040" y="123444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sort input and output devices</a:t>
            </a:r>
            <a:endParaRPr lang="en-US" sz="2000" dirty="0"/>
          </a:p>
        </p:txBody>
      </p:sp>
      <p:sp>
        <p:nvSpPr>
          <p:cNvPr id="8" name="Card 248"/>
          <p:cNvSpPr/>
          <p:nvPr/>
        </p:nvSpPr>
        <p:spPr>
          <a:xfrm>
            <a:off x="457200" y="2286000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9" name="Dot 249"/>
          <p:cNvSpPr/>
          <p:nvPr/>
        </p:nvSpPr>
        <p:spPr>
          <a:xfrm>
            <a:off x="640080" y="2441448"/>
            <a:ext cx="603504" cy="603504"/>
          </a:xfrm>
          <a:prstGeom prst="ellipse">
            <a:avLst/>
          </a:prstGeom>
          <a:solidFill>
            <a:srgbClr val="FF5C8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con 250" descr="FaC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2587752"/>
            <a:ext cx="310896" cy="310896"/>
          </a:xfrm>
          <a:prstGeom prst="rect">
            <a:avLst/>
          </a:prstGeom>
        </p:spPr>
      </p:pic>
      <p:sp>
        <p:nvSpPr>
          <p:cNvPr id="11" name="Text 251"/>
          <p:cNvSpPr txBox="1"/>
          <p:nvPr/>
        </p:nvSpPr>
        <p:spPr>
          <a:xfrm>
            <a:off x="1463040" y="228600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describe a simple process</a:t>
            </a:r>
            <a:endParaRPr lang="en-US" sz="2000" dirty="0"/>
          </a:p>
        </p:txBody>
      </p:sp>
      <p:sp>
        <p:nvSpPr>
          <p:cNvPr id="12" name="Card 252"/>
          <p:cNvSpPr/>
          <p:nvPr/>
        </p:nvSpPr>
        <p:spPr>
          <a:xfrm>
            <a:off x="457200" y="3337560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3" name="Dot 253"/>
          <p:cNvSpPr/>
          <p:nvPr/>
        </p:nvSpPr>
        <p:spPr>
          <a:xfrm>
            <a:off x="640080" y="3493008"/>
            <a:ext cx="603504" cy="603504"/>
          </a:xfrm>
          <a:prstGeom prst="ellipse">
            <a:avLst/>
          </a:prstGeom>
          <a:solidFill>
            <a:srgbClr val="4DA3E0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 254" descr="FaLight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3639312"/>
            <a:ext cx="310896" cy="310896"/>
          </a:xfrm>
          <a:prstGeom prst="rect">
            <a:avLst/>
          </a:prstGeom>
        </p:spPr>
      </p:pic>
      <p:sp>
        <p:nvSpPr>
          <p:cNvPr id="15" name="Text 255"/>
          <p:cNvSpPr txBox="1"/>
          <p:nvPr/>
        </p:nvSpPr>
        <p:spPr>
          <a:xfrm>
            <a:off x="1463040" y="333756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design my own digital device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256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1FB89A"/>
          </a:solidFill>
          <a:ln w="12700">
            <a:solidFill>
              <a:srgbClr val="1FB89A"/>
            </a:solidFill>
            <a:prstDash val="solid"/>
          </a:ln>
        </p:spPr>
      </p:sp>
      <p:sp>
        <p:nvSpPr>
          <p:cNvPr id="3" name="Text 257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</a:t>
            </a:r>
            <a:endParaRPr lang="en-US" sz="3000" dirty="0"/>
          </a:p>
        </p:txBody>
      </p:sp>
      <p:sp>
        <p:nvSpPr>
          <p:cNvPr id="4" name="Card 258"/>
          <p:cNvSpPr/>
          <p:nvPr/>
        </p:nvSpPr>
        <p:spPr>
          <a:xfrm>
            <a:off x="457200" y="1188720"/>
            <a:ext cx="41148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5" name="Dot 259"/>
          <p:cNvSpPr/>
          <p:nvPr/>
        </p:nvSpPr>
        <p:spPr>
          <a:xfrm>
            <a:off x="640080" y="1371600"/>
            <a:ext cx="731520" cy="73152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con 260" descr="FaM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1545336"/>
            <a:ext cx="384048" cy="384048"/>
          </a:xfrm>
          <a:prstGeom prst="rect">
            <a:avLst/>
          </a:prstGeom>
        </p:spPr>
      </p:pic>
      <p:sp>
        <p:nvSpPr>
          <p:cNvPr id="7" name="Text 261"/>
          <p:cNvSpPr txBox="1"/>
          <p:nvPr/>
        </p:nvSpPr>
        <p:spPr>
          <a:xfrm>
            <a:off x="1554480" y="1325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device</a:t>
            </a:r>
            <a:endParaRPr lang="en-US" sz="2400" dirty="0"/>
          </a:p>
        </p:txBody>
      </p:sp>
      <p:sp>
        <p:nvSpPr>
          <p:cNvPr id="8" name="Text 262"/>
          <p:cNvSpPr txBox="1"/>
          <p:nvPr/>
        </p:nvSpPr>
        <p:spPr>
          <a:xfrm>
            <a:off x="1554480" y="1828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Lets us put information into a computer</a:t>
            </a:r>
            <a:endParaRPr lang="en-US" sz="1800" dirty="0"/>
          </a:p>
        </p:txBody>
      </p:sp>
      <p:sp>
        <p:nvSpPr>
          <p:cNvPr id="9" name="Card 263"/>
          <p:cNvSpPr/>
          <p:nvPr/>
        </p:nvSpPr>
        <p:spPr>
          <a:xfrm>
            <a:off x="4663440" y="1188720"/>
            <a:ext cx="41148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264"/>
          <p:cNvSpPr/>
          <p:nvPr/>
        </p:nvSpPr>
        <p:spPr>
          <a:xfrm>
            <a:off x="4846320" y="1371600"/>
            <a:ext cx="731520" cy="731520"/>
          </a:xfrm>
          <a:prstGeom prst="ellipse">
            <a:avLst/>
          </a:prstGeom>
          <a:solidFill>
            <a:srgbClr val="FF5C8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con 265" descr="FaPri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0056" y="1545336"/>
            <a:ext cx="384048" cy="384048"/>
          </a:xfrm>
          <a:prstGeom prst="rect">
            <a:avLst/>
          </a:prstGeom>
        </p:spPr>
      </p:pic>
      <p:sp>
        <p:nvSpPr>
          <p:cNvPr id="12" name="Text 266"/>
          <p:cNvSpPr txBox="1"/>
          <p:nvPr/>
        </p:nvSpPr>
        <p:spPr>
          <a:xfrm>
            <a:off x="5760720" y="1325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device</a:t>
            </a:r>
            <a:endParaRPr lang="en-US" sz="2400" dirty="0"/>
          </a:p>
        </p:txBody>
      </p:sp>
      <p:sp>
        <p:nvSpPr>
          <p:cNvPr id="13" name="Text 267"/>
          <p:cNvSpPr txBox="1"/>
          <p:nvPr/>
        </p:nvSpPr>
        <p:spPr>
          <a:xfrm>
            <a:off x="5760720" y="1828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or gives out information</a:t>
            </a:r>
            <a:endParaRPr lang="en-US" sz="1800" dirty="0"/>
          </a:p>
        </p:txBody>
      </p:sp>
      <p:sp>
        <p:nvSpPr>
          <p:cNvPr id="14" name="Card 268"/>
          <p:cNvSpPr/>
          <p:nvPr/>
        </p:nvSpPr>
        <p:spPr>
          <a:xfrm>
            <a:off x="457200" y="3108960"/>
            <a:ext cx="41148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5" name="Dot 269"/>
          <p:cNvSpPr/>
          <p:nvPr/>
        </p:nvSpPr>
        <p:spPr>
          <a:xfrm>
            <a:off x="640080" y="3291840"/>
            <a:ext cx="731520" cy="731520"/>
          </a:xfrm>
          <a:prstGeom prst="ellipse">
            <a:avLst/>
          </a:prstGeom>
          <a:solidFill>
            <a:srgbClr val="4DA3E0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con 270" descr="FaHandPo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3465576"/>
            <a:ext cx="384048" cy="384048"/>
          </a:xfrm>
          <a:prstGeom prst="rect">
            <a:avLst/>
          </a:prstGeom>
        </p:spPr>
      </p:pic>
      <p:sp>
        <p:nvSpPr>
          <p:cNvPr id="17" name="Text 271"/>
          <p:cNvSpPr txBox="1"/>
          <p:nvPr/>
        </p:nvSpPr>
        <p:spPr>
          <a:xfrm>
            <a:off x="1554480" y="3246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D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Touchscreen</a:t>
            </a:r>
            <a:endParaRPr lang="en-US" sz="2400" dirty="0"/>
          </a:p>
        </p:txBody>
      </p:sp>
      <p:sp>
        <p:nvSpPr>
          <p:cNvPr id="18" name="Text 272"/>
          <p:cNvSpPr txBox="1"/>
          <p:nvPr/>
        </p:nvSpPr>
        <p:spPr>
          <a:xfrm>
            <a:off x="1554480" y="37490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an input AND an output device</a:t>
            </a:r>
            <a:endParaRPr lang="en-US" sz="1800" dirty="0"/>
          </a:p>
        </p:txBody>
      </p:sp>
      <p:sp>
        <p:nvSpPr>
          <p:cNvPr id="19" name="Card 273"/>
          <p:cNvSpPr/>
          <p:nvPr/>
        </p:nvSpPr>
        <p:spPr>
          <a:xfrm>
            <a:off x="4663440" y="3108960"/>
            <a:ext cx="41148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20" name="Dot 274"/>
          <p:cNvSpPr/>
          <p:nvPr/>
        </p:nvSpPr>
        <p:spPr>
          <a:xfrm>
            <a:off x="4846320" y="3291840"/>
            <a:ext cx="731520" cy="731520"/>
          </a:xfrm>
          <a:prstGeom prst="ellipse">
            <a:avLst/>
          </a:prstGeom>
          <a:solidFill>
            <a:srgbClr val="1FB89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con 275" descr="FaTablet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0056" y="3465576"/>
            <a:ext cx="384048" cy="384048"/>
          </a:xfrm>
          <a:prstGeom prst="rect">
            <a:avLst/>
          </a:prstGeom>
        </p:spPr>
      </p:pic>
      <p:sp>
        <p:nvSpPr>
          <p:cNvPr id="22" name="Text 276"/>
          <p:cNvSpPr txBox="1"/>
          <p:nvPr/>
        </p:nvSpPr>
        <p:spPr>
          <a:xfrm>
            <a:off x="5760720" y="3246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B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device</a:t>
            </a:r>
            <a:endParaRPr lang="en-US" sz="2400" dirty="0"/>
          </a:p>
        </p:txBody>
      </p:sp>
      <p:sp>
        <p:nvSpPr>
          <p:cNvPr id="23" name="Text 277"/>
          <p:cNvSpPr txBox="1"/>
          <p:nvPr/>
        </p:nvSpPr>
        <p:spPr>
          <a:xfrm>
            <a:off x="5760720" y="37490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that processes information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278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1FB89A"/>
          </a:solidFill>
          <a:ln w="12700">
            <a:solidFill>
              <a:srgbClr val="1FB89A"/>
            </a:solidFill>
            <a:prstDash val="solid"/>
          </a:ln>
        </p:spPr>
      </p:sp>
      <p:sp>
        <p:nvSpPr>
          <p:cNvPr id="3" name="Text 279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or output?</a:t>
            </a:r>
            <a:endParaRPr lang="en-US" sz="3000" dirty="0"/>
          </a:p>
        </p:txBody>
      </p:sp>
      <p:sp>
        <p:nvSpPr>
          <p:cNvPr id="4" name="Card 280"/>
          <p:cNvSpPr/>
          <p:nvPr/>
        </p:nvSpPr>
        <p:spPr>
          <a:xfrm>
            <a:off x="548640" y="1051560"/>
            <a:ext cx="5120640" cy="3639312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5" name="Picture 281" descr="Keyboard, mouse, microphone, speaker, printer and scre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4937760" cy="3456432"/>
          </a:xfrm>
          <a:prstGeom prst="rect">
            <a:avLst/>
          </a:prstGeom>
        </p:spPr>
      </p:pic>
      <p:sp>
        <p:nvSpPr>
          <p:cNvPr id="6" name="Text 282"/>
          <p:cNvSpPr txBox="1"/>
          <p:nvPr/>
        </p:nvSpPr>
        <p:spPr>
          <a:xfrm>
            <a:off x="5897880" y="1234440"/>
            <a:ext cx="2834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= INPUT devices. Green = OUTPUT devices. A touchscreen is both. A cable is neither!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283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1FB89A"/>
          </a:solidFill>
          <a:ln w="12700">
            <a:solidFill>
              <a:srgbClr val="1FB89A"/>
            </a:solidFill>
            <a:prstDash val="solid"/>
          </a:ln>
        </p:spPr>
      </p:sp>
      <p:sp>
        <p:nvSpPr>
          <p:cNvPr id="3" name="Text 284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quiz</a:t>
            </a:r>
            <a:endParaRPr lang="en-US" sz="3000" dirty="0"/>
          </a:p>
        </p:txBody>
      </p:sp>
      <p:sp>
        <p:nvSpPr>
          <p:cNvPr id="4" name="Text 285"/>
          <p:cNvSpPr txBox="1"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touchscreen is…</a:t>
            </a:r>
            <a:endParaRPr lang="en-US" sz="2600" dirty="0"/>
          </a:p>
        </p:txBody>
      </p:sp>
      <p:sp>
        <p:nvSpPr>
          <p:cNvPr id="5" name="Card 286"/>
          <p:cNvSpPr/>
          <p:nvPr/>
        </p:nvSpPr>
        <p:spPr>
          <a:xfrm>
            <a:off x="457200" y="219456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287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1FB8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288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289"/>
          <p:cNvSpPr txBox="1"/>
          <p:nvPr/>
        </p:nvSpPr>
        <p:spPr>
          <a:xfrm>
            <a:off x="1188720" y="219456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an input</a:t>
            </a:r>
            <a:endParaRPr lang="en-US" sz="2200" dirty="0"/>
          </a:p>
        </p:txBody>
      </p:sp>
      <p:sp>
        <p:nvSpPr>
          <p:cNvPr id="9" name="Card 290"/>
          <p:cNvSpPr/>
          <p:nvPr/>
        </p:nvSpPr>
        <p:spPr>
          <a:xfrm>
            <a:off x="457200" y="301752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291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1FB8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292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293"/>
          <p:cNvSpPr txBox="1"/>
          <p:nvPr/>
        </p:nvSpPr>
        <p:spPr>
          <a:xfrm>
            <a:off x="1188720" y="301752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an output</a:t>
            </a:r>
            <a:endParaRPr lang="en-US" sz="2200" dirty="0"/>
          </a:p>
        </p:txBody>
      </p:sp>
      <p:sp>
        <p:nvSpPr>
          <p:cNvPr id="13" name="Card 294"/>
          <p:cNvSpPr/>
          <p:nvPr/>
        </p:nvSpPr>
        <p:spPr>
          <a:xfrm>
            <a:off x="457200" y="384048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295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1FB8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296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297"/>
          <p:cNvSpPr txBox="1"/>
          <p:nvPr/>
        </p:nvSpPr>
        <p:spPr>
          <a:xfrm>
            <a:off x="1188720" y="384048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an input and an output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298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" name="Text 299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The answer</a:t>
            </a:r>
            <a:endParaRPr lang="en-US" sz="3000" dirty="0"/>
          </a:p>
        </p:txBody>
      </p:sp>
      <p:sp>
        <p:nvSpPr>
          <p:cNvPr id="4" name="Text 300"/>
          <p:cNvSpPr txBox="1"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touchscreen is…</a:t>
            </a:r>
            <a:endParaRPr lang="en-US" sz="2600" dirty="0"/>
          </a:p>
        </p:txBody>
      </p:sp>
      <p:sp>
        <p:nvSpPr>
          <p:cNvPr id="5" name="Card 301"/>
          <p:cNvSpPr/>
          <p:nvPr/>
        </p:nvSpPr>
        <p:spPr>
          <a:xfrm>
            <a:off x="457200" y="219456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302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303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304"/>
          <p:cNvSpPr txBox="1"/>
          <p:nvPr/>
        </p:nvSpPr>
        <p:spPr>
          <a:xfrm>
            <a:off x="1188720" y="219456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an input</a:t>
            </a:r>
            <a:endParaRPr lang="en-US" sz="2200" dirty="0"/>
          </a:p>
        </p:txBody>
      </p:sp>
      <p:sp>
        <p:nvSpPr>
          <p:cNvPr id="9" name="Card 305"/>
          <p:cNvSpPr/>
          <p:nvPr/>
        </p:nvSpPr>
        <p:spPr>
          <a:xfrm>
            <a:off x="457200" y="301752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306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307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308"/>
          <p:cNvSpPr txBox="1"/>
          <p:nvPr/>
        </p:nvSpPr>
        <p:spPr>
          <a:xfrm>
            <a:off x="1188720" y="301752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an output</a:t>
            </a:r>
            <a:endParaRPr lang="en-US" sz="2200" dirty="0"/>
          </a:p>
        </p:txBody>
      </p:sp>
      <p:sp>
        <p:nvSpPr>
          <p:cNvPr id="13" name="Card 309"/>
          <p:cNvSpPr/>
          <p:nvPr/>
        </p:nvSpPr>
        <p:spPr>
          <a:xfrm>
            <a:off x="457200" y="384048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D9F5E6"/>
          </a:solidFill>
          <a:ln w="38100">
            <a:solidFill>
              <a:srgbClr val="2E9E5B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310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311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312"/>
          <p:cNvSpPr txBox="1"/>
          <p:nvPr/>
        </p:nvSpPr>
        <p:spPr>
          <a:xfrm>
            <a:off x="1188720" y="384048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an input and an output</a:t>
            </a:r>
            <a:endParaRPr lang="en-US" sz="2200" dirty="0"/>
          </a:p>
        </p:txBody>
      </p:sp>
      <p:sp>
        <p:nvSpPr>
          <p:cNvPr id="17" name="Text 313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touch it (input) and it shows things (output).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314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1FB89A"/>
          </a:solidFill>
          <a:ln w="12700">
            <a:solidFill>
              <a:srgbClr val="1FB89A"/>
            </a:solidFill>
            <a:prstDash val="solid"/>
          </a:ln>
        </p:spPr>
      </p:sp>
      <p:sp>
        <p:nvSpPr>
          <p:cNvPr id="3" name="Text 315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Activity: Match input, device, output</a:t>
            </a:r>
            <a:endParaRPr lang="en-US" sz="3000" dirty="0"/>
          </a:p>
        </p:txBody>
      </p:sp>
      <p:sp>
        <p:nvSpPr>
          <p:cNvPr id="4" name="Tag 316"/>
          <p:cNvSpPr/>
          <p:nvPr/>
        </p:nvSpPr>
        <p:spPr>
          <a:xfrm>
            <a:off x="7223760" y="384048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F9A3D"/>
          </a:solidFill>
          <a:ln w="12700">
            <a:solidFill>
              <a:srgbClr val="FF9A3D"/>
            </a:solidFill>
            <a:prstDash val="solid"/>
          </a:ln>
        </p:spPr>
      </p:sp>
      <p:sp>
        <p:nvSpPr>
          <p:cNvPr id="5" name="Text 317"/>
          <p:cNvSpPr txBox="1"/>
          <p:nvPr/>
        </p:nvSpPr>
        <p:spPr>
          <a:xfrm>
            <a:off x="7223760" y="3840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1600" dirty="0"/>
          </a:p>
        </p:txBody>
      </p:sp>
      <p:sp>
        <p:nvSpPr>
          <p:cNvPr id="6" name="Card 318"/>
          <p:cNvSpPr/>
          <p:nvPr/>
        </p:nvSpPr>
        <p:spPr>
          <a:xfrm>
            <a:off x="457200" y="1188720"/>
            <a:ext cx="82296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7" name="Dot 319"/>
          <p:cNvSpPr/>
          <p:nvPr/>
        </p:nvSpPr>
        <p:spPr>
          <a:xfrm>
            <a:off x="594360" y="135102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320"/>
          <p:cNvSpPr txBox="1"/>
          <p:nvPr/>
        </p:nvSpPr>
        <p:spPr>
          <a:xfrm>
            <a:off x="594360" y="135102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321"/>
          <p:cNvSpPr txBox="1"/>
          <p:nvPr/>
        </p:nvSpPr>
        <p:spPr>
          <a:xfrm>
            <a:off x="1188720" y="1188720"/>
            <a:ext cx="73152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three columns: inputs, devices and outputs.</a:t>
            </a:r>
            <a:endParaRPr lang="en-US" sz="1900" dirty="0"/>
          </a:p>
        </p:txBody>
      </p:sp>
      <p:sp>
        <p:nvSpPr>
          <p:cNvPr id="10" name="Card 322"/>
          <p:cNvSpPr/>
          <p:nvPr/>
        </p:nvSpPr>
        <p:spPr>
          <a:xfrm>
            <a:off x="457200" y="2080260"/>
            <a:ext cx="82296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1" name="Dot 323"/>
          <p:cNvSpPr/>
          <p:nvPr/>
        </p:nvSpPr>
        <p:spPr>
          <a:xfrm>
            <a:off x="594360" y="224256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324"/>
          <p:cNvSpPr txBox="1"/>
          <p:nvPr/>
        </p:nvSpPr>
        <p:spPr>
          <a:xfrm>
            <a:off x="594360" y="22425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325"/>
          <p:cNvSpPr txBox="1"/>
          <p:nvPr/>
        </p:nvSpPr>
        <p:spPr>
          <a:xfrm>
            <a:off x="1188720" y="2080260"/>
            <a:ext cx="73152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lines to join them: Keyboard → Laptop → Screen.</a:t>
            </a:r>
            <a:endParaRPr lang="en-US" sz="1900" dirty="0"/>
          </a:p>
        </p:txBody>
      </p:sp>
      <p:sp>
        <p:nvSpPr>
          <p:cNvPr id="14" name="Card 326"/>
          <p:cNvSpPr/>
          <p:nvPr/>
        </p:nvSpPr>
        <p:spPr>
          <a:xfrm>
            <a:off x="457200" y="2971800"/>
            <a:ext cx="82296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5" name="Dot 327"/>
          <p:cNvSpPr/>
          <p:nvPr/>
        </p:nvSpPr>
        <p:spPr>
          <a:xfrm>
            <a:off x="594360" y="313410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328"/>
          <p:cNvSpPr txBox="1"/>
          <p:nvPr/>
        </p:nvSpPr>
        <p:spPr>
          <a:xfrm>
            <a:off x="594360" y="313410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329"/>
          <p:cNvSpPr txBox="1"/>
          <p:nvPr/>
        </p:nvSpPr>
        <p:spPr>
          <a:xfrm>
            <a:off x="1188720" y="2971800"/>
            <a:ext cx="73152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one input lead to MANY outputs?</a:t>
            </a:r>
            <a:endParaRPr lang="en-US" sz="1900" dirty="0"/>
          </a:p>
        </p:txBody>
      </p:sp>
      <p:sp>
        <p:nvSpPr>
          <p:cNvPr id="18" name="Card 330"/>
          <p:cNvSpPr/>
          <p:nvPr/>
        </p:nvSpPr>
        <p:spPr>
          <a:xfrm>
            <a:off x="457200" y="3863340"/>
            <a:ext cx="82296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9" name="Dot 331"/>
          <p:cNvSpPr/>
          <p:nvPr/>
        </p:nvSpPr>
        <p:spPr>
          <a:xfrm>
            <a:off x="594360" y="402564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332"/>
          <p:cNvSpPr txBox="1"/>
          <p:nvPr/>
        </p:nvSpPr>
        <p:spPr>
          <a:xfrm>
            <a:off x="594360" y="40256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333"/>
          <p:cNvSpPr txBox="1"/>
          <p:nvPr/>
        </p:nvSpPr>
        <p:spPr>
          <a:xfrm>
            <a:off x="1188720" y="3863340"/>
            <a:ext cx="73152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it in a sentence: “Pressing keys (input) on a laptop (device) shows letters on the screen (output).”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334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1FB89A"/>
          </a:solidFill>
          <a:ln w="12700">
            <a:solidFill>
              <a:srgbClr val="1FB89A"/>
            </a:solidFill>
            <a:prstDash val="solid"/>
          </a:ln>
        </p:spPr>
      </p:sp>
      <p:sp>
        <p:nvSpPr>
          <p:cNvPr id="3" name="Text 335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 a digital device</a:t>
            </a:r>
            <a:endParaRPr lang="en-US" sz="3000" dirty="0"/>
          </a:p>
        </p:txBody>
      </p:sp>
      <p:sp>
        <p:nvSpPr>
          <p:cNvPr id="4" name="Card 336"/>
          <p:cNvSpPr/>
          <p:nvPr/>
        </p:nvSpPr>
        <p:spPr>
          <a:xfrm>
            <a:off x="548640" y="1051560"/>
            <a:ext cx="5120640" cy="3639312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5" name="Picture 337" descr="An invention with inputs and outpu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4937760" cy="3456432"/>
          </a:xfrm>
          <a:prstGeom prst="rect">
            <a:avLst/>
          </a:prstGeom>
        </p:spPr>
      </p:pic>
      <p:sp>
        <p:nvSpPr>
          <p:cNvPr id="6" name="Text 338"/>
          <p:cNvSpPr txBox="1"/>
          <p:nvPr/>
        </p:nvSpPr>
        <p:spPr>
          <a:xfrm>
            <a:off x="5897880" y="1234440"/>
            <a:ext cx="2834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device nobody has made yet! What INPUTS does it need? What does it PROCESS? What OUTPUTS does it give?</a:t>
            </a: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339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1FB89A"/>
          </a:solidFill>
          <a:ln w="12700">
            <a:solidFill>
              <a:srgbClr val="1FB89A"/>
            </a:solidFill>
            <a:prstDash val="solid"/>
          </a:ln>
        </p:spPr>
      </p:sp>
      <p:sp>
        <p:nvSpPr>
          <p:cNvPr id="3" name="Text 34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Activity: My invention</a:t>
            </a:r>
            <a:endParaRPr lang="en-US" sz="3000" dirty="0"/>
          </a:p>
        </p:txBody>
      </p:sp>
      <p:sp>
        <p:nvSpPr>
          <p:cNvPr id="4" name="Tag 341"/>
          <p:cNvSpPr/>
          <p:nvPr/>
        </p:nvSpPr>
        <p:spPr>
          <a:xfrm>
            <a:off x="7223760" y="384048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F9A3D"/>
          </a:solidFill>
          <a:ln w="12700">
            <a:solidFill>
              <a:srgbClr val="FF9A3D"/>
            </a:solidFill>
            <a:prstDash val="solid"/>
          </a:ln>
        </p:spPr>
      </p:sp>
      <p:sp>
        <p:nvSpPr>
          <p:cNvPr id="5" name="Text 342"/>
          <p:cNvSpPr txBox="1"/>
          <p:nvPr/>
        </p:nvSpPr>
        <p:spPr>
          <a:xfrm>
            <a:off x="7223760" y="3840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1600" dirty="0"/>
          </a:p>
        </p:txBody>
      </p:sp>
      <p:sp>
        <p:nvSpPr>
          <p:cNvPr id="6" name="Card 343"/>
          <p:cNvSpPr/>
          <p:nvPr/>
        </p:nvSpPr>
        <p:spPr>
          <a:xfrm>
            <a:off x="457200" y="1188720"/>
            <a:ext cx="41148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7" name="Dot 344"/>
          <p:cNvSpPr/>
          <p:nvPr/>
        </p:nvSpPr>
        <p:spPr>
          <a:xfrm>
            <a:off x="594360" y="135102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345"/>
          <p:cNvSpPr txBox="1"/>
          <p:nvPr/>
        </p:nvSpPr>
        <p:spPr>
          <a:xfrm>
            <a:off x="594360" y="135102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346"/>
          <p:cNvSpPr txBox="1"/>
          <p:nvPr/>
        </p:nvSpPr>
        <p:spPr>
          <a:xfrm>
            <a:off x="1188720" y="1188720"/>
            <a:ext cx="32004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your invention.</a:t>
            </a:r>
            <a:endParaRPr lang="en-US" sz="1700" dirty="0"/>
          </a:p>
        </p:txBody>
      </p:sp>
      <p:sp>
        <p:nvSpPr>
          <p:cNvPr id="10" name="Card 347"/>
          <p:cNvSpPr/>
          <p:nvPr/>
        </p:nvSpPr>
        <p:spPr>
          <a:xfrm>
            <a:off x="457200" y="2080260"/>
            <a:ext cx="41148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1" name="Dot 348"/>
          <p:cNvSpPr/>
          <p:nvPr/>
        </p:nvSpPr>
        <p:spPr>
          <a:xfrm>
            <a:off x="594360" y="224256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349"/>
          <p:cNvSpPr txBox="1"/>
          <p:nvPr/>
        </p:nvSpPr>
        <p:spPr>
          <a:xfrm>
            <a:off x="594360" y="22425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350"/>
          <p:cNvSpPr txBox="1"/>
          <p:nvPr/>
        </p:nvSpPr>
        <p:spPr>
          <a:xfrm>
            <a:off x="1188720" y="2080260"/>
            <a:ext cx="32004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at least one input and one output.</a:t>
            </a:r>
            <a:endParaRPr lang="en-US" sz="1700" dirty="0"/>
          </a:p>
        </p:txBody>
      </p:sp>
      <p:sp>
        <p:nvSpPr>
          <p:cNvPr id="14" name="Card 351"/>
          <p:cNvSpPr/>
          <p:nvPr/>
        </p:nvSpPr>
        <p:spPr>
          <a:xfrm>
            <a:off x="457200" y="2971800"/>
            <a:ext cx="41148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5" name="Dot 352"/>
          <p:cNvSpPr/>
          <p:nvPr/>
        </p:nvSpPr>
        <p:spPr>
          <a:xfrm>
            <a:off x="594360" y="313410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353"/>
          <p:cNvSpPr txBox="1"/>
          <p:nvPr/>
        </p:nvSpPr>
        <p:spPr>
          <a:xfrm>
            <a:off x="594360" y="313410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354"/>
          <p:cNvSpPr txBox="1"/>
          <p:nvPr/>
        </p:nvSpPr>
        <p:spPr>
          <a:xfrm>
            <a:off x="1188720" y="2971800"/>
            <a:ext cx="32004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what the process is.</a:t>
            </a:r>
            <a:endParaRPr lang="en-US" sz="1700" dirty="0"/>
          </a:p>
        </p:txBody>
      </p:sp>
      <p:sp>
        <p:nvSpPr>
          <p:cNvPr id="18" name="Card 355"/>
          <p:cNvSpPr/>
          <p:nvPr/>
        </p:nvSpPr>
        <p:spPr>
          <a:xfrm>
            <a:off x="457200" y="3863340"/>
            <a:ext cx="41148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9" name="Dot 356"/>
          <p:cNvSpPr/>
          <p:nvPr/>
        </p:nvSpPr>
        <p:spPr>
          <a:xfrm>
            <a:off x="594360" y="402564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357"/>
          <p:cNvSpPr txBox="1"/>
          <p:nvPr/>
        </p:nvSpPr>
        <p:spPr>
          <a:xfrm>
            <a:off x="594360" y="40256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358"/>
          <p:cNvSpPr txBox="1"/>
          <p:nvPr/>
        </p:nvSpPr>
        <p:spPr>
          <a:xfrm>
            <a:off x="1188720" y="3863340"/>
            <a:ext cx="32004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partner and explain how it works.</a:t>
            </a:r>
            <a:endParaRPr lang="en-US" sz="1700" dirty="0"/>
          </a:p>
        </p:txBody>
      </p:sp>
      <p:sp>
        <p:nvSpPr>
          <p:cNvPr id="22" name="Card 359"/>
          <p:cNvSpPr/>
          <p:nvPr/>
        </p:nvSpPr>
        <p:spPr>
          <a:xfrm>
            <a:off x="4617720" y="1097280"/>
            <a:ext cx="4206240" cy="2999232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23" name="Picture 360" descr="Activity pic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1188720"/>
            <a:ext cx="4023360" cy="281635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361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1FB89A"/>
          </a:solidFill>
          <a:ln w="12700">
            <a:solidFill>
              <a:srgbClr val="1FB89A"/>
            </a:solidFill>
            <a:prstDash val="solid"/>
          </a:ln>
        </p:spPr>
      </p:sp>
      <p:sp>
        <p:nvSpPr>
          <p:cNvPr id="3" name="Text 362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quiz</a:t>
            </a:r>
            <a:endParaRPr lang="en-US" sz="3000" dirty="0"/>
          </a:p>
        </p:txBody>
      </p:sp>
      <p:sp>
        <p:nvSpPr>
          <p:cNvPr id="4" name="Text 363"/>
          <p:cNvSpPr txBox="1"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an OUTPUT device?</a:t>
            </a:r>
            <a:endParaRPr lang="en-US" sz="2600" dirty="0"/>
          </a:p>
        </p:txBody>
      </p:sp>
      <p:sp>
        <p:nvSpPr>
          <p:cNvPr id="5" name="Card 364"/>
          <p:cNvSpPr/>
          <p:nvPr/>
        </p:nvSpPr>
        <p:spPr>
          <a:xfrm>
            <a:off x="457200" y="219456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365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1FB8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366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367"/>
          <p:cNvSpPr txBox="1"/>
          <p:nvPr/>
        </p:nvSpPr>
        <p:spPr>
          <a:xfrm>
            <a:off x="1188720" y="219456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Microphone</a:t>
            </a:r>
            <a:endParaRPr lang="en-US" sz="2200" dirty="0"/>
          </a:p>
        </p:txBody>
      </p:sp>
      <p:sp>
        <p:nvSpPr>
          <p:cNvPr id="9" name="Card 368"/>
          <p:cNvSpPr/>
          <p:nvPr/>
        </p:nvSpPr>
        <p:spPr>
          <a:xfrm>
            <a:off x="457200" y="301752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369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1FB8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370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371"/>
          <p:cNvSpPr txBox="1"/>
          <p:nvPr/>
        </p:nvSpPr>
        <p:spPr>
          <a:xfrm>
            <a:off x="1188720" y="301752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</a:t>
            </a:r>
            <a:endParaRPr lang="en-US" sz="2200" dirty="0"/>
          </a:p>
        </p:txBody>
      </p:sp>
      <p:sp>
        <p:nvSpPr>
          <p:cNvPr id="13" name="Card 372"/>
          <p:cNvSpPr/>
          <p:nvPr/>
        </p:nvSpPr>
        <p:spPr>
          <a:xfrm>
            <a:off x="457200" y="384048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373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1FB8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374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375"/>
          <p:cNvSpPr txBox="1"/>
          <p:nvPr/>
        </p:nvSpPr>
        <p:spPr>
          <a:xfrm>
            <a:off x="1188720" y="384048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376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" name="Text 377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The answer</a:t>
            </a:r>
            <a:endParaRPr lang="en-US" sz="3000" dirty="0"/>
          </a:p>
        </p:txBody>
      </p:sp>
      <p:sp>
        <p:nvSpPr>
          <p:cNvPr id="4" name="Text 378"/>
          <p:cNvSpPr txBox="1"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an OUTPUT device?</a:t>
            </a:r>
            <a:endParaRPr lang="en-US" sz="2600" dirty="0"/>
          </a:p>
        </p:txBody>
      </p:sp>
      <p:sp>
        <p:nvSpPr>
          <p:cNvPr id="5" name="Card 379"/>
          <p:cNvSpPr/>
          <p:nvPr/>
        </p:nvSpPr>
        <p:spPr>
          <a:xfrm>
            <a:off x="457200" y="219456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380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381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382"/>
          <p:cNvSpPr txBox="1"/>
          <p:nvPr/>
        </p:nvSpPr>
        <p:spPr>
          <a:xfrm>
            <a:off x="1188720" y="219456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Microphone</a:t>
            </a:r>
            <a:endParaRPr lang="en-US" sz="2200" dirty="0"/>
          </a:p>
        </p:txBody>
      </p:sp>
      <p:sp>
        <p:nvSpPr>
          <p:cNvPr id="9" name="Card 383"/>
          <p:cNvSpPr/>
          <p:nvPr/>
        </p:nvSpPr>
        <p:spPr>
          <a:xfrm>
            <a:off x="457200" y="301752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D9F5E6"/>
          </a:solidFill>
          <a:ln w="38100">
            <a:solidFill>
              <a:srgbClr val="2E9E5B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384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385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386"/>
          <p:cNvSpPr txBox="1"/>
          <p:nvPr/>
        </p:nvSpPr>
        <p:spPr>
          <a:xfrm>
            <a:off x="1188720" y="301752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</a:t>
            </a:r>
            <a:endParaRPr lang="en-US" sz="2200" dirty="0"/>
          </a:p>
        </p:txBody>
      </p:sp>
      <p:sp>
        <p:nvSpPr>
          <p:cNvPr id="13" name="Card 387"/>
          <p:cNvSpPr/>
          <p:nvPr/>
        </p:nvSpPr>
        <p:spPr>
          <a:xfrm>
            <a:off x="457200" y="384048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388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389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390"/>
          <p:cNvSpPr txBox="1"/>
          <p:nvPr/>
        </p:nvSpPr>
        <p:spPr>
          <a:xfrm>
            <a:off x="1188720" y="384048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</a:t>
            </a:r>
            <a:endParaRPr lang="en-US" sz="2200" dirty="0"/>
          </a:p>
        </p:txBody>
      </p:sp>
      <p:sp>
        <p:nvSpPr>
          <p:cNvPr id="17" name="Text 391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Speakers give out sound.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392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3" name="Text 393"/>
          <p:cNvSpPr txBox="1"/>
          <p:nvPr/>
        </p:nvSpPr>
        <p:spPr>
          <a:xfrm>
            <a:off x="914400" y="822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D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</a:t>
            </a:r>
            <a:endParaRPr lang="en-US" sz="2000" dirty="0"/>
          </a:p>
        </p:txBody>
      </p:sp>
      <p:sp>
        <p:nvSpPr>
          <p:cNvPr id="4" name="Text 394"/>
          <p:cNvSpPr txBox="1"/>
          <p:nvPr/>
        </p:nvSpPr>
        <p:spPr>
          <a:xfrm>
            <a:off x="914400" y="137160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digital devices help us?</a:t>
            </a:r>
            <a:endParaRPr lang="en-US" sz="3800" dirty="0"/>
          </a:p>
        </p:txBody>
      </p:sp>
      <p:sp>
        <p:nvSpPr>
          <p:cNvPr id="5" name="Text 395"/>
          <p:cNvSpPr txBox="1"/>
          <p:nvPr/>
        </p:nvSpPr>
        <p:spPr>
          <a:xfrm>
            <a:off x="914400" y="338328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D9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tools or non-digital tools: what is different?</a:t>
            </a:r>
            <a:endParaRPr lang="en-US" sz="2000" dirty="0"/>
          </a:p>
        </p:txBody>
      </p:sp>
      <p:sp>
        <p:nvSpPr>
          <p:cNvPr id="6" name="Blob 396"/>
          <p:cNvSpPr/>
          <p:nvPr/>
        </p:nvSpPr>
        <p:spPr>
          <a:xfrm>
            <a:off x="6766560" y="1188720"/>
            <a:ext cx="2011680" cy="2011680"/>
          </a:xfrm>
          <a:prstGeom prst="ellipse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pic>
        <p:nvPicPr>
          <p:cNvPr id="7" name="Icon 397" descr="FaPaintBru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69164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398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3" name="Text 399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 can…</a:t>
            </a:r>
            <a:endParaRPr lang="en-US" sz="3000" dirty="0"/>
          </a:p>
        </p:txBody>
      </p:sp>
      <p:sp>
        <p:nvSpPr>
          <p:cNvPr id="4" name="Card 400"/>
          <p:cNvSpPr/>
          <p:nvPr/>
        </p:nvSpPr>
        <p:spPr>
          <a:xfrm>
            <a:off x="457200" y="1234440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5" name="Dot 401"/>
          <p:cNvSpPr/>
          <p:nvPr/>
        </p:nvSpPr>
        <p:spPr>
          <a:xfrm>
            <a:off x="640080" y="1389888"/>
            <a:ext cx="603504" cy="603504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con 402" descr="FaTablet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536192"/>
            <a:ext cx="310896" cy="310896"/>
          </a:xfrm>
          <a:prstGeom prst="rect">
            <a:avLst/>
          </a:prstGeom>
        </p:spPr>
      </p:pic>
      <p:sp>
        <p:nvSpPr>
          <p:cNvPr id="7" name="Text 403"/>
          <p:cNvSpPr txBox="1"/>
          <p:nvPr/>
        </p:nvSpPr>
        <p:spPr>
          <a:xfrm>
            <a:off x="1463040" y="123444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how I use digital devices for different things</a:t>
            </a:r>
            <a:endParaRPr lang="en-US" sz="2000" dirty="0"/>
          </a:p>
        </p:txBody>
      </p:sp>
      <p:sp>
        <p:nvSpPr>
          <p:cNvPr id="8" name="Card 404"/>
          <p:cNvSpPr/>
          <p:nvPr/>
        </p:nvSpPr>
        <p:spPr>
          <a:xfrm>
            <a:off x="457200" y="2286000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9" name="Dot 405"/>
          <p:cNvSpPr/>
          <p:nvPr/>
        </p:nvSpPr>
        <p:spPr>
          <a:xfrm>
            <a:off x="640080" y="2441448"/>
            <a:ext cx="603504" cy="603504"/>
          </a:xfrm>
          <a:prstGeom prst="ellipse">
            <a:avLst/>
          </a:prstGeom>
          <a:solidFill>
            <a:srgbClr val="FF5C8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con 406" descr="FaEqual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2587752"/>
            <a:ext cx="310896" cy="310896"/>
          </a:xfrm>
          <a:prstGeom prst="rect">
            <a:avLst/>
          </a:prstGeom>
        </p:spPr>
      </p:pic>
      <p:sp>
        <p:nvSpPr>
          <p:cNvPr id="11" name="Text 407"/>
          <p:cNvSpPr txBox="1"/>
          <p:nvPr/>
        </p:nvSpPr>
        <p:spPr>
          <a:xfrm>
            <a:off x="1463040" y="228600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find things that are the SAME using digital and non-digital tools</a:t>
            </a:r>
            <a:endParaRPr lang="en-US" sz="2000" dirty="0"/>
          </a:p>
        </p:txBody>
      </p:sp>
      <p:sp>
        <p:nvSpPr>
          <p:cNvPr id="12" name="Card 408"/>
          <p:cNvSpPr/>
          <p:nvPr/>
        </p:nvSpPr>
        <p:spPr>
          <a:xfrm>
            <a:off x="457200" y="3337560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3" name="Dot 409"/>
          <p:cNvSpPr/>
          <p:nvPr/>
        </p:nvSpPr>
        <p:spPr>
          <a:xfrm>
            <a:off x="640080" y="3493008"/>
            <a:ext cx="603504" cy="603504"/>
          </a:xfrm>
          <a:prstGeom prst="ellipse">
            <a:avLst/>
          </a:prstGeom>
          <a:solidFill>
            <a:srgbClr val="4DA3E0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 410" descr="FaBalanceSc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3639312"/>
            <a:ext cx="310896" cy="310896"/>
          </a:xfrm>
          <a:prstGeom prst="rect">
            <a:avLst/>
          </a:prstGeom>
        </p:spPr>
      </p:pic>
      <p:sp>
        <p:nvSpPr>
          <p:cNvPr id="15" name="Text 411"/>
          <p:cNvSpPr txBox="1"/>
          <p:nvPr/>
        </p:nvSpPr>
        <p:spPr>
          <a:xfrm>
            <a:off x="1463040" y="333756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find things that are DIFFERENT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412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3" name="Text 413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</a:t>
            </a:r>
            <a:endParaRPr lang="en-US" sz="3000" dirty="0"/>
          </a:p>
        </p:txBody>
      </p:sp>
      <p:sp>
        <p:nvSpPr>
          <p:cNvPr id="4" name="Card 414"/>
          <p:cNvSpPr/>
          <p:nvPr/>
        </p:nvSpPr>
        <p:spPr>
          <a:xfrm>
            <a:off x="457200" y="1188720"/>
            <a:ext cx="41148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5" name="Dot 415"/>
          <p:cNvSpPr/>
          <p:nvPr/>
        </p:nvSpPr>
        <p:spPr>
          <a:xfrm>
            <a:off x="640080" y="1371600"/>
            <a:ext cx="731520" cy="73152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con 416" descr="Fa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1545336"/>
            <a:ext cx="384048" cy="384048"/>
          </a:xfrm>
          <a:prstGeom prst="rect">
            <a:avLst/>
          </a:prstGeom>
        </p:spPr>
      </p:pic>
      <p:sp>
        <p:nvSpPr>
          <p:cNvPr id="7" name="Text 417"/>
          <p:cNvSpPr txBox="1"/>
          <p:nvPr/>
        </p:nvSpPr>
        <p:spPr>
          <a:xfrm>
            <a:off x="1554480" y="1325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</a:t>
            </a:r>
            <a:endParaRPr lang="en-US" sz="2400" dirty="0"/>
          </a:p>
        </p:txBody>
      </p:sp>
      <p:sp>
        <p:nvSpPr>
          <p:cNvPr id="8" name="Text 418"/>
          <p:cNvSpPr txBox="1"/>
          <p:nvPr/>
        </p:nvSpPr>
        <p:spPr>
          <a:xfrm>
            <a:off x="1554480" y="1828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that tell a computer what to do</a:t>
            </a:r>
            <a:endParaRPr lang="en-US" sz="1800" dirty="0"/>
          </a:p>
        </p:txBody>
      </p:sp>
      <p:sp>
        <p:nvSpPr>
          <p:cNvPr id="9" name="Card 419"/>
          <p:cNvSpPr/>
          <p:nvPr/>
        </p:nvSpPr>
        <p:spPr>
          <a:xfrm>
            <a:off x="4663440" y="1188720"/>
            <a:ext cx="41148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420"/>
          <p:cNvSpPr/>
          <p:nvPr/>
        </p:nvSpPr>
        <p:spPr>
          <a:xfrm>
            <a:off x="4846320" y="1371600"/>
            <a:ext cx="731520" cy="731520"/>
          </a:xfrm>
          <a:prstGeom prst="ellipse">
            <a:avLst/>
          </a:prstGeom>
          <a:solidFill>
            <a:srgbClr val="FF5C8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con 421" descr="FaTablet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0056" y="1545336"/>
            <a:ext cx="384048" cy="384048"/>
          </a:xfrm>
          <a:prstGeom prst="rect">
            <a:avLst/>
          </a:prstGeom>
        </p:spPr>
      </p:pic>
      <p:sp>
        <p:nvSpPr>
          <p:cNvPr id="12" name="Text 422"/>
          <p:cNvSpPr txBox="1"/>
          <p:nvPr/>
        </p:nvSpPr>
        <p:spPr>
          <a:xfrm>
            <a:off x="5760720" y="1325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</a:t>
            </a:r>
            <a:endParaRPr lang="en-US" sz="2400" dirty="0"/>
          </a:p>
        </p:txBody>
      </p:sp>
      <p:sp>
        <p:nvSpPr>
          <p:cNvPr id="13" name="Text 423"/>
          <p:cNvSpPr txBox="1"/>
          <p:nvPr/>
        </p:nvSpPr>
        <p:spPr>
          <a:xfrm>
            <a:off x="5760720" y="1828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 computer or device</a:t>
            </a:r>
            <a:endParaRPr lang="en-US" sz="1800" dirty="0"/>
          </a:p>
        </p:txBody>
      </p:sp>
      <p:sp>
        <p:nvSpPr>
          <p:cNvPr id="14" name="Card 424"/>
          <p:cNvSpPr/>
          <p:nvPr/>
        </p:nvSpPr>
        <p:spPr>
          <a:xfrm>
            <a:off x="457200" y="3108960"/>
            <a:ext cx="41148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5" name="Dot 425"/>
          <p:cNvSpPr/>
          <p:nvPr/>
        </p:nvSpPr>
        <p:spPr>
          <a:xfrm>
            <a:off x="640080" y="3291840"/>
            <a:ext cx="731520" cy="731520"/>
          </a:xfrm>
          <a:prstGeom prst="ellipse">
            <a:avLst/>
          </a:prstGeom>
          <a:solidFill>
            <a:srgbClr val="4DA3E0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con 426" descr="FaPaintBru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3465576"/>
            <a:ext cx="384048" cy="384048"/>
          </a:xfrm>
          <a:prstGeom prst="rect">
            <a:avLst/>
          </a:prstGeom>
        </p:spPr>
      </p:pic>
      <p:sp>
        <p:nvSpPr>
          <p:cNvPr id="17" name="Text 427"/>
          <p:cNvSpPr txBox="1"/>
          <p:nvPr/>
        </p:nvSpPr>
        <p:spPr>
          <a:xfrm>
            <a:off x="1554480" y="3246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D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Non-digital</a:t>
            </a:r>
            <a:endParaRPr lang="en-US" sz="2400" dirty="0"/>
          </a:p>
        </p:txBody>
      </p:sp>
      <p:sp>
        <p:nvSpPr>
          <p:cNvPr id="18" name="Text 428"/>
          <p:cNvSpPr txBox="1"/>
          <p:nvPr/>
        </p:nvSpPr>
        <p:spPr>
          <a:xfrm>
            <a:off x="1554480" y="37490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use a computer, like paper and paint</a:t>
            </a:r>
            <a:endParaRPr lang="en-US" sz="1800" dirty="0"/>
          </a:p>
        </p:txBody>
      </p:sp>
      <p:sp>
        <p:nvSpPr>
          <p:cNvPr id="19" name="Card 429"/>
          <p:cNvSpPr/>
          <p:nvPr/>
        </p:nvSpPr>
        <p:spPr>
          <a:xfrm>
            <a:off x="4663440" y="3108960"/>
            <a:ext cx="41148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20" name="Dot 430"/>
          <p:cNvSpPr/>
          <p:nvPr/>
        </p:nvSpPr>
        <p:spPr>
          <a:xfrm>
            <a:off x="4846320" y="3291840"/>
            <a:ext cx="731520" cy="731520"/>
          </a:xfrm>
          <a:prstGeom prst="ellipse">
            <a:avLst/>
          </a:prstGeom>
          <a:solidFill>
            <a:srgbClr val="1FB89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con 431" descr="FaUnd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0056" y="3465576"/>
            <a:ext cx="384048" cy="384048"/>
          </a:xfrm>
          <a:prstGeom prst="rect">
            <a:avLst/>
          </a:prstGeom>
        </p:spPr>
      </p:pic>
      <p:sp>
        <p:nvSpPr>
          <p:cNvPr id="22" name="Text 432"/>
          <p:cNvSpPr txBox="1"/>
          <p:nvPr/>
        </p:nvSpPr>
        <p:spPr>
          <a:xfrm>
            <a:off x="5760720" y="3246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B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</a:t>
            </a:r>
            <a:endParaRPr lang="en-US" sz="2400" dirty="0"/>
          </a:p>
        </p:txBody>
      </p:sp>
      <p:sp>
        <p:nvSpPr>
          <p:cNvPr id="23" name="Text 433"/>
          <p:cNvSpPr txBox="1"/>
          <p:nvPr/>
        </p:nvSpPr>
        <p:spPr>
          <a:xfrm>
            <a:off x="5760720" y="37490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back the last thing you did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434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3" name="Text 435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or non-digital?</a:t>
            </a:r>
            <a:endParaRPr lang="en-US" sz="3000" dirty="0"/>
          </a:p>
        </p:txBody>
      </p:sp>
      <p:sp>
        <p:nvSpPr>
          <p:cNvPr id="4" name="Card 436"/>
          <p:cNvSpPr/>
          <p:nvPr/>
        </p:nvSpPr>
        <p:spPr>
          <a:xfrm>
            <a:off x="548640" y="1051560"/>
            <a:ext cx="5120640" cy="3639312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5" name="Picture 437" descr="A tablet and a paintbru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4937760" cy="3456432"/>
          </a:xfrm>
          <a:prstGeom prst="rect">
            <a:avLst/>
          </a:prstGeom>
        </p:spPr>
      </p:pic>
      <p:sp>
        <p:nvSpPr>
          <p:cNvPr id="6" name="Text 438"/>
          <p:cNvSpPr txBox="1"/>
          <p:nvPr/>
        </p:nvSpPr>
        <p:spPr>
          <a:xfrm>
            <a:off x="5897880" y="1234440"/>
            <a:ext cx="2834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job, two ways! You can make a picture with a tablet or with paper and paint.</a:t>
            </a:r>
            <a:endParaRPr lang="en-US" sz="2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439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3" name="Text 44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a digital device do?</a:t>
            </a:r>
            <a:endParaRPr lang="en-US" sz="3000" dirty="0"/>
          </a:p>
        </p:txBody>
      </p:sp>
      <p:sp>
        <p:nvSpPr>
          <p:cNvPr id="4" name="Card 441"/>
          <p:cNvSpPr/>
          <p:nvPr/>
        </p:nvSpPr>
        <p:spPr>
          <a:xfrm>
            <a:off x="457200" y="118872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5" name="Dot 442"/>
          <p:cNvSpPr/>
          <p:nvPr/>
        </p:nvSpPr>
        <p:spPr>
          <a:xfrm>
            <a:off x="640080" y="1371600"/>
            <a:ext cx="640080" cy="64008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con 443" descr="FaGamep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527048"/>
            <a:ext cx="329184" cy="329184"/>
          </a:xfrm>
          <a:prstGeom prst="rect">
            <a:avLst/>
          </a:prstGeom>
        </p:spPr>
      </p:pic>
      <p:sp>
        <p:nvSpPr>
          <p:cNvPr id="7" name="Text 444"/>
          <p:cNvSpPr txBox="1"/>
          <p:nvPr/>
        </p:nvSpPr>
        <p:spPr>
          <a:xfrm>
            <a:off x="1417320" y="1325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games</a:t>
            </a:r>
            <a:endParaRPr lang="en-US" sz="2000" dirty="0"/>
          </a:p>
        </p:txBody>
      </p:sp>
      <p:sp>
        <p:nvSpPr>
          <p:cNvPr id="8" name="Text 445"/>
          <p:cNvSpPr txBox="1"/>
          <p:nvPr/>
        </p:nvSpPr>
        <p:spPr>
          <a:xfrm>
            <a:off x="640080" y="21031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700" dirty="0"/>
          </a:p>
        </p:txBody>
      </p:sp>
      <p:sp>
        <p:nvSpPr>
          <p:cNvPr id="9" name="Card 446"/>
          <p:cNvSpPr/>
          <p:nvPr/>
        </p:nvSpPr>
        <p:spPr>
          <a:xfrm>
            <a:off x="3246120" y="118872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447"/>
          <p:cNvSpPr/>
          <p:nvPr/>
        </p:nvSpPr>
        <p:spPr>
          <a:xfrm>
            <a:off x="3429000" y="1371600"/>
            <a:ext cx="640080" cy="640080"/>
          </a:xfrm>
          <a:prstGeom prst="ellipse">
            <a:avLst/>
          </a:prstGeom>
          <a:solidFill>
            <a:srgbClr val="FF5C8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con 448" descr="FaPaintBru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1527048"/>
            <a:ext cx="329184" cy="329184"/>
          </a:xfrm>
          <a:prstGeom prst="rect">
            <a:avLst/>
          </a:prstGeom>
        </p:spPr>
      </p:pic>
      <p:sp>
        <p:nvSpPr>
          <p:cNvPr id="12" name="Text 449"/>
          <p:cNvSpPr txBox="1"/>
          <p:nvPr/>
        </p:nvSpPr>
        <p:spPr>
          <a:xfrm>
            <a:off x="4206240" y="1325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and paint</a:t>
            </a:r>
            <a:endParaRPr lang="en-US" sz="2000" dirty="0"/>
          </a:p>
        </p:txBody>
      </p:sp>
      <p:sp>
        <p:nvSpPr>
          <p:cNvPr id="13" name="Text 450"/>
          <p:cNvSpPr txBox="1"/>
          <p:nvPr/>
        </p:nvSpPr>
        <p:spPr>
          <a:xfrm>
            <a:off x="3429000" y="21031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700" dirty="0"/>
          </a:p>
        </p:txBody>
      </p:sp>
      <p:sp>
        <p:nvSpPr>
          <p:cNvPr id="14" name="Card 451"/>
          <p:cNvSpPr/>
          <p:nvPr/>
        </p:nvSpPr>
        <p:spPr>
          <a:xfrm>
            <a:off x="6035040" y="118872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5" name="Dot 452"/>
          <p:cNvSpPr/>
          <p:nvPr/>
        </p:nvSpPr>
        <p:spPr>
          <a:xfrm>
            <a:off x="6217920" y="1371600"/>
            <a:ext cx="640080" cy="640080"/>
          </a:xfrm>
          <a:prstGeom prst="ellipse">
            <a:avLst/>
          </a:prstGeom>
          <a:solidFill>
            <a:srgbClr val="4DA3E0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con 453" descr="FaFileWo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527048"/>
            <a:ext cx="329184" cy="329184"/>
          </a:xfrm>
          <a:prstGeom prst="rect">
            <a:avLst/>
          </a:prstGeom>
        </p:spPr>
      </p:pic>
      <p:sp>
        <p:nvSpPr>
          <p:cNvPr id="17" name="Text 454"/>
          <p:cNvSpPr txBox="1"/>
          <p:nvPr/>
        </p:nvSpPr>
        <p:spPr>
          <a:xfrm>
            <a:off x="6995160" y="1325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D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documents</a:t>
            </a:r>
            <a:endParaRPr lang="en-US" sz="2000" dirty="0"/>
          </a:p>
        </p:txBody>
      </p:sp>
      <p:sp>
        <p:nvSpPr>
          <p:cNvPr id="18" name="Text 455"/>
          <p:cNvSpPr txBox="1"/>
          <p:nvPr/>
        </p:nvSpPr>
        <p:spPr>
          <a:xfrm>
            <a:off x="6217920" y="21031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700" dirty="0"/>
          </a:p>
        </p:txBody>
      </p:sp>
      <p:sp>
        <p:nvSpPr>
          <p:cNvPr id="19" name="Card 456"/>
          <p:cNvSpPr/>
          <p:nvPr/>
        </p:nvSpPr>
        <p:spPr>
          <a:xfrm>
            <a:off x="457200" y="306324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20" name="Dot 457"/>
          <p:cNvSpPr/>
          <p:nvPr/>
        </p:nvSpPr>
        <p:spPr>
          <a:xfrm>
            <a:off x="640080" y="3246120"/>
            <a:ext cx="640080" cy="640080"/>
          </a:xfrm>
          <a:prstGeom prst="ellipse">
            <a:avLst/>
          </a:prstGeom>
          <a:solidFill>
            <a:srgbClr val="1FB89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con 458" descr="FaMusic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3401568"/>
            <a:ext cx="329184" cy="329184"/>
          </a:xfrm>
          <a:prstGeom prst="rect">
            <a:avLst/>
          </a:prstGeom>
        </p:spPr>
      </p:pic>
      <p:sp>
        <p:nvSpPr>
          <p:cNvPr id="22" name="Text 459"/>
          <p:cNvSpPr txBox="1"/>
          <p:nvPr/>
        </p:nvSpPr>
        <p:spPr>
          <a:xfrm>
            <a:off x="1417320" y="32004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B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and play music</a:t>
            </a:r>
            <a:endParaRPr lang="en-US" sz="2000" dirty="0"/>
          </a:p>
        </p:txBody>
      </p:sp>
      <p:sp>
        <p:nvSpPr>
          <p:cNvPr id="23" name="Text 460"/>
          <p:cNvSpPr txBox="1"/>
          <p:nvPr/>
        </p:nvSpPr>
        <p:spPr>
          <a:xfrm>
            <a:off x="640080" y="39776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700" dirty="0"/>
          </a:p>
        </p:txBody>
      </p:sp>
      <p:sp>
        <p:nvSpPr>
          <p:cNvPr id="24" name="Card 461"/>
          <p:cNvSpPr/>
          <p:nvPr/>
        </p:nvSpPr>
        <p:spPr>
          <a:xfrm>
            <a:off x="3246120" y="306324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25" name="Dot 462"/>
          <p:cNvSpPr/>
          <p:nvPr/>
        </p:nvSpPr>
        <p:spPr>
          <a:xfrm>
            <a:off x="3429000" y="3246120"/>
            <a:ext cx="640080" cy="640080"/>
          </a:xfrm>
          <a:prstGeom prst="ellipse">
            <a:avLst/>
          </a:prstGeom>
          <a:solidFill>
            <a:srgbClr val="6C63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6" name="Icon 463" descr="FaCamer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4448" y="3401568"/>
            <a:ext cx="329184" cy="329184"/>
          </a:xfrm>
          <a:prstGeom prst="rect">
            <a:avLst/>
          </a:prstGeom>
        </p:spPr>
      </p:pic>
      <p:sp>
        <p:nvSpPr>
          <p:cNvPr id="27" name="Text 464"/>
          <p:cNvSpPr txBox="1"/>
          <p:nvPr/>
        </p:nvSpPr>
        <p:spPr>
          <a:xfrm>
            <a:off x="4206240" y="32004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6C6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photos and videos</a:t>
            </a:r>
            <a:endParaRPr lang="en-US" sz="2000" dirty="0"/>
          </a:p>
        </p:txBody>
      </p:sp>
      <p:sp>
        <p:nvSpPr>
          <p:cNvPr id="28" name="Text 465"/>
          <p:cNvSpPr txBox="1"/>
          <p:nvPr/>
        </p:nvSpPr>
        <p:spPr>
          <a:xfrm>
            <a:off x="3429000" y="39776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700" dirty="0"/>
          </a:p>
        </p:txBody>
      </p:sp>
      <p:sp>
        <p:nvSpPr>
          <p:cNvPr id="29" name="Card 466"/>
          <p:cNvSpPr/>
          <p:nvPr/>
        </p:nvSpPr>
        <p:spPr>
          <a:xfrm>
            <a:off x="6035040" y="306324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30" name="Dot 467"/>
          <p:cNvSpPr/>
          <p:nvPr/>
        </p:nvSpPr>
        <p:spPr>
          <a:xfrm>
            <a:off x="6217920" y="3246120"/>
            <a:ext cx="640080" cy="64008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1" name="Icon 468" descr="FaSearc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3401568"/>
            <a:ext cx="329184" cy="329184"/>
          </a:xfrm>
          <a:prstGeom prst="rect">
            <a:avLst/>
          </a:prstGeom>
        </p:spPr>
      </p:pic>
      <p:sp>
        <p:nvSpPr>
          <p:cNvPr id="32" name="Text 469"/>
          <p:cNvSpPr txBox="1"/>
          <p:nvPr/>
        </p:nvSpPr>
        <p:spPr>
          <a:xfrm>
            <a:off x="6995160" y="32004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information</a:t>
            </a:r>
            <a:endParaRPr lang="en-US" sz="2000" dirty="0"/>
          </a:p>
        </p:txBody>
      </p:sp>
      <p:sp>
        <p:nvSpPr>
          <p:cNvPr id="33" name="Text 470"/>
          <p:cNvSpPr txBox="1"/>
          <p:nvPr/>
        </p:nvSpPr>
        <p:spPr>
          <a:xfrm>
            <a:off x="6217920" y="39776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471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3" name="Text 472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Activity: Two pictures, two ways</a:t>
            </a:r>
            <a:endParaRPr lang="en-US" sz="3000" dirty="0"/>
          </a:p>
        </p:txBody>
      </p:sp>
      <p:sp>
        <p:nvSpPr>
          <p:cNvPr id="4" name="Tag 473"/>
          <p:cNvSpPr/>
          <p:nvPr/>
        </p:nvSpPr>
        <p:spPr>
          <a:xfrm>
            <a:off x="7223760" y="384048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F9A3D"/>
          </a:solidFill>
          <a:ln w="12700">
            <a:solidFill>
              <a:srgbClr val="FF9A3D"/>
            </a:solidFill>
            <a:prstDash val="solid"/>
          </a:ln>
        </p:spPr>
      </p:sp>
      <p:sp>
        <p:nvSpPr>
          <p:cNvPr id="5" name="Text 474"/>
          <p:cNvSpPr txBox="1"/>
          <p:nvPr/>
        </p:nvSpPr>
        <p:spPr>
          <a:xfrm>
            <a:off x="7223760" y="3840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1600" dirty="0"/>
          </a:p>
        </p:txBody>
      </p:sp>
      <p:sp>
        <p:nvSpPr>
          <p:cNvPr id="6" name="Card 475"/>
          <p:cNvSpPr/>
          <p:nvPr/>
        </p:nvSpPr>
        <p:spPr>
          <a:xfrm>
            <a:off x="457200" y="1188720"/>
            <a:ext cx="82296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7" name="Dot 476"/>
          <p:cNvSpPr/>
          <p:nvPr/>
        </p:nvSpPr>
        <p:spPr>
          <a:xfrm>
            <a:off x="594360" y="135102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477"/>
          <p:cNvSpPr txBox="1"/>
          <p:nvPr/>
        </p:nvSpPr>
        <p:spPr>
          <a:xfrm>
            <a:off x="594360" y="135102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478"/>
          <p:cNvSpPr txBox="1"/>
          <p:nvPr/>
        </p:nvSpPr>
        <p:spPr>
          <a:xfrm>
            <a:off x="1188720" y="1188720"/>
            <a:ext cx="73152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a picture on paper.</a:t>
            </a:r>
            <a:endParaRPr lang="en-US" sz="1900" dirty="0"/>
          </a:p>
        </p:txBody>
      </p:sp>
      <p:sp>
        <p:nvSpPr>
          <p:cNvPr id="10" name="Card 479"/>
          <p:cNvSpPr/>
          <p:nvPr/>
        </p:nvSpPr>
        <p:spPr>
          <a:xfrm>
            <a:off x="457200" y="2080260"/>
            <a:ext cx="82296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1" name="Dot 480"/>
          <p:cNvSpPr/>
          <p:nvPr/>
        </p:nvSpPr>
        <p:spPr>
          <a:xfrm>
            <a:off x="594360" y="224256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481"/>
          <p:cNvSpPr txBox="1"/>
          <p:nvPr/>
        </p:nvSpPr>
        <p:spPr>
          <a:xfrm>
            <a:off x="594360" y="22425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482"/>
          <p:cNvSpPr txBox="1"/>
          <p:nvPr/>
        </p:nvSpPr>
        <p:spPr>
          <a:xfrm>
            <a:off x="1188720" y="2080260"/>
            <a:ext cx="73152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similar picture on a computer or tablet.</a:t>
            </a:r>
            <a:endParaRPr lang="en-US" sz="1900" dirty="0"/>
          </a:p>
        </p:txBody>
      </p:sp>
      <p:sp>
        <p:nvSpPr>
          <p:cNvPr id="14" name="Card 483"/>
          <p:cNvSpPr/>
          <p:nvPr/>
        </p:nvSpPr>
        <p:spPr>
          <a:xfrm>
            <a:off x="457200" y="2971800"/>
            <a:ext cx="82296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5" name="Dot 484"/>
          <p:cNvSpPr/>
          <p:nvPr/>
        </p:nvSpPr>
        <p:spPr>
          <a:xfrm>
            <a:off x="594360" y="313410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485"/>
          <p:cNvSpPr txBox="1"/>
          <p:nvPr/>
        </p:nvSpPr>
        <p:spPr>
          <a:xfrm>
            <a:off x="594360" y="313410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486"/>
          <p:cNvSpPr txBox="1"/>
          <p:nvPr/>
        </p:nvSpPr>
        <p:spPr>
          <a:xfrm>
            <a:off x="1188720" y="2971800"/>
            <a:ext cx="73152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brush, fill, undo and redo.</a:t>
            </a:r>
            <a:endParaRPr lang="en-US" sz="1900" dirty="0"/>
          </a:p>
        </p:txBody>
      </p:sp>
      <p:sp>
        <p:nvSpPr>
          <p:cNvPr id="18" name="Card 487"/>
          <p:cNvSpPr/>
          <p:nvPr/>
        </p:nvSpPr>
        <p:spPr>
          <a:xfrm>
            <a:off x="457200" y="3863340"/>
            <a:ext cx="82296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9" name="Dot 488"/>
          <p:cNvSpPr/>
          <p:nvPr/>
        </p:nvSpPr>
        <p:spPr>
          <a:xfrm>
            <a:off x="594360" y="402564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489"/>
          <p:cNvSpPr txBox="1"/>
          <p:nvPr/>
        </p:nvSpPr>
        <p:spPr>
          <a:xfrm>
            <a:off x="594360" y="40256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490"/>
          <p:cNvSpPr txBox="1"/>
          <p:nvPr/>
        </p:nvSpPr>
        <p:spPr>
          <a:xfrm>
            <a:off x="1188720" y="3863340"/>
            <a:ext cx="73152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Think: how did you fix mistakes each time?</a:t>
            </a:r>
            <a:endParaRPr lang="en-US" sz="1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491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3" name="Text 492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or different?</a:t>
            </a:r>
            <a:endParaRPr lang="en-US" sz="3000" dirty="0"/>
          </a:p>
        </p:txBody>
      </p:sp>
      <p:sp>
        <p:nvSpPr>
          <p:cNvPr id="4" name="Card 493"/>
          <p:cNvSpPr/>
          <p:nvPr/>
        </p:nvSpPr>
        <p:spPr>
          <a:xfrm>
            <a:off x="457200" y="1188720"/>
            <a:ext cx="41148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5" name="Dot 494"/>
          <p:cNvSpPr/>
          <p:nvPr/>
        </p:nvSpPr>
        <p:spPr>
          <a:xfrm>
            <a:off x="640080" y="1371600"/>
            <a:ext cx="640080" cy="64008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con 495" descr="FaEqua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527048"/>
            <a:ext cx="329184" cy="329184"/>
          </a:xfrm>
          <a:prstGeom prst="rect">
            <a:avLst/>
          </a:prstGeom>
        </p:spPr>
      </p:pic>
      <p:sp>
        <p:nvSpPr>
          <p:cNvPr id="7" name="Text 496"/>
          <p:cNvSpPr txBox="1"/>
          <p:nvPr/>
        </p:nvSpPr>
        <p:spPr>
          <a:xfrm>
            <a:off x="1417320" y="1325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</a:t>
            </a:r>
            <a:endParaRPr lang="en-US" sz="2200" dirty="0"/>
          </a:p>
        </p:txBody>
      </p:sp>
      <p:sp>
        <p:nvSpPr>
          <p:cNvPr id="8" name="Text 497"/>
          <p:cNvSpPr txBox="1"/>
          <p:nvPr/>
        </p:nvSpPr>
        <p:spPr>
          <a:xfrm>
            <a:off x="1417320" y="17830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making a picture · You choose colours · You plan your ideas</a:t>
            </a:r>
            <a:endParaRPr lang="en-US" sz="1800" dirty="0"/>
          </a:p>
        </p:txBody>
      </p:sp>
      <p:sp>
        <p:nvSpPr>
          <p:cNvPr id="9" name="Card 498"/>
          <p:cNvSpPr/>
          <p:nvPr/>
        </p:nvSpPr>
        <p:spPr>
          <a:xfrm>
            <a:off x="4709160" y="1188720"/>
            <a:ext cx="41148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499"/>
          <p:cNvSpPr/>
          <p:nvPr/>
        </p:nvSpPr>
        <p:spPr>
          <a:xfrm>
            <a:off x="4892040" y="1371600"/>
            <a:ext cx="640080" cy="640080"/>
          </a:xfrm>
          <a:prstGeom prst="ellipse">
            <a:avLst/>
          </a:prstGeom>
          <a:solidFill>
            <a:srgbClr val="FF5C8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con 500" descr="Fa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488" y="1527048"/>
            <a:ext cx="329184" cy="329184"/>
          </a:xfrm>
          <a:prstGeom prst="rect">
            <a:avLst/>
          </a:prstGeom>
        </p:spPr>
      </p:pic>
      <p:sp>
        <p:nvSpPr>
          <p:cNvPr id="12" name="Text 501"/>
          <p:cNvSpPr txBox="1"/>
          <p:nvPr/>
        </p:nvSpPr>
        <p:spPr>
          <a:xfrm>
            <a:off x="5669280" y="1325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</a:t>
            </a:r>
            <a:endParaRPr lang="en-US" sz="2200" dirty="0"/>
          </a:p>
        </p:txBody>
      </p:sp>
      <p:sp>
        <p:nvSpPr>
          <p:cNvPr id="13" name="Text 502"/>
          <p:cNvSpPr txBox="1"/>
          <p:nvPr/>
        </p:nvSpPr>
        <p:spPr>
          <a:xfrm>
            <a:off x="5669280" y="17830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 and redo · Save and share · Different tools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503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3" name="Text 504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quiz</a:t>
            </a:r>
            <a:endParaRPr lang="en-US" sz="3000" dirty="0"/>
          </a:p>
        </p:txBody>
      </p:sp>
      <p:sp>
        <p:nvSpPr>
          <p:cNvPr id="4" name="Text 505"/>
          <p:cNvSpPr txBox="1"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you do in a paint program that you cannot do with real paint?</a:t>
            </a:r>
            <a:endParaRPr lang="en-US" sz="2600" dirty="0"/>
          </a:p>
        </p:txBody>
      </p:sp>
      <p:sp>
        <p:nvSpPr>
          <p:cNvPr id="5" name="Card 506"/>
          <p:cNvSpPr/>
          <p:nvPr/>
        </p:nvSpPr>
        <p:spPr>
          <a:xfrm>
            <a:off x="457200" y="219456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507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FF5C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08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509"/>
          <p:cNvSpPr txBox="1"/>
          <p:nvPr/>
        </p:nvSpPr>
        <p:spPr>
          <a:xfrm>
            <a:off x="1188720" y="219456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wet colours</a:t>
            </a:r>
            <a:endParaRPr lang="en-US" sz="2200" dirty="0"/>
          </a:p>
        </p:txBody>
      </p:sp>
      <p:sp>
        <p:nvSpPr>
          <p:cNvPr id="9" name="Card 510"/>
          <p:cNvSpPr/>
          <p:nvPr/>
        </p:nvSpPr>
        <p:spPr>
          <a:xfrm>
            <a:off x="457200" y="301752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511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FF5C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512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513"/>
          <p:cNvSpPr txBox="1"/>
          <p:nvPr/>
        </p:nvSpPr>
        <p:spPr>
          <a:xfrm>
            <a:off x="1188720" y="301752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undo</a:t>
            </a:r>
            <a:endParaRPr lang="en-US" sz="2200" dirty="0"/>
          </a:p>
        </p:txBody>
      </p:sp>
      <p:sp>
        <p:nvSpPr>
          <p:cNvPr id="13" name="Card 514"/>
          <p:cNvSpPr/>
          <p:nvPr/>
        </p:nvSpPr>
        <p:spPr>
          <a:xfrm>
            <a:off x="457200" y="384048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515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FF5C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516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517"/>
          <p:cNvSpPr txBox="1"/>
          <p:nvPr/>
        </p:nvSpPr>
        <p:spPr>
          <a:xfrm>
            <a:off x="1188720" y="384048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Smell the paint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518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" name="Text 519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The answer</a:t>
            </a:r>
            <a:endParaRPr lang="en-US" sz="3000" dirty="0"/>
          </a:p>
        </p:txBody>
      </p:sp>
      <p:sp>
        <p:nvSpPr>
          <p:cNvPr id="4" name="Text 520"/>
          <p:cNvSpPr txBox="1"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you do in a paint program that you cannot do with real paint?</a:t>
            </a:r>
            <a:endParaRPr lang="en-US" sz="2600" dirty="0"/>
          </a:p>
        </p:txBody>
      </p:sp>
      <p:sp>
        <p:nvSpPr>
          <p:cNvPr id="5" name="Card 521"/>
          <p:cNvSpPr/>
          <p:nvPr/>
        </p:nvSpPr>
        <p:spPr>
          <a:xfrm>
            <a:off x="457200" y="219456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522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23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524"/>
          <p:cNvSpPr txBox="1"/>
          <p:nvPr/>
        </p:nvSpPr>
        <p:spPr>
          <a:xfrm>
            <a:off x="1188720" y="219456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wet colours</a:t>
            </a:r>
            <a:endParaRPr lang="en-US" sz="2200" dirty="0"/>
          </a:p>
        </p:txBody>
      </p:sp>
      <p:sp>
        <p:nvSpPr>
          <p:cNvPr id="9" name="Card 525"/>
          <p:cNvSpPr/>
          <p:nvPr/>
        </p:nvSpPr>
        <p:spPr>
          <a:xfrm>
            <a:off x="457200" y="301752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D9F5E6"/>
          </a:solidFill>
          <a:ln w="38100">
            <a:solidFill>
              <a:srgbClr val="2E9E5B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526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527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528"/>
          <p:cNvSpPr txBox="1"/>
          <p:nvPr/>
        </p:nvSpPr>
        <p:spPr>
          <a:xfrm>
            <a:off x="1188720" y="301752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undo</a:t>
            </a:r>
            <a:endParaRPr lang="en-US" sz="2200" dirty="0"/>
          </a:p>
        </p:txBody>
      </p:sp>
      <p:sp>
        <p:nvSpPr>
          <p:cNvPr id="13" name="Card 529"/>
          <p:cNvSpPr/>
          <p:nvPr/>
        </p:nvSpPr>
        <p:spPr>
          <a:xfrm>
            <a:off x="457200" y="384048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530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531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532"/>
          <p:cNvSpPr txBox="1"/>
          <p:nvPr/>
        </p:nvSpPr>
        <p:spPr>
          <a:xfrm>
            <a:off x="1188720" y="384048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Smell the paint</a:t>
            </a:r>
            <a:endParaRPr lang="en-US" sz="2200" dirty="0"/>
          </a:p>
        </p:txBody>
      </p:sp>
      <p:sp>
        <p:nvSpPr>
          <p:cNvPr id="17" name="Text 533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 lets you fix mistakes in one click!</a:t>
            </a:r>
            <a:endParaRPr lang="en-US" sz="2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534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FF5C8A"/>
          </a:solidFill>
          <a:ln w="12700">
            <a:solidFill>
              <a:srgbClr val="FF5C8A"/>
            </a:solidFill>
            <a:prstDash val="solid"/>
          </a:ln>
        </p:spPr>
      </p:sp>
      <p:sp>
        <p:nvSpPr>
          <p:cNvPr id="3" name="Text 535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· Pair · Share</a:t>
            </a:r>
            <a:endParaRPr lang="en-US" sz="3000" dirty="0"/>
          </a:p>
        </p:txBody>
      </p:sp>
      <p:sp>
        <p:nvSpPr>
          <p:cNvPr id="4" name="Card 536"/>
          <p:cNvSpPr/>
          <p:nvPr/>
        </p:nvSpPr>
        <p:spPr>
          <a:xfrm>
            <a:off x="822960" y="1280160"/>
            <a:ext cx="74980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5" name="Text 537"/>
          <p:cNvSpPr txBox="1"/>
          <p:nvPr/>
        </p:nvSpPr>
        <p:spPr>
          <a:xfrm>
            <a:off x="1188720" y="137160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the sentence: “I used a word program to write a story. This is different to pen and paper because…”</a:t>
            </a:r>
            <a:endParaRPr lang="en-US" sz="2600" dirty="0"/>
          </a:p>
        </p:txBody>
      </p:sp>
      <p:pic>
        <p:nvPicPr>
          <p:cNvPr id="6" name="Icon 538" descr="FaUserFrie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8880" y="3749040"/>
            <a:ext cx="731520" cy="731520"/>
          </a:xfrm>
          <a:prstGeom prst="rect">
            <a:avLst/>
          </a:prstGeom>
        </p:spPr>
      </p:pic>
      <p:pic>
        <p:nvPicPr>
          <p:cNvPr id="7" name="Icon 539" descr="FaCommentDo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3749040"/>
            <a:ext cx="731520" cy="731520"/>
          </a:xfrm>
          <a:prstGeom prst="rect">
            <a:avLst/>
          </a:prstGeom>
        </p:spPr>
      </p:pic>
      <p:pic>
        <p:nvPicPr>
          <p:cNvPr id="8" name="Icon 540" descr="FaHandsHelp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3749040"/>
            <a:ext cx="731520" cy="731520"/>
          </a:xfrm>
          <a:prstGeom prst="rect">
            <a:avLst/>
          </a:prstGeom>
        </p:spPr>
      </p:pic>
      <p:sp>
        <p:nvSpPr>
          <p:cNvPr id="9" name="Text 541"/>
          <p:cNvSpPr txBox="1"/>
          <p:nvPr/>
        </p:nvSpPr>
        <p:spPr>
          <a:xfrm>
            <a:off x="2286000" y="45262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</a:t>
            </a:r>
            <a:endParaRPr lang="en-US" sz="1600" dirty="0"/>
          </a:p>
        </p:txBody>
      </p:sp>
      <p:sp>
        <p:nvSpPr>
          <p:cNvPr id="10" name="Text 542"/>
          <p:cNvSpPr txBox="1"/>
          <p:nvPr/>
        </p:nvSpPr>
        <p:spPr>
          <a:xfrm>
            <a:off x="4023360" y="45262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</a:t>
            </a:r>
            <a:endParaRPr lang="en-US" sz="1600" dirty="0"/>
          </a:p>
        </p:txBody>
      </p:sp>
      <p:sp>
        <p:nvSpPr>
          <p:cNvPr id="11" name="Text 543"/>
          <p:cNvSpPr txBox="1"/>
          <p:nvPr/>
        </p:nvSpPr>
        <p:spPr>
          <a:xfrm>
            <a:off x="5760720" y="45262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544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4DA3E0"/>
          </a:solidFill>
          <a:ln w="12700">
            <a:solidFill>
              <a:srgbClr val="4DA3E0"/>
            </a:solidFill>
            <a:prstDash val="solid"/>
          </a:ln>
        </p:spPr>
      </p:sp>
      <p:sp>
        <p:nvSpPr>
          <p:cNvPr id="3" name="Text 545"/>
          <p:cNvSpPr txBox="1"/>
          <p:nvPr/>
        </p:nvSpPr>
        <p:spPr>
          <a:xfrm>
            <a:off x="914400" y="822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D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4</a:t>
            </a:r>
            <a:endParaRPr lang="en-US" sz="2000" dirty="0"/>
          </a:p>
        </p:txBody>
      </p:sp>
      <p:sp>
        <p:nvSpPr>
          <p:cNvPr id="4" name="Text 546"/>
          <p:cNvSpPr txBox="1"/>
          <p:nvPr/>
        </p:nvSpPr>
        <p:spPr>
          <a:xfrm>
            <a:off x="914400" y="137160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am I connected?</a:t>
            </a:r>
            <a:endParaRPr lang="en-US" sz="3800" dirty="0"/>
          </a:p>
        </p:txBody>
      </p:sp>
      <p:sp>
        <p:nvSpPr>
          <p:cNvPr id="5" name="Text 547"/>
          <p:cNvSpPr txBox="1"/>
          <p:nvPr/>
        </p:nvSpPr>
        <p:spPr>
          <a:xfrm>
            <a:off x="914400" y="338328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D9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network, and how do messages travel?</a:t>
            </a:r>
            <a:endParaRPr lang="en-US" sz="2000" dirty="0"/>
          </a:p>
        </p:txBody>
      </p:sp>
      <p:sp>
        <p:nvSpPr>
          <p:cNvPr id="6" name="Blob 548"/>
          <p:cNvSpPr/>
          <p:nvPr/>
        </p:nvSpPr>
        <p:spPr>
          <a:xfrm>
            <a:off x="6766560" y="1188720"/>
            <a:ext cx="2011680" cy="2011680"/>
          </a:xfrm>
          <a:prstGeom prst="ellipse">
            <a:avLst/>
          </a:prstGeom>
          <a:solidFill>
            <a:srgbClr val="4DA3E0"/>
          </a:solidFill>
          <a:ln w="12700">
            <a:solidFill>
              <a:srgbClr val="4DA3E0"/>
            </a:solidFill>
            <a:prstDash val="solid"/>
          </a:ln>
        </p:spPr>
      </p:sp>
      <p:pic>
        <p:nvPicPr>
          <p:cNvPr id="7" name="Icon 549" descr="FaUserFrie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69164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550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4DA3E0"/>
          </a:solidFill>
          <a:ln w="12700">
            <a:solidFill>
              <a:srgbClr val="4DA3E0"/>
            </a:solidFill>
            <a:prstDash val="solid"/>
          </a:ln>
        </p:spPr>
      </p:sp>
      <p:sp>
        <p:nvSpPr>
          <p:cNvPr id="3" name="Text 551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 can…</a:t>
            </a:r>
            <a:endParaRPr lang="en-US" sz="3000" dirty="0"/>
          </a:p>
        </p:txBody>
      </p:sp>
      <p:sp>
        <p:nvSpPr>
          <p:cNvPr id="4" name="Card 552"/>
          <p:cNvSpPr/>
          <p:nvPr/>
        </p:nvSpPr>
        <p:spPr>
          <a:xfrm>
            <a:off x="457200" y="1234440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5" name="Dot 553"/>
          <p:cNvSpPr/>
          <p:nvPr/>
        </p:nvSpPr>
        <p:spPr>
          <a:xfrm>
            <a:off x="640080" y="1389888"/>
            <a:ext cx="603504" cy="603504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con 554" descr="FaLi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536192"/>
            <a:ext cx="310896" cy="310896"/>
          </a:xfrm>
          <a:prstGeom prst="rect">
            <a:avLst/>
          </a:prstGeom>
        </p:spPr>
      </p:pic>
      <p:sp>
        <p:nvSpPr>
          <p:cNvPr id="7" name="Text 555"/>
          <p:cNvSpPr txBox="1"/>
          <p:nvPr/>
        </p:nvSpPr>
        <p:spPr>
          <a:xfrm>
            <a:off x="1463040" y="123444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recognise different connections</a:t>
            </a:r>
            <a:endParaRPr lang="en-US" sz="2000" dirty="0"/>
          </a:p>
        </p:txBody>
      </p:sp>
      <p:sp>
        <p:nvSpPr>
          <p:cNvPr id="8" name="Card 556"/>
          <p:cNvSpPr/>
          <p:nvPr/>
        </p:nvSpPr>
        <p:spPr>
          <a:xfrm>
            <a:off x="457200" y="2286000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9" name="Dot 557"/>
          <p:cNvSpPr/>
          <p:nvPr/>
        </p:nvSpPr>
        <p:spPr>
          <a:xfrm>
            <a:off x="640080" y="2441448"/>
            <a:ext cx="603504" cy="603504"/>
          </a:xfrm>
          <a:prstGeom prst="ellipse">
            <a:avLst/>
          </a:prstGeom>
          <a:solidFill>
            <a:srgbClr val="FF5C8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con 558" descr="FaEnvelo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2587752"/>
            <a:ext cx="310896" cy="310896"/>
          </a:xfrm>
          <a:prstGeom prst="rect">
            <a:avLst/>
          </a:prstGeom>
        </p:spPr>
      </p:pic>
      <p:sp>
        <p:nvSpPr>
          <p:cNvPr id="11" name="Text 559"/>
          <p:cNvSpPr txBox="1"/>
          <p:nvPr/>
        </p:nvSpPr>
        <p:spPr>
          <a:xfrm>
            <a:off x="1463040" y="228600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how messages pass through many connections</a:t>
            </a:r>
            <a:endParaRPr lang="en-US" sz="2000" dirty="0"/>
          </a:p>
        </p:txBody>
      </p:sp>
      <p:sp>
        <p:nvSpPr>
          <p:cNvPr id="12" name="Card 560"/>
          <p:cNvSpPr/>
          <p:nvPr/>
        </p:nvSpPr>
        <p:spPr>
          <a:xfrm>
            <a:off x="457200" y="3337560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3" name="Dot 561"/>
          <p:cNvSpPr/>
          <p:nvPr/>
        </p:nvSpPr>
        <p:spPr>
          <a:xfrm>
            <a:off x="640080" y="3493008"/>
            <a:ext cx="603504" cy="603504"/>
          </a:xfrm>
          <a:prstGeom prst="ellipse">
            <a:avLst/>
          </a:prstGeom>
          <a:solidFill>
            <a:srgbClr val="4DA3E0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 562" descr="FaNetworkWir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3639312"/>
            <a:ext cx="310896" cy="310896"/>
          </a:xfrm>
          <a:prstGeom prst="rect">
            <a:avLst/>
          </a:prstGeom>
        </p:spPr>
      </p:pic>
      <p:sp>
        <p:nvSpPr>
          <p:cNvPr id="15" name="Text 563"/>
          <p:cNvSpPr txBox="1"/>
          <p:nvPr/>
        </p:nvSpPr>
        <p:spPr>
          <a:xfrm>
            <a:off x="1463040" y="333756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why we need a network switch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564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4DA3E0"/>
          </a:solidFill>
          <a:ln w="12700">
            <a:solidFill>
              <a:srgbClr val="4DA3E0"/>
            </a:solidFill>
            <a:prstDash val="solid"/>
          </a:ln>
        </p:spPr>
      </p:sp>
      <p:sp>
        <p:nvSpPr>
          <p:cNvPr id="3" name="Text 565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</a:t>
            </a:r>
            <a:endParaRPr lang="en-US" sz="3000" dirty="0"/>
          </a:p>
        </p:txBody>
      </p:sp>
      <p:sp>
        <p:nvSpPr>
          <p:cNvPr id="4" name="Card 566"/>
          <p:cNvSpPr/>
          <p:nvPr/>
        </p:nvSpPr>
        <p:spPr>
          <a:xfrm>
            <a:off x="457200" y="1188720"/>
            <a:ext cx="41148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5" name="Dot 567"/>
          <p:cNvSpPr/>
          <p:nvPr/>
        </p:nvSpPr>
        <p:spPr>
          <a:xfrm>
            <a:off x="640080" y="1371600"/>
            <a:ext cx="731520" cy="73152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con 568" descr="FaLi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1545336"/>
            <a:ext cx="384048" cy="384048"/>
          </a:xfrm>
          <a:prstGeom prst="rect">
            <a:avLst/>
          </a:prstGeom>
        </p:spPr>
      </p:pic>
      <p:sp>
        <p:nvSpPr>
          <p:cNvPr id="7" name="Text 569"/>
          <p:cNvSpPr txBox="1"/>
          <p:nvPr/>
        </p:nvSpPr>
        <p:spPr>
          <a:xfrm>
            <a:off x="1554480" y="1325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</a:t>
            </a:r>
            <a:endParaRPr lang="en-US" sz="2400" dirty="0"/>
          </a:p>
        </p:txBody>
      </p:sp>
      <p:sp>
        <p:nvSpPr>
          <p:cNvPr id="8" name="Text 570"/>
          <p:cNvSpPr txBox="1"/>
          <p:nvPr/>
        </p:nvSpPr>
        <p:spPr>
          <a:xfrm>
            <a:off x="1554480" y="1828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 between two things</a:t>
            </a:r>
            <a:endParaRPr lang="en-US" sz="1800" dirty="0"/>
          </a:p>
        </p:txBody>
      </p:sp>
      <p:sp>
        <p:nvSpPr>
          <p:cNvPr id="9" name="Card 571"/>
          <p:cNvSpPr/>
          <p:nvPr/>
        </p:nvSpPr>
        <p:spPr>
          <a:xfrm>
            <a:off x="4663440" y="1188720"/>
            <a:ext cx="41148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572"/>
          <p:cNvSpPr/>
          <p:nvPr/>
        </p:nvSpPr>
        <p:spPr>
          <a:xfrm>
            <a:off x="4846320" y="1371600"/>
            <a:ext cx="731520" cy="731520"/>
          </a:xfrm>
          <a:prstGeom prst="ellipse">
            <a:avLst/>
          </a:prstGeom>
          <a:solidFill>
            <a:srgbClr val="FF5C8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con 573" descr="FaProjectDiagra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0056" y="1545336"/>
            <a:ext cx="384048" cy="384048"/>
          </a:xfrm>
          <a:prstGeom prst="rect">
            <a:avLst/>
          </a:prstGeom>
        </p:spPr>
      </p:pic>
      <p:sp>
        <p:nvSpPr>
          <p:cNvPr id="12" name="Text 574"/>
          <p:cNvSpPr txBox="1"/>
          <p:nvPr/>
        </p:nvSpPr>
        <p:spPr>
          <a:xfrm>
            <a:off x="5760720" y="1325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2400" dirty="0"/>
          </a:p>
        </p:txBody>
      </p:sp>
      <p:sp>
        <p:nvSpPr>
          <p:cNvPr id="13" name="Text 575"/>
          <p:cNvSpPr txBox="1"/>
          <p:nvPr/>
        </p:nvSpPr>
        <p:spPr>
          <a:xfrm>
            <a:off x="5760720" y="1828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of connections linking things together</a:t>
            </a:r>
            <a:endParaRPr lang="en-US" sz="1800" dirty="0"/>
          </a:p>
        </p:txBody>
      </p:sp>
      <p:sp>
        <p:nvSpPr>
          <p:cNvPr id="14" name="Card 576"/>
          <p:cNvSpPr/>
          <p:nvPr/>
        </p:nvSpPr>
        <p:spPr>
          <a:xfrm>
            <a:off x="457200" y="3108960"/>
            <a:ext cx="41148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5" name="Dot 577"/>
          <p:cNvSpPr/>
          <p:nvPr/>
        </p:nvSpPr>
        <p:spPr>
          <a:xfrm>
            <a:off x="640080" y="3291840"/>
            <a:ext cx="731520" cy="731520"/>
          </a:xfrm>
          <a:prstGeom prst="ellipse">
            <a:avLst/>
          </a:prstGeom>
          <a:solidFill>
            <a:srgbClr val="4DA3E0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con 578" descr="FaNetworkWir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3465576"/>
            <a:ext cx="384048" cy="384048"/>
          </a:xfrm>
          <a:prstGeom prst="rect">
            <a:avLst/>
          </a:prstGeom>
        </p:spPr>
      </p:pic>
      <p:sp>
        <p:nvSpPr>
          <p:cNvPr id="17" name="Text 579"/>
          <p:cNvSpPr txBox="1"/>
          <p:nvPr/>
        </p:nvSpPr>
        <p:spPr>
          <a:xfrm>
            <a:off x="1554480" y="3246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D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switch</a:t>
            </a:r>
            <a:endParaRPr lang="en-US" sz="2400" dirty="0"/>
          </a:p>
        </p:txBody>
      </p:sp>
      <p:sp>
        <p:nvSpPr>
          <p:cNvPr id="18" name="Text 580"/>
          <p:cNvSpPr txBox="1"/>
          <p:nvPr/>
        </p:nvSpPr>
        <p:spPr>
          <a:xfrm>
            <a:off x="1554480" y="37490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lots of devices on a network</a:t>
            </a:r>
            <a:endParaRPr lang="en-US" sz="1800" dirty="0"/>
          </a:p>
        </p:txBody>
      </p:sp>
      <p:sp>
        <p:nvSpPr>
          <p:cNvPr id="19" name="Card 581"/>
          <p:cNvSpPr/>
          <p:nvPr/>
        </p:nvSpPr>
        <p:spPr>
          <a:xfrm>
            <a:off x="4663440" y="3108960"/>
            <a:ext cx="41148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20" name="Dot 582"/>
          <p:cNvSpPr/>
          <p:nvPr/>
        </p:nvSpPr>
        <p:spPr>
          <a:xfrm>
            <a:off x="4846320" y="3291840"/>
            <a:ext cx="731520" cy="731520"/>
          </a:xfrm>
          <a:prstGeom prst="ellipse">
            <a:avLst/>
          </a:prstGeom>
          <a:solidFill>
            <a:srgbClr val="1FB89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con 583" descr="FaEnvelop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0056" y="3465576"/>
            <a:ext cx="384048" cy="384048"/>
          </a:xfrm>
          <a:prstGeom prst="rect">
            <a:avLst/>
          </a:prstGeom>
        </p:spPr>
      </p:pic>
      <p:sp>
        <p:nvSpPr>
          <p:cNvPr id="22" name="Text 584"/>
          <p:cNvSpPr txBox="1"/>
          <p:nvPr/>
        </p:nvSpPr>
        <p:spPr>
          <a:xfrm>
            <a:off x="5760720" y="3246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B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</a:t>
            </a:r>
            <a:endParaRPr lang="en-US" sz="2400" dirty="0"/>
          </a:p>
        </p:txBody>
      </p:sp>
      <p:sp>
        <p:nvSpPr>
          <p:cNvPr id="23" name="Text 585"/>
          <p:cNvSpPr txBox="1"/>
          <p:nvPr/>
        </p:nvSpPr>
        <p:spPr>
          <a:xfrm>
            <a:off x="5760720" y="37490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sent from one place to another</a:t>
            </a:r>
            <a:endParaRPr lang="en-US" sz="1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586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4DA3E0"/>
          </a:solidFill>
          <a:ln w="12700">
            <a:solidFill>
              <a:srgbClr val="4DA3E0"/>
            </a:solidFill>
            <a:prstDash val="solid"/>
          </a:ln>
        </p:spPr>
      </p:sp>
      <p:sp>
        <p:nvSpPr>
          <p:cNvPr id="3" name="Text 587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network of people</a:t>
            </a:r>
            <a:endParaRPr lang="en-US" sz="3000" dirty="0"/>
          </a:p>
        </p:txBody>
      </p:sp>
      <p:sp>
        <p:nvSpPr>
          <p:cNvPr id="4" name="Card 588"/>
          <p:cNvSpPr/>
          <p:nvPr/>
        </p:nvSpPr>
        <p:spPr>
          <a:xfrm>
            <a:off x="548640" y="1051560"/>
            <a:ext cx="5120640" cy="3639312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5" name="Picture 589" descr="Me in the middle connected to family and frie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4937760" cy="3456432"/>
          </a:xfrm>
          <a:prstGeom prst="rect">
            <a:avLst/>
          </a:prstGeom>
        </p:spPr>
      </p:pic>
      <p:sp>
        <p:nvSpPr>
          <p:cNvPr id="6" name="Text 590"/>
          <p:cNvSpPr txBox="1"/>
          <p:nvPr/>
        </p:nvSpPr>
        <p:spPr>
          <a:xfrm>
            <a:off x="5897880" y="1234440"/>
            <a:ext cx="2834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connected to lots of people. They are connected to each other too. All those connections make a NETWORK.</a:t>
            </a:r>
            <a:endParaRPr lang="en-US" sz="2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591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4DA3E0"/>
          </a:solidFill>
          <a:ln w="12700">
            <a:solidFill>
              <a:srgbClr val="4DA3E0"/>
            </a:solidFill>
            <a:prstDash val="solid"/>
          </a:ln>
        </p:spPr>
      </p:sp>
      <p:sp>
        <p:nvSpPr>
          <p:cNvPr id="3" name="Text 592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Activity: Draw your network</a:t>
            </a:r>
            <a:endParaRPr lang="en-US" sz="3000" dirty="0"/>
          </a:p>
        </p:txBody>
      </p:sp>
      <p:sp>
        <p:nvSpPr>
          <p:cNvPr id="4" name="Tag 593"/>
          <p:cNvSpPr/>
          <p:nvPr/>
        </p:nvSpPr>
        <p:spPr>
          <a:xfrm>
            <a:off x="7223760" y="384048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F9A3D"/>
          </a:solidFill>
          <a:ln w="12700">
            <a:solidFill>
              <a:srgbClr val="FF9A3D"/>
            </a:solidFill>
            <a:prstDash val="solid"/>
          </a:ln>
        </p:spPr>
      </p:sp>
      <p:sp>
        <p:nvSpPr>
          <p:cNvPr id="5" name="Text 594"/>
          <p:cNvSpPr txBox="1"/>
          <p:nvPr/>
        </p:nvSpPr>
        <p:spPr>
          <a:xfrm>
            <a:off x="7223760" y="3840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1600" dirty="0"/>
          </a:p>
        </p:txBody>
      </p:sp>
      <p:sp>
        <p:nvSpPr>
          <p:cNvPr id="6" name="Card 595"/>
          <p:cNvSpPr/>
          <p:nvPr/>
        </p:nvSpPr>
        <p:spPr>
          <a:xfrm>
            <a:off x="457200" y="1188720"/>
            <a:ext cx="41148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7" name="Dot 596"/>
          <p:cNvSpPr/>
          <p:nvPr/>
        </p:nvSpPr>
        <p:spPr>
          <a:xfrm>
            <a:off x="594360" y="135102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97"/>
          <p:cNvSpPr txBox="1"/>
          <p:nvPr/>
        </p:nvSpPr>
        <p:spPr>
          <a:xfrm>
            <a:off x="594360" y="135102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598"/>
          <p:cNvSpPr txBox="1"/>
          <p:nvPr/>
        </p:nvSpPr>
        <p:spPr>
          <a:xfrm>
            <a:off x="1188720" y="1188720"/>
            <a:ext cx="32004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name in the middle of a page.</a:t>
            </a:r>
            <a:endParaRPr lang="en-US" sz="1700" dirty="0"/>
          </a:p>
        </p:txBody>
      </p:sp>
      <p:sp>
        <p:nvSpPr>
          <p:cNvPr id="10" name="Card 599"/>
          <p:cNvSpPr/>
          <p:nvPr/>
        </p:nvSpPr>
        <p:spPr>
          <a:xfrm>
            <a:off x="457200" y="2080260"/>
            <a:ext cx="41148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1" name="Dot 600"/>
          <p:cNvSpPr/>
          <p:nvPr/>
        </p:nvSpPr>
        <p:spPr>
          <a:xfrm>
            <a:off x="594360" y="224256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601"/>
          <p:cNvSpPr txBox="1"/>
          <p:nvPr/>
        </p:nvSpPr>
        <p:spPr>
          <a:xfrm>
            <a:off x="594360" y="22425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602"/>
          <p:cNvSpPr txBox="1"/>
          <p:nvPr/>
        </p:nvSpPr>
        <p:spPr>
          <a:xfrm>
            <a:off x="1188720" y="2080260"/>
            <a:ext cx="32004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5 to 10 people you are connected to.</a:t>
            </a:r>
            <a:endParaRPr lang="en-US" sz="1700" dirty="0"/>
          </a:p>
        </p:txBody>
      </p:sp>
      <p:sp>
        <p:nvSpPr>
          <p:cNvPr id="14" name="Card 603"/>
          <p:cNvSpPr/>
          <p:nvPr/>
        </p:nvSpPr>
        <p:spPr>
          <a:xfrm>
            <a:off x="457200" y="2971800"/>
            <a:ext cx="41148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5" name="Dot 604"/>
          <p:cNvSpPr/>
          <p:nvPr/>
        </p:nvSpPr>
        <p:spPr>
          <a:xfrm>
            <a:off x="594360" y="313410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605"/>
          <p:cNvSpPr txBox="1"/>
          <p:nvPr/>
        </p:nvSpPr>
        <p:spPr>
          <a:xfrm>
            <a:off x="594360" y="313410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606"/>
          <p:cNvSpPr txBox="1"/>
          <p:nvPr/>
        </p:nvSpPr>
        <p:spPr>
          <a:xfrm>
            <a:off x="1188720" y="2971800"/>
            <a:ext cx="32004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lines to join you to each person.</a:t>
            </a:r>
            <a:endParaRPr lang="en-US" sz="1700" dirty="0"/>
          </a:p>
        </p:txBody>
      </p:sp>
      <p:sp>
        <p:nvSpPr>
          <p:cNvPr id="18" name="Card 607"/>
          <p:cNvSpPr/>
          <p:nvPr/>
        </p:nvSpPr>
        <p:spPr>
          <a:xfrm>
            <a:off x="457200" y="3863340"/>
            <a:ext cx="41148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9" name="Dot 608"/>
          <p:cNvSpPr/>
          <p:nvPr/>
        </p:nvSpPr>
        <p:spPr>
          <a:xfrm>
            <a:off x="594360" y="402564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609"/>
          <p:cNvSpPr txBox="1"/>
          <p:nvPr/>
        </p:nvSpPr>
        <p:spPr>
          <a:xfrm>
            <a:off x="594360" y="40256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610"/>
          <p:cNvSpPr txBox="1"/>
          <p:nvPr/>
        </p:nvSpPr>
        <p:spPr>
          <a:xfrm>
            <a:off x="1188720" y="3863340"/>
            <a:ext cx="32004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new colour to join people who know each other.</a:t>
            </a:r>
            <a:endParaRPr lang="en-US" sz="1700" dirty="0"/>
          </a:p>
        </p:txBody>
      </p:sp>
      <p:sp>
        <p:nvSpPr>
          <p:cNvPr id="22" name="Card 611"/>
          <p:cNvSpPr/>
          <p:nvPr/>
        </p:nvSpPr>
        <p:spPr>
          <a:xfrm>
            <a:off x="4617720" y="1097280"/>
            <a:ext cx="4206240" cy="2999232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23" name="Picture 612" descr="Activity pic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1188720"/>
            <a:ext cx="4023360" cy="2816352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613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4DA3E0"/>
          </a:solidFill>
          <a:ln w="12700">
            <a:solidFill>
              <a:srgbClr val="4DA3E0"/>
            </a:solidFill>
            <a:prstDash val="solid"/>
          </a:ln>
        </p:spPr>
      </p:sp>
      <p:sp>
        <p:nvSpPr>
          <p:cNvPr id="3" name="Text 614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a message</a:t>
            </a:r>
            <a:endParaRPr lang="en-US" sz="3000" dirty="0"/>
          </a:p>
        </p:txBody>
      </p:sp>
      <p:sp>
        <p:nvSpPr>
          <p:cNvPr id="4" name="Card 615"/>
          <p:cNvSpPr/>
          <p:nvPr/>
        </p:nvSpPr>
        <p:spPr>
          <a:xfrm>
            <a:off x="548640" y="1051560"/>
            <a:ext cx="5120640" cy="3639312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5" name="Picture 616" descr="A message passed through several people to Gr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4937760" cy="3456432"/>
          </a:xfrm>
          <a:prstGeom prst="rect">
            <a:avLst/>
          </a:prstGeom>
        </p:spPr>
      </p:pic>
      <p:sp>
        <p:nvSpPr>
          <p:cNvPr id="6" name="Text 617"/>
          <p:cNvSpPr txBox="1"/>
          <p:nvPr/>
        </p:nvSpPr>
        <p:spPr>
          <a:xfrm>
            <a:off x="5897880" y="1234440"/>
            <a:ext cx="2834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could you get a message to Gran? Ask Dad to tell Grandad, who tells Gran. Each person is a link in the chain.</a:t>
            </a:r>
            <a:endParaRPr lang="en-US" sz="2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618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4DA3E0"/>
          </a:solidFill>
          <a:ln w="12700">
            <a:solidFill>
              <a:srgbClr val="4DA3E0"/>
            </a:solidFill>
            <a:prstDash val="solid"/>
          </a:ln>
        </p:spPr>
      </p:sp>
      <p:sp>
        <p:nvSpPr>
          <p:cNvPr id="3" name="Text 619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Activity: Become a computer network</a:t>
            </a:r>
            <a:endParaRPr lang="en-US" sz="3000" dirty="0"/>
          </a:p>
        </p:txBody>
      </p:sp>
      <p:sp>
        <p:nvSpPr>
          <p:cNvPr id="4" name="Tag 620"/>
          <p:cNvSpPr/>
          <p:nvPr/>
        </p:nvSpPr>
        <p:spPr>
          <a:xfrm>
            <a:off x="7223760" y="384048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F9A3D"/>
          </a:solidFill>
          <a:ln w="12700">
            <a:solidFill>
              <a:srgbClr val="FF9A3D"/>
            </a:solidFill>
            <a:prstDash val="solid"/>
          </a:ln>
        </p:spPr>
      </p:sp>
      <p:sp>
        <p:nvSpPr>
          <p:cNvPr id="5" name="Text 621"/>
          <p:cNvSpPr txBox="1"/>
          <p:nvPr/>
        </p:nvSpPr>
        <p:spPr>
          <a:xfrm>
            <a:off x="7223760" y="3840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1600" dirty="0"/>
          </a:p>
        </p:txBody>
      </p:sp>
      <p:sp>
        <p:nvSpPr>
          <p:cNvPr id="6" name="Card 622"/>
          <p:cNvSpPr/>
          <p:nvPr/>
        </p:nvSpPr>
        <p:spPr>
          <a:xfrm>
            <a:off x="457200" y="1188720"/>
            <a:ext cx="82296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7" name="Dot 623"/>
          <p:cNvSpPr/>
          <p:nvPr/>
        </p:nvSpPr>
        <p:spPr>
          <a:xfrm>
            <a:off x="594360" y="135102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24"/>
          <p:cNvSpPr txBox="1"/>
          <p:nvPr/>
        </p:nvSpPr>
        <p:spPr>
          <a:xfrm>
            <a:off x="594360" y="135102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25"/>
          <p:cNvSpPr txBox="1"/>
          <p:nvPr/>
        </p:nvSpPr>
        <p:spPr>
          <a:xfrm>
            <a:off x="1188720" y="1188720"/>
            <a:ext cx="73152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message to someone on another table.</a:t>
            </a:r>
            <a:endParaRPr lang="en-US" sz="1900" dirty="0"/>
          </a:p>
        </p:txBody>
      </p:sp>
      <p:sp>
        <p:nvSpPr>
          <p:cNvPr id="10" name="Card 626"/>
          <p:cNvSpPr/>
          <p:nvPr/>
        </p:nvSpPr>
        <p:spPr>
          <a:xfrm>
            <a:off x="457200" y="2080260"/>
            <a:ext cx="82296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1" name="Dot 627"/>
          <p:cNvSpPr/>
          <p:nvPr/>
        </p:nvSpPr>
        <p:spPr>
          <a:xfrm>
            <a:off x="594360" y="224256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628"/>
          <p:cNvSpPr txBox="1"/>
          <p:nvPr/>
        </p:nvSpPr>
        <p:spPr>
          <a:xfrm>
            <a:off x="594360" y="22425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629"/>
          <p:cNvSpPr txBox="1"/>
          <p:nvPr/>
        </p:nvSpPr>
        <p:spPr>
          <a:xfrm>
            <a:off x="1188720" y="2080260"/>
            <a:ext cx="73152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in your seat! Pass messages one at a time.</a:t>
            </a:r>
            <a:endParaRPr lang="en-US" sz="1900" dirty="0"/>
          </a:p>
        </p:txBody>
      </p:sp>
      <p:sp>
        <p:nvSpPr>
          <p:cNvPr id="14" name="Card 630"/>
          <p:cNvSpPr/>
          <p:nvPr/>
        </p:nvSpPr>
        <p:spPr>
          <a:xfrm>
            <a:off x="457200" y="2971800"/>
            <a:ext cx="82296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5" name="Dot 631"/>
          <p:cNvSpPr/>
          <p:nvPr/>
        </p:nvSpPr>
        <p:spPr>
          <a:xfrm>
            <a:off x="594360" y="313410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632"/>
          <p:cNvSpPr txBox="1"/>
          <p:nvPr/>
        </p:nvSpPr>
        <p:spPr>
          <a:xfrm>
            <a:off x="594360" y="313410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633"/>
          <p:cNvSpPr txBox="1"/>
          <p:nvPr/>
        </p:nvSpPr>
        <p:spPr>
          <a:xfrm>
            <a:off x="1188720" y="2971800"/>
            <a:ext cx="73152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each message towards the right person.</a:t>
            </a:r>
            <a:endParaRPr lang="en-US" sz="1900" dirty="0"/>
          </a:p>
        </p:txBody>
      </p:sp>
      <p:sp>
        <p:nvSpPr>
          <p:cNvPr id="18" name="Card 634"/>
          <p:cNvSpPr/>
          <p:nvPr/>
        </p:nvSpPr>
        <p:spPr>
          <a:xfrm>
            <a:off x="457200" y="3863340"/>
            <a:ext cx="82296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9" name="Dot 635"/>
          <p:cNvSpPr/>
          <p:nvPr/>
        </p:nvSpPr>
        <p:spPr>
          <a:xfrm>
            <a:off x="594360" y="402564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636"/>
          <p:cNvSpPr txBox="1"/>
          <p:nvPr/>
        </p:nvSpPr>
        <p:spPr>
          <a:xfrm>
            <a:off x="594360" y="40256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637"/>
          <p:cNvSpPr txBox="1"/>
          <p:nvPr/>
        </p:nvSpPr>
        <p:spPr>
          <a:xfrm>
            <a:off x="1188720" y="3863340"/>
            <a:ext cx="73152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a good way to share? What is slow or frustrating?</a:t>
            </a:r>
            <a:endParaRPr lang="en-US" sz="1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638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4DA3E0"/>
          </a:solidFill>
          <a:ln w="12700">
            <a:solidFill>
              <a:srgbClr val="4DA3E0"/>
            </a:solidFill>
            <a:prstDash val="solid"/>
          </a:ln>
        </p:spPr>
      </p:sp>
      <p:sp>
        <p:nvSpPr>
          <p:cNvPr id="3" name="Text 639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wires!</a:t>
            </a:r>
            <a:endParaRPr lang="en-US" sz="3000" dirty="0"/>
          </a:p>
        </p:txBody>
      </p:sp>
      <p:sp>
        <p:nvSpPr>
          <p:cNvPr id="4" name="Card 640"/>
          <p:cNvSpPr/>
          <p:nvPr/>
        </p:nvSpPr>
        <p:spPr>
          <a:xfrm>
            <a:off x="548640" y="1051560"/>
            <a:ext cx="5120640" cy="3639312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5" name="Picture 641" descr="Computers all joined to each o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4937760" cy="3456432"/>
          </a:xfrm>
          <a:prstGeom prst="rect">
            <a:avLst/>
          </a:prstGeom>
        </p:spPr>
      </p:pic>
      <p:sp>
        <p:nvSpPr>
          <p:cNvPr id="6" name="Text 642"/>
          <p:cNvSpPr txBox="1"/>
          <p:nvPr/>
        </p:nvSpPr>
        <p:spPr>
          <a:xfrm>
            <a:off x="5897880" y="1234440"/>
            <a:ext cx="2834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Joining every computer to every other computer makes a mess. Imagine one laptop with 50 wires!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643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4DA3E0"/>
          </a:solidFill>
          <a:ln w="12700">
            <a:solidFill>
              <a:srgbClr val="4DA3E0"/>
            </a:solidFill>
            <a:prstDash val="solid"/>
          </a:ln>
        </p:spPr>
      </p:sp>
      <p:sp>
        <p:nvSpPr>
          <p:cNvPr id="3" name="Text 644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switch</a:t>
            </a:r>
            <a:endParaRPr lang="en-US" sz="3000" dirty="0"/>
          </a:p>
        </p:txBody>
      </p:sp>
      <p:sp>
        <p:nvSpPr>
          <p:cNvPr id="4" name="Card 645"/>
          <p:cNvSpPr/>
          <p:nvPr/>
        </p:nvSpPr>
        <p:spPr>
          <a:xfrm>
            <a:off x="548640" y="1051560"/>
            <a:ext cx="5120640" cy="3639312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5" name="Picture 646" descr="Five computers connected through one swi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4937760" cy="3456432"/>
          </a:xfrm>
          <a:prstGeom prst="rect">
            <a:avLst/>
          </a:prstGeom>
        </p:spPr>
      </p:pic>
      <p:sp>
        <p:nvSpPr>
          <p:cNvPr id="6" name="Text 647"/>
          <p:cNvSpPr txBox="1"/>
          <p:nvPr/>
        </p:nvSpPr>
        <p:spPr>
          <a:xfrm>
            <a:off x="5897880" y="1234440"/>
            <a:ext cx="2834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network switch joins all the computers together. Each computer needs only ONE wire. Messages go to the switch, then to the right computer.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648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4DA3E0"/>
          </a:solidFill>
          <a:ln w="12700">
            <a:solidFill>
              <a:srgbClr val="4DA3E0"/>
            </a:solidFill>
            <a:prstDash val="solid"/>
          </a:ln>
        </p:spPr>
      </p:sp>
      <p:sp>
        <p:nvSpPr>
          <p:cNvPr id="3" name="Text 649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quiz</a:t>
            </a:r>
            <a:endParaRPr lang="en-US" sz="3000" dirty="0"/>
          </a:p>
        </p:txBody>
      </p:sp>
      <p:sp>
        <p:nvSpPr>
          <p:cNvPr id="4" name="Text 650"/>
          <p:cNvSpPr txBox="1"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network switch…</a:t>
            </a:r>
            <a:endParaRPr lang="en-US" sz="2600" dirty="0"/>
          </a:p>
        </p:txBody>
      </p:sp>
      <p:sp>
        <p:nvSpPr>
          <p:cNvPr id="5" name="Card 651"/>
          <p:cNvSpPr/>
          <p:nvPr/>
        </p:nvSpPr>
        <p:spPr>
          <a:xfrm>
            <a:off x="457200" y="219456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652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4DA3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653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654"/>
          <p:cNvSpPr txBox="1"/>
          <p:nvPr/>
        </p:nvSpPr>
        <p:spPr>
          <a:xfrm>
            <a:off x="1188720" y="219456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many devices on a network</a:t>
            </a:r>
            <a:endParaRPr lang="en-US" sz="2200" dirty="0"/>
          </a:p>
        </p:txBody>
      </p:sp>
      <p:sp>
        <p:nvSpPr>
          <p:cNvPr id="9" name="Card 655"/>
          <p:cNvSpPr/>
          <p:nvPr/>
        </p:nvSpPr>
        <p:spPr>
          <a:xfrm>
            <a:off x="457200" y="301752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656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4DA3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657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658"/>
          <p:cNvSpPr txBox="1"/>
          <p:nvPr/>
        </p:nvSpPr>
        <p:spPr>
          <a:xfrm>
            <a:off x="1188720" y="301752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Prints pages</a:t>
            </a:r>
            <a:endParaRPr lang="en-US" sz="2200" dirty="0"/>
          </a:p>
        </p:txBody>
      </p:sp>
      <p:sp>
        <p:nvSpPr>
          <p:cNvPr id="13" name="Card 659"/>
          <p:cNvSpPr/>
          <p:nvPr/>
        </p:nvSpPr>
        <p:spPr>
          <a:xfrm>
            <a:off x="457200" y="384048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660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4DA3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661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662"/>
          <p:cNvSpPr txBox="1"/>
          <p:nvPr/>
        </p:nvSpPr>
        <p:spPr>
          <a:xfrm>
            <a:off x="1188720" y="384048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photos</a:t>
            </a:r>
            <a:endParaRPr lang="en-US" sz="2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663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" name="Text 664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The answer</a:t>
            </a:r>
            <a:endParaRPr lang="en-US" sz="3000" dirty="0"/>
          </a:p>
        </p:txBody>
      </p:sp>
      <p:sp>
        <p:nvSpPr>
          <p:cNvPr id="4" name="Text 665"/>
          <p:cNvSpPr txBox="1"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network switch…</a:t>
            </a:r>
            <a:endParaRPr lang="en-US" sz="2600" dirty="0"/>
          </a:p>
        </p:txBody>
      </p:sp>
      <p:sp>
        <p:nvSpPr>
          <p:cNvPr id="5" name="Card 666"/>
          <p:cNvSpPr/>
          <p:nvPr/>
        </p:nvSpPr>
        <p:spPr>
          <a:xfrm>
            <a:off x="457200" y="219456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D9F5E6"/>
          </a:solidFill>
          <a:ln w="38100">
            <a:solidFill>
              <a:srgbClr val="2E9E5B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667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668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669"/>
          <p:cNvSpPr txBox="1"/>
          <p:nvPr/>
        </p:nvSpPr>
        <p:spPr>
          <a:xfrm>
            <a:off x="1188720" y="219456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many devices on a network</a:t>
            </a:r>
            <a:endParaRPr lang="en-US" sz="2200" dirty="0"/>
          </a:p>
        </p:txBody>
      </p:sp>
      <p:sp>
        <p:nvSpPr>
          <p:cNvPr id="9" name="Card 670"/>
          <p:cNvSpPr/>
          <p:nvPr/>
        </p:nvSpPr>
        <p:spPr>
          <a:xfrm>
            <a:off x="457200" y="301752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671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672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673"/>
          <p:cNvSpPr txBox="1"/>
          <p:nvPr/>
        </p:nvSpPr>
        <p:spPr>
          <a:xfrm>
            <a:off x="1188720" y="301752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Prints pages</a:t>
            </a:r>
            <a:endParaRPr lang="en-US" sz="2200" dirty="0"/>
          </a:p>
        </p:txBody>
      </p:sp>
      <p:sp>
        <p:nvSpPr>
          <p:cNvPr id="13" name="Card 674"/>
          <p:cNvSpPr/>
          <p:nvPr/>
        </p:nvSpPr>
        <p:spPr>
          <a:xfrm>
            <a:off x="457200" y="384048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675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676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677"/>
          <p:cNvSpPr txBox="1"/>
          <p:nvPr/>
        </p:nvSpPr>
        <p:spPr>
          <a:xfrm>
            <a:off x="1188720" y="384048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photos</a:t>
            </a:r>
            <a:endParaRPr lang="en-US" sz="2200" dirty="0"/>
          </a:p>
        </p:txBody>
      </p:sp>
      <p:sp>
        <p:nvSpPr>
          <p:cNvPr id="17" name="Text 678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connects devices and passes messages on.</a:t>
            </a:r>
            <a:endParaRPr lang="en-US" sz="2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679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4DA3E0"/>
          </a:solidFill>
          <a:ln w="12700">
            <a:solidFill>
              <a:srgbClr val="4DA3E0"/>
            </a:solidFill>
            <a:prstDash val="solid"/>
          </a:ln>
        </p:spPr>
      </p:sp>
      <p:sp>
        <p:nvSpPr>
          <p:cNvPr id="3" name="Text 68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· Pair · Share</a:t>
            </a:r>
            <a:endParaRPr lang="en-US" sz="3000" dirty="0"/>
          </a:p>
        </p:txBody>
      </p:sp>
      <p:sp>
        <p:nvSpPr>
          <p:cNvPr id="4" name="Card 681"/>
          <p:cNvSpPr/>
          <p:nvPr/>
        </p:nvSpPr>
        <p:spPr>
          <a:xfrm>
            <a:off x="822960" y="1280160"/>
            <a:ext cx="74980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5" name="Text 682"/>
          <p:cNvSpPr txBox="1"/>
          <p:nvPr/>
        </p:nvSpPr>
        <p:spPr>
          <a:xfrm>
            <a:off x="1188720" y="137160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connection? How can we share information well? What does a switch do?</a:t>
            </a:r>
            <a:endParaRPr lang="en-US" sz="2600" dirty="0"/>
          </a:p>
        </p:txBody>
      </p:sp>
      <p:pic>
        <p:nvPicPr>
          <p:cNvPr id="6" name="Icon 683" descr="FaUserFrie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8880" y="3749040"/>
            <a:ext cx="731520" cy="731520"/>
          </a:xfrm>
          <a:prstGeom prst="rect">
            <a:avLst/>
          </a:prstGeom>
        </p:spPr>
      </p:pic>
      <p:pic>
        <p:nvPicPr>
          <p:cNvPr id="7" name="Icon 684" descr="FaCommentDo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3749040"/>
            <a:ext cx="731520" cy="731520"/>
          </a:xfrm>
          <a:prstGeom prst="rect">
            <a:avLst/>
          </a:prstGeom>
        </p:spPr>
      </p:pic>
      <p:pic>
        <p:nvPicPr>
          <p:cNvPr id="8" name="Icon 685" descr="FaHandsHelp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3749040"/>
            <a:ext cx="731520" cy="731520"/>
          </a:xfrm>
          <a:prstGeom prst="rect">
            <a:avLst/>
          </a:prstGeom>
        </p:spPr>
      </p:pic>
      <p:sp>
        <p:nvSpPr>
          <p:cNvPr id="9" name="Text 686"/>
          <p:cNvSpPr txBox="1"/>
          <p:nvPr/>
        </p:nvSpPr>
        <p:spPr>
          <a:xfrm>
            <a:off x="2286000" y="45262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</a:t>
            </a:r>
            <a:endParaRPr lang="en-US" sz="1600" dirty="0"/>
          </a:p>
        </p:txBody>
      </p:sp>
      <p:sp>
        <p:nvSpPr>
          <p:cNvPr id="10" name="Text 687"/>
          <p:cNvSpPr txBox="1"/>
          <p:nvPr/>
        </p:nvSpPr>
        <p:spPr>
          <a:xfrm>
            <a:off x="4023360" y="45262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</a:t>
            </a:r>
            <a:endParaRPr lang="en-US" sz="1600" dirty="0"/>
          </a:p>
        </p:txBody>
      </p:sp>
      <p:sp>
        <p:nvSpPr>
          <p:cNvPr id="11" name="Text 688"/>
          <p:cNvSpPr txBox="1"/>
          <p:nvPr/>
        </p:nvSpPr>
        <p:spPr>
          <a:xfrm>
            <a:off x="5760720" y="45262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16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689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" name="Text 690"/>
          <p:cNvSpPr txBox="1"/>
          <p:nvPr/>
        </p:nvSpPr>
        <p:spPr>
          <a:xfrm>
            <a:off x="914400" y="822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D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5</a:t>
            </a:r>
            <a:endParaRPr lang="en-US" sz="2000" dirty="0"/>
          </a:p>
        </p:txBody>
      </p:sp>
      <p:sp>
        <p:nvSpPr>
          <p:cNvPr id="4" name="Text 691"/>
          <p:cNvSpPr txBox="1"/>
          <p:nvPr/>
        </p:nvSpPr>
        <p:spPr>
          <a:xfrm>
            <a:off x="914400" y="137160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are computers connected?</a:t>
            </a:r>
            <a:endParaRPr lang="en-US" sz="3800" dirty="0"/>
          </a:p>
        </p:txBody>
      </p:sp>
      <p:sp>
        <p:nvSpPr>
          <p:cNvPr id="5" name="Text 692"/>
          <p:cNvSpPr txBox="1"/>
          <p:nvPr/>
        </p:nvSpPr>
        <p:spPr>
          <a:xfrm>
            <a:off x="914400" y="338328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D9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else is in a computer network?</a:t>
            </a:r>
            <a:endParaRPr lang="en-US" sz="2000" dirty="0"/>
          </a:p>
        </p:txBody>
      </p:sp>
      <p:sp>
        <p:nvSpPr>
          <p:cNvPr id="6" name="Blob 693"/>
          <p:cNvSpPr/>
          <p:nvPr/>
        </p:nvSpPr>
        <p:spPr>
          <a:xfrm>
            <a:off x="6766560" y="1188720"/>
            <a:ext cx="2011680" cy="2011680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pic>
        <p:nvPicPr>
          <p:cNvPr id="7" name="Icon 694" descr="FaSer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69164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695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" name="Text 696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 can…</a:t>
            </a:r>
            <a:endParaRPr lang="en-US" sz="3000" dirty="0"/>
          </a:p>
        </p:txBody>
      </p:sp>
      <p:sp>
        <p:nvSpPr>
          <p:cNvPr id="4" name="Card 697"/>
          <p:cNvSpPr/>
          <p:nvPr/>
        </p:nvSpPr>
        <p:spPr>
          <a:xfrm>
            <a:off x="457200" y="1234440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5" name="Dot 698"/>
          <p:cNvSpPr/>
          <p:nvPr/>
        </p:nvSpPr>
        <p:spPr>
          <a:xfrm>
            <a:off x="640080" y="1389888"/>
            <a:ext cx="603504" cy="603504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con 699" descr="FaProjectDia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536192"/>
            <a:ext cx="310896" cy="310896"/>
          </a:xfrm>
          <a:prstGeom prst="rect">
            <a:avLst/>
          </a:prstGeom>
        </p:spPr>
      </p:pic>
      <p:sp>
        <p:nvSpPr>
          <p:cNvPr id="7" name="Text 700"/>
          <p:cNvSpPr txBox="1"/>
          <p:nvPr/>
        </p:nvSpPr>
        <p:spPr>
          <a:xfrm>
            <a:off x="1463040" y="123444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know a network is made of lots of devices</a:t>
            </a:r>
            <a:endParaRPr lang="en-US" sz="2000" dirty="0"/>
          </a:p>
        </p:txBody>
      </p:sp>
      <p:sp>
        <p:nvSpPr>
          <p:cNvPr id="8" name="Card 701"/>
          <p:cNvSpPr/>
          <p:nvPr/>
        </p:nvSpPr>
        <p:spPr>
          <a:xfrm>
            <a:off x="457200" y="2286000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9" name="Dot 702"/>
          <p:cNvSpPr/>
          <p:nvPr/>
        </p:nvSpPr>
        <p:spPr>
          <a:xfrm>
            <a:off x="640080" y="2441448"/>
            <a:ext cx="603504" cy="603504"/>
          </a:xfrm>
          <a:prstGeom prst="ellipse">
            <a:avLst/>
          </a:prstGeom>
          <a:solidFill>
            <a:srgbClr val="FF5C8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con 703" descr="FaFileExpo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2587752"/>
            <a:ext cx="310896" cy="310896"/>
          </a:xfrm>
          <a:prstGeom prst="rect">
            <a:avLst/>
          </a:prstGeom>
        </p:spPr>
      </p:pic>
      <p:sp>
        <p:nvSpPr>
          <p:cNvPr id="11" name="Text 704"/>
          <p:cNvSpPr txBox="1"/>
          <p:nvPr/>
        </p:nvSpPr>
        <p:spPr>
          <a:xfrm>
            <a:off x="1463040" y="228600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show how information passes between devices</a:t>
            </a:r>
            <a:endParaRPr lang="en-US" sz="2000" dirty="0"/>
          </a:p>
        </p:txBody>
      </p:sp>
      <p:sp>
        <p:nvSpPr>
          <p:cNvPr id="12" name="Card 705"/>
          <p:cNvSpPr/>
          <p:nvPr/>
        </p:nvSpPr>
        <p:spPr>
          <a:xfrm>
            <a:off x="457200" y="3337560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3" name="Dot 706"/>
          <p:cNvSpPr/>
          <p:nvPr/>
        </p:nvSpPr>
        <p:spPr>
          <a:xfrm>
            <a:off x="640080" y="3493008"/>
            <a:ext cx="603504" cy="603504"/>
          </a:xfrm>
          <a:prstGeom prst="ellipse">
            <a:avLst/>
          </a:prstGeom>
          <a:solidFill>
            <a:srgbClr val="4DA3E0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 707" descr="FaWif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3639312"/>
            <a:ext cx="310896" cy="310896"/>
          </a:xfrm>
          <a:prstGeom prst="rect">
            <a:avLst/>
          </a:prstGeom>
        </p:spPr>
      </p:pic>
      <p:sp>
        <p:nvSpPr>
          <p:cNvPr id="15" name="Text 708"/>
          <p:cNvSpPr txBox="1"/>
          <p:nvPr/>
        </p:nvSpPr>
        <p:spPr>
          <a:xfrm>
            <a:off x="1463040" y="333756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what a switch, server and wireless access point do</a:t>
            </a:r>
            <a:endParaRPr lang="en-US" sz="2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709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" name="Text 71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</a:t>
            </a:r>
            <a:endParaRPr lang="en-US" sz="3000" dirty="0"/>
          </a:p>
        </p:txBody>
      </p:sp>
      <p:sp>
        <p:nvSpPr>
          <p:cNvPr id="4" name="Card 711"/>
          <p:cNvSpPr/>
          <p:nvPr/>
        </p:nvSpPr>
        <p:spPr>
          <a:xfrm>
            <a:off x="457200" y="1188720"/>
            <a:ext cx="41148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5" name="Dot 712"/>
          <p:cNvSpPr/>
          <p:nvPr/>
        </p:nvSpPr>
        <p:spPr>
          <a:xfrm>
            <a:off x="640080" y="1371600"/>
            <a:ext cx="731520" cy="73152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con 713" descr="FaSer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1545336"/>
            <a:ext cx="384048" cy="384048"/>
          </a:xfrm>
          <a:prstGeom prst="rect">
            <a:avLst/>
          </a:prstGeom>
        </p:spPr>
      </p:pic>
      <p:sp>
        <p:nvSpPr>
          <p:cNvPr id="7" name="Text 714"/>
          <p:cNvSpPr txBox="1"/>
          <p:nvPr/>
        </p:nvSpPr>
        <p:spPr>
          <a:xfrm>
            <a:off x="1554480" y="1325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2400" dirty="0"/>
          </a:p>
        </p:txBody>
      </p:sp>
      <p:sp>
        <p:nvSpPr>
          <p:cNvPr id="8" name="Text 715"/>
          <p:cNvSpPr txBox="1"/>
          <p:nvPr/>
        </p:nvSpPr>
        <p:spPr>
          <a:xfrm>
            <a:off x="1554480" y="1828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computer that stores files and looks after the network</a:t>
            </a:r>
            <a:endParaRPr lang="en-US" sz="1800" dirty="0"/>
          </a:p>
        </p:txBody>
      </p:sp>
      <p:sp>
        <p:nvSpPr>
          <p:cNvPr id="9" name="Card 716"/>
          <p:cNvSpPr/>
          <p:nvPr/>
        </p:nvSpPr>
        <p:spPr>
          <a:xfrm>
            <a:off x="4663440" y="1188720"/>
            <a:ext cx="41148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717"/>
          <p:cNvSpPr/>
          <p:nvPr/>
        </p:nvSpPr>
        <p:spPr>
          <a:xfrm>
            <a:off x="4846320" y="1371600"/>
            <a:ext cx="731520" cy="731520"/>
          </a:xfrm>
          <a:prstGeom prst="ellipse">
            <a:avLst/>
          </a:prstGeom>
          <a:solidFill>
            <a:srgbClr val="FF5C8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con 718" descr="FaWif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0056" y="1545336"/>
            <a:ext cx="384048" cy="384048"/>
          </a:xfrm>
          <a:prstGeom prst="rect">
            <a:avLst/>
          </a:prstGeom>
        </p:spPr>
      </p:pic>
      <p:sp>
        <p:nvSpPr>
          <p:cNvPr id="12" name="Text 719"/>
          <p:cNvSpPr txBox="1"/>
          <p:nvPr/>
        </p:nvSpPr>
        <p:spPr>
          <a:xfrm>
            <a:off x="5760720" y="1325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Wireless access point</a:t>
            </a:r>
            <a:endParaRPr lang="en-US" sz="2400" dirty="0"/>
          </a:p>
        </p:txBody>
      </p:sp>
      <p:sp>
        <p:nvSpPr>
          <p:cNvPr id="13" name="Text 720"/>
          <p:cNvSpPr txBox="1"/>
          <p:nvPr/>
        </p:nvSpPr>
        <p:spPr>
          <a:xfrm>
            <a:off x="5760720" y="1828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and receives Wi-Fi signals for the network</a:t>
            </a:r>
            <a:endParaRPr lang="en-US" sz="1800" dirty="0"/>
          </a:p>
        </p:txBody>
      </p:sp>
      <p:sp>
        <p:nvSpPr>
          <p:cNvPr id="14" name="Card 721"/>
          <p:cNvSpPr/>
          <p:nvPr/>
        </p:nvSpPr>
        <p:spPr>
          <a:xfrm>
            <a:off x="457200" y="3108960"/>
            <a:ext cx="41148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5" name="Dot 722"/>
          <p:cNvSpPr/>
          <p:nvPr/>
        </p:nvSpPr>
        <p:spPr>
          <a:xfrm>
            <a:off x="640080" y="3291840"/>
            <a:ext cx="731520" cy="731520"/>
          </a:xfrm>
          <a:prstGeom prst="ellipse">
            <a:avLst/>
          </a:prstGeom>
          <a:solidFill>
            <a:srgbClr val="4DA3E0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con 723" descr="FaNetworkWir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3465576"/>
            <a:ext cx="384048" cy="384048"/>
          </a:xfrm>
          <a:prstGeom prst="rect">
            <a:avLst/>
          </a:prstGeom>
        </p:spPr>
      </p:pic>
      <p:sp>
        <p:nvSpPr>
          <p:cNvPr id="17" name="Text 724"/>
          <p:cNvSpPr txBox="1"/>
          <p:nvPr/>
        </p:nvSpPr>
        <p:spPr>
          <a:xfrm>
            <a:off x="1554480" y="3246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D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switch</a:t>
            </a:r>
            <a:endParaRPr lang="en-US" sz="2400" dirty="0"/>
          </a:p>
        </p:txBody>
      </p:sp>
      <p:sp>
        <p:nvSpPr>
          <p:cNvPr id="18" name="Text 725"/>
          <p:cNvSpPr txBox="1"/>
          <p:nvPr/>
        </p:nvSpPr>
        <p:spPr>
          <a:xfrm>
            <a:off x="1554480" y="37490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devices together</a:t>
            </a:r>
            <a:endParaRPr lang="en-US" sz="1800" dirty="0"/>
          </a:p>
        </p:txBody>
      </p:sp>
      <p:sp>
        <p:nvSpPr>
          <p:cNvPr id="19" name="Card 726"/>
          <p:cNvSpPr/>
          <p:nvPr/>
        </p:nvSpPr>
        <p:spPr>
          <a:xfrm>
            <a:off x="4663440" y="3108960"/>
            <a:ext cx="41148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20" name="Dot 727"/>
          <p:cNvSpPr/>
          <p:nvPr/>
        </p:nvSpPr>
        <p:spPr>
          <a:xfrm>
            <a:off x="4846320" y="3291840"/>
            <a:ext cx="731520" cy="731520"/>
          </a:xfrm>
          <a:prstGeom prst="ellipse">
            <a:avLst/>
          </a:prstGeom>
          <a:solidFill>
            <a:srgbClr val="1FB89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con 728" descr="FaWif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0056" y="3465576"/>
            <a:ext cx="384048" cy="384048"/>
          </a:xfrm>
          <a:prstGeom prst="rect">
            <a:avLst/>
          </a:prstGeom>
        </p:spPr>
      </p:pic>
      <p:sp>
        <p:nvSpPr>
          <p:cNvPr id="22" name="Text 729"/>
          <p:cNvSpPr txBox="1"/>
          <p:nvPr/>
        </p:nvSpPr>
        <p:spPr>
          <a:xfrm>
            <a:off x="5760720" y="3246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B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</a:t>
            </a:r>
            <a:endParaRPr lang="en-US" sz="2400" dirty="0"/>
          </a:p>
        </p:txBody>
      </p:sp>
      <p:sp>
        <p:nvSpPr>
          <p:cNvPr id="23" name="Text 730"/>
          <p:cNvSpPr txBox="1"/>
          <p:nvPr/>
        </p:nvSpPr>
        <p:spPr>
          <a:xfrm>
            <a:off x="5760720" y="37490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without wires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731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" name="Text 732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server</a:t>
            </a:r>
            <a:endParaRPr lang="en-US" sz="3000" dirty="0"/>
          </a:p>
        </p:txBody>
      </p:sp>
      <p:sp>
        <p:nvSpPr>
          <p:cNvPr id="4" name="Card 733"/>
          <p:cNvSpPr/>
          <p:nvPr/>
        </p:nvSpPr>
        <p:spPr>
          <a:xfrm>
            <a:off x="548640" y="1051560"/>
            <a:ext cx="5120640" cy="3639312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5" name="Picture 734" descr="Computers, a switch and a ser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4937760" cy="3456432"/>
          </a:xfrm>
          <a:prstGeom prst="rect">
            <a:avLst/>
          </a:prstGeom>
        </p:spPr>
      </p:pic>
      <p:sp>
        <p:nvSpPr>
          <p:cNvPr id="6" name="Text 735"/>
          <p:cNvSpPr txBox="1"/>
          <p:nvPr/>
        </p:nvSpPr>
        <p:spPr>
          <a:xfrm>
            <a:off x="5897880" y="1234440"/>
            <a:ext cx="2834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server stores files for the whole network. Every computer reaches it through the switch.</a:t>
            </a:r>
            <a:endParaRPr lang="en-US" sz="2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736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" name="Text 737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Activity: Save a file on the server</a:t>
            </a:r>
            <a:endParaRPr lang="en-US" sz="3000" dirty="0"/>
          </a:p>
        </p:txBody>
      </p:sp>
      <p:sp>
        <p:nvSpPr>
          <p:cNvPr id="4" name="Tag 738"/>
          <p:cNvSpPr/>
          <p:nvPr/>
        </p:nvSpPr>
        <p:spPr>
          <a:xfrm>
            <a:off x="7223760" y="384048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F9A3D"/>
          </a:solidFill>
          <a:ln w="12700">
            <a:solidFill>
              <a:srgbClr val="FF9A3D"/>
            </a:solidFill>
            <a:prstDash val="solid"/>
          </a:ln>
        </p:spPr>
      </p:sp>
      <p:sp>
        <p:nvSpPr>
          <p:cNvPr id="5" name="Text 739"/>
          <p:cNvSpPr txBox="1"/>
          <p:nvPr/>
        </p:nvSpPr>
        <p:spPr>
          <a:xfrm>
            <a:off x="7223760" y="3840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1600" dirty="0"/>
          </a:p>
        </p:txBody>
      </p:sp>
      <p:sp>
        <p:nvSpPr>
          <p:cNvPr id="6" name="Card 740"/>
          <p:cNvSpPr/>
          <p:nvPr/>
        </p:nvSpPr>
        <p:spPr>
          <a:xfrm>
            <a:off x="457200" y="1188720"/>
            <a:ext cx="82296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7" name="Dot 741"/>
          <p:cNvSpPr/>
          <p:nvPr/>
        </p:nvSpPr>
        <p:spPr>
          <a:xfrm>
            <a:off x="594360" y="135102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742"/>
          <p:cNvSpPr txBox="1"/>
          <p:nvPr/>
        </p:nvSpPr>
        <p:spPr>
          <a:xfrm>
            <a:off x="594360" y="135102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43"/>
          <p:cNvSpPr txBox="1"/>
          <p:nvPr/>
        </p:nvSpPr>
        <p:spPr>
          <a:xfrm>
            <a:off x="1188720" y="1188720"/>
            <a:ext cx="73152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pupil is the switch. One is the server. The rest are computers.</a:t>
            </a:r>
            <a:endParaRPr lang="en-US" sz="1900" dirty="0"/>
          </a:p>
        </p:txBody>
      </p:sp>
      <p:sp>
        <p:nvSpPr>
          <p:cNvPr id="10" name="Card 744"/>
          <p:cNvSpPr/>
          <p:nvPr/>
        </p:nvSpPr>
        <p:spPr>
          <a:xfrm>
            <a:off x="457200" y="2080260"/>
            <a:ext cx="82296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1" name="Dot 745"/>
          <p:cNvSpPr/>
          <p:nvPr/>
        </p:nvSpPr>
        <p:spPr>
          <a:xfrm>
            <a:off x="594360" y="224256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46"/>
          <p:cNvSpPr txBox="1"/>
          <p:nvPr/>
        </p:nvSpPr>
        <p:spPr>
          <a:xfrm>
            <a:off x="594360" y="22425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747"/>
          <p:cNvSpPr txBox="1"/>
          <p:nvPr/>
        </p:nvSpPr>
        <p:spPr>
          <a:xfrm>
            <a:off x="1188720" y="2080260"/>
            <a:ext cx="73152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1 makes a file (a piece of paper).</a:t>
            </a:r>
            <a:endParaRPr lang="en-US" sz="1900" dirty="0"/>
          </a:p>
        </p:txBody>
      </p:sp>
      <p:sp>
        <p:nvSpPr>
          <p:cNvPr id="14" name="Card 748"/>
          <p:cNvSpPr/>
          <p:nvPr/>
        </p:nvSpPr>
        <p:spPr>
          <a:xfrm>
            <a:off x="457200" y="2971800"/>
            <a:ext cx="82296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5" name="Dot 749"/>
          <p:cNvSpPr/>
          <p:nvPr/>
        </p:nvSpPr>
        <p:spPr>
          <a:xfrm>
            <a:off x="594360" y="313410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750"/>
          <p:cNvSpPr txBox="1"/>
          <p:nvPr/>
        </p:nvSpPr>
        <p:spPr>
          <a:xfrm>
            <a:off x="594360" y="313410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751"/>
          <p:cNvSpPr txBox="1"/>
          <p:nvPr/>
        </p:nvSpPr>
        <p:spPr>
          <a:xfrm>
            <a:off x="1188720" y="2971800"/>
            <a:ext cx="73152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it along the string to the switch.</a:t>
            </a:r>
            <a:endParaRPr lang="en-US" sz="1900" dirty="0"/>
          </a:p>
        </p:txBody>
      </p:sp>
      <p:sp>
        <p:nvSpPr>
          <p:cNvPr id="18" name="Card 752"/>
          <p:cNvSpPr/>
          <p:nvPr/>
        </p:nvSpPr>
        <p:spPr>
          <a:xfrm>
            <a:off x="457200" y="3863340"/>
            <a:ext cx="82296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9" name="Dot 753"/>
          <p:cNvSpPr/>
          <p:nvPr/>
        </p:nvSpPr>
        <p:spPr>
          <a:xfrm>
            <a:off x="594360" y="402564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754"/>
          <p:cNvSpPr txBox="1"/>
          <p:nvPr/>
        </p:nvSpPr>
        <p:spPr>
          <a:xfrm>
            <a:off x="594360" y="40256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755"/>
          <p:cNvSpPr txBox="1"/>
          <p:nvPr/>
        </p:nvSpPr>
        <p:spPr>
          <a:xfrm>
            <a:off x="1188720" y="3863340"/>
            <a:ext cx="73152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switch points to the server. Hand over the file!</a:t>
            </a:r>
            <a:endParaRPr lang="en-US" sz="1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756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" name="Text 757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quiz</a:t>
            </a:r>
            <a:endParaRPr lang="en-US" sz="3000" dirty="0"/>
          </a:p>
        </p:txBody>
      </p:sp>
      <p:sp>
        <p:nvSpPr>
          <p:cNvPr id="4" name="Text 758"/>
          <p:cNvSpPr txBox="1"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 is saved on the server. Computer 1 is switched off. Can other computers still open it?</a:t>
            </a:r>
            <a:endParaRPr lang="en-US" sz="2600" dirty="0"/>
          </a:p>
        </p:txBody>
      </p:sp>
      <p:sp>
        <p:nvSpPr>
          <p:cNvPr id="5" name="Card 759"/>
          <p:cNvSpPr/>
          <p:nvPr/>
        </p:nvSpPr>
        <p:spPr>
          <a:xfrm>
            <a:off x="457200" y="219456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760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6C63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761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762"/>
          <p:cNvSpPr txBox="1"/>
          <p:nvPr/>
        </p:nvSpPr>
        <p:spPr>
          <a:xfrm>
            <a:off x="1188720" y="219456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the server still has it</a:t>
            </a:r>
            <a:endParaRPr lang="en-US" sz="2200" dirty="0"/>
          </a:p>
        </p:txBody>
      </p:sp>
      <p:sp>
        <p:nvSpPr>
          <p:cNvPr id="9" name="Card 763"/>
          <p:cNvSpPr/>
          <p:nvPr/>
        </p:nvSpPr>
        <p:spPr>
          <a:xfrm>
            <a:off x="457200" y="301752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764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6C63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765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766"/>
          <p:cNvSpPr txBox="1"/>
          <p:nvPr/>
        </p:nvSpPr>
        <p:spPr>
          <a:xfrm>
            <a:off x="1188720" y="301752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No, the file is gone</a:t>
            </a:r>
            <a:endParaRPr lang="en-US" sz="2200" dirty="0"/>
          </a:p>
        </p:txBody>
      </p:sp>
      <p:sp>
        <p:nvSpPr>
          <p:cNvPr id="13" name="Card 767"/>
          <p:cNvSpPr/>
          <p:nvPr/>
        </p:nvSpPr>
        <p:spPr>
          <a:xfrm>
            <a:off x="457200" y="384048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768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6C63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769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770"/>
          <p:cNvSpPr txBox="1"/>
          <p:nvPr/>
        </p:nvSpPr>
        <p:spPr>
          <a:xfrm>
            <a:off x="1188720" y="384048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after lunch</a:t>
            </a:r>
            <a:endParaRPr lang="en-US" sz="2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771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" name="Text 772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The answer</a:t>
            </a:r>
            <a:endParaRPr lang="en-US" sz="3000" dirty="0"/>
          </a:p>
        </p:txBody>
      </p:sp>
      <p:sp>
        <p:nvSpPr>
          <p:cNvPr id="4" name="Text 773"/>
          <p:cNvSpPr txBox="1"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 is saved on the server. Computer 1 is switched off. Can other computers still open it?</a:t>
            </a:r>
            <a:endParaRPr lang="en-US" sz="2600" dirty="0"/>
          </a:p>
        </p:txBody>
      </p:sp>
      <p:sp>
        <p:nvSpPr>
          <p:cNvPr id="5" name="Card 774"/>
          <p:cNvSpPr/>
          <p:nvPr/>
        </p:nvSpPr>
        <p:spPr>
          <a:xfrm>
            <a:off x="457200" y="219456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D9F5E6"/>
          </a:solidFill>
          <a:ln w="38100">
            <a:solidFill>
              <a:srgbClr val="2E9E5B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775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776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777"/>
          <p:cNvSpPr txBox="1"/>
          <p:nvPr/>
        </p:nvSpPr>
        <p:spPr>
          <a:xfrm>
            <a:off x="1188720" y="219456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the server still has it</a:t>
            </a:r>
            <a:endParaRPr lang="en-US" sz="2200" dirty="0"/>
          </a:p>
        </p:txBody>
      </p:sp>
      <p:sp>
        <p:nvSpPr>
          <p:cNvPr id="9" name="Card 778"/>
          <p:cNvSpPr/>
          <p:nvPr/>
        </p:nvSpPr>
        <p:spPr>
          <a:xfrm>
            <a:off x="457200" y="301752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779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780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781"/>
          <p:cNvSpPr txBox="1"/>
          <p:nvPr/>
        </p:nvSpPr>
        <p:spPr>
          <a:xfrm>
            <a:off x="1188720" y="301752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No, the file is gone</a:t>
            </a:r>
            <a:endParaRPr lang="en-US" sz="2200" dirty="0"/>
          </a:p>
        </p:txBody>
      </p:sp>
      <p:sp>
        <p:nvSpPr>
          <p:cNvPr id="13" name="Card 782"/>
          <p:cNvSpPr/>
          <p:nvPr/>
        </p:nvSpPr>
        <p:spPr>
          <a:xfrm>
            <a:off x="457200" y="384048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783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784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785"/>
          <p:cNvSpPr txBox="1"/>
          <p:nvPr/>
        </p:nvSpPr>
        <p:spPr>
          <a:xfrm>
            <a:off x="1188720" y="384048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after lunch</a:t>
            </a:r>
            <a:endParaRPr lang="en-US" sz="2200" dirty="0"/>
          </a:p>
        </p:txBody>
      </p:sp>
      <p:sp>
        <p:nvSpPr>
          <p:cNvPr id="17" name="Text 786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 is stored on the server, not on computer 1.</a:t>
            </a:r>
            <a:endParaRPr lang="en-US" sz="2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787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" name="Text 788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Wi-Fi</a:t>
            </a:r>
            <a:endParaRPr lang="en-US" sz="3000" dirty="0"/>
          </a:p>
        </p:txBody>
      </p:sp>
      <p:sp>
        <p:nvSpPr>
          <p:cNvPr id="4" name="Card 789"/>
          <p:cNvSpPr/>
          <p:nvPr/>
        </p:nvSpPr>
        <p:spPr>
          <a:xfrm>
            <a:off x="548640" y="1051560"/>
            <a:ext cx="5120640" cy="3639312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5" name="Picture 790" descr="Wireless access point connecting laptop and tabl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4937760" cy="3456432"/>
          </a:xfrm>
          <a:prstGeom prst="rect">
            <a:avLst/>
          </a:prstGeom>
        </p:spPr>
      </p:pic>
      <p:sp>
        <p:nvSpPr>
          <p:cNvPr id="6" name="Text 791"/>
          <p:cNvSpPr txBox="1"/>
          <p:nvPr/>
        </p:nvSpPr>
        <p:spPr>
          <a:xfrm>
            <a:off x="5897880" y="1234440"/>
            <a:ext cx="2834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Laptops and tablets have no wires. They use Wi-Fi to talk to a wireless access point. The access point is joined to the switch by a wire.</a:t>
            </a:r>
            <a:endParaRPr lang="en-US" sz="2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792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" name="Text 793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 of a file</a:t>
            </a:r>
            <a:endParaRPr lang="en-US" sz="3000" dirty="0"/>
          </a:p>
        </p:txBody>
      </p:sp>
      <p:sp>
        <p:nvSpPr>
          <p:cNvPr id="4" name="Card 794"/>
          <p:cNvSpPr/>
          <p:nvPr/>
        </p:nvSpPr>
        <p:spPr>
          <a:xfrm>
            <a:off x="548640" y="1051560"/>
            <a:ext cx="5120640" cy="3639312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5" name="Picture 795" descr="File travelling between laptop, WAP, switch and ser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4937760" cy="3456432"/>
          </a:xfrm>
          <a:prstGeom prst="rect">
            <a:avLst/>
          </a:prstGeom>
        </p:spPr>
      </p:pic>
      <p:sp>
        <p:nvSpPr>
          <p:cNvPr id="6" name="Text 796"/>
          <p:cNvSpPr txBox="1"/>
          <p:nvPr/>
        </p:nvSpPr>
        <p:spPr>
          <a:xfrm>
            <a:off x="5897880" y="1234440"/>
            <a:ext cx="2834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teacher opens a file on a laptop. The request goes laptop → access point → switch → server. The file comes back the same way!</a:t>
            </a:r>
            <a:endParaRPr lang="en-US" sz="2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797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" name="Text 798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quiz</a:t>
            </a:r>
            <a:endParaRPr lang="en-US" sz="3000" dirty="0"/>
          </a:p>
        </p:txBody>
      </p:sp>
      <p:sp>
        <p:nvSpPr>
          <p:cNvPr id="4" name="Text 799"/>
          <p:cNvSpPr txBox="1"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a wireless access point do?</a:t>
            </a:r>
            <a:endParaRPr lang="en-US" sz="2600" dirty="0"/>
          </a:p>
        </p:txBody>
      </p:sp>
      <p:sp>
        <p:nvSpPr>
          <p:cNvPr id="5" name="Card 800"/>
          <p:cNvSpPr/>
          <p:nvPr/>
        </p:nvSpPr>
        <p:spPr>
          <a:xfrm>
            <a:off x="457200" y="219456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801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6C63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802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803"/>
          <p:cNvSpPr txBox="1"/>
          <p:nvPr/>
        </p:nvSpPr>
        <p:spPr>
          <a:xfrm>
            <a:off x="1188720" y="219456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and receives Wi-Fi signals</a:t>
            </a:r>
            <a:endParaRPr lang="en-US" sz="2200" dirty="0"/>
          </a:p>
        </p:txBody>
      </p:sp>
      <p:sp>
        <p:nvSpPr>
          <p:cNvPr id="9" name="Card 804"/>
          <p:cNvSpPr/>
          <p:nvPr/>
        </p:nvSpPr>
        <p:spPr>
          <a:xfrm>
            <a:off x="457200" y="301752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805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6C63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06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807"/>
          <p:cNvSpPr txBox="1"/>
          <p:nvPr/>
        </p:nvSpPr>
        <p:spPr>
          <a:xfrm>
            <a:off x="1188720" y="301752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all the files</a:t>
            </a:r>
            <a:endParaRPr lang="en-US" sz="2200" dirty="0"/>
          </a:p>
        </p:txBody>
      </p:sp>
      <p:sp>
        <p:nvSpPr>
          <p:cNvPr id="13" name="Card 808"/>
          <p:cNvSpPr/>
          <p:nvPr/>
        </p:nvSpPr>
        <p:spPr>
          <a:xfrm>
            <a:off x="457200" y="384048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809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6C63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810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811"/>
          <p:cNvSpPr txBox="1"/>
          <p:nvPr/>
        </p:nvSpPr>
        <p:spPr>
          <a:xfrm>
            <a:off x="1188720" y="384048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Prints pages</a:t>
            </a:r>
            <a:endParaRPr lang="en-US" sz="2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812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" name="Text 813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The answer</a:t>
            </a:r>
            <a:endParaRPr lang="en-US" sz="3000" dirty="0"/>
          </a:p>
        </p:txBody>
      </p:sp>
      <p:sp>
        <p:nvSpPr>
          <p:cNvPr id="4" name="Text 814"/>
          <p:cNvSpPr txBox="1"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a wireless access point do?</a:t>
            </a:r>
            <a:endParaRPr lang="en-US" sz="2600" dirty="0"/>
          </a:p>
        </p:txBody>
      </p:sp>
      <p:sp>
        <p:nvSpPr>
          <p:cNvPr id="5" name="Card 815"/>
          <p:cNvSpPr/>
          <p:nvPr/>
        </p:nvSpPr>
        <p:spPr>
          <a:xfrm>
            <a:off x="457200" y="219456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D9F5E6"/>
          </a:solidFill>
          <a:ln w="38100">
            <a:solidFill>
              <a:srgbClr val="2E9E5B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816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817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818"/>
          <p:cNvSpPr txBox="1"/>
          <p:nvPr/>
        </p:nvSpPr>
        <p:spPr>
          <a:xfrm>
            <a:off x="1188720" y="219456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and receives Wi-Fi signals</a:t>
            </a:r>
            <a:endParaRPr lang="en-US" sz="2200" dirty="0"/>
          </a:p>
        </p:txBody>
      </p:sp>
      <p:sp>
        <p:nvSpPr>
          <p:cNvPr id="9" name="Card 819"/>
          <p:cNvSpPr/>
          <p:nvPr/>
        </p:nvSpPr>
        <p:spPr>
          <a:xfrm>
            <a:off x="457200" y="301752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820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21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822"/>
          <p:cNvSpPr txBox="1"/>
          <p:nvPr/>
        </p:nvSpPr>
        <p:spPr>
          <a:xfrm>
            <a:off x="1188720" y="301752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all the files</a:t>
            </a:r>
            <a:endParaRPr lang="en-US" sz="2200" dirty="0"/>
          </a:p>
        </p:txBody>
      </p:sp>
      <p:sp>
        <p:nvSpPr>
          <p:cNvPr id="13" name="Card 823"/>
          <p:cNvSpPr/>
          <p:nvPr/>
        </p:nvSpPr>
        <p:spPr>
          <a:xfrm>
            <a:off x="457200" y="384048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824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825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826"/>
          <p:cNvSpPr txBox="1"/>
          <p:nvPr/>
        </p:nvSpPr>
        <p:spPr>
          <a:xfrm>
            <a:off x="1188720" y="384048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Prints pages</a:t>
            </a:r>
            <a:endParaRPr lang="en-US" sz="2200" dirty="0"/>
          </a:p>
        </p:txBody>
      </p:sp>
      <p:sp>
        <p:nvSpPr>
          <p:cNvPr id="17" name="Text 827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connects Wi-Fi devices to the wired network.</a:t>
            </a:r>
            <a:endParaRPr lang="en-US" sz="2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828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" name="Text 829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Activity: Match the columns</a:t>
            </a:r>
            <a:endParaRPr lang="en-US" sz="3000" dirty="0"/>
          </a:p>
        </p:txBody>
      </p:sp>
      <p:sp>
        <p:nvSpPr>
          <p:cNvPr id="4" name="Tag 830"/>
          <p:cNvSpPr/>
          <p:nvPr/>
        </p:nvSpPr>
        <p:spPr>
          <a:xfrm>
            <a:off x="7223760" y="384048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F9A3D"/>
          </a:solidFill>
          <a:ln w="12700">
            <a:solidFill>
              <a:srgbClr val="FF9A3D"/>
            </a:solidFill>
            <a:prstDash val="solid"/>
          </a:ln>
        </p:spPr>
      </p:sp>
      <p:sp>
        <p:nvSpPr>
          <p:cNvPr id="5" name="Text 831"/>
          <p:cNvSpPr txBox="1"/>
          <p:nvPr/>
        </p:nvSpPr>
        <p:spPr>
          <a:xfrm>
            <a:off x="7223760" y="3840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1600" dirty="0"/>
          </a:p>
        </p:txBody>
      </p:sp>
      <p:sp>
        <p:nvSpPr>
          <p:cNvPr id="6" name="Card 832"/>
          <p:cNvSpPr/>
          <p:nvPr/>
        </p:nvSpPr>
        <p:spPr>
          <a:xfrm>
            <a:off x="457200" y="1188720"/>
            <a:ext cx="82296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7" name="Dot 833"/>
          <p:cNvSpPr/>
          <p:nvPr/>
        </p:nvSpPr>
        <p:spPr>
          <a:xfrm>
            <a:off x="594360" y="135102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834"/>
          <p:cNvSpPr txBox="1"/>
          <p:nvPr/>
        </p:nvSpPr>
        <p:spPr>
          <a:xfrm>
            <a:off x="594360" y="135102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835"/>
          <p:cNvSpPr txBox="1"/>
          <p:nvPr/>
        </p:nvSpPr>
        <p:spPr>
          <a:xfrm>
            <a:off x="1188720" y="1188720"/>
            <a:ext cx="73152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Match the Columns game on the games hub.</a:t>
            </a:r>
            <a:endParaRPr lang="en-US" sz="1900" dirty="0"/>
          </a:p>
        </p:txBody>
      </p:sp>
      <p:sp>
        <p:nvSpPr>
          <p:cNvPr id="10" name="Card 836"/>
          <p:cNvSpPr/>
          <p:nvPr/>
        </p:nvSpPr>
        <p:spPr>
          <a:xfrm>
            <a:off x="457200" y="2080260"/>
            <a:ext cx="82296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1" name="Dot 837"/>
          <p:cNvSpPr/>
          <p:nvPr/>
        </p:nvSpPr>
        <p:spPr>
          <a:xfrm>
            <a:off x="594360" y="224256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838"/>
          <p:cNvSpPr txBox="1"/>
          <p:nvPr/>
        </p:nvSpPr>
        <p:spPr>
          <a:xfrm>
            <a:off x="594360" y="22425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839"/>
          <p:cNvSpPr txBox="1"/>
          <p:nvPr/>
        </p:nvSpPr>
        <p:spPr>
          <a:xfrm>
            <a:off x="1188720" y="2080260"/>
            <a:ext cx="73152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lines from each word to its meaning.</a:t>
            </a:r>
            <a:endParaRPr lang="en-US" sz="1900" dirty="0"/>
          </a:p>
        </p:txBody>
      </p:sp>
      <p:sp>
        <p:nvSpPr>
          <p:cNvPr id="14" name="Card 840"/>
          <p:cNvSpPr/>
          <p:nvPr/>
        </p:nvSpPr>
        <p:spPr>
          <a:xfrm>
            <a:off x="457200" y="2971800"/>
            <a:ext cx="82296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5" name="Dot 841"/>
          <p:cNvSpPr/>
          <p:nvPr/>
        </p:nvSpPr>
        <p:spPr>
          <a:xfrm>
            <a:off x="594360" y="313410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842"/>
          <p:cNvSpPr txBox="1"/>
          <p:nvPr/>
        </p:nvSpPr>
        <p:spPr>
          <a:xfrm>
            <a:off x="594360" y="313410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843"/>
          <p:cNvSpPr txBox="1"/>
          <p:nvPr/>
        </p:nvSpPr>
        <p:spPr>
          <a:xfrm>
            <a:off x="1188720" y="2971800"/>
            <a:ext cx="73152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Words: Connection, Computer network, Network switch, Server, Wireless access point.</a:t>
            </a:r>
            <a:endParaRPr lang="en-US" sz="1900" dirty="0"/>
          </a:p>
        </p:txBody>
      </p:sp>
      <p:sp>
        <p:nvSpPr>
          <p:cNvPr id="18" name="Card 844"/>
          <p:cNvSpPr/>
          <p:nvPr/>
        </p:nvSpPr>
        <p:spPr>
          <a:xfrm>
            <a:off x="457200" y="3863340"/>
            <a:ext cx="82296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9" name="Dot 845"/>
          <p:cNvSpPr/>
          <p:nvPr/>
        </p:nvSpPr>
        <p:spPr>
          <a:xfrm>
            <a:off x="594360" y="402564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846"/>
          <p:cNvSpPr txBox="1"/>
          <p:nvPr/>
        </p:nvSpPr>
        <p:spPr>
          <a:xfrm>
            <a:off x="594360" y="40256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847"/>
          <p:cNvSpPr txBox="1"/>
          <p:nvPr/>
        </p:nvSpPr>
        <p:spPr>
          <a:xfrm>
            <a:off x="1188720" y="3863340"/>
            <a:ext cx="73152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match them all first time?</a:t>
            </a:r>
            <a:endParaRPr lang="en-US" sz="1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848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" name="Text 849"/>
          <p:cNvSpPr txBox="1"/>
          <p:nvPr/>
        </p:nvSpPr>
        <p:spPr>
          <a:xfrm>
            <a:off x="914400" y="822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D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6</a:t>
            </a:r>
            <a:endParaRPr lang="en-US" sz="2000" dirty="0"/>
          </a:p>
        </p:txBody>
      </p:sp>
      <p:sp>
        <p:nvSpPr>
          <p:cNvPr id="4" name="Text 850"/>
          <p:cNvSpPr txBox="1"/>
          <p:nvPr/>
        </p:nvSpPr>
        <p:spPr>
          <a:xfrm>
            <a:off x="914400" y="137160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our school network look like?</a:t>
            </a:r>
            <a:endParaRPr lang="en-US" sz="3800" dirty="0"/>
          </a:p>
        </p:txBody>
      </p:sp>
      <p:sp>
        <p:nvSpPr>
          <p:cNvPr id="5" name="Text 851"/>
          <p:cNvSpPr txBox="1"/>
          <p:nvPr/>
        </p:nvSpPr>
        <p:spPr>
          <a:xfrm>
            <a:off x="914400" y="338328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D9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can we find the network in our school?</a:t>
            </a:r>
            <a:endParaRPr lang="en-US" sz="2000" dirty="0"/>
          </a:p>
        </p:txBody>
      </p:sp>
      <p:sp>
        <p:nvSpPr>
          <p:cNvPr id="6" name="Blob 852"/>
          <p:cNvSpPr/>
          <p:nvPr/>
        </p:nvSpPr>
        <p:spPr>
          <a:xfrm>
            <a:off x="6766560" y="1188720"/>
            <a:ext cx="2011680" cy="201168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pic>
        <p:nvPicPr>
          <p:cNvPr id="7" name="Icon 853" descr="FaScho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69164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854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" name="Text 855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 can…</a:t>
            </a:r>
            <a:endParaRPr lang="en-US" sz="3000" dirty="0"/>
          </a:p>
        </p:txBody>
      </p:sp>
      <p:sp>
        <p:nvSpPr>
          <p:cNvPr id="4" name="Card 856"/>
          <p:cNvSpPr/>
          <p:nvPr/>
        </p:nvSpPr>
        <p:spPr>
          <a:xfrm>
            <a:off x="457200" y="1234440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5" name="Dot 857"/>
          <p:cNvSpPr/>
          <p:nvPr/>
        </p:nvSpPr>
        <p:spPr>
          <a:xfrm>
            <a:off x="640080" y="1389888"/>
            <a:ext cx="603504" cy="603504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con 858" descr="FaPlu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536192"/>
            <a:ext cx="310896" cy="310896"/>
          </a:xfrm>
          <a:prstGeom prst="rect">
            <a:avLst/>
          </a:prstGeom>
        </p:spPr>
      </p:pic>
      <p:sp>
        <p:nvSpPr>
          <p:cNvPr id="7" name="Text 859"/>
          <p:cNvSpPr txBox="1"/>
          <p:nvPr/>
        </p:nvSpPr>
        <p:spPr>
          <a:xfrm>
            <a:off x="1463040" y="123444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say how devices in a network are connected</a:t>
            </a:r>
            <a:endParaRPr lang="en-US" sz="2000" dirty="0"/>
          </a:p>
        </p:txBody>
      </p:sp>
      <p:sp>
        <p:nvSpPr>
          <p:cNvPr id="8" name="Card 860"/>
          <p:cNvSpPr/>
          <p:nvPr/>
        </p:nvSpPr>
        <p:spPr>
          <a:xfrm>
            <a:off x="457200" y="2286000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9" name="Dot 861"/>
          <p:cNvSpPr/>
          <p:nvPr/>
        </p:nvSpPr>
        <p:spPr>
          <a:xfrm>
            <a:off x="640080" y="2441448"/>
            <a:ext cx="603504" cy="603504"/>
          </a:xfrm>
          <a:prstGeom prst="ellipse">
            <a:avLst/>
          </a:prstGeom>
          <a:solidFill>
            <a:srgbClr val="FF5C8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con 862" descr="FaSearchLo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2587752"/>
            <a:ext cx="310896" cy="310896"/>
          </a:xfrm>
          <a:prstGeom prst="rect">
            <a:avLst/>
          </a:prstGeom>
        </p:spPr>
      </p:pic>
      <p:sp>
        <p:nvSpPr>
          <p:cNvPr id="11" name="Text 863"/>
          <p:cNvSpPr txBox="1"/>
          <p:nvPr/>
        </p:nvSpPr>
        <p:spPr>
          <a:xfrm>
            <a:off x="1463040" y="228600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spot networked devices around me</a:t>
            </a:r>
            <a:endParaRPr lang="en-US" sz="2000" dirty="0"/>
          </a:p>
        </p:txBody>
      </p:sp>
      <p:sp>
        <p:nvSpPr>
          <p:cNvPr id="12" name="Card 864"/>
          <p:cNvSpPr/>
          <p:nvPr/>
        </p:nvSpPr>
        <p:spPr>
          <a:xfrm>
            <a:off x="457200" y="3337560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3" name="Dot 865"/>
          <p:cNvSpPr/>
          <p:nvPr/>
        </p:nvSpPr>
        <p:spPr>
          <a:xfrm>
            <a:off x="640080" y="3493008"/>
            <a:ext cx="603504" cy="603504"/>
          </a:xfrm>
          <a:prstGeom prst="ellipse">
            <a:avLst/>
          </a:prstGeom>
          <a:solidFill>
            <a:srgbClr val="4DA3E0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 866" descr="FaThumbs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3639312"/>
            <a:ext cx="310896" cy="310896"/>
          </a:xfrm>
          <a:prstGeom prst="rect">
            <a:avLst/>
          </a:prstGeom>
        </p:spPr>
      </p:pic>
      <p:sp>
        <p:nvSpPr>
          <p:cNvPr id="15" name="Text 867"/>
          <p:cNvSpPr txBox="1"/>
          <p:nvPr/>
        </p:nvSpPr>
        <p:spPr>
          <a:xfrm>
            <a:off x="1463040" y="333756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say why computer networks are useful</a:t>
            </a:r>
            <a:endParaRPr lang="en-US" sz="2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868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" name="Text 869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</a:t>
            </a:r>
            <a:endParaRPr lang="en-US" sz="3000" dirty="0"/>
          </a:p>
        </p:txBody>
      </p:sp>
      <p:sp>
        <p:nvSpPr>
          <p:cNvPr id="4" name="Card 870"/>
          <p:cNvSpPr/>
          <p:nvPr/>
        </p:nvSpPr>
        <p:spPr>
          <a:xfrm>
            <a:off x="457200" y="1188720"/>
            <a:ext cx="41148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5" name="Dot 871"/>
          <p:cNvSpPr/>
          <p:nvPr/>
        </p:nvSpPr>
        <p:spPr>
          <a:xfrm>
            <a:off x="640080" y="1371600"/>
            <a:ext cx="731520" cy="73152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con 872" descr="FaPlu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1545336"/>
            <a:ext cx="384048" cy="384048"/>
          </a:xfrm>
          <a:prstGeom prst="rect">
            <a:avLst/>
          </a:prstGeom>
        </p:spPr>
      </p:pic>
      <p:sp>
        <p:nvSpPr>
          <p:cNvPr id="7" name="Text 873"/>
          <p:cNvSpPr txBox="1"/>
          <p:nvPr/>
        </p:nvSpPr>
        <p:spPr>
          <a:xfrm>
            <a:off x="1554480" y="1325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cable</a:t>
            </a:r>
            <a:endParaRPr lang="en-US" sz="2400" dirty="0"/>
          </a:p>
        </p:txBody>
      </p:sp>
      <p:sp>
        <p:nvSpPr>
          <p:cNvPr id="8" name="Text 874"/>
          <p:cNvSpPr txBox="1"/>
          <p:nvPr/>
        </p:nvSpPr>
        <p:spPr>
          <a:xfrm>
            <a:off x="1554480" y="1828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wire that connects devices to the network</a:t>
            </a:r>
            <a:endParaRPr lang="en-US" sz="1800" dirty="0"/>
          </a:p>
        </p:txBody>
      </p:sp>
      <p:sp>
        <p:nvSpPr>
          <p:cNvPr id="9" name="Card 875"/>
          <p:cNvSpPr/>
          <p:nvPr/>
        </p:nvSpPr>
        <p:spPr>
          <a:xfrm>
            <a:off x="4663440" y="1188720"/>
            <a:ext cx="41148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876"/>
          <p:cNvSpPr/>
          <p:nvPr/>
        </p:nvSpPr>
        <p:spPr>
          <a:xfrm>
            <a:off x="4846320" y="1371600"/>
            <a:ext cx="731520" cy="731520"/>
          </a:xfrm>
          <a:prstGeom prst="ellipse">
            <a:avLst/>
          </a:prstGeom>
          <a:solidFill>
            <a:srgbClr val="FF5C8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con 877" descr="FaNetworkWir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0056" y="1545336"/>
            <a:ext cx="384048" cy="384048"/>
          </a:xfrm>
          <a:prstGeom prst="rect">
            <a:avLst/>
          </a:prstGeom>
        </p:spPr>
      </p:pic>
      <p:sp>
        <p:nvSpPr>
          <p:cNvPr id="12" name="Text 878"/>
          <p:cNvSpPr txBox="1"/>
          <p:nvPr/>
        </p:nvSpPr>
        <p:spPr>
          <a:xfrm>
            <a:off x="5760720" y="1325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socket</a:t>
            </a:r>
            <a:endParaRPr lang="en-US" sz="2400" dirty="0"/>
          </a:p>
        </p:txBody>
      </p:sp>
      <p:sp>
        <p:nvSpPr>
          <p:cNvPr id="13" name="Text 879"/>
          <p:cNvSpPr txBox="1"/>
          <p:nvPr/>
        </p:nvSpPr>
        <p:spPr>
          <a:xfrm>
            <a:off x="5760720" y="1828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network cable plugs in</a:t>
            </a:r>
            <a:endParaRPr lang="en-US" sz="1800" dirty="0"/>
          </a:p>
        </p:txBody>
      </p:sp>
      <p:sp>
        <p:nvSpPr>
          <p:cNvPr id="14" name="Card 880"/>
          <p:cNvSpPr/>
          <p:nvPr/>
        </p:nvSpPr>
        <p:spPr>
          <a:xfrm>
            <a:off x="457200" y="3108960"/>
            <a:ext cx="41148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5" name="Dot 881"/>
          <p:cNvSpPr/>
          <p:nvPr/>
        </p:nvSpPr>
        <p:spPr>
          <a:xfrm>
            <a:off x="640080" y="3291840"/>
            <a:ext cx="731520" cy="731520"/>
          </a:xfrm>
          <a:prstGeom prst="ellipse">
            <a:avLst/>
          </a:prstGeom>
          <a:solidFill>
            <a:srgbClr val="4DA3E0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con 882" descr="FaWif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3465576"/>
            <a:ext cx="384048" cy="384048"/>
          </a:xfrm>
          <a:prstGeom prst="rect">
            <a:avLst/>
          </a:prstGeom>
        </p:spPr>
      </p:pic>
      <p:sp>
        <p:nvSpPr>
          <p:cNvPr id="17" name="Text 883"/>
          <p:cNvSpPr txBox="1"/>
          <p:nvPr/>
        </p:nvSpPr>
        <p:spPr>
          <a:xfrm>
            <a:off x="1554480" y="3246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D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Wireless access point</a:t>
            </a:r>
            <a:endParaRPr lang="en-US" sz="2400" dirty="0"/>
          </a:p>
        </p:txBody>
      </p:sp>
      <p:sp>
        <p:nvSpPr>
          <p:cNvPr id="18" name="Text 884"/>
          <p:cNvSpPr txBox="1"/>
          <p:nvPr/>
        </p:nvSpPr>
        <p:spPr>
          <a:xfrm>
            <a:off x="1554480" y="37490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and receives Wi-Fi signals</a:t>
            </a:r>
            <a:endParaRPr lang="en-US" sz="1800" dirty="0"/>
          </a:p>
        </p:txBody>
      </p:sp>
      <p:sp>
        <p:nvSpPr>
          <p:cNvPr id="19" name="Card 885"/>
          <p:cNvSpPr/>
          <p:nvPr/>
        </p:nvSpPr>
        <p:spPr>
          <a:xfrm>
            <a:off x="4663440" y="3108960"/>
            <a:ext cx="411480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20" name="Dot 886"/>
          <p:cNvSpPr/>
          <p:nvPr/>
        </p:nvSpPr>
        <p:spPr>
          <a:xfrm>
            <a:off x="4846320" y="3291840"/>
            <a:ext cx="731520" cy="731520"/>
          </a:xfrm>
          <a:prstGeom prst="ellipse">
            <a:avLst/>
          </a:prstGeom>
          <a:solidFill>
            <a:srgbClr val="1FB89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con 887" descr="FaServ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0056" y="3465576"/>
            <a:ext cx="384048" cy="384048"/>
          </a:xfrm>
          <a:prstGeom prst="rect">
            <a:avLst/>
          </a:prstGeom>
        </p:spPr>
      </p:pic>
      <p:sp>
        <p:nvSpPr>
          <p:cNvPr id="22" name="Text 888"/>
          <p:cNvSpPr txBox="1"/>
          <p:nvPr/>
        </p:nvSpPr>
        <p:spPr>
          <a:xfrm>
            <a:off x="5760720" y="3246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B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2400" dirty="0"/>
          </a:p>
        </p:txBody>
      </p:sp>
      <p:sp>
        <p:nvSpPr>
          <p:cNvPr id="23" name="Text 889"/>
          <p:cNvSpPr txBox="1"/>
          <p:nvPr/>
        </p:nvSpPr>
        <p:spPr>
          <a:xfrm>
            <a:off x="5760720" y="37490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files for the school network</a:t>
            </a:r>
            <a:endParaRPr lang="en-US" sz="1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890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" name="Text 891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Cables and sockets</a:t>
            </a:r>
            <a:endParaRPr lang="en-US" sz="3000" dirty="0"/>
          </a:p>
        </p:txBody>
      </p:sp>
      <p:sp>
        <p:nvSpPr>
          <p:cNvPr id="4" name="Card 892"/>
          <p:cNvSpPr/>
          <p:nvPr/>
        </p:nvSpPr>
        <p:spPr>
          <a:xfrm>
            <a:off x="548640" y="1051560"/>
            <a:ext cx="5120640" cy="3639312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5" name="Picture 893" descr="Network cable and a network sock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4937760" cy="3456432"/>
          </a:xfrm>
          <a:prstGeom prst="rect">
            <a:avLst/>
          </a:prstGeom>
        </p:spPr>
      </p:pic>
      <p:sp>
        <p:nvSpPr>
          <p:cNvPr id="6" name="Text 894"/>
          <p:cNvSpPr txBox="1"/>
          <p:nvPr/>
        </p:nvSpPr>
        <p:spPr>
          <a:xfrm>
            <a:off x="5897880" y="1234440"/>
            <a:ext cx="2834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cables carry information. They plug into network sockets in the wall.</a:t>
            </a:r>
            <a:endParaRPr lang="en-US" sz="2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895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" name="Text 896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are networks useful?</a:t>
            </a:r>
            <a:endParaRPr lang="en-US" sz="3000" dirty="0"/>
          </a:p>
        </p:txBody>
      </p:sp>
      <p:sp>
        <p:nvSpPr>
          <p:cNvPr id="4" name="Card 897"/>
          <p:cNvSpPr/>
          <p:nvPr/>
        </p:nvSpPr>
        <p:spPr>
          <a:xfrm>
            <a:off x="457200" y="1188720"/>
            <a:ext cx="41148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5" name="Dot 898"/>
          <p:cNvSpPr/>
          <p:nvPr/>
        </p:nvSpPr>
        <p:spPr>
          <a:xfrm>
            <a:off x="640080" y="1371600"/>
            <a:ext cx="640080" cy="64008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con 899" descr="FaFolderO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527048"/>
            <a:ext cx="329184" cy="329184"/>
          </a:xfrm>
          <a:prstGeom prst="rect">
            <a:avLst/>
          </a:prstGeom>
        </p:spPr>
      </p:pic>
      <p:sp>
        <p:nvSpPr>
          <p:cNvPr id="7" name="Text 900"/>
          <p:cNvSpPr txBox="1"/>
          <p:nvPr/>
        </p:nvSpPr>
        <p:spPr>
          <a:xfrm>
            <a:off x="1417320" y="1325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files</a:t>
            </a:r>
            <a:endParaRPr lang="en-US" sz="2200" dirty="0"/>
          </a:p>
        </p:txBody>
      </p:sp>
      <p:sp>
        <p:nvSpPr>
          <p:cNvPr id="8" name="Text 901"/>
          <p:cNvSpPr txBox="1"/>
          <p:nvPr/>
        </p:nvSpPr>
        <p:spPr>
          <a:xfrm>
            <a:off x="1417320" y="17830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work on any computer</a:t>
            </a:r>
            <a:endParaRPr lang="en-US" sz="1800" dirty="0"/>
          </a:p>
        </p:txBody>
      </p:sp>
      <p:sp>
        <p:nvSpPr>
          <p:cNvPr id="9" name="Card 902"/>
          <p:cNvSpPr/>
          <p:nvPr/>
        </p:nvSpPr>
        <p:spPr>
          <a:xfrm>
            <a:off x="4709160" y="1188720"/>
            <a:ext cx="41148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903"/>
          <p:cNvSpPr/>
          <p:nvPr/>
        </p:nvSpPr>
        <p:spPr>
          <a:xfrm>
            <a:off x="4892040" y="1371600"/>
            <a:ext cx="640080" cy="640080"/>
          </a:xfrm>
          <a:prstGeom prst="ellipse">
            <a:avLst/>
          </a:prstGeom>
          <a:solidFill>
            <a:srgbClr val="FF5C8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con 904" descr="FaPri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488" y="1527048"/>
            <a:ext cx="329184" cy="329184"/>
          </a:xfrm>
          <a:prstGeom prst="rect">
            <a:avLst/>
          </a:prstGeom>
        </p:spPr>
      </p:pic>
      <p:sp>
        <p:nvSpPr>
          <p:cNvPr id="12" name="Text 905"/>
          <p:cNvSpPr txBox="1"/>
          <p:nvPr/>
        </p:nvSpPr>
        <p:spPr>
          <a:xfrm>
            <a:off x="5669280" y="1325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printers</a:t>
            </a:r>
            <a:endParaRPr lang="en-US" sz="2200" dirty="0"/>
          </a:p>
        </p:txBody>
      </p:sp>
      <p:sp>
        <p:nvSpPr>
          <p:cNvPr id="13" name="Text 906"/>
          <p:cNvSpPr txBox="1"/>
          <p:nvPr/>
        </p:nvSpPr>
        <p:spPr>
          <a:xfrm>
            <a:off x="5669280" y="17830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people print on one printer</a:t>
            </a:r>
            <a:endParaRPr lang="en-US" sz="1800" dirty="0"/>
          </a:p>
        </p:txBody>
      </p:sp>
      <p:sp>
        <p:nvSpPr>
          <p:cNvPr id="14" name="Card 907"/>
          <p:cNvSpPr/>
          <p:nvPr/>
        </p:nvSpPr>
        <p:spPr>
          <a:xfrm>
            <a:off x="457200" y="3063240"/>
            <a:ext cx="41148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5" name="Dot 908"/>
          <p:cNvSpPr/>
          <p:nvPr/>
        </p:nvSpPr>
        <p:spPr>
          <a:xfrm>
            <a:off x="640080" y="3246120"/>
            <a:ext cx="640080" cy="640080"/>
          </a:xfrm>
          <a:prstGeom prst="ellipse">
            <a:avLst/>
          </a:prstGeom>
          <a:solidFill>
            <a:srgbClr val="4DA3E0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con 909" descr="FaClipboard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3401568"/>
            <a:ext cx="329184" cy="329184"/>
          </a:xfrm>
          <a:prstGeom prst="rect">
            <a:avLst/>
          </a:prstGeom>
        </p:spPr>
      </p:pic>
      <p:sp>
        <p:nvSpPr>
          <p:cNvPr id="17" name="Text 910"/>
          <p:cNvSpPr txBox="1"/>
          <p:nvPr/>
        </p:nvSpPr>
        <p:spPr>
          <a:xfrm>
            <a:off x="1417320" y="3200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D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information</a:t>
            </a:r>
            <a:endParaRPr lang="en-US" sz="2200" dirty="0"/>
          </a:p>
        </p:txBody>
      </p:sp>
      <p:sp>
        <p:nvSpPr>
          <p:cNvPr id="18" name="Text 911"/>
          <p:cNvSpPr txBox="1"/>
          <p:nvPr/>
        </p:nvSpPr>
        <p:spPr>
          <a:xfrm>
            <a:off x="1417320" y="36576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register is entered once and seen by many</a:t>
            </a:r>
            <a:endParaRPr lang="en-US" sz="1800" dirty="0"/>
          </a:p>
        </p:txBody>
      </p:sp>
      <p:sp>
        <p:nvSpPr>
          <p:cNvPr id="19" name="Card 912"/>
          <p:cNvSpPr/>
          <p:nvPr/>
        </p:nvSpPr>
        <p:spPr>
          <a:xfrm>
            <a:off x="4709160" y="3063240"/>
            <a:ext cx="41148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20" name="Dot 913"/>
          <p:cNvSpPr/>
          <p:nvPr/>
        </p:nvSpPr>
        <p:spPr>
          <a:xfrm>
            <a:off x="4892040" y="3246120"/>
            <a:ext cx="640080" cy="640080"/>
          </a:xfrm>
          <a:prstGeom prst="ellipse">
            <a:avLst/>
          </a:prstGeom>
          <a:solidFill>
            <a:srgbClr val="1FB89A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con 914" descr="FaComment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3401568"/>
            <a:ext cx="329184" cy="329184"/>
          </a:xfrm>
          <a:prstGeom prst="rect">
            <a:avLst/>
          </a:prstGeom>
        </p:spPr>
      </p:pic>
      <p:sp>
        <p:nvSpPr>
          <p:cNvPr id="22" name="Text 915"/>
          <p:cNvSpPr txBox="1"/>
          <p:nvPr/>
        </p:nvSpPr>
        <p:spPr>
          <a:xfrm>
            <a:off x="5669280" y="3200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B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messages</a:t>
            </a:r>
            <a:endParaRPr lang="en-US" sz="2200" dirty="0"/>
          </a:p>
        </p:txBody>
      </p:sp>
      <p:sp>
        <p:nvSpPr>
          <p:cNvPr id="23" name="Text 916"/>
          <p:cNvSpPr txBox="1"/>
          <p:nvPr/>
        </p:nvSpPr>
        <p:spPr>
          <a:xfrm>
            <a:off x="5669280" y="36576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and pupils can talk to each other easily</a:t>
            </a:r>
            <a:endParaRPr lang="en-US" sz="1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917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" name="Text 918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tour: what can we spot?</a:t>
            </a:r>
            <a:endParaRPr lang="en-US" sz="3000" dirty="0"/>
          </a:p>
        </p:txBody>
      </p:sp>
      <p:sp>
        <p:nvSpPr>
          <p:cNvPr id="4" name="Card 919"/>
          <p:cNvSpPr/>
          <p:nvPr/>
        </p:nvSpPr>
        <p:spPr>
          <a:xfrm>
            <a:off x="548640" y="1051560"/>
            <a:ext cx="5120640" cy="3639312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5" name="Picture 920" descr="Computer, switch, server, access point, printer and ca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4937760" cy="3456432"/>
          </a:xfrm>
          <a:prstGeom prst="rect">
            <a:avLst/>
          </a:prstGeom>
        </p:spPr>
      </p:pic>
      <p:sp>
        <p:nvSpPr>
          <p:cNvPr id="6" name="Text 921"/>
          <p:cNvSpPr txBox="1"/>
          <p:nvPr/>
        </p:nvSpPr>
        <p:spPr>
          <a:xfrm>
            <a:off x="5897880" y="1234440"/>
            <a:ext cx="2834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on a tour of the school. Find computers, printers, access points, cables, sockets, the switch and the server. Take photos!</a:t>
            </a:r>
            <a:endParaRPr lang="en-US" sz="2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922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" name="Text 923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Activity: Network scavenger hunt</a:t>
            </a:r>
            <a:endParaRPr lang="en-US" sz="3000" dirty="0"/>
          </a:p>
        </p:txBody>
      </p:sp>
      <p:sp>
        <p:nvSpPr>
          <p:cNvPr id="4" name="Tag 924"/>
          <p:cNvSpPr/>
          <p:nvPr/>
        </p:nvSpPr>
        <p:spPr>
          <a:xfrm>
            <a:off x="7223760" y="384048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FF9A3D"/>
          </a:solidFill>
          <a:ln w="12700">
            <a:solidFill>
              <a:srgbClr val="FF9A3D"/>
            </a:solidFill>
            <a:prstDash val="solid"/>
          </a:ln>
        </p:spPr>
      </p:sp>
      <p:sp>
        <p:nvSpPr>
          <p:cNvPr id="5" name="Text 925"/>
          <p:cNvSpPr txBox="1"/>
          <p:nvPr/>
        </p:nvSpPr>
        <p:spPr>
          <a:xfrm>
            <a:off x="7223760" y="3840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1600" dirty="0"/>
          </a:p>
        </p:txBody>
      </p:sp>
      <p:sp>
        <p:nvSpPr>
          <p:cNvPr id="6" name="Card 926"/>
          <p:cNvSpPr/>
          <p:nvPr/>
        </p:nvSpPr>
        <p:spPr>
          <a:xfrm>
            <a:off x="457200" y="1188720"/>
            <a:ext cx="41148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7" name="Dot 927"/>
          <p:cNvSpPr/>
          <p:nvPr/>
        </p:nvSpPr>
        <p:spPr>
          <a:xfrm>
            <a:off x="594360" y="135102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928"/>
          <p:cNvSpPr txBox="1"/>
          <p:nvPr/>
        </p:nvSpPr>
        <p:spPr>
          <a:xfrm>
            <a:off x="594360" y="135102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929"/>
          <p:cNvSpPr txBox="1"/>
          <p:nvPr/>
        </p:nvSpPr>
        <p:spPr>
          <a:xfrm>
            <a:off x="1188720" y="1188720"/>
            <a:ext cx="32004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around school with your teacher.</a:t>
            </a:r>
            <a:endParaRPr lang="en-US" sz="1700" dirty="0"/>
          </a:p>
        </p:txBody>
      </p:sp>
      <p:sp>
        <p:nvSpPr>
          <p:cNvPr id="10" name="Card 930"/>
          <p:cNvSpPr/>
          <p:nvPr/>
        </p:nvSpPr>
        <p:spPr>
          <a:xfrm>
            <a:off x="457200" y="2080260"/>
            <a:ext cx="41148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1" name="Dot 931"/>
          <p:cNvSpPr/>
          <p:nvPr/>
        </p:nvSpPr>
        <p:spPr>
          <a:xfrm>
            <a:off x="594360" y="224256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32"/>
          <p:cNvSpPr txBox="1"/>
          <p:nvPr/>
        </p:nvSpPr>
        <p:spPr>
          <a:xfrm>
            <a:off x="594360" y="22425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933"/>
          <p:cNvSpPr txBox="1"/>
          <p:nvPr/>
        </p:nvSpPr>
        <p:spPr>
          <a:xfrm>
            <a:off x="1188720" y="2080260"/>
            <a:ext cx="32004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each device when you spot it.</a:t>
            </a:r>
            <a:endParaRPr lang="en-US" sz="1700" dirty="0"/>
          </a:p>
        </p:txBody>
      </p:sp>
      <p:sp>
        <p:nvSpPr>
          <p:cNvPr id="14" name="Card 934"/>
          <p:cNvSpPr/>
          <p:nvPr/>
        </p:nvSpPr>
        <p:spPr>
          <a:xfrm>
            <a:off x="457200" y="2971800"/>
            <a:ext cx="41148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5" name="Dot 935"/>
          <p:cNvSpPr/>
          <p:nvPr/>
        </p:nvSpPr>
        <p:spPr>
          <a:xfrm>
            <a:off x="594360" y="313410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936"/>
          <p:cNvSpPr txBox="1"/>
          <p:nvPr/>
        </p:nvSpPr>
        <p:spPr>
          <a:xfrm>
            <a:off x="594360" y="313410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937"/>
          <p:cNvSpPr txBox="1"/>
          <p:nvPr/>
        </p:nvSpPr>
        <p:spPr>
          <a:xfrm>
            <a:off x="1188720" y="2971800"/>
            <a:ext cx="32004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photo if you can.</a:t>
            </a:r>
            <a:endParaRPr lang="en-US" sz="1700" dirty="0"/>
          </a:p>
        </p:txBody>
      </p:sp>
      <p:sp>
        <p:nvSpPr>
          <p:cNvPr id="18" name="Card 938"/>
          <p:cNvSpPr/>
          <p:nvPr/>
        </p:nvSpPr>
        <p:spPr>
          <a:xfrm>
            <a:off x="457200" y="3863340"/>
            <a:ext cx="4114800" cy="781812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9" name="Dot 939"/>
          <p:cNvSpPr/>
          <p:nvPr/>
        </p:nvSpPr>
        <p:spPr>
          <a:xfrm>
            <a:off x="594360" y="402564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940"/>
          <p:cNvSpPr txBox="1"/>
          <p:nvPr/>
        </p:nvSpPr>
        <p:spPr>
          <a:xfrm>
            <a:off x="594360" y="40256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941"/>
          <p:cNvSpPr txBox="1"/>
          <p:nvPr/>
        </p:nvSpPr>
        <p:spPr>
          <a:xfrm>
            <a:off x="1188720" y="3863340"/>
            <a:ext cx="3200400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you find the most?</a:t>
            </a:r>
            <a:endParaRPr lang="en-US" sz="1700" dirty="0"/>
          </a:p>
        </p:txBody>
      </p:sp>
      <p:sp>
        <p:nvSpPr>
          <p:cNvPr id="22" name="Card 942"/>
          <p:cNvSpPr/>
          <p:nvPr/>
        </p:nvSpPr>
        <p:spPr>
          <a:xfrm>
            <a:off x="4617720" y="1097280"/>
            <a:ext cx="4206240" cy="2999232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23" name="Picture 943" descr="Activity pic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1188720"/>
            <a:ext cx="4023360" cy="2816352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944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" name="Text 945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our network</a:t>
            </a:r>
            <a:endParaRPr lang="en-US" sz="3000" dirty="0"/>
          </a:p>
        </p:txBody>
      </p:sp>
      <p:sp>
        <p:nvSpPr>
          <p:cNvPr id="4" name="Card 946"/>
          <p:cNvSpPr/>
          <p:nvPr/>
        </p:nvSpPr>
        <p:spPr>
          <a:xfrm>
            <a:off x="548640" y="1051560"/>
            <a:ext cx="5120640" cy="3639312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5" name="Picture 947" descr="School plan with wireless points, a server, switch and print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4937760" cy="3456432"/>
          </a:xfrm>
          <a:prstGeom prst="rect">
            <a:avLst/>
          </a:prstGeom>
        </p:spPr>
      </p:pic>
      <p:sp>
        <p:nvSpPr>
          <p:cNvPr id="6" name="Text 948"/>
          <p:cNvSpPr txBox="1"/>
          <p:nvPr/>
        </p:nvSpPr>
        <p:spPr>
          <a:xfrm>
            <a:off x="5897880" y="1234440"/>
            <a:ext cx="2834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what you found to a map of our school. Join devices with wired and wireless connections.</a:t>
            </a:r>
            <a:endParaRPr lang="en-US" sz="2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949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" name="Text 95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networks to the internet</a:t>
            </a:r>
            <a:endParaRPr lang="en-US" sz="3000" dirty="0"/>
          </a:p>
        </p:txBody>
      </p:sp>
      <p:sp>
        <p:nvSpPr>
          <p:cNvPr id="4" name="Card 951"/>
          <p:cNvSpPr/>
          <p:nvPr/>
        </p:nvSpPr>
        <p:spPr>
          <a:xfrm>
            <a:off x="548640" y="1051560"/>
            <a:ext cx="5120640" cy="3639312"/>
          </a:xfrm>
          <a:prstGeom prst="roundRect">
            <a:avLst>
              <a:gd name="adj" fmla="val 30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pic>
        <p:nvPicPr>
          <p:cNvPr id="5" name="Picture 952" descr="Networks joined toge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4937760" cy="3456432"/>
          </a:xfrm>
          <a:prstGeom prst="rect">
            <a:avLst/>
          </a:prstGeom>
        </p:spPr>
      </p:pic>
      <p:sp>
        <p:nvSpPr>
          <p:cNvPr id="6" name="Text 953"/>
          <p:cNvSpPr txBox="1"/>
          <p:nvPr/>
        </p:nvSpPr>
        <p:spPr>
          <a:xfrm>
            <a:off x="5897880" y="1234440"/>
            <a:ext cx="2834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Computers connected to computers make a NETWORK. Connecting networks together makes the INTERNET. Next year, you will explore it!</a:t>
            </a:r>
            <a:endParaRPr lang="en-US" sz="2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954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" name="Text 955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quiz</a:t>
            </a:r>
            <a:endParaRPr lang="en-US" sz="3000" dirty="0"/>
          </a:p>
        </p:txBody>
      </p:sp>
      <p:sp>
        <p:nvSpPr>
          <p:cNvPr id="4" name="Text 956"/>
          <p:cNvSpPr txBox="1"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joins a network cable to the wall?</a:t>
            </a:r>
            <a:endParaRPr lang="en-US" sz="2600" dirty="0"/>
          </a:p>
        </p:txBody>
      </p:sp>
      <p:sp>
        <p:nvSpPr>
          <p:cNvPr id="5" name="Card 957"/>
          <p:cNvSpPr/>
          <p:nvPr/>
        </p:nvSpPr>
        <p:spPr>
          <a:xfrm>
            <a:off x="457200" y="219456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958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959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960"/>
          <p:cNvSpPr txBox="1"/>
          <p:nvPr/>
        </p:nvSpPr>
        <p:spPr>
          <a:xfrm>
            <a:off x="1188720" y="219456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socket</a:t>
            </a:r>
            <a:endParaRPr lang="en-US" sz="2200" dirty="0"/>
          </a:p>
        </p:txBody>
      </p:sp>
      <p:sp>
        <p:nvSpPr>
          <p:cNvPr id="9" name="Card 961"/>
          <p:cNvSpPr/>
          <p:nvPr/>
        </p:nvSpPr>
        <p:spPr>
          <a:xfrm>
            <a:off x="457200" y="301752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962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63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964"/>
          <p:cNvSpPr txBox="1"/>
          <p:nvPr/>
        </p:nvSpPr>
        <p:spPr>
          <a:xfrm>
            <a:off x="1188720" y="301752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</a:t>
            </a:r>
            <a:endParaRPr lang="en-US" sz="2200" dirty="0"/>
          </a:p>
        </p:txBody>
      </p:sp>
      <p:sp>
        <p:nvSpPr>
          <p:cNvPr id="13" name="Card 965"/>
          <p:cNvSpPr/>
          <p:nvPr/>
        </p:nvSpPr>
        <p:spPr>
          <a:xfrm>
            <a:off x="457200" y="384048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966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967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968"/>
          <p:cNvSpPr txBox="1"/>
          <p:nvPr/>
        </p:nvSpPr>
        <p:spPr>
          <a:xfrm>
            <a:off x="1188720" y="384048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</a:t>
            </a:r>
            <a:endParaRPr lang="en-US" sz="2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969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" name="Text 97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The answer</a:t>
            </a:r>
            <a:endParaRPr lang="en-US" sz="3000" dirty="0"/>
          </a:p>
        </p:txBody>
      </p:sp>
      <p:sp>
        <p:nvSpPr>
          <p:cNvPr id="4" name="Text 971"/>
          <p:cNvSpPr txBox="1"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joins a network cable to the wall?</a:t>
            </a:r>
            <a:endParaRPr lang="en-US" sz="2600" dirty="0"/>
          </a:p>
        </p:txBody>
      </p:sp>
      <p:sp>
        <p:nvSpPr>
          <p:cNvPr id="5" name="Card 972"/>
          <p:cNvSpPr/>
          <p:nvPr/>
        </p:nvSpPr>
        <p:spPr>
          <a:xfrm>
            <a:off x="457200" y="219456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D9F5E6"/>
          </a:solidFill>
          <a:ln w="38100">
            <a:solidFill>
              <a:srgbClr val="2E9E5B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973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974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975"/>
          <p:cNvSpPr txBox="1"/>
          <p:nvPr/>
        </p:nvSpPr>
        <p:spPr>
          <a:xfrm>
            <a:off x="1188720" y="219456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socket</a:t>
            </a:r>
            <a:endParaRPr lang="en-US" sz="2200" dirty="0"/>
          </a:p>
        </p:txBody>
      </p:sp>
      <p:sp>
        <p:nvSpPr>
          <p:cNvPr id="9" name="Card 976"/>
          <p:cNvSpPr/>
          <p:nvPr/>
        </p:nvSpPr>
        <p:spPr>
          <a:xfrm>
            <a:off x="457200" y="301752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977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78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979"/>
          <p:cNvSpPr txBox="1"/>
          <p:nvPr/>
        </p:nvSpPr>
        <p:spPr>
          <a:xfrm>
            <a:off x="1188720" y="301752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</a:t>
            </a:r>
            <a:endParaRPr lang="en-US" sz="2200" dirty="0"/>
          </a:p>
        </p:txBody>
      </p:sp>
      <p:sp>
        <p:nvSpPr>
          <p:cNvPr id="13" name="Card 980"/>
          <p:cNvSpPr/>
          <p:nvPr/>
        </p:nvSpPr>
        <p:spPr>
          <a:xfrm>
            <a:off x="457200" y="384048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981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982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983"/>
          <p:cNvSpPr txBox="1"/>
          <p:nvPr/>
        </p:nvSpPr>
        <p:spPr>
          <a:xfrm>
            <a:off x="1188720" y="384048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</a:t>
            </a:r>
            <a:endParaRPr lang="en-US" sz="2200" dirty="0"/>
          </a:p>
        </p:txBody>
      </p:sp>
      <p:sp>
        <p:nvSpPr>
          <p:cNvPr id="17" name="Text 98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cables plug into network sockets.</a:t>
            </a:r>
            <a:endParaRPr lang="en-US" sz="2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985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" name="Text 986"/>
          <p:cNvSpPr txBox="1"/>
          <p:nvPr/>
        </p:nvSpPr>
        <p:spPr>
          <a:xfrm>
            <a:off x="914400" y="822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D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CHALLENGE</a:t>
            </a:r>
            <a:endParaRPr lang="en-US" sz="2000" dirty="0"/>
          </a:p>
        </p:txBody>
      </p:sp>
      <p:sp>
        <p:nvSpPr>
          <p:cNvPr id="4" name="Text 987"/>
          <p:cNvSpPr txBox="1"/>
          <p:nvPr/>
        </p:nvSpPr>
        <p:spPr>
          <a:xfrm>
            <a:off x="914400" y="137160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review</a:t>
            </a:r>
            <a:endParaRPr lang="en-US" sz="3800" dirty="0"/>
          </a:p>
        </p:txBody>
      </p:sp>
      <p:sp>
        <p:nvSpPr>
          <p:cNvPr id="5" name="Text 988"/>
          <p:cNvSpPr txBox="1"/>
          <p:nvPr/>
        </p:nvSpPr>
        <p:spPr>
          <a:xfrm>
            <a:off x="914400" y="338328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D9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what you know!</a:t>
            </a:r>
            <a:endParaRPr lang="en-US" sz="2000" dirty="0"/>
          </a:p>
        </p:txBody>
      </p:sp>
      <p:sp>
        <p:nvSpPr>
          <p:cNvPr id="6" name="Blob 989"/>
          <p:cNvSpPr/>
          <p:nvPr/>
        </p:nvSpPr>
        <p:spPr>
          <a:xfrm>
            <a:off x="6766560" y="1188720"/>
            <a:ext cx="2011680" cy="2011680"/>
          </a:xfrm>
          <a:prstGeom prst="ellips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pic>
        <p:nvPicPr>
          <p:cNvPr id="7" name="Icon 990" descr="FaTroph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69164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991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FF9A3D"/>
          </a:solidFill>
          <a:ln w="12700">
            <a:solidFill>
              <a:srgbClr val="FF9A3D"/>
            </a:solidFill>
            <a:prstDash val="solid"/>
          </a:ln>
        </p:spPr>
      </p:sp>
      <p:sp>
        <p:nvSpPr>
          <p:cNvPr id="3" name="Text 992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quiz</a:t>
            </a:r>
            <a:endParaRPr lang="en-US" sz="3000" dirty="0"/>
          </a:p>
        </p:txBody>
      </p:sp>
      <p:sp>
        <p:nvSpPr>
          <p:cNvPr id="4" name="Text 993"/>
          <p:cNvSpPr txBox="1"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Process → Output. Which is the OUTPUT?</a:t>
            </a:r>
            <a:endParaRPr lang="en-US" sz="2600" dirty="0"/>
          </a:p>
        </p:txBody>
      </p:sp>
      <p:sp>
        <p:nvSpPr>
          <p:cNvPr id="5" name="Card 994"/>
          <p:cNvSpPr/>
          <p:nvPr/>
        </p:nvSpPr>
        <p:spPr>
          <a:xfrm>
            <a:off x="457200" y="219456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995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996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997"/>
          <p:cNvSpPr txBox="1"/>
          <p:nvPr/>
        </p:nvSpPr>
        <p:spPr>
          <a:xfrm>
            <a:off x="1188720" y="219456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Pressing a key</a:t>
            </a:r>
            <a:endParaRPr lang="en-US" sz="2200" dirty="0"/>
          </a:p>
        </p:txBody>
      </p:sp>
      <p:sp>
        <p:nvSpPr>
          <p:cNvPr id="9" name="Card 998"/>
          <p:cNvSpPr/>
          <p:nvPr/>
        </p:nvSpPr>
        <p:spPr>
          <a:xfrm>
            <a:off x="457200" y="301752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999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1000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1001"/>
          <p:cNvSpPr txBox="1"/>
          <p:nvPr/>
        </p:nvSpPr>
        <p:spPr>
          <a:xfrm>
            <a:off x="1188720" y="301752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computer working it out</a:t>
            </a:r>
            <a:endParaRPr lang="en-US" sz="2200" dirty="0"/>
          </a:p>
        </p:txBody>
      </p:sp>
      <p:sp>
        <p:nvSpPr>
          <p:cNvPr id="13" name="Card 1002"/>
          <p:cNvSpPr/>
          <p:nvPr/>
        </p:nvSpPr>
        <p:spPr>
          <a:xfrm>
            <a:off x="457200" y="384048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1003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004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1005"/>
          <p:cNvSpPr txBox="1"/>
          <p:nvPr/>
        </p:nvSpPr>
        <p:spPr>
          <a:xfrm>
            <a:off x="1188720" y="384048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letter on the screen</a:t>
            </a:r>
            <a:endParaRPr lang="en-US" sz="22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1006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" name="Text 1007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The answer</a:t>
            </a:r>
            <a:endParaRPr lang="en-US" sz="3000" dirty="0"/>
          </a:p>
        </p:txBody>
      </p:sp>
      <p:sp>
        <p:nvSpPr>
          <p:cNvPr id="4" name="Text 1008"/>
          <p:cNvSpPr txBox="1"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Process → Output. Which is the OUTPUT?</a:t>
            </a:r>
            <a:endParaRPr lang="en-US" sz="2600" dirty="0"/>
          </a:p>
        </p:txBody>
      </p:sp>
      <p:sp>
        <p:nvSpPr>
          <p:cNvPr id="5" name="Card 1009"/>
          <p:cNvSpPr/>
          <p:nvPr/>
        </p:nvSpPr>
        <p:spPr>
          <a:xfrm>
            <a:off x="457200" y="219456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1010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1011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1012"/>
          <p:cNvSpPr txBox="1"/>
          <p:nvPr/>
        </p:nvSpPr>
        <p:spPr>
          <a:xfrm>
            <a:off x="1188720" y="219456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Pressing a key</a:t>
            </a:r>
            <a:endParaRPr lang="en-US" sz="2200" dirty="0"/>
          </a:p>
        </p:txBody>
      </p:sp>
      <p:sp>
        <p:nvSpPr>
          <p:cNvPr id="9" name="Card 1013"/>
          <p:cNvSpPr/>
          <p:nvPr/>
        </p:nvSpPr>
        <p:spPr>
          <a:xfrm>
            <a:off x="457200" y="301752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1014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1015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1016"/>
          <p:cNvSpPr txBox="1"/>
          <p:nvPr/>
        </p:nvSpPr>
        <p:spPr>
          <a:xfrm>
            <a:off x="1188720" y="301752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computer working it out</a:t>
            </a:r>
            <a:endParaRPr lang="en-US" sz="2200" dirty="0"/>
          </a:p>
        </p:txBody>
      </p:sp>
      <p:sp>
        <p:nvSpPr>
          <p:cNvPr id="13" name="Card 1017"/>
          <p:cNvSpPr/>
          <p:nvPr/>
        </p:nvSpPr>
        <p:spPr>
          <a:xfrm>
            <a:off x="457200" y="384048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D9F5E6"/>
          </a:solidFill>
          <a:ln w="38100">
            <a:solidFill>
              <a:srgbClr val="2E9E5B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1018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019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1020"/>
          <p:cNvSpPr txBox="1"/>
          <p:nvPr/>
        </p:nvSpPr>
        <p:spPr>
          <a:xfrm>
            <a:off x="1188720" y="384048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letter on the screen</a:t>
            </a:r>
            <a:endParaRPr lang="en-US" sz="2200" dirty="0"/>
          </a:p>
        </p:txBody>
      </p:sp>
      <p:sp>
        <p:nvSpPr>
          <p:cNvPr id="17" name="Text 1021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is what comes out: the letter on screen.</a:t>
            </a:r>
            <a:endParaRPr lang="en-US" sz="2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1022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FF9A3D"/>
          </a:solidFill>
          <a:ln w="12700">
            <a:solidFill>
              <a:srgbClr val="FF9A3D"/>
            </a:solidFill>
            <a:prstDash val="solid"/>
          </a:ln>
        </p:spPr>
      </p:sp>
      <p:sp>
        <p:nvSpPr>
          <p:cNvPr id="3" name="Text 1023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quiz</a:t>
            </a:r>
            <a:endParaRPr lang="en-US" sz="3000" dirty="0"/>
          </a:p>
        </p:txBody>
      </p:sp>
      <p:sp>
        <p:nvSpPr>
          <p:cNvPr id="4" name="Text 1024"/>
          <p:cNvSpPr txBox="1"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is a digital device?</a:t>
            </a:r>
            <a:endParaRPr lang="en-US" sz="2600" dirty="0"/>
          </a:p>
        </p:txBody>
      </p:sp>
      <p:sp>
        <p:nvSpPr>
          <p:cNvPr id="5" name="Card 1025"/>
          <p:cNvSpPr/>
          <p:nvPr/>
        </p:nvSpPr>
        <p:spPr>
          <a:xfrm>
            <a:off x="457200" y="219456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1026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1027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1028"/>
          <p:cNvSpPr txBox="1"/>
          <p:nvPr/>
        </p:nvSpPr>
        <p:spPr>
          <a:xfrm>
            <a:off x="1188720" y="219456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Torch</a:t>
            </a:r>
            <a:endParaRPr lang="en-US" sz="2200" dirty="0"/>
          </a:p>
        </p:txBody>
      </p:sp>
      <p:sp>
        <p:nvSpPr>
          <p:cNvPr id="9" name="Card 1029"/>
          <p:cNvSpPr/>
          <p:nvPr/>
        </p:nvSpPr>
        <p:spPr>
          <a:xfrm>
            <a:off x="457200" y="301752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1030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1031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1032"/>
          <p:cNvSpPr txBox="1"/>
          <p:nvPr/>
        </p:nvSpPr>
        <p:spPr>
          <a:xfrm>
            <a:off x="1188720" y="301752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speaker</a:t>
            </a:r>
            <a:endParaRPr lang="en-US" sz="2200" dirty="0"/>
          </a:p>
        </p:txBody>
      </p:sp>
      <p:sp>
        <p:nvSpPr>
          <p:cNvPr id="13" name="Card 1033"/>
          <p:cNvSpPr/>
          <p:nvPr/>
        </p:nvSpPr>
        <p:spPr>
          <a:xfrm>
            <a:off x="457200" y="384048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1034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FF9A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035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1036"/>
          <p:cNvSpPr txBox="1"/>
          <p:nvPr/>
        </p:nvSpPr>
        <p:spPr>
          <a:xfrm>
            <a:off x="1188720" y="384048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book</a:t>
            </a:r>
            <a:endParaRPr lang="en-US" sz="2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1037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" name="Text 1038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The answer</a:t>
            </a:r>
            <a:endParaRPr lang="en-US" sz="3000" dirty="0"/>
          </a:p>
        </p:txBody>
      </p:sp>
      <p:sp>
        <p:nvSpPr>
          <p:cNvPr id="4" name="Text 1039"/>
          <p:cNvSpPr txBox="1"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is a digital device?</a:t>
            </a:r>
            <a:endParaRPr lang="en-US" sz="2600" dirty="0"/>
          </a:p>
        </p:txBody>
      </p:sp>
      <p:sp>
        <p:nvSpPr>
          <p:cNvPr id="5" name="Card 1040"/>
          <p:cNvSpPr/>
          <p:nvPr/>
        </p:nvSpPr>
        <p:spPr>
          <a:xfrm>
            <a:off x="457200" y="219456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1041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1042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1043"/>
          <p:cNvSpPr txBox="1"/>
          <p:nvPr/>
        </p:nvSpPr>
        <p:spPr>
          <a:xfrm>
            <a:off x="1188720" y="219456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Torch</a:t>
            </a:r>
            <a:endParaRPr lang="en-US" sz="2200" dirty="0"/>
          </a:p>
        </p:txBody>
      </p:sp>
      <p:sp>
        <p:nvSpPr>
          <p:cNvPr id="9" name="Card 1044"/>
          <p:cNvSpPr/>
          <p:nvPr/>
        </p:nvSpPr>
        <p:spPr>
          <a:xfrm>
            <a:off x="457200" y="301752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D9F5E6"/>
          </a:solidFill>
          <a:ln w="38100">
            <a:solidFill>
              <a:srgbClr val="2E9E5B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1045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1046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1047"/>
          <p:cNvSpPr txBox="1"/>
          <p:nvPr/>
        </p:nvSpPr>
        <p:spPr>
          <a:xfrm>
            <a:off x="1188720" y="301752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speaker</a:t>
            </a:r>
            <a:endParaRPr lang="en-US" sz="2200" dirty="0"/>
          </a:p>
        </p:txBody>
      </p:sp>
      <p:sp>
        <p:nvSpPr>
          <p:cNvPr id="13" name="Card 1048"/>
          <p:cNvSpPr/>
          <p:nvPr/>
        </p:nvSpPr>
        <p:spPr>
          <a:xfrm>
            <a:off x="457200" y="384048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1049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050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1051"/>
          <p:cNvSpPr txBox="1"/>
          <p:nvPr/>
        </p:nvSpPr>
        <p:spPr>
          <a:xfrm>
            <a:off x="1188720" y="384048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book</a:t>
            </a:r>
            <a:endParaRPr lang="en-US" sz="2200" dirty="0"/>
          </a:p>
        </p:txBody>
      </p:sp>
      <p:sp>
        <p:nvSpPr>
          <p:cNvPr id="17" name="Text 1052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device processes information.</a:t>
            </a:r>
            <a:endParaRPr lang="en-US" sz="2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1053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4DA3E0"/>
          </a:solidFill>
          <a:ln w="12700">
            <a:solidFill>
              <a:srgbClr val="4DA3E0"/>
            </a:solidFill>
            <a:prstDash val="solid"/>
          </a:ln>
        </p:spPr>
      </p:sp>
      <p:sp>
        <p:nvSpPr>
          <p:cNvPr id="3" name="Text 1054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quiz</a:t>
            </a:r>
            <a:endParaRPr lang="en-US" sz="3000" dirty="0"/>
          </a:p>
        </p:txBody>
      </p:sp>
      <p:sp>
        <p:nvSpPr>
          <p:cNvPr id="4" name="Text 1055"/>
          <p:cNvSpPr txBox="1"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network is…</a:t>
            </a:r>
            <a:endParaRPr lang="en-US" sz="2600" dirty="0"/>
          </a:p>
        </p:txBody>
      </p:sp>
      <p:sp>
        <p:nvSpPr>
          <p:cNvPr id="5" name="Card 1056"/>
          <p:cNvSpPr/>
          <p:nvPr/>
        </p:nvSpPr>
        <p:spPr>
          <a:xfrm>
            <a:off x="457200" y="219456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1057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4DA3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1058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1059"/>
          <p:cNvSpPr txBox="1"/>
          <p:nvPr/>
        </p:nvSpPr>
        <p:spPr>
          <a:xfrm>
            <a:off x="1188720" y="219456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Lots of connections linking things together</a:t>
            </a:r>
            <a:endParaRPr lang="en-US" sz="2200" dirty="0"/>
          </a:p>
        </p:txBody>
      </p:sp>
      <p:sp>
        <p:nvSpPr>
          <p:cNvPr id="9" name="Card 1060"/>
          <p:cNvSpPr/>
          <p:nvPr/>
        </p:nvSpPr>
        <p:spPr>
          <a:xfrm>
            <a:off x="457200" y="301752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1061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4DA3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1062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1063"/>
          <p:cNvSpPr txBox="1"/>
          <p:nvPr/>
        </p:nvSpPr>
        <p:spPr>
          <a:xfrm>
            <a:off x="1188720" y="301752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big computer</a:t>
            </a:r>
            <a:endParaRPr lang="en-US" sz="2200" dirty="0"/>
          </a:p>
        </p:txBody>
      </p:sp>
      <p:sp>
        <p:nvSpPr>
          <p:cNvPr id="13" name="Card 1064"/>
          <p:cNvSpPr/>
          <p:nvPr/>
        </p:nvSpPr>
        <p:spPr>
          <a:xfrm>
            <a:off x="457200" y="384048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1065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4DA3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066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1067"/>
          <p:cNvSpPr txBox="1"/>
          <p:nvPr/>
        </p:nvSpPr>
        <p:spPr>
          <a:xfrm>
            <a:off x="1188720" y="384048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kind of printer</a:t>
            </a:r>
            <a:endParaRPr lang="en-US" sz="2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1068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" name="Text 1069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The answer</a:t>
            </a:r>
            <a:endParaRPr lang="en-US" sz="3000" dirty="0"/>
          </a:p>
        </p:txBody>
      </p:sp>
      <p:sp>
        <p:nvSpPr>
          <p:cNvPr id="4" name="Text 1070"/>
          <p:cNvSpPr txBox="1"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network is…</a:t>
            </a:r>
            <a:endParaRPr lang="en-US" sz="2600" dirty="0"/>
          </a:p>
        </p:txBody>
      </p:sp>
      <p:sp>
        <p:nvSpPr>
          <p:cNvPr id="5" name="Card 1071"/>
          <p:cNvSpPr/>
          <p:nvPr/>
        </p:nvSpPr>
        <p:spPr>
          <a:xfrm>
            <a:off x="457200" y="219456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D9F5E6"/>
          </a:solidFill>
          <a:ln w="38100">
            <a:solidFill>
              <a:srgbClr val="2E9E5B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1072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1073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1074"/>
          <p:cNvSpPr txBox="1"/>
          <p:nvPr/>
        </p:nvSpPr>
        <p:spPr>
          <a:xfrm>
            <a:off x="1188720" y="219456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Lots of connections linking things together</a:t>
            </a:r>
            <a:endParaRPr lang="en-US" sz="2200" dirty="0"/>
          </a:p>
        </p:txBody>
      </p:sp>
      <p:sp>
        <p:nvSpPr>
          <p:cNvPr id="9" name="Card 1075"/>
          <p:cNvSpPr/>
          <p:nvPr/>
        </p:nvSpPr>
        <p:spPr>
          <a:xfrm>
            <a:off x="457200" y="301752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1076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1077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1078"/>
          <p:cNvSpPr txBox="1"/>
          <p:nvPr/>
        </p:nvSpPr>
        <p:spPr>
          <a:xfrm>
            <a:off x="1188720" y="301752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big computer</a:t>
            </a:r>
            <a:endParaRPr lang="en-US" sz="2200" dirty="0"/>
          </a:p>
        </p:txBody>
      </p:sp>
      <p:sp>
        <p:nvSpPr>
          <p:cNvPr id="13" name="Card 1079"/>
          <p:cNvSpPr/>
          <p:nvPr/>
        </p:nvSpPr>
        <p:spPr>
          <a:xfrm>
            <a:off x="457200" y="384048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1080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081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1082"/>
          <p:cNvSpPr txBox="1"/>
          <p:nvPr/>
        </p:nvSpPr>
        <p:spPr>
          <a:xfrm>
            <a:off x="1188720" y="384048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kind of printer</a:t>
            </a:r>
            <a:endParaRPr lang="en-US" sz="2200" dirty="0"/>
          </a:p>
        </p:txBody>
      </p:sp>
      <p:sp>
        <p:nvSpPr>
          <p:cNvPr id="17" name="Text 1083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connected so they can share information.</a:t>
            </a:r>
            <a:endParaRPr lang="en-US" sz="2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1084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" name="Text 1085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quiz</a:t>
            </a:r>
            <a:endParaRPr lang="en-US" sz="3000" dirty="0"/>
          </a:p>
        </p:txBody>
      </p:sp>
      <p:sp>
        <p:nvSpPr>
          <p:cNvPr id="4" name="Text 1086"/>
          <p:cNvSpPr txBox="1"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are files stored on a network?</a:t>
            </a:r>
            <a:endParaRPr lang="en-US" sz="2600" dirty="0"/>
          </a:p>
        </p:txBody>
      </p:sp>
      <p:sp>
        <p:nvSpPr>
          <p:cNvPr id="5" name="Card 1087"/>
          <p:cNvSpPr/>
          <p:nvPr/>
        </p:nvSpPr>
        <p:spPr>
          <a:xfrm>
            <a:off x="457200" y="219456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1088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6C63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1089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1090"/>
          <p:cNvSpPr txBox="1"/>
          <p:nvPr/>
        </p:nvSpPr>
        <p:spPr>
          <a:xfrm>
            <a:off x="1188720" y="219456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server</a:t>
            </a:r>
            <a:endParaRPr lang="en-US" sz="2200" dirty="0"/>
          </a:p>
        </p:txBody>
      </p:sp>
      <p:sp>
        <p:nvSpPr>
          <p:cNvPr id="9" name="Card 1091"/>
          <p:cNvSpPr/>
          <p:nvPr/>
        </p:nvSpPr>
        <p:spPr>
          <a:xfrm>
            <a:off x="457200" y="301752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1092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6C63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1093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1094"/>
          <p:cNvSpPr txBox="1"/>
          <p:nvPr/>
        </p:nvSpPr>
        <p:spPr>
          <a:xfrm>
            <a:off x="1188720" y="301752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cable</a:t>
            </a:r>
            <a:endParaRPr lang="en-US" sz="2200" dirty="0"/>
          </a:p>
        </p:txBody>
      </p:sp>
      <p:sp>
        <p:nvSpPr>
          <p:cNvPr id="13" name="Card 1095"/>
          <p:cNvSpPr/>
          <p:nvPr/>
        </p:nvSpPr>
        <p:spPr>
          <a:xfrm>
            <a:off x="457200" y="384048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1096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6C63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097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1098"/>
          <p:cNvSpPr txBox="1"/>
          <p:nvPr/>
        </p:nvSpPr>
        <p:spPr>
          <a:xfrm>
            <a:off x="1188720" y="384048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switch</a:t>
            </a:r>
            <a:endParaRPr lang="en-US" sz="22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1099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" name="Text 110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The answer</a:t>
            </a:r>
            <a:endParaRPr lang="en-US" sz="3000" dirty="0"/>
          </a:p>
        </p:txBody>
      </p:sp>
      <p:sp>
        <p:nvSpPr>
          <p:cNvPr id="4" name="Text 1101"/>
          <p:cNvSpPr txBox="1"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are files stored on a network?</a:t>
            </a:r>
            <a:endParaRPr lang="en-US" sz="2600" dirty="0"/>
          </a:p>
        </p:txBody>
      </p:sp>
      <p:sp>
        <p:nvSpPr>
          <p:cNvPr id="5" name="Card 1102"/>
          <p:cNvSpPr/>
          <p:nvPr/>
        </p:nvSpPr>
        <p:spPr>
          <a:xfrm>
            <a:off x="457200" y="219456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D9F5E6"/>
          </a:solidFill>
          <a:ln w="38100">
            <a:solidFill>
              <a:srgbClr val="2E9E5B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1103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1104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1105"/>
          <p:cNvSpPr txBox="1"/>
          <p:nvPr/>
        </p:nvSpPr>
        <p:spPr>
          <a:xfrm>
            <a:off x="1188720" y="219456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server</a:t>
            </a:r>
            <a:endParaRPr lang="en-US" sz="2200" dirty="0"/>
          </a:p>
        </p:txBody>
      </p:sp>
      <p:sp>
        <p:nvSpPr>
          <p:cNvPr id="9" name="Card 1106"/>
          <p:cNvSpPr/>
          <p:nvPr/>
        </p:nvSpPr>
        <p:spPr>
          <a:xfrm>
            <a:off x="457200" y="301752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1107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1108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1109"/>
          <p:cNvSpPr txBox="1"/>
          <p:nvPr/>
        </p:nvSpPr>
        <p:spPr>
          <a:xfrm>
            <a:off x="1188720" y="301752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cable</a:t>
            </a:r>
            <a:endParaRPr lang="en-US" sz="2200" dirty="0"/>
          </a:p>
        </p:txBody>
      </p:sp>
      <p:sp>
        <p:nvSpPr>
          <p:cNvPr id="13" name="Card 1110"/>
          <p:cNvSpPr/>
          <p:nvPr/>
        </p:nvSpPr>
        <p:spPr>
          <a:xfrm>
            <a:off x="457200" y="384048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1111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112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1113"/>
          <p:cNvSpPr txBox="1"/>
          <p:nvPr/>
        </p:nvSpPr>
        <p:spPr>
          <a:xfrm>
            <a:off x="1188720" y="384048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switch</a:t>
            </a:r>
            <a:endParaRPr lang="en-US" sz="2200" dirty="0"/>
          </a:p>
        </p:txBody>
      </p:sp>
      <p:sp>
        <p:nvSpPr>
          <p:cNvPr id="17" name="Text 111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server stores files for everyone.</a:t>
            </a:r>
            <a:endParaRPr lang="en-US" sz="2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1115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" name="Text 1116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quiz</a:t>
            </a:r>
            <a:endParaRPr lang="en-US" sz="3000" dirty="0"/>
          </a:p>
        </p:txBody>
      </p:sp>
      <p:sp>
        <p:nvSpPr>
          <p:cNvPr id="4" name="Text 1117"/>
          <p:cNvSpPr txBox="1"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lets tablets join the network without wires?</a:t>
            </a:r>
            <a:endParaRPr lang="en-US" sz="2600" dirty="0"/>
          </a:p>
        </p:txBody>
      </p:sp>
      <p:sp>
        <p:nvSpPr>
          <p:cNvPr id="5" name="Card 1118"/>
          <p:cNvSpPr/>
          <p:nvPr/>
        </p:nvSpPr>
        <p:spPr>
          <a:xfrm>
            <a:off x="457200" y="219456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1119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1120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1121"/>
          <p:cNvSpPr txBox="1"/>
          <p:nvPr/>
        </p:nvSpPr>
        <p:spPr>
          <a:xfrm>
            <a:off x="1188720" y="219456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wireless access point</a:t>
            </a:r>
            <a:endParaRPr lang="en-US" sz="2200" dirty="0"/>
          </a:p>
        </p:txBody>
      </p:sp>
      <p:sp>
        <p:nvSpPr>
          <p:cNvPr id="9" name="Card 1122"/>
          <p:cNvSpPr/>
          <p:nvPr/>
        </p:nvSpPr>
        <p:spPr>
          <a:xfrm>
            <a:off x="457200" y="301752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1123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1124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1125"/>
          <p:cNvSpPr txBox="1"/>
          <p:nvPr/>
        </p:nvSpPr>
        <p:spPr>
          <a:xfrm>
            <a:off x="1188720" y="301752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paper clip</a:t>
            </a:r>
            <a:endParaRPr lang="en-US" sz="2200" dirty="0"/>
          </a:p>
        </p:txBody>
      </p:sp>
      <p:sp>
        <p:nvSpPr>
          <p:cNvPr id="13" name="Card 1126"/>
          <p:cNvSpPr/>
          <p:nvPr/>
        </p:nvSpPr>
        <p:spPr>
          <a:xfrm>
            <a:off x="457200" y="384048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C9C3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1127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128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1129"/>
          <p:cNvSpPr txBox="1"/>
          <p:nvPr/>
        </p:nvSpPr>
        <p:spPr>
          <a:xfrm>
            <a:off x="1188720" y="384048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keyboard</a:t>
            </a:r>
            <a:endParaRPr lang="en-US" sz="22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1130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" name="Text 1131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The answer</a:t>
            </a:r>
            <a:endParaRPr lang="en-US" sz="3000" dirty="0"/>
          </a:p>
        </p:txBody>
      </p:sp>
      <p:sp>
        <p:nvSpPr>
          <p:cNvPr id="4" name="Text 1132"/>
          <p:cNvSpPr txBox="1"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lets tablets join the network without wires?</a:t>
            </a:r>
            <a:endParaRPr lang="en-US" sz="2600" dirty="0"/>
          </a:p>
        </p:txBody>
      </p:sp>
      <p:sp>
        <p:nvSpPr>
          <p:cNvPr id="5" name="Card 1133"/>
          <p:cNvSpPr/>
          <p:nvPr/>
        </p:nvSpPr>
        <p:spPr>
          <a:xfrm>
            <a:off x="457200" y="219456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D9F5E6"/>
          </a:solidFill>
          <a:ln w="38100">
            <a:solidFill>
              <a:srgbClr val="2E9E5B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6" name="Dot 1134"/>
          <p:cNvSpPr/>
          <p:nvPr/>
        </p:nvSpPr>
        <p:spPr>
          <a:xfrm>
            <a:off x="594360" y="2322576"/>
            <a:ext cx="457200" cy="45720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1135"/>
          <p:cNvSpPr txBox="1"/>
          <p:nvPr/>
        </p:nvSpPr>
        <p:spPr>
          <a:xfrm>
            <a:off x="594360" y="2322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Text 1136"/>
          <p:cNvSpPr txBox="1"/>
          <p:nvPr/>
        </p:nvSpPr>
        <p:spPr>
          <a:xfrm>
            <a:off x="1188720" y="219456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2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wireless access point</a:t>
            </a:r>
            <a:endParaRPr lang="en-US" sz="2200" dirty="0"/>
          </a:p>
        </p:txBody>
      </p:sp>
      <p:sp>
        <p:nvSpPr>
          <p:cNvPr id="9" name="Card 1137"/>
          <p:cNvSpPr/>
          <p:nvPr/>
        </p:nvSpPr>
        <p:spPr>
          <a:xfrm>
            <a:off x="457200" y="301752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Dot 1138"/>
          <p:cNvSpPr/>
          <p:nvPr/>
        </p:nvSpPr>
        <p:spPr>
          <a:xfrm>
            <a:off x="594360" y="314553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1139"/>
          <p:cNvSpPr txBox="1"/>
          <p:nvPr/>
        </p:nvSpPr>
        <p:spPr>
          <a:xfrm>
            <a:off x="59436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1140"/>
          <p:cNvSpPr txBox="1"/>
          <p:nvPr/>
        </p:nvSpPr>
        <p:spPr>
          <a:xfrm>
            <a:off x="1188720" y="301752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paper clip</a:t>
            </a:r>
            <a:endParaRPr lang="en-US" sz="2200" dirty="0"/>
          </a:p>
        </p:txBody>
      </p:sp>
      <p:sp>
        <p:nvSpPr>
          <p:cNvPr id="13" name="Card 1141"/>
          <p:cNvSpPr/>
          <p:nvPr/>
        </p:nvSpPr>
        <p:spPr>
          <a:xfrm>
            <a:off x="457200" y="3840480"/>
            <a:ext cx="822960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9050">
            <a:solidFill>
              <a:srgbClr val="DDDAEA"/>
            </a:solidFill>
            <a:prstDash val="solid"/>
          </a:ln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4" name="Dot 1142"/>
          <p:cNvSpPr/>
          <p:nvPr/>
        </p:nvSpPr>
        <p:spPr>
          <a:xfrm>
            <a:off x="594360" y="3968496"/>
            <a:ext cx="457200" cy="457200"/>
          </a:xfrm>
          <a:prstGeom prst="ellipse">
            <a:avLst/>
          </a:prstGeom>
          <a:solidFill>
            <a:srgbClr val="CFCB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143"/>
          <p:cNvSpPr txBox="1"/>
          <p:nvPr/>
        </p:nvSpPr>
        <p:spPr>
          <a:xfrm>
            <a:off x="59436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16" name="Text 1144"/>
          <p:cNvSpPr txBox="1"/>
          <p:nvPr/>
        </p:nvSpPr>
        <p:spPr>
          <a:xfrm>
            <a:off x="1188720" y="3840480"/>
            <a:ext cx="7406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A8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keyboard</a:t>
            </a:r>
            <a:endParaRPr lang="en-US" sz="2200" dirty="0"/>
          </a:p>
        </p:txBody>
      </p:sp>
      <p:sp>
        <p:nvSpPr>
          <p:cNvPr id="17" name="Text 1145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wireless access point sends and receives Wi-Fi signals.</a:t>
            </a:r>
            <a:endParaRPr lang="en-US" sz="20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1146"/>
          <p:cNvSpPr/>
          <p:nvPr/>
        </p:nvSpPr>
        <p:spPr>
          <a:xfrm>
            <a:off x="0" y="274320"/>
            <a:ext cx="164592" cy="685800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" name="Text 1147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confident are you?</a:t>
            </a:r>
            <a:endParaRPr lang="en-US" sz="3000" dirty="0"/>
          </a:p>
        </p:txBody>
      </p:sp>
      <p:sp>
        <p:nvSpPr>
          <p:cNvPr id="4" name="Card 1148"/>
          <p:cNvSpPr/>
          <p:nvPr/>
        </p:nvSpPr>
        <p:spPr>
          <a:xfrm>
            <a:off x="457200" y="1188720"/>
            <a:ext cx="822960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5" name="Text 1149"/>
          <p:cNvSpPr txBox="1"/>
          <p:nvPr/>
        </p:nvSpPr>
        <p:spPr>
          <a:xfrm>
            <a:off x="640080" y="1188720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input, process and output</a:t>
            </a:r>
            <a:endParaRPr lang="en-US" sz="1800" dirty="0"/>
          </a:p>
        </p:txBody>
      </p:sp>
      <p:pic>
        <p:nvPicPr>
          <p:cNvPr id="6" name="Icon 1150" descr="FaRegSadT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335024"/>
            <a:ext cx="457200" cy="457200"/>
          </a:xfrm>
          <a:prstGeom prst="rect">
            <a:avLst/>
          </a:prstGeom>
        </p:spPr>
      </p:pic>
      <p:pic>
        <p:nvPicPr>
          <p:cNvPr id="7" name="Icon 1151" descr="Fa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35024"/>
            <a:ext cx="457200" cy="457200"/>
          </a:xfrm>
          <a:prstGeom prst="rect">
            <a:avLst/>
          </a:prstGeom>
        </p:spPr>
      </p:pic>
      <p:pic>
        <p:nvPicPr>
          <p:cNvPr id="8" name="Icon 1152" descr="FaRegGrinSta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1335024"/>
            <a:ext cx="457200" cy="457200"/>
          </a:xfrm>
          <a:prstGeom prst="rect">
            <a:avLst/>
          </a:prstGeom>
        </p:spPr>
      </p:pic>
      <p:sp>
        <p:nvSpPr>
          <p:cNvPr id="9" name="Card 1153"/>
          <p:cNvSpPr/>
          <p:nvPr/>
        </p:nvSpPr>
        <p:spPr>
          <a:xfrm>
            <a:off x="457200" y="2057400"/>
            <a:ext cx="822960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0" name="Text 1154"/>
          <p:cNvSpPr txBox="1"/>
          <p:nvPr/>
        </p:nvSpPr>
        <p:spPr>
          <a:xfrm>
            <a:off x="640080" y="2057400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sort input and output devices</a:t>
            </a:r>
            <a:endParaRPr lang="en-US" sz="1800" dirty="0"/>
          </a:p>
        </p:txBody>
      </p:sp>
      <p:pic>
        <p:nvPicPr>
          <p:cNvPr id="11" name="Icon 1155" descr="FaRegSadTe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2203704"/>
            <a:ext cx="457200" cy="457200"/>
          </a:xfrm>
          <a:prstGeom prst="rect">
            <a:avLst/>
          </a:prstGeom>
        </p:spPr>
      </p:pic>
      <p:pic>
        <p:nvPicPr>
          <p:cNvPr id="12" name="Icon 1156" descr="Fa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480" y="2203704"/>
            <a:ext cx="457200" cy="457200"/>
          </a:xfrm>
          <a:prstGeom prst="rect">
            <a:avLst/>
          </a:prstGeom>
        </p:spPr>
      </p:pic>
      <p:pic>
        <p:nvPicPr>
          <p:cNvPr id="13" name="Icon 1157" descr="FaRegGrinStar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9560" y="2203704"/>
            <a:ext cx="457200" cy="457200"/>
          </a:xfrm>
          <a:prstGeom prst="rect">
            <a:avLst/>
          </a:prstGeom>
        </p:spPr>
      </p:pic>
      <p:sp>
        <p:nvSpPr>
          <p:cNvPr id="14" name="Card 1158"/>
          <p:cNvSpPr/>
          <p:nvPr/>
        </p:nvSpPr>
        <p:spPr>
          <a:xfrm>
            <a:off x="457200" y="2926080"/>
            <a:ext cx="822960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15" name="Text 1159"/>
          <p:cNvSpPr txBox="1"/>
          <p:nvPr/>
        </p:nvSpPr>
        <p:spPr>
          <a:xfrm>
            <a:off x="640080" y="2926080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compare digital and non-digital tools</a:t>
            </a:r>
            <a:endParaRPr lang="en-US" sz="1800" dirty="0"/>
          </a:p>
        </p:txBody>
      </p:sp>
      <p:pic>
        <p:nvPicPr>
          <p:cNvPr id="16" name="Icon 1160" descr="FaRegSadTea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3072384"/>
            <a:ext cx="457200" cy="457200"/>
          </a:xfrm>
          <a:prstGeom prst="rect">
            <a:avLst/>
          </a:prstGeom>
        </p:spPr>
      </p:pic>
      <p:pic>
        <p:nvPicPr>
          <p:cNvPr id="17" name="Icon 1161" descr="Fa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69480" y="3072384"/>
            <a:ext cx="457200" cy="457200"/>
          </a:xfrm>
          <a:prstGeom prst="rect">
            <a:avLst/>
          </a:prstGeom>
        </p:spPr>
      </p:pic>
      <p:pic>
        <p:nvPicPr>
          <p:cNvPr id="18" name="Icon 1162" descr="FaRegGrinStar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9560" y="3072384"/>
            <a:ext cx="457200" cy="457200"/>
          </a:xfrm>
          <a:prstGeom prst="rect">
            <a:avLst/>
          </a:prstGeom>
        </p:spPr>
      </p:pic>
      <p:sp>
        <p:nvSpPr>
          <p:cNvPr id="19" name="Card 1163"/>
          <p:cNvSpPr/>
          <p:nvPr/>
        </p:nvSpPr>
        <p:spPr>
          <a:xfrm>
            <a:off x="457200" y="3794760"/>
            <a:ext cx="822960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20" name="Text 1164"/>
          <p:cNvSpPr txBox="1"/>
          <p:nvPr/>
        </p:nvSpPr>
        <p:spPr>
          <a:xfrm>
            <a:off x="640080" y="3794760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what a network and a switch are</a:t>
            </a:r>
            <a:endParaRPr lang="en-US" sz="1800" dirty="0"/>
          </a:p>
        </p:txBody>
      </p:sp>
      <p:pic>
        <p:nvPicPr>
          <p:cNvPr id="21" name="Icon 1165" descr="FaRegSadTea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29400" y="3941064"/>
            <a:ext cx="457200" cy="457200"/>
          </a:xfrm>
          <a:prstGeom prst="rect">
            <a:avLst/>
          </a:prstGeom>
        </p:spPr>
      </p:pic>
      <p:pic>
        <p:nvPicPr>
          <p:cNvPr id="22" name="Icon 1166" descr="FaRegMeh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69480" y="3941064"/>
            <a:ext cx="457200" cy="457200"/>
          </a:xfrm>
          <a:prstGeom prst="rect">
            <a:avLst/>
          </a:prstGeom>
        </p:spPr>
      </p:pic>
      <p:pic>
        <p:nvPicPr>
          <p:cNvPr id="23" name="Icon 1167" descr="FaRegGrinStar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09560" y="3941064"/>
            <a:ext cx="457200" cy="457200"/>
          </a:xfrm>
          <a:prstGeom prst="rect">
            <a:avLst/>
          </a:prstGeom>
        </p:spPr>
      </p:pic>
      <p:sp>
        <p:nvSpPr>
          <p:cNvPr id="24" name="Card 1168"/>
          <p:cNvSpPr/>
          <p:nvPr/>
        </p:nvSpPr>
        <p:spPr>
          <a:xfrm>
            <a:off x="457200" y="4663440"/>
            <a:ext cx="822960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2B2250">
                <a:alpha val="15000"/>
              </a:srgbClr>
            </a:outerShdw>
          </a:effectLst>
        </p:spPr>
      </p:sp>
      <p:sp>
        <p:nvSpPr>
          <p:cNvPr id="25" name="Text 1169"/>
          <p:cNvSpPr txBox="1"/>
          <p:nvPr/>
        </p:nvSpPr>
        <p:spPr>
          <a:xfrm>
            <a:off x="640080" y="4663440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what a server and a wireless access point do</a:t>
            </a:r>
            <a:endParaRPr lang="en-US" sz="1800" dirty="0"/>
          </a:p>
        </p:txBody>
      </p:sp>
      <p:pic>
        <p:nvPicPr>
          <p:cNvPr id="26" name="Icon 1170" descr="FaRegSadTear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29400" y="4809744"/>
            <a:ext cx="457200" cy="457200"/>
          </a:xfrm>
          <a:prstGeom prst="rect">
            <a:avLst/>
          </a:prstGeom>
        </p:spPr>
      </p:pic>
      <p:pic>
        <p:nvPicPr>
          <p:cNvPr id="27" name="Icon 1171" descr="FaRegMeh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269480" y="4809744"/>
            <a:ext cx="457200" cy="457200"/>
          </a:xfrm>
          <a:prstGeom prst="rect">
            <a:avLst/>
          </a:prstGeom>
        </p:spPr>
      </p:pic>
      <p:pic>
        <p:nvPicPr>
          <p:cNvPr id="28" name="Icon 1172" descr="FaRegGrinStar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09560" y="4809744"/>
            <a:ext cx="457200" cy="457200"/>
          </a:xfrm>
          <a:prstGeom prst="rect">
            <a:avLst/>
          </a:prstGeom>
        </p:spPr>
      </p:pic>
      <p:sp>
        <p:nvSpPr>
          <p:cNvPr id="29" name="Text 1173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6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= not sure     2 = getting there     3 = I can do it!</a:t>
            </a:r>
            <a:endParaRPr lang="en-US" sz="16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74"/>
          <p:cNvSpPr txBox="1"/>
          <p:nvPr/>
        </p:nvSpPr>
        <p:spPr>
          <a:xfrm>
            <a:off x="731520" y="13716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Brilliant work!</a:t>
            </a:r>
            <a:endParaRPr lang="en-US" sz="4800" dirty="0"/>
          </a:p>
        </p:txBody>
      </p:sp>
      <p:sp>
        <p:nvSpPr>
          <p:cNvPr id="3" name="Text 1175"/>
          <p:cNvSpPr txBox="1"/>
          <p:nvPr/>
        </p:nvSpPr>
        <p:spPr>
          <a:xfrm>
            <a:off x="731520" y="26517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9D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now experts. Keep asking questions!</a:t>
            </a:r>
            <a:endParaRPr lang="en-US" sz="2400" dirty="0"/>
          </a:p>
        </p:txBody>
      </p:sp>
      <p:pic>
        <p:nvPicPr>
          <p:cNvPr id="4" name="Icon 1176" descr="FaDesk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3657600"/>
            <a:ext cx="731520" cy="731520"/>
          </a:xfrm>
          <a:prstGeom prst="rect">
            <a:avLst/>
          </a:prstGeom>
        </p:spPr>
      </p:pic>
      <p:pic>
        <p:nvPicPr>
          <p:cNvPr id="5" name="Icon 1177" descr="FaWif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3657600"/>
            <a:ext cx="731520" cy="731520"/>
          </a:xfrm>
          <a:prstGeom prst="rect">
            <a:avLst/>
          </a:prstGeom>
        </p:spPr>
      </p:pic>
      <p:pic>
        <p:nvPicPr>
          <p:cNvPr id="6" name="Icon 1178" descr="FaSer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3657600"/>
            <a:ext cx="731520" cy="731520"/>
          </a:xfrm>
          <a:prstGeom prst="rect">
            <a:avLst/>
          </a:prstGeom>
        </p:spPr>
      </p:pic>
      <p:pic>
        <p:nvPicPr>
          <p:cNvPr id="7" name="Icon 1179" descr="FaSt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3657600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Y3">
  <a:themeElements>
    <a:clrScheme name="Y3">
      <a:dk1>
        <a:srgbClr val="2B2250"/>
      </a:dk1>
      <a:lt1>
        <a:srgbClr val="FFFFFF"/>
      </a:lt1>
      <a:dk2>
        <a:srgbClr val="3D3470"/>
      </a:dk2>
      <a:lt2>
        <a:srgbClr val="FFF8FB"/>
      </a:lt2>
      <a:accent1>
        <a:srgbClr val="1FB89A"/>
      </a:accent1>
      <a:accent2>
        <a:srgbClr val="FF9A3D"/>
      </a:accent2>
      <a:accent3>
        <a:srgbClr val="FF5C8A"/>
      </a:accent3>
      <a:accent4>
        <a:srgbClr val="4DA3E0"/>
      </a:accent4>
      <a:accent5>
        <a:srgbClr val="FFD23F"/>
      </a:accent5>
      <a:accent6>
        <a:srgbClr val="6B6685"/>
      </a:accent6>
      <a:hlink>
        <a:srgbClr val="4DA3E0"/>
      </a:hlink>
      <a:folHlink>
        <a:srgbClr val="6B6685"/>
      </a:folHlink>
    </a:clrScheme>
    <a:fontScheme name="Y3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84</Slides>
  <Notes>84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84</vt:i4>
      </vt:variant>
    </vt:vector>
  </HeadingPairs>
  <TitlesOfParts>
    <vt:vector size="8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Year 3 – Connecting Computers: Unit Summary</dc:title>
  <dc:subject>PptxGenJS Presentation</dc:subject>
  <dc:creator>ICT</dc:creator>
  <cp:lastModifiedBy>ICT</cp:lastModifiedBy>
  <cp:revision>1</cp:revision>
  <dcterms:created xsi:type="dcterms:W3CDTF">2026-10-16T06:22:33Z</dcterms:created>
  <dcterms:modified xsi:type="dcterms:W3CDTF">2026-10-16T06:22:33Z</dcterms:modified>
</cp:coreProperties>
</file>