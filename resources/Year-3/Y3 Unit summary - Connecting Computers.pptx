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at the start and again at the end. Pupils tick the buzzwords they can 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1: Digital devices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sort objects as digital or not. Misconception: electrical does not mean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Retell with a keyboard: key press (input), the program decides which letter (process), screen shows it (output).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 on the picture = input, green = output. Buzz mnemonic: Input = I put it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on the picture = output. Mnemonic: Output = the computer puts it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fingers,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fingers,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vote with fingers (1, 2, 3) or on mini whiteboards before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vote with fingers (1, 2, 3) or on mini whiteboards before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minutes. Share some inventions and praise correct vocabulary.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2: Computer networks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word: net (lines joining) + work (helping each other).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maths for the curious: n×(n−1)/2 wires. 6 computers → 15; 50 computers → 1,225.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name: Ethernet cable and Ethernet socket.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vote with fingers (1, 2, 3) or on mini whiteboards before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vote with fingers (1, 2, 3) or on mini whiteboards before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vote with fingers (1, 2, 3) or on mini whiteboards before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vote with fingers (1, 2, 3) or on mini whiteboards before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vote with fingers (1, 2, 3) or on mini whiteboards before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vote with fingers (1, 2, 3) or on mini whiteboards before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for: connection, switch, server, access point, 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 1"/>
          <p:cNvSpPr/>
          <p:nvPr/>
        </p:nvSpPr>
        <p:spPr>
          <a:xfrm>
            <a:off x="6035040" y="457200"/>
            <a:ext cx="3840480" cy="38404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Blob 2"/>
          <p:cNvSpPr/>
          <p:nvPr/>
        </p:nvSpPr>
        <p:spPr>
          <a:xfrm>
            <a:off x="7223760" y="2926080"/>
            <a:ext cx="2926080" cy="2926080"/>
          </a:xfrm>
          <a:prstGeom prst="ellipse">
            <a:avLst/>
          </a:prstGeom>
          <a:solidFill>
            <a:srgbClr val="3D3470"/>
          </a:solidFill>
          <a:ln w="12700">
            <a:solidFill>
              <a:srgbClr val="3D3470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548640" y="118872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Devices &amp; Computer Networks</a:t>
            </a:r>
            <a:endParaRPr lang="en-US" sz="4400" dirty="0"/>
          </a:p>
        </p:txBody>
      </p:sp>
      <p:sp>
        <p:nvSpPr>
          <p:cNvPr id="5" name="Text 4"/>
          <p:cNvSpPr txBox="1"/>
          <p:nvPr/>
        </p:nvSpPr>
        <p:spPr>
          <a:xfrm>
            <a:off x="548640" y="3108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· How do computers think, talk and connect?</a:t>
            </a:r>
            <a:endParaRPr lang="en-US" sz="2000" dirty="0"/>
          </a:p>
        </p:txBody>
      </p:sp>
      <p:pic>
        <p:nvPicPr>
          <p:cNvPr id="6" name="Icon 5" descr="Fa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685800"/>
            <a:ext cx="822960" cy="822960"/>
          </a:xfrm>
          <a:prstGeom prst="rect">
            <a:avLst/>
          </a:prstGeom>
        </p:spPr>
      </p:pic>
      <p:pic>
        <p:nvPicPr>
          <p:cNvPr id="7" name="Icon 6" descr="FaDesk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685800"/>
            <a:ext cx="822960" cy="822960"/>
          </a:xfrm>
          <a:prstGeom prst="rect">
            <a:avLst/>
          </a:prstGeom>
        </p:spPr>
      </p:pic>
      <p:pic>
        <p:nvPicPr>
          <p:cNvPr id="8" name="Icon 7" descr="FaNetworkWir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65960"/>
            <a:ext cx="822960" cy="822960"/>
          </a:xfrm>
          <a:prstGeom prst="rect">
            <a:avLst/>
          </a:prstGeom>
        </p:spPr>
      </p:pic>
      <p:pic>
        <p:nvPicPr>
          <p:cNvPr id="9" name="Icon 8" descr="FaWif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9659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9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Buzzwords to master</a:t>
            </a:r>
            <a:endParaRPr lang="en-US" sz="3000" dirty="0"/>
          </a:p>
        </p:txBody>
      </p:sp>
      <p:sp>
        <p:nvSpPr>
          <p:cNvPr id="4" name="Card 11"/>
          <p:cNvSpPr/>
          <p:nvPr/>
        </p:nvSpPr>
        <p:spPr>
          <a:xfrm>
            <a:off x="457200" y="118872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9A3D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5" name="Icon 12" descr="FaTablet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5900"/>
            <a:ext cx="457200" cy="457200"/>
          </a:xfrm>
          <a:prstGeom prst="rect">
            <a:avLst/>
          </a:prstGeom>
        </p:spPr>
      </p:pic>
      <p:sp>
        <p:nvSpPr>
          <p:cNvPr id="6" name="Text 13"/>
          <p:cNvSpPr txBox="1"/>
          <p:nvPr/>
        </p:nvSpPr>
        <p:spPr>
          <a:xfrm>
            <a:off x="1143000" y="118872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device</a:t>
            </a:r>
            <a:endParaRPr lang="en-US" sz="1800" dirty="0"/>
          </a:p>
        </p:txBody>
      </p:sp>
      <p:sp>
        <p:nvSpPr>
          <p:cNvPr id="7" name="Card 14"/>
          <p:cNvSpPr/>
          <p:nvPr/>
        </p:nvSpPr>
        <p:spPr>
          <a:xfrm>
            <a:off x="2560320" y="118872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5C8A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8" name="Icon 15" descr="FaKey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485900"/>
            <a:ext cx="457200" cy="457200"/>
          </a:xfrm>
          <a:prstGeom prst="rect">
            <a:avLst/>
          </a:prstGeom>
        </p:spPr>
      </p:pic>
      <p:sp>
        <p:nvSpPr>
          <p:cNvPr id="9" name="Text 16"/>
          <p:cNvSpPr txBox="1"/>
          <p:nvPr/>
        </p:nvSpPr>
        <p:spPr>
          <a:xfrm>
            <a:off x="3246120" y="118872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800" dirty="0"/>
          </a:p>
        </p:txBody>
      </p:sp>
      <p:sp>
        <p:nvSpPr>
          <p:cNvPr id="10" name="Card 17"/>
          <p:cNvSpPr/>
          <p:nvPr/>
        </p:nvSpPr>
        <p:spPr>
          <a:xfrm>
            <a:off x="4663440" y="118872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4DA3E0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11" name="Icon 18" descr="FaCo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485900"/>
            <a:ext cx="457200" cy="457200"/>
          </a:xfrm>
          <a:prstGeom prst="rect">
            <a:avLst/>
          </a:prstGeom>
        </p:spPr>
      </p:pic>
      <p:sp>
        <p:nvSpPr>
          <p:cNvPr id="12" name="Text 19"/>
          <p:cNvSpPr txBox="1"/>
          <p:nvPr/>
        </p:nvSpPr>
        <p:spPr>
          <a:xfrm>
            <a:off x="5349240" y="118872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800" dirty="0"/>
          </a:p>
        </p:txBody>
      </p:sp>
      <p:sp>
        <p:nvSpPr>
          <p:cNvPr id="13" name="Card 20"/>
          <p:cNvSpPr/>
          <p:nvPr/>
        </p:nvSpPr>
        <p:spPr>
          <a:xfrm>
            <a:off x="6766560" y="118872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1FB89A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14" name="Icon 21" descr="FaDeskto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485900"/>
            <a:ext cx="457200" cy="457200"/>
          </a:xfrm>
          <a:prstGeom prst="rect">
            <a:avLst/>
          </a:prstGeom>
        </p:spPr>
      </p:pic>
      <p:sp>
        <p:nvSpPr>
          <p:cNvPr id="15" name="Text 22"/>
          <p:cNvSpPr txBox="1"/>
          <p:nvPr/>
        </p:nvSpPr>
        <p:spPr>
          <a:xfrm>
            <a:off x="7452360" y="118872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800" dirty="0"/>
          </a:p>
        </p:txBody>
      </p:sp>
      <p:sp>
        <p:nvSpPr>
          <p:cNvPr id="16" name="Card 23"/>
          <p:cNvSpPr/>
          <p:nvPr/>
        </p:nvSpPr>
        <p:spPr>
          <a:xfrm>
            <a:off x="457200" y="237744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6C63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17" name="Icon 24" descr="FaCo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674620"/>
            <a:ext cx="457200" cy="457200"/>
          </a:xfrm>
          <a:prstGeom prst="rect">
            <a:avLst/>
          </a:prstGeom>
        </p:spPr>
      </p:pic>
      <p:sp>
        <p:nvSpPr>
          <p:cNvPr id="18" name="Text 25"/>
          <p:cNvSpPr txBox="1"/>
          <p:nvPr/>
        </p:nvSpPr>
        <p:spPr>
          <a:xfrm>
            <a:off x="1143000" y="23774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800" dirty="0"/>
          </a:p>
        </p:txBody>
      </p:sp>
      <p:sp>
        <p:nvSpPr>
          <p:cNvPr id="19" name="Card 26"/>
          <p:cNvSpPr/>
          <p:nvPr/>
        </p:nvSpPr>
        <p:spPr>
          <a:xfrm>
            <a:off x="2560320" y="237744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2E9E5B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20" name="Icon 27" descr="FaProjectDiagra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480" y="2674620"/>
            <a:ext cx="457200" cy="457200"/>
          </a:xfrm>
          <a:prstGeom prst="rect">
            <a:avLst/>
          </a:prstGeom>
        </p:spPr>
      </p:pic>
      <p:sp>
        <p:nvSpPr>
          <p:cNvPr id="21" name="Text 28"/>
          <p:cNvSpPr txBox="1"/>
          <p:nvPr/>
        </p:nvSpPr>
        <p:spPr>
          <a:xfrm>
            <a:off x="3246120" y="23774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800" dirty="0"/>
          </a:p>
        </p:txBody>
      </p:sp>
      <p:sp>
        <p:nvSpPr>
          <p:cNvPr id="22" name="Card 29"/>
          <p:cNvSpPr/>
          <p:nvPr/>
        </p:nvSpPr>
        <p:spPr>
          <a:xfrm>
            <a:off x="4663440" y="237744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9A3D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23" name="Icon 30" descr="FaNetworkWire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2674620"/>
            <a:ext cx="457200" cy="457200"/>
          </a:xfrm>
          <a:prstGeom prst="rect">
            <a:avLst/>
          </a:prstGeom>
        </p:spPr>
      </p:pic>
      <p:sp>
        <p:nvSpPr>
          <p:cNvPr id="24" name="Text 31"/>
          <p:cNvSpPr txBox="1"/>
          <p:nvPr/>
        </p:nvSpPr>
        <p:spPr>
          <a:xfrm>
            <a:off x="5349240" y="23774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800" dirty="0"/>
          </a:p>
        </p:txBody>
      </p:sp>
      <p:sp>
        <p:nvSpPr>
          <p:cNvPr id="25" name="Card 32"/>
          <p:cNvSpPr/>
          <p:nvPr/>
        </p:nvSpPr>
        <p:spPr>
          <a:xfrm>
            <a:off x="6766560" y="237744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5C8A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26" name="Icon 33" descr="FaServ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2674620"/>
            <a:ext cx="457200" cy="457200"/>
          </a:xfrm>
          <a:prstGeom prst="rect">
            <a:avLst/>
          </a:prstGeom>
        </p:spPr>
      </p:pic>
      <p:sp>
        <p:nvSpPr>
          <p:cNvPr id="27" name="Text 34"/>
          <p:cNvSpPr txBox="1"/>
          <p:nvPr/>
        </p:nvSpPr>
        <p:spPr>
          <a:xfrm>
            <a:off x="7452360" y="23774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800" dirty="0"/>
          </a:p>
        </p:txBody>
      </p:sp>
      <p:sp>
        <p:nvSpPr>
          <p:cNvPr id="28" name="Card 35"/>
          <p:cNvSpPr/>
          <p:nvPr/>
        </p:nvSpPr>
        <p:spPr>
          <a:xfrm>
            <a:off x="457200" y="356616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4DA3E0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29" name="Icon 36" descr="FaWifi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3863340"/>
            <a:ext cx="457200" cy="457200"/>
          </a:xfrm>
          <a:prstGeom prst="rect">
            <a:avLst/>
          </a:prstGeom>
        </p:spPr>
      </p:pic>
      <p:sp>
        <p:nvSpPr>
          <p:cNvPr id="30" name="Text 37"/>
          <p:cNvSpPr txBox="1"/>
          <p:nvPr/>
        </p:nvSpPr>
        <p:spPr>
          <a:xfrm>
            <a:off x="1143000" y="3566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800" dirty="0"/>
          </a:p>
        </p:txBody>
      </p:sp>
      <p:sp>
        <p:nvSpPr>
          <p:cNvPr id="31" name="Card 38"/>
          <p:cNvSpPr/>
          <p:nvPr/>
        </p:nvSpPr>
        <p:spPr>
          <a:xfrm>
            <a:off x="2560320" y="356616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1FB89A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32" name="Icon 39" descr="FaBroadcastTowe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7480" y="3863340"/>
            <a:ext cx="457200" cy="457200"/>
          </a:xfrm>
          <a:prstGeom prst="rect">
            <a:avLst/>
          </a:prstGeom>
        </p:spPr>
      </p:pic>
      <p:sp>
        <p:nvSpPr>
          <p:cNvPr id="33" name="Text 40"/>
          <p:cNvSpPr txBox="1"/>
          <p:nvPr/>
        </p:nvSpPr>
        <p:spPr>
          <a:xfrm>
            <a:off x="3246120" y="3566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</a:t>
            </a:r>
            <a:endParaRPr lang="en-US" sz="1800" dirty="0"/>
          </a:p>
        </p:txBody>
      </p:sp>
      <p:sp>
        <p:nvSpPr>
          <p:cNvPr id="34" name="Card 41"/>
          <p:cNvSpPr/>
          <p:nvPr/>
        </p:nvSpPr>
        <p:spPr>
          <a:xfrm>
            <a:off x="4663440" y="356616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6C63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35" name="Icon 42" descr="FaPlu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0600" y="3863340"/>
            <a:ext cx="457200" cy="457200"/>
          </a:xfrm>
          <a:prstGeom prst="rect">
            <a:avLst/>
          </a:prstGeom>
        </p:spPr>
      </p:pic>
      <p:sp>
        <p:nvSpPr>
          <p:cNvPr id="36" name="Text 43"/>
          <p:cNvSpPr txBox="1"/>
          <p:nvPr/>
        </p:nvSpPr>
        <p:spPr>
          <a:xfrm>
            <a:off x="5349240" y="3566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</a:t>
            </a:r>
            <a:endParaRPr lang="en-US" sz="1800" dirty="0"/>
          </a:p>
        </p:txBody>
      </p:sp>
      <p:sp>
        <p:nvSpPr>
          <p:cNvPr id="37" name="Card 44"/>
          <p:cNvSpPr/>
          <p:nvPr/>
        </p:nvSpPr>
        <p:spPr>
          <a:xfrm>
            <a:off x="6766560" y="356616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2E9E5B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38" name="Icon 45" descr="FaGlobeEurop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03720" y="3863340"/>
            <a:ext cx="457200" cy="457200"/>
          </a:xfrm>
          <a:prstGeom prst="rect">
            <a:avLst/>
          </a:prstGeom>
        </p:spPr>
      </p:pic>
      <p:sp>
        <p:nvSpPr>
          <p:cNvPr id="39" name="Text 46"/>
          <p:cNvSpPr txBox="1"/>
          <p:nvPr/>
        </p:nvSpPr>
        <p:spPr>
          <a:xfrm>
            <a:off x="7452360" y="3566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800" dirty="0"/>
          </a:p>
        </p:txBody>
      </p:sp>
      <p:sp>
        <p:nvSpPr>
          <p:cNvPr id="40" name="Text 47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every one by the end of today?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48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Text 49"/>
          <p:cNvSpPr txBox="1"/>
          <p:nvPr/>
        </p:nvSpPr>
        <p:spPr>
          <a:xfrm>
            <a:off x="91440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2000" dirty="0"/>
          </a:p>
        </p:txBody>
      </p:sp>
      <p:sp>
        <p:nvSpPr>
          <p:cNvPr id="4" name="Text 50"/>
          <p:cNvSpPr txBox="1"/>
          <p:nvPr/>
        </p:nvSpPr>
        <p:spPr>
          <a:xfrm>
            <a:off x="914400" y="137160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devices</a:t>
            </a:r>
            <a:endParaRPr lang="en-US" sz="3800" dirty="0"/>
          </a:p>
        </p:txBody>
      </p:sp>
      <p:sp>
        <p:nvSpPr>
          <p:cNvPr id="5" name="Text 51"/>
          <p:cNvSpPr txBox="1"/>
          <p:nvPr/>
        </p:nvSpPr>
        <p:spPr>
          <a:xfrm>
            <a:off x="914400" y="33832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device take things in, think, and give things out?</a:t>
            </a:r>
            <a:endParaRPr lang="en-US" sz="2000" dirty="0"/>
          </a:p>
        </p:txBody>
      </p:sp>
      <p:sp>
        <p:nvSpPr>
          <p:cNvPr id="6" name="Blob 52"/>
          <p:cNvSpPr/>
          <p:nvPr/>
        </p:nvSpPr>
        <p:spPr>
          <a:xfrm>
            <a:off x="6766560" y="1188720"/>
            <a:ext cx="2011680" cy="201168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pic>
        <p:nvPicPr>
          <p:cNvPr id="7" name="Icon 53" descr="FaC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69164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54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Text 55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device “digital”?</a:t>
            </a:r>
            <a:endParaRPr lang="en-US" sz="3000" dirty="0"/>
          </a:p>
        </p:txBody>
      </p:sp>
      <p:sp>
        <p:nvSpPr>
          <p:cNvPr id="4" name="Card 56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9A3D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57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DEVICE</a:t>
            </a:r>
            <a:endParaRPr lang="en-US" sz="3400" dirty="0"/>
          </a:p>
        </p:txBody>
      </p:sp>
      <p:sp>
        <p:nvSpPr>
          <p:cNvPr id="6" name="Text 58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with a brain that follows instructions</a:t>
            </a:r>
            <a:endParaRPr lang="en-US" sz="2000" dirty="0"/>
          </a:p>
        </p:txBody>
      </p:sp>
      <p:sp>
        <p:nvSpPr>
          <p:cNvPr id="7" name="Text 59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instructions, like a recipe.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MANY jobs, not just on/off.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tablet, laptop, phone.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digital: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torch. Just on or off!</a:t>
            </a:r>
            <a:endParaRPr lang="en-US" sz="1800" dirty="0"/>
          </a:p>
        </p:txBody>
      </p:sp>
      <p:sp>
        <p:nvSpPr>
          <p:cNvPr id="8" name="Card 60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61" descr="Tablet and paintbru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62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Text 63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 secret: Input, Process, Output</a:t>
            </a:r>
            <a:endParaRPr lang="en-US" sz="3000" dirty="0"/>
          </a:p>
        </p:txBody>
      </p:sp>
      <p:sp>
        <p:nvSpPr>
          <p:cNvPr id="4" name="Card 64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9A3D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65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MACHINE</a:t>
            </a:r>
            <a:endParaRPr lang="en-US" sz="3400" dirty="0"/>
          </a:p>
        </p:txBody>
      </p:sp>
      <p:sp>
        <p:nvSpPr>
          <p:cNvPr id="6" name="Text 66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digital device works like a pizza kitchen</a:t>
            </a:r>
            <a:endParaRPr lang="en-US" sz="2000" dirty="0"/>
          </a:p>
        </p:txBody>
      </p:sp>
      <p:sp>
        <p:nvSpPr>
          <p:cNvPr id="7" name="Text 67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arrives (input).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chef follows the recipe (the program).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pizza comes out (output).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 key → program runs → letter on screen.</a:t>
            </a:r>
            <a:endParaRPr lang="en-US" sz="1800" dirty="0"/>
          </a:p>
        </p:txBody>
      </p:sp>
      <p:sp>
        <p:nvSpPr>
          <p:cNvPr id="8" name="Card 68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69" descr="Order, chef and pizza showing input, process and out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70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Text 7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digital device too!</a:t>
            </a:r>
            <a:endParaRPr lang="en-US" sz="3000" dirty="0"/>
          </a:p>
        </p:txBody>
      </p:sp>
      <p:sp>
        <p:nvSpPr>
          <p:cNvPr id="4" name="Card 72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9A3D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73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→ THINK → OUT</a:t>
            </a:r>
            <a:endParaRPr lang="en-US" sz="2400" dirty="0"/>
          </a:p>
        </p:txBody>
      </p:sp>
      <p:sp>
        <p:nvSpPr>
          <p:cNvPr id="6" name="Text 74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body does input, process and output all day</a:t>
            </a:r>
            <a:endParaRPr lang="en-US" sz="2000" dirty="0"/>
          </a:p>
        </p:txBody>
      </p:sp>
      <p:sp>
        <p:nvSpPr>
          <p:cNvPr id="7" name="Text 75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see, ears hear, hands feel.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brain decides what to do.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voice speaks, your hands write.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with parts instead of body parts!</a:t>
            </a:r>
            <a:endParaRPr lang="en-US" sz="1800" dirty="0"/>
          </a:p>
        </p:txBody>
      </p:sp>
      <p:sp>
        <p:nvSpPr>
          <p:cNvPr id="8" name="Card 76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77" descr="Senses to brain to voice and han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78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sp>
        <p:nvSpPr>
          <p:cNvPr id="3" name="Text 79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devices</a:t>
            </a:r>
            <a:endParaRPr lang="en-US" sz="3000" dirty="0"/>
          </a:p>
        </p:txBody>
      </p:sp>
      <p:sp>
        <p:nvSpPr>
          <p:cNvPr id="4" name="Card 80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4DA3E0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81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= IN</a:t>
            </a:r>
            <a:endParaRPr lang="en-US" sz="3400" dirty="0"/>
          </a:p>
        </p:txBody>
      </p:sp>
      <p:sp>
        <p:nvSpPr>
          <p:cNvPr id="6" name="Text 82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EARS, EYES and HANDS of a computer</a:t>
            </a:r>
            <a:endParaRPr lang="en-US" sz="2000" dirty="0"/>
          </a:p>
        </p:txBody>
      </p:sp>
      <p:sp>
        <p:nvSpPr>
          <p:cNvPr id="7" name="Text 83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letters in.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and touchpad: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and click.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hears your voice.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and touchscreen: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and feel.</a:t>
            </a:r>
            <a:endParaRPr lang="en-US" sz="1800" dirty="0"/>
          </a:p>
        </p:txBody>
      </p:sp>
      <p:sp>
        <p:nvSpPr>
          <p:cNvPr id="8" name="Card 84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85" descr="Keyboard, mouse, microphone, speaker, printer,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86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sp>
        <p:nvSpPr>
          <p:cNvPr id="3" name="Text 87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devices</a:t>
            </a:r>
            <a:endParaRPr lang="en-US" sz="3000" dirty="0"/>
          </a:p>
        </p:txBody>
      </p:sp>
      <p:sp>
        <p:nvSpPr>
          <p:cNvPr id="4" name="Card 88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1FB89A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89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OUT</a:t>
            </a:r>
            <a:endParaRPr lang="en-US" sz="3400" dirty="0"/>
          </a:p>
        </p:txBody>
      </p:sp>
      <p:sp>
        <p:nvSpPr>
          <p:cNvPr id="6" name="Text 90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FACE, VOICE and HANDS of a computer</a:t>
            </a:r>
            <a:endParaRPr lang="en-US" sz="2000" dirty="0"/>
          </a:p>
        </p:txBody>
      </p:sp>
      <p:sp>
        <p:nvSpPr>
          <p:cNvPr id="7" name="Text 91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pictures and words.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sounds and music.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it on paper.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the battery or power.</a:t>
            </a:r>
            <a:endParaRPr lang="en-US" sz="1800" dirty="0"/>
          </a:p>
        </p:txBody>
      </p:sp>
      <p:sp>
        <p:nvSpPr>
          <p:cNvPr id="8" name="Card 92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93" descr="Keyboard, mouse, microphone, speaker, printer,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94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Text 95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Both… and neither!</a:t>
            </a:r>
            <a:endParaRPr lang="en-US" sz="3000" dirty="0"/>
          </a:p>
        </p:txBody>
      </p:sp>
      <p:sp>
        <p:nvSpPr>
          <p:cNvPr id="4" name="Card 96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9A3D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97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TRICKY ONES</a:t>
            </a:r>
            <a:endParaRPr lang="en-US" sz="3400" dirty="0"/>
          </a:p>
        </p:txBody>
      </p:sp>
      <p:sp>
        <p:nvSpPr>
          <p:cNvPr id="6" name="Text 98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parts do TWO jobs. Some do none!</a:t>
            </a:r>
            <a:endParaRPr lang="en-US" sz="2000" dirty="0"/>
          </a:p>
        </p:txBody>
      </p:sp>
      <p:sp>
        <p:nvSpPr>
          <p:cNvPr id="7" name="Text 99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Touchscreen: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touch it (IN) and it shows (OUT).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neither! It just carries information.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play (IN) → picture AND sound (OUT).</a:t>
            </a:r>
            <a:endParaRPr lang="en-US" sz="1800" dirty="0"/>
          </a:p>
        </p:txBody>
      </p:sp>
      <p:sp>
        <p:nvSpPr>
          <p:cNvPr id="8" name="Card 100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101" descr="Touchscreen is both, cable is neith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102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Text 103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output, both or neither?</a:t>
            </a:r>
            <a:endParaRPr lang="en-US" sz="3000" dirty="0"/>
          </a:p>
        </p:txBody>
      </p:sp>
      <p:sp>
        <p:nvSpPr>
          <p:cNvPr id="4" name="Card 104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5" name="Icon 105" descr="Fa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417320"/>
            <a:ext cx="548640" cy="548640"/>
          </a:xfrm>
          <a:prstGeom prst="rect">
            <a:avLst/>
          </a:prstGeom>
        </p:spPr>
      </p:pic>
      <p:sp>
        <p:nvSpPr>
          <p:cNvPr id="6" name="Text 106"/>
          <p:cNvSpPr txBox="1"/>
          <p:nvPr/>
        </p:nvSpPr>
        <p:spPr>
          <a:xfrm>
            <a:off x="45720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</a:t>
            </a:r>
            <a:endParaRPr lang="en-US" sz="2000" dirty="0"/>
          </a:p>
        </p:txBody>
      </p:sp>
      <p:sp>
        <p:nvSpPr>
          <p:cNvPr id="7" name="Card 107"/>
          <p:cNvSpPr/>
          <p:nvPr/>
        </p:nvSpPr>
        <p:spPr>
          <a:xfrm>
            <a:off x="3291840" y="11887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8" name="Icon 108" descr="FaVolume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417320"/>
            <a:ext cx="548640" cy="548640"/>
          </a:xfrm>
          <a:prstGeom prst="rect">
            <a:avLst/>
          </a:prstGeom>
        </p:spPr>
      </p:pic>
      <p:sp>
        <p:nvSpPr>
          <p:cNvPr id="9" name="Text 109"/>
          <p:cNvSpPr txBox="1"/>
          <p:nvPr/>
        </p:nvSpPr>
        <p:spPr>
          <a:xfrm>
            <a:off x="329184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</a:t>
            </a:r>
            <a:endParaRPr lang="en-US" sz="2000" dirty="0"/>
          </a:p>
        </p:txBody>
      </p:sp>
      <p:sp>
        <p:nvSpPr>
          <p:cNvPr id="10" name="Card 110"/>
          <p:cNvSpPr/>
          <p:nvPr/>
        </p:nvSpPr>
        <p:spPr>
          <a:xfrm>
            <a:off x="6126480" y="11887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11" name="Icon 111" descr="FaHandPoin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417320"/>
            <a:ext cx="548640" cy="548640"/>
          </a:xfrm>
          <a:prstGeom prst="rect">
            <a:avLst/>
          </a:prstGeom>
        </p:spPr>
      </p:pic>
      <p:sp>
        <p:nvSpPr>
          <p:cNvPr id="12" name="Text 112"/>
          <p:cNvSpPr txBox="1"/>
          <p:nvPr/>
        </p:nvSpPr>
        <p:spPr>
          <a:xfrm>
            <a:off x="612648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Touchscreen</a:t>
            </a:r>
            <a:endParaRPr lang="en-US" sz="2000" dirty="0"/>
          </a:p>
        </p:txBody>
      </p:sp>
      <p:sp>
        <p:nvSpPr>
          <p:cNvPr id="13" name="Card 113"/>
          <p:cNvSpPr/>
          <p:nvPr/>
        </p:nvSpPr>
        <p:spPr>
          <a:xfrm>
            <a:off x="457200" y="27889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14" name="Icon 114" descr="FaMicro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3017520"/>
            <a:ext cx="548640" cy="548640"/>
          </a:xfrm>
          <a:prstGeom prst="rect">
            <a:avLst/>
          </a:prstGeom>
        </p:spPr>
      </p:pic>
      <p:sp>
        <p:nvSpPr>
          <p:cNvPr id="15" name="Text 115"/>
          <p:cNvSpPr txBox="1"/>
          <p:nvPr/>
        </p:nvSpPr>
        <p:spPr>
          <a:xfrm>
            <a:off x="45720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2000" dirty="0"/>
          </a:p>
        </p:txBody>
      </p:sp>
      <p:sp>
        <p:nvSpPr>
          <p:cNvPr id="16" name="Card 116"/>
          <p:cNvSpPr/>
          <p:nvPr/>
        </p:nvSpPr>
        <p:spPr>
          <a:xfrm>
            <a:off x="3291840" y="27889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17" name="Icon 117" descr="FaPri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017520"/>
            <a:ext cx="548640" cy="548640"/>
          </a:xfrm>
          <a:prstGeom prst="rect">
            <a:avLst/>
          </a:prstGeom>
        </p:spPr>
      </p:pic>
      <p:sp>
        <p:nvSpPr>
          <p:cNvPr id="18" name="Text 118"/>
          <p:cNvSpPr txBox="1"/>
          <p:nvPr/>
        </p:nvSpPr>
        <p:spPr>
          <a:xfrm>
            <a:off x="329184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</a:t>
            </a:r>
            <a:endParaRPr lang="en-US" sz="2000" dirty="0"/>
          </a:p>
        </p:txBody>
      </p:sp>
      <p:sp>
        <p:nvSpPr>
          <p:cNvPr id="19" name="Card 119"/>
          <p:cNvSpPr/>
          <p:nvPr/>
        </p:nvSpPr>
        <p:spPr>
          <a:xfrm>
            <a:off x="6126480" y="27889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20" name="Icon 120" descr="FaPlu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3017520"/>
            <a:ext cx="548640" cy="548640"/>
          </a:xfrm>
          <a:prstGeom prst="rect">
            <a:avLst/>
          </a:prstGeom>
        </p:spPr>
      </p:pic>
      <p:sp>
        <p:nvSpPr>
          <p:cNvPr id="21" name="Text 121"/>
          <p:cNvSpPr txBox="1"/>
          <p:nvPr/>
        </p:nvSpPr>
        <p:spPr>
          <a:xfrm>
            <a:off x="612648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</a:t>
            </a:r>
            <a:endParaRPr lang="en-US" sz="2000" dirty="0"/>
          </a:p>
        </p:txBody>
      </p:sp>
      <p:sp>
        <p:nvSpPr>
          <p:cNvPr id="22" name="Text 122"/>
          <p:cNvSpPr txBox="1"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up: 1 finger = INPUT · 2 = OUTPUT · 3 = BOTH · 4 = NEITHER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123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Text 124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Answers</a:t>
            </a:r>
            <a:endParaRPr lang="en-US" sz="3000" dirty="0"/>
          </a:p>
        </p:txBody>
      </p:sp>
      <p:sp>
        <p:nvSpPr>
          <p:cNvPr id="4" name="Card 125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4DA3E0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5" name="Icon 126" descr="Fa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417320"/>
            <a:ext cx="548640" cy="548640"/>
          </a:xfrm>
          <a:prstGeom prst="rect">
            <a:avLst/>
          </a:prstGeom>
        </p:spPr>
      </p:pic>
      <p:sp>
        <p:nvSpPr>
          <p:cNvPr id="6" name="Text 127"/>
          <p:cNvSpPr txBox="1"/>
          <p:nvPr/>
        </p:nvSpPr>
        <p:spPr>
          <a:xfrm>
            <a:off x="45720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</a:t>
            </a:r>
            <a:endParaRPr lang="en-US" sz="2000" dirty="0"/>
          </a:p>
        </p:txBody>
      </p:sp>
      <p:sp>
        <p:nvSpPr>
          <p:cNvPr id="7" name="Text 128"/>
          <p:cNvSpPr txBox="1"/>
          <p:nvPr/>
        </p:nvSpPr>
        <p:spPr>
          <a:xfrm>
            <a:off x="45720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Card 129"/>
          <p:cNvSpPr/>
          <p:nvPr/>
        </p:nvSpPr>
        <p:spPr>
          <a:xfrm>
            <a:off x="3291840" y="11887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1FB89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Icon 130" descr="FaVolume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417320"/>
            <a:ext cx="548640" cy="548640"/>
          </a:xfrm>
          <a:prstGeom prst="rect">
            <a:avLst/>
          </a:prstGeom>
        </p:spPr>
      </p:pic>
      <p:sp>
        <p:nvSpPr>
          <p:cNvPr id="10" name="Text 131"/>
          <p:cNvSpPr txBox="1"/>
          <p:nvPr/>
        </p:nvSpPr>
        <p:spPr>
          <a:xfrm>
            <a:off x="329184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</a:t>
            </a:r>
            <a:endParaRPr lang="en-US" sz="2000" dirty="0"/>
          </a:p>
        </p:txBody>
      </p:sp>
      <p:sp>
        <p:nvSpPr>
          <p:cNvPr id="11" name="Text 132"/>
          <p:cNvSpPr txBox="1"/>
          <p:nvPr/>
        </p:nvSpPr>
        <p:spPr>
          <a:xfrm>
            <a:off x="329184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12" name="Card 133"/>
          <p:cNvSpPr/>
          <p:nvPr/>
        </p:nvSpPr>
        <p:spPr>
          <a:xfrm>
            <a:off x="6126480" y="11887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FF9A3D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13" name="Icon 134" descr="FaHandPoin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417320"/>
            <a:ext cx="548640" cy="548640"/>
          </a:xfrm>
          <a:prstGeom prst="rect">
            <a:avLst/>
          </a:prstGeom>
        </p:spPr>
      </p:pic>
      <p:sp>
        <p:nvSpPr>
          <p:cNvPr id="14" name="Text 135"/>
          <p:cNvSpPr txBox="1"/>
          <p:nvPr/>
        </p:nvSpPr>
        <p:spPr>
          <a:xfrm>
            <a:off x="612648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Touchscreen</a:t>
            </a:r>
            <a:endParaRPr lang="en-US" sz="2000" dirty="0"/>
          </a:p>
        </p:txBody>
      </p:sp>
      <p:sp>
        <p:nvSpPr>
          <p:cNvPr id="15" name="Text 136"/>
          <p:cNvSpPr txBox="1"/>
          <p:nvPr/>
        </p:nvSpPr>
        <p:spPr>
          <a:xfrm>
            <a:off x="612648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600" dirty="0"/>
          </a:p>
        </p:txBody>
      </p:sp>
      <p:sp>
        <p:nvSpPr>
          <p:cNvPr id="16" name="Card 137"/>
          <p:cNvSpPr/>
          <p:nvPr/>
        </p:nvSpPr>
        <p:spPr>
          <a:xfrm>
            <a:off x="457200" y="27889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4DA3E0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17" name="Icon 138" descr="FaMicro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3017520"/>
            <a:ext cx="548640" cy="548640"/>
          </a:xfrm>
          <a:prstGeom prst="rect">
            <a:avLst/>
          </a:prstGeom>
        </p:spPr>
      </p:pic>
      <p:sp>
        <p:nvSpPr>
          <p:cNvPr id="18" name="Text 139"/>
          <p:cNvSpPr txBox="1"/>
          <p:nvPr/>
        </p:nvSpPr>
        <p:spPr>
          <a:xfrm>
            <a:off x="45720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2000" dirty="0"/>
          </a:p>
        </p:txBody>
      </p:sp>
      <p:sp>
        <p:nvSpPr>
          <p:cNvPr id="19" name="Text 140"/>
          <p:cNvSpPr txBox="1"/>
          <p:nvPr/>
        </p:nvSpPr>
        <p:spPr>
          <a:xfrm>
            <a:off x="457200" y="3931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20" name="Card 141"/>
          <p:cNvSpPr/>
          <p:nvPr/>
        </p:nvSpPr>
        <p:spPr>
          <a:xfrm>
            <a:off x="3291840" y="27889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1FB89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21" name="Icon 142" descr="FaPri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017520"/>
            <a:ext cx="548640" cy="548640"/>
          </a:xfrm>
          <a:prstGeom prst="rect">
            <a:avLst/>
          </a:prstGeom>
        </p:spPr>
      </p:pic>
      <p:sp>
        <p:nvSpPr>
          <p:cNvPr id="22" name="Text 143"/>
          <p:cNvSpPr txBox="1"/>
          <p:nvPr/>
        </p:nvSpPr>
        <p:spPr>
          <a:xfrm>
            <a:off x="329184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</a:t>
            </a:r>
            <a:endParaRPr lang="en-US" sz="2000" dirty="0"/>
          </a:p>
        </p:txBody>
      </p:sp>
      <p:sp>
        <p:nvSpPr>
          <p:cNvPr id="23" name="Text 144"/>
          <p:cNvSpPr txBox="1"/>
          <p:nvPr/>
        </p:nvSpPr>
        <p:spPr>
          <a:xfrm>
            <a:off x="3291840" y="3931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24" name="Card 145"/>
          <p:cNvSpPr/>
          <p:nvPr/>
        </p:nvSpPr>
        <p:spPr>
          <a:xfrm>
            <a:off x="6126480" y="27889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6B6685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25" name="Icon 146" descr="FaPlu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3017520"/>
            <a:ext cx="548640" cy="548640"/>
          </a:xfrm>
          <a:prstGeom prst="rect">
            <a:avLst/>
          </a:prstGeom>
        </p:spPr>
      </p:pic>
      <p:sp>
        <p:nvSpPr>
          <p:cNvPr id="26" name="Text 147"/>
          <p:cNvSpPr txBox="1"/>
          <p:nvPr/>
        </p:nvSpPr>
        <p:spPr>
          <a:xfrm>
            <a:off x="612648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</a:t>
            </a:r>
            <a:endParaRPr lang="en-US" sz="2000" dirty="0"/>
          </a:p>
        </p:txBody>
      </p:sp>
      <p:sp>
        <p:nvSpPr>
          <p:cNvPr id="27" name="Text 148"/>
          <p:cNvSpPr txBox="1"/>
          <p:nvPr/>
        </p:nvSpPr>
        <p:spPr>
          <a:xfrm>
            <a:off x="6126480" y="3931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149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Text 15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3000" dirty="0"/>
          </a:p>
        </p:txBody>
      </p:sp>
      <p:sp>
        <p:nvSpPr>
          <p:cNvPr id="4" name="Text 151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OUTPUT in: press a key → letter appears on screen?</a:t>
            </a:r>
            <a:endParaRPr lang="en-US" sz="2600" dirty="0"/>
          </a:p>
        </p:txBody>
      </p:sp>
      <p:sp>
        <p:nvSpPr>
          <p:cNvPr id="5" name="Card 152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6" name="Dot 153"/>
          <p:cNvSpPr/>
          <p:nvPr/>
        </p:nvSpPr>
        <p:spPr>
          <a:xfrm>
            <a:off x="594360" y="232257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154"/>
          <p:cNvSpPr txBox="1"/>
          <p:nvPr/>
        </p:nvSpPr>
        <p:spPr>
          <a:xfrm>
            <a:off x="5943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155"/>
          <p:cNvSpPr txBox="1"/>
          <p:nvPr/>
        </p:nvSpPr>
        <p:spPr>
          <a:xfrm>
            <a:off x="1188720" y="21945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the key</a:t>
            </a:r>
            <a:endParaRPr lang="en-US" sz="2200" dirty="0"/>
          </a:p>
        </p:txBody>
      </p:sp>
      <p:sp>
        <p:nvSpPr>
          <p:cNvPr id="9" name="Card 156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Dot 157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158"/>
          <p:cNvSpPr txBox="1"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59"/>
          <p:cNvSpPr txBox="1"/>
          <p:nvPr/>
        </p:nvSpPr>
        <p:spPr>
          <a:xfrm>
            <a:off x="1188720" y="30175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working it out</a:t>
            </a:r>
            <a:endParaRPr lang="en-US" sz="2200" dirty="0"/>
          </a:p>
        </p:txBody>
      </p:sp>
      <p:sp>
        <p:nvSpPr>
          <p:cNvPr id="13" name="Card 160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4" name="Dot 161"/>
          <p:cNvSpPr/>
          <p:nvPr/>
        </p:nvSpPr>
        <p:spPr>
          <a:xfrm>
            <a:off x="594360" y="396849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62"/>
          <p:cNvSpPr txBox="1"/>
          <p:nvPr/>
        </p:nvSpPr>
        <p:spPr>
          <a:xfrm>
            <a:off x="5943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163"/>
          <p:cNvSpPr txBox="1"/>
          <p:nvPr/>
        </p:nvSpPr>
        <p:spPr>
          <a:xfrm>
            <a:off x="118872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on the screen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164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Text 165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The answer</a:t>
            </a:r>
            <a:endParaRPr lang="en-US" sz="3000" dirty="0"/>
          </a:p>
        </p:txBody>
      </p:sp>
      <p:sp>
        <p:nvSpPr>
          <p:cNvPr id="4" name="Text 166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OUTPUT in: press a key → letter appears on screen?</a:t>
            </a:r>
            <a:endParaRPr lang="en-US" sz="2600" dirty="0"/>
          </a:p>
        </p:txBody>
      </p:sp>
      <p:sp>
        <p:nvSpPr>
          <p:cNvPr id="5" name="Card 167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DA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6" name="Dot 168"/>
          <p:cNvSpPr/>
          <p:nvPr/>
        </p:nvSpPr>
        <p:spPr>
          <a:xfrm>
            <a:off x="594360" y="2322576"/>
            <a:ext cx="457200" cy="457200"/>
          </a:xfrm>
          <a:prstGeom prst="ellipse">
            <a:avLst/>
          </a:prstGeom>
          <a:solidFill>
            <a:srgbClr val="CFCB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169"/>
          <p:cNvSpPr txBox="1"/>
          <p:nvPr/>
        </p:nvSpPr>
        <p:spPr>
          <a:xfrm>
            <a:off x="5943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170"/>
          <p:cNvSpPr txBox="1"/>
          <p:nvPr/>
        </p:nvSpPr>
        <p:spPr>
          <a:xfrm>
            <a:off x="1188720" y="21945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the key</a:t>
            </a:r>
            <a:endParaRPr lang="en-US" sz="2200" dirty="0"/>
          </a:p>
        </p:txBody>
      </p:sp>
      <p:sp>
        <p:nvSpPr>
          <p:cNvPr id="9" name="Card 171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DA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Dot 172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CFCB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173"/>
          <p:cNvSpPr txBox="1"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74"/>
          <p:cNvSpPr txBox="1"/>
          <p:nvPr/>
        </p:nvSpPr>
        <p:spPr>
          <a:xfrm>
            <a:off x="1188720" y="30175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working it out</a:t>
            </a:r>
            <a:endParaRPr lang="en-US" sz="2200" dirty="0"/>
          </a:p>
        </p:txBody>
      </p:sp>
      <p:sp>
        <p:nvSpPr>
          <p:cNvPr id="13" name="Card 175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D9F5E6"/>
          </a:solidFill>
          <a:ln w="38100">
            <a:solidFill>
              <a:srgbClr val="2E9E5B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4" name="Dot 176"/>
          <p:cNvSpPr/>
          <p:nvPr/>
        </p:nvSpPr>
        <p:spPr>
          <a:xfrm>
            <a:off x="594360" y="3968496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77"/>
          <p:cNvSpPr txBox="1"/>
          <p:nvPr/>
        </p:nvSpPr>
        <p:spPr>
          <a:xfrm>
            <a:off x="5943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178"/>
          <p:cNvSpPr txBox="1"/>
          <p:nvPr/>
        </p:nvSpPr>
        <p:spPr>
          <a:xfrm>
            <a:off x="118872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on the screen</a:t>
            </a:r>
            <a:endParaRPr lang="en-US" sz="2200" dirty="0"/>
          </a:p>
        </p:txBody>
      </p:sp>
      <p:sp>
        <p:nvSpPr>
          <p:cNvPr id="17" name="Text 179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what comes OUT: the letter on screen.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180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3" name="Text 18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Invent a gadget!</a:t>
            </a:r>
            <a:endParaRPr lang="en-US" sz="3000" dirty="0"/>
          </a:p>
        </p:txBody>
      </p:sp>
      <p:sp>
        <p:nvSpPr>
          <p:cNvPr id="4" name="Tag 182"/>
          <p:cNvSpPr/>
          <p:nvPr/>
        </p:nvSpPr>
        <p:spPr>
          <a:xfrm>
            <a:off x="7223760" y="38404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5" name="Text 183"/>
          <p:cNvSpPr txBox="1"/>
          <p:nvPr/>
        </p:nvSpPr>
        <p:spPr>
          <a:xfrm>
            <a:off x="7223760" y="384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600" dirty="0"/>
          </a:p>
        </p:txBody>
      </p:sp>
      <p:sp>
        <p:nvSpPr>
          <p:cNvPr id="6" name="Card 184"/>
          <p:cNvSpPr/>
          <p:nvPr/>
        </p:nvSpPr>
        <p:spPr>
          <a:xfrm>
            <a:off x="457200" y="1188720"/>
            <a:ext cx="4114800" cy="781812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7" name="Dot 185"/>
          <p:cNvSpPr/>
          <p:nvPr/>
        </p:nvSpPr>
        <p:spPr>
          <a:xfrm>
            <a:off x="594360" y="135102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186"/>
          <p:cNvSpPr txBox="1"/>
          <p:nvPr/>
        </p:nvSpPr>
        <p:spPr>
          <a:xfrm>
            <a:off x="594360" y="135102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187"/>
          <p:cNvSpPr txBox="1"/>
          <p:nvPr/>
        </p:nvSpPr>
        <p:spPr>
          <a:xfrm>
            <a:off x="1188720" y="1188720"/>
            <a:ext cx="32004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gadget no one has made.</a:t>
            </a:r>
            <a:endParaRPr lang="en-US" sz="1700" dirty="0"/>
          </a:p>
        </p:txBody>
      </p:sp>
      <p:sp>
        <p:nvSpPr>
          <p:cNvPr id="10" name="Card 188"/>
          <p:cNvSpPr/>
          <p:nvPr/>
        </p:nvSpPr>
        <p:spPr>
          <a:xfrm>
            <a:off x="457200" y="2080260"/>
            <a:ext cx="4114800" cy="781812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1" name="Dot 189"/>
          <p:cNvSpPr/>
          <p:nvPr/>
        </p:nvSpPr>
        <p:spPr>
          <a:xfrm>
            <a:off x="594360" y="224256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90"/>
          <p:cNvSpPr txBox="1"/>
          <p:nvPr/>
        </p:nvSpPr>
        <p:spPr>
          <a:xfrm>
            <a:off x="594360" y="22425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91"/>
          <p:cNvSpPr txBox="1"/>
          <p:nvPr/>
        </p:nvSpPr>
        <p:spPr>
          <a:xfrm>
            <a:off x="1188720" y="2080260"/>
            <a:ext cx="32004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it. Label ONE input and ONE output.</a:t>
            </a:r>
            <a:endParaRPr lang="en-US" sz="1700" dirty="0"/>
          </a:p>
        </p:txBody>
      </p:sp>
      <p:sp>
        <p:nvSpPr>
          <p:cNvPr id="14" name="Card 192"/>
          <p:cNvSpPr/>
          <p:nvPr/>
        </p:nvSpPr>
        <p:spPr>
          <a:xfrm>
            <a:off x="457200" y="2971800"/>
            <a:ext cx="4114800" cy="781812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5" name="Dot 193"/>
          <p:cNvSpPr/>
          <p:nvPr/>
        </p:nvSpPr>
        <p:spPr>
          <a:xfrm>
            <a:off x="594360" y="313410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94"/>
          <p:cNvSpPr txBox="1"/>
          <p:nvPr/>
        </p:nvSpPr>
        <p:spPr>
          <a:xfrm>
            <a:off x="594360" y="313410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95"/>
          <p:cNvSpPr txBox="1"/>
          <p:nvPr/>
        </p:nvSpPr>
        <p:spPr>
          <a:xfrm>
            <a:off x="1188720" y="2971800"/>
            <a:ext cx="32004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process in a sentence.</a:t>
            </a:r>
            <a:endParaRPr lang="en-US" sz="1700" dirty="0"/>
          </a:p>
        </p:txBody>
      </p:sp>
      <p:sp>
        <p:nvSpPr>
          <p:cNvPr id="18" name="Card 196"/>
          <p:cNvSpPr/>
          <p:nvPr/>
        </p:nvSpPr>
        <p:spPr>
          <a:xfrm>
            <a:off x="457200" y="3863340"/>
            <a:ext cx="4114800" cy="781812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9" name="Dot 197"/>
          <p:cNvSpPr/>
          <p:nvPr/>
        </p:nvSpPr>
        <p:spPr>
          <a:xfrm>
            <a:off x="594360" y="4025646"/>
            <a:ext cx="457200" cy="45720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98"/>
          <p:cNvSpPr txBox="1"/>
          <p:nvPr/>
        </p:nvSpPr>
        <p:spPr>
          <a:xfrm>
            <a:off x="594360" y="40256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9"/>
          <p:cNvSpPr txBox="1"/>
          <p:nvPr/>
        </p:nvSpPr>
        <p:spPr>
          <a:xfrm>
            <a:off x="1188720" y="3863340"/>
            <a:ext cx="32004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partner: can they spot IN, PROCESS, OUT?</a:t>
            </a:r>
            <a:endParaRPr lang="en-US" sz="1700" dirty="0"/>
          </a:p>
        </p:txBody>
      </p:sp>
      <p:sp>
        <p:nvSpPr>
          <p:cNvPr id="22" name="Card 200"/>
          <p:cNvSpPr/>
          <p:nvPr/>
        </p:nvSpPr>
        <p:spPr>
          <a:xfrm>
            <a:off x="4617720" y="1097280"/>
            <a:ext cx="420624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23" name="Picture 201" descr="Activity pi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188720"/>
            <a:ext cx="4023360" cy="28163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0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sp>
        <p:nvSpPr>
          <p:cNvPr id="3" name="Text 203"/>
          <p:cNvSpPr txBox="1"/>
          <p:nvPr/>
        </p:nvSpPr>
        <p:spPr>
          <a:xfrm>
            <a:off x="91440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2000" dirty="0"/>
          </a:p>
        </p:txBody>
      </p:sp>
      <p:sp>
        <p:nvSpPr>
          <p:cNvPr id="4" name="Text 204"/>
          <p:cNvSpPr txBox="1"/>
          <p:nvPr/>
        </p:nvSpPr>
        <p:spPr>
          <a:xfrm>
            <a:off x="914400" y="137160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</a:t>
            </a:r>
            <a:endParaRPr lang="en-US" sz="3800" dirty="0"/>
          </a:p>
        </p:txBody>
      </p:sp>
      <p:sp>
        <p:nvSpPr>
          <p:cNvPr id="5" name="Text 205"/>
          <p:cNvSpPr txBox="1"/>
          <p:nvPr/>
        </p:nvSpPr>
        <p:spPr>
          <a:xfrm>
            <a:off x="914400" y="33832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computers talk to each other?</a:t>
            </a:r>
            <a:endParaRPr lang="en-US" sz="2000" dirty="0"/>
          </a:p>
        </p:txBody>
      </p:sp>
      <p:sp>
        <p:nvSpPr>
          <p:cNvPr id="6" name="Blob 206"/>
          <p:cNvSpPr/>
          <p:nvPr/>
        </p:nvSpPr>
        <p:spPr>
          <a:xfrm>
            <a:off x="6766560" y="1188720"/>
            <a:ext cx="2011680" cy="2011680"/>
          </a:xfrm>
          <a:prstGeom prst="ellipse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pic>
        <p:nvPicPr>
          <p:cNvPr id="7" name="Icon 207" descr="FaProject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69164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08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sp>
        <p:nvSpPr>
          <p:cNvPr id="3" name="Text 209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network?</a:t>
            </a:r>
            <a:endParaRPr lang="en-US" sz="3000" dirty="0"/>
          </a:p>
        </p:txBody>
      </p:sp>
      <p:sp>
        <p:nvSpPr>
          <p:cNvPr id="4" name="Card 210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4DA3E0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211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3400" dirty="0"/>
          </a:p>
        </p:txBody>
      </p:sp>
      <p:sp>
        <p:nvSpPr>
          <p:cNvPr id="6" name="Text 212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+ WORK = linked things that help each other</a:t>
            </a:r>
            <a:endParaRPr lang="en-US" sz="2000" dirty="0"/>
          </a:p>
        </p:txBody>
      </p:sp>
      <p:sp>
        <p:nvSpPr>
          <p:cNvPr id="7" name="Text 213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between two things.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network: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and friends you can reach.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linked to share files, printers and messages.</a:t>
            </a:r>
            <a:endParaRPr lang="en-US" sz="1800" dirty="0"/>
          </a:p>
        </p:txBody>
      </p:sp>
      <p:sp>
        <p:nvSpPr>
          <p:cNvPr id="8" name="Card 214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215" descr="Me connected to family and frien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16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3" name="Text 217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join every computer to every other?</a:t>
            </a:r>
            <a:endParaRPr lang="en-US" sz="3000" dirty="0"/>
          </a:p>
        </p:txBody>
      </p:sp>
      <p:sp>
        <p:nvSpPr>
          <p:cNvPr id="4" name="Card 218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5C8A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219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SPAGHETTI!</a:t>
            </a:r>
            <a:endParaRPr lang="en-US" sz="3400" dirty="0"/>
          </a:p>
        </p:txBody>
      </p:sp>
      <p:sp>
        <p:nvSpPr>
          <p:cNvPr id="6" name="Text 220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wires, too slow, too messy</a:t>
            </a:r>
            <a:endParaRPr lang="en-US" sz="2000" dirty="0"/>
          </a:p>
        </p:txBody>
      </p:sp>
      <p:sp>
        <p:nvSpPr>
          <p:cNvPr id="7" name="Text 221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computers: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wires!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computers: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1,225 wires!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everyone ONE wire to a smart helper.</a:t>
            </a:r>
            <a:endParaRPr lang="en-US" sz="1800" dirty="0"/>
          </a:p>
        </p:txBody>
      </p:sp>
      <p:sp>
        <p:nvSpPr>
          <p:cNvPr id="8" name="Card 222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223" descr="Messy computers all joined togeth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24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sp>
        <p:nvSpPr>
          <p:cNvPr id="3" name="Text 225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</a:t>
            </a:r>
            <a:endParaRPr lang="en-US" sz="3000" dirty="0"/>
          </a:p>
        </p:txBody>
      </p:sp>
      <p:sp>
        <p:nvSpPr>
          <p:cNvPr id="4" name="Card 226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4DA3E0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227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</a:t>
            </a:r>
            <a:endParaRPr lang="en-US" sz="3400" dirty="0"/>
          </a:p>
        </p:txBody>
      </p:sp>
      <p:sp>
        <p:nvSpPr>
          <p:cNvPr id="6" name="Text 228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 office of the network</a:t>
            </a:r>
            <a:endParaRPr lang="en-US" sz="2000" dirty="0"/>
          </a:p>
        </p:txBody>
      </p:sp>
      <p:sp>
        <p:nvSpPr>
          <p:cNvPr id="7" name="Text 229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wire: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computer plugs into the switch.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address: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“To: PC 4” and nothing else.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message only to PC 4.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tidy: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digging through the post!</a:t>
            </a:r>
            <a:endParaRPr lang="en-US" sz="1800" dirty="0"/>
          </a:p>
        </p:txBody>
      </p:sp>
      <p:sp>
        <p:nvSpPr>
          <p:cNvPr id="8" name="Card 230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231" descr="Message to PC 4 travelling through a swi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32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233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</a:t>
            </a:r>
            <a:endParaRPr lang="en-US" sz="3000" dirty="0"/>
          </a:p>
        </p:txBody>
      </p:sp>
      <p:sp>
        <p:nvSpPr>
          <p:cNvPr id="4" name="Card 234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6C63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235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3400" dirty="0"/>
          </a:p>
        </p:txBody>
      </p:sp>
      <p:sp>
        <p:nvSpPr>
          <p:cNvPr id="6" name="Text 236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school’s giant digital cupboard</a:t>
            </a:r>
            <a:endParaRPr lang="en-US" sz="2000" dirty="0"/>
          </a:p>
        </p:txBody>
      </p:sp>
      <p:sp>
        <p:nvSpPr>
          <p:cNvPr id="7" name="Text 237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everyone’s files in one safe place.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computer on the network can open them.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up, so files are not lost.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YOUR computer is off!</a:t>
            </a:r>
            <a:endParaRPr lang="en-US" sz="1800" dirty="0"/>
          </a:p>
        </p:txBody>
      </p:sp>
      <p:sp>
        <p:nvSpPr>
          <p:cNvPr id="8" name="Card 238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239" descr="Server holding files used by many compu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40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sp>
        <p:nvSpPr>
          <p:cNvPr id="3" name="Text 241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and the access point</a:t>
            </a:r>
            <a:endParaRPr lang="en-US" sz="3000" dirty="0"/>
          </a:p>
        </p:txBody>
      </p:sp>
      <p:sp>
        <p:nvSpPr>
          <p:cNvPr id="4" name="Card 242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1FB89A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243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3400" dirty="0"/>
          </a:p>
        </p:txBody>
      </p:sp>
      <p:sp>
        <p:nvSpPr>
          <p:cNvPr id="6" name="Text 244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cable you cannot see</a:t>
            </a:r>
            <a:endParaRPr lang="en-US" sz="2000" dirty="0"/>
          </a:p>
        </p:txBody>
      </p:sp>
      <p:sp>
        <p:nvSpPr>
          <p:cNvPr id="7" name="Text 245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access point: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 on the wall with a wire to the switch.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signals: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air to tablets and laptops.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internet!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just connects you to the network.</a:t>
            </a:r>
            <a:endParaRPr lang="en-US" sz="1800" dirty="0"/>
          </a:p>
        </p:txBody>
      </p:sp>
      <p:sp>
        <p:nvSpPr>
          <p:cNvPr id="8" name="Card 246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247" descr="Access point sending signals to laptop, tablet and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48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Text 249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and sockets</a:t>
            </a:r>
            <a:endParaRPr lang="en-US" sz="3000" dirty="0"/>
          </a:p>
        </p:txBody>
      </p:sp>
      <p:sp>
        <p:nvSpPr>
          <p:cNvPr id="4" name="Card 250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2E9E5B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251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+ SOCKET</a:t>
            </a:r>
            <a:endParaRPr lang="en-US" sz="3400" dirty="0"/>
          </a:p>
        </p:txBody>
      </p:sp>
      <p:sp>
        <p:nvSpPr>
          <p:cNvPr id="6" name="Text 252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roads and doors of the network</a:t>
            </a:r>
            <a:endParaRPr lang="en-US" sz="2000" dirty="0"/>
          </a:p>
        </p:txBody>
      </p:sp>
      <p:sp>
        <p:nvSpPr>
          <p:cNvPr id="7" name="Text 253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cable: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information like a road.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socket: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 in the wall where it plugs in.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+ server + access points: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joined by cables.</a:t>
            </a:r>
            <a:endParaRPr lang="en-US" sz="1800" dirty="0"/>
          </a:p>
        </p:txBody>
      </p:sp>
      <p:sp>
        <p:nvSpPr>
          <p:cNvPr id="8" name="Card 254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255" descr="Network cable and sock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56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257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file’s journey</a:t>
            </a:r>
            <a:endParaRPr lang="en-US" sz="3000" dirty="0"/>
          </a:p>
        </p:txBody>
      </p:sp>
      <p:sp>
        <p:nvSpPr>
          <p:cNvPr id="4" name="Card 258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6C63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259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TIME</a:t>
            </a:r>
            <a:endParaRPr lang="en-US" sz="3400" dirty="0"/>
          </a:p>
        </p:txBody>
      </p:sp>
      <p:sp>
        <p:nvSpPr>
          <p:cNvPr id="6" name="Text 260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 opens a maths worksheet on his laptop</a:t>
            </a:r>
            <a:endParaRPr lang="en-US" sz="2000" dirty="0"/>
          </a:p>
        </p:txBody>
      </p:sp>
      <p:sp>
        <p:nvSpPr>
          <p:cNvPr id="7" name="Text 261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asks the access point (Wi-Fi).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 passes it to the switch.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finds the server.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travels back the same way.</a:t>
            </a:r>
            <a:endParaRPr lang="en-US" sz="1800" dirty="0"/>
          </a:p>
        </p:txBody>
      </p:sp>
      <p:sp>
        <p:nvSpPr>
          <p:cNvPr id="8" name="Card 262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263" descr="File travelling laptop to server and b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64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Text 265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join up!</a:t>
            </a:r>
            <a:endParaRPr lang="en-US" sz="3000" dirty="0"/>
          </a:p>
        </p:txBody>
      </p:sp>
      <p:sp>
        <p:nvSpPr>
          <p:cNvPr id="4" name="Card 266"/>
          <p:cNvSpPr/>
          <p:nvPr/>
        </p:nvSpPr>
        <p:spPr>
          <a:xfrm>
            <a:off x="457200" y="114300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2E9E5B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267"/>
          <p:cNvSpPr txBox="1"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3400" dirty="0"/>
          </a:p>
        </p:txBody>
      </p:sp>
      <p:sp>
        <p:nvSpPr>
          <p:cNvPr id="6" name="Text 268"/>
          <p:cNvSpPr txBox="1"/>
          <p:nvPr/>
        </p:nvSpPr>
        <p:spPr>
          <a:xfrm>
            <a:off x="457200" y="20116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of networks</a:t>
            </a:r>
            <a:endParaRPr lang="en-US" sz="2000" dirty="0"/>
          </a:p>
        </p:txBody>
      </p:sp>
      <p:sp>
        <p:nvSpPr>
          <p:cNvPr id="7" name="Text 269"/>
          <p:cNvSpPr txBox="1"/>
          <p:nvPr/>
        </p:nvSpPr>
        <p:spPr>
          <a:xfrm>
            <a:off x="457200" y="2743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school: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network.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places: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networks.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them with routers: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the INTERNET!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year: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 explores it.</a:t>
            </a:r>
            <a:endParaRPr lang="en-US" sz="1800" dirty="0"/>
          </a:p>
        </p:txBody>
      </p:sp>
      <p:sp>
        <p:nvSpPr>
          <p:cNvPr id="8" name="Card 270"/>
          <p:cNvSpPr/>
          <p:nvPr/>
        </p:nvSpPr>
        <p:spPr>
          <a:xfrm>
            <a:off x="4434840" y="1097280"/>
            <a:ext cx="438912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pic>
        <p:nvPicPr>
          <p:cNvPr id="9" name="Picture 271" descr="Networks joined togeth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18872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72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sp>
        <p:nvSpPr>
          <p:cNvPr id="3" name="Text 273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3000" dirty="0"/>
          </a:p>
        </p:txBody>
      </p:sp>
      <p:sp>
        <p:nvSpPr>
          <p:cNvPr id="4" name="Text 274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network switch do?</a:t>
            </a:r>
            <a:endParaRPr lang="en-US" sz="2600" dirty="0"/>
          </a:p>
        </p:txBody>
      </p:sp>
      <p:sp>
        <p:nvSpPr>
          <p:cNvPr id="5" name="Card 275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6" name="Dot 276"/>
          <p:cNvSpPr/>
          <p:nvPr/>
        </p:nvSpPr>
        <p:spPr>
          <a:xfrm>
            <a:off x="594360" y="2322576"/>
            <a:ext cx="457200" cy="457200"/>
          </a:xfrm>
          <a:prstGeom prst="ellipse">
            <a:avLst/>
          </a:prstGeom>
          <a:solidFill>
            <a:srgbClr val="4DA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277"/>
          <p:cNvSpPr txBox="1"/>
          <p:nvPr/>
        </p:nvSpPr>
        <p:spPr>
          <a:xfrm>
            <a:off x="5943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278"/>
          <p:cNvSpPr txBox="1"/>
          <p:nvPr/>
        </p:nvSpPr>
        <p:spPr>
          <a:xfrm>
            <a:off x="1188720" y="21945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the files</a:t>
            </a:r>
            <a:endParaRPr lang="en-US" sz="2200" dirty="0"/>
          </a:p>
        </p:txBody>
      </p:sp>
      <p:sp>
        <p:nvSpPr>
          <p:cNvPr id="9" name="Card 279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Dot 280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4DA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281"/>
          <p:cNvSpPr txBox="1"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282"/>
          <p:cNvSpPr txBox="1"/>
          <p:nvPr/>
        </p:nvSpPr>
        <p:spPr>
          <a:xfrm>
            <a:off x="1188720" y="30175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messages to the right computer</a:t>
            </a:r>
            <a:endParaRPr lang="en-US" sz="2200" dirty="0"/>
          </a:p>
        </p:txBody>
      </p:sp>
      <p:sp>
        <p:nvSpPr>
          <p:cNvPr id="13" name="Card 283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4" name="Dot 284"/>
          <p:cNvSpPr/>
          <p:nvPr/>
        </p:nvSpPr>
        <p:spPr>
          <a:xfrm>
            <a:off x="594360" y="3968496"/>
            <a:ext cx="457200" cy="457200"/>
          </a:xfrm>
          <a:prstGeom prst="ellipse">
            <a:avLst/>
          </a:prstGeom>
          <a:solidFill>
            <a:srgbClr val="4DA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285"/>
          <p:cNvSpPr txBox="1"/>
          <p:nvPr/>
        </p:nvSpPr>
        <p:spPr>
          <a:xfrm>
            <a:off x="5943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286"/>
          <p:cNvSpPr txBox="1"/>
          <p:nvPr/>
        </p:nvSpPr>
        <p:spPr>
          <a:xfrm>
            <a:off x="118872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screen bigger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87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Text 288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The answer</a:t>
            </a:r>
            <a:endParaRPr lang="en-US" sz="3000" dirty="0"/>
          </a:p>
        </p:txBody>
      </p:sp>
      <p:sp>
        <p:nvSpPr>
          <p:cNvPr id="4" name="Text 289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network switch do?</a:t>
            </a:r>
            <a:endParaRPr lang="en-US" sz="2600" dirty="0"/>
          </a:p>
        </p:txBody>
      </p:sp>
      <p:sp>
        <p:nvSpPr>
          <p:cNvPr id="5" name="Card 290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DA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6" name="Dot 291"/>
          <p:cNvSpPr/>
          <p:nvPr/>
        </p:nvSpPr>
        <p:spPr>
          <a:xfrm>
            <a:off x="594360" y="2322576"/>
            <a:ext cx="457200" cy="457200"/>
          </a:xfrm>
          <a:prstGeom prst="ellipse">
            <a:avLst/>
          </a:prstGeom>
          <a:solidFill>
            <a:srgbClr val="CFCB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292"/>
          <p:cNvSpPr txBox="1"/>
          <p:nvPr/>
        </p:nvSpPr>
        <p:spPr>
          <a:xfrm>
            <a:off x="5943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293"/>
          <p:cNvSpPr txBox="1"/>
          <p:nvPr/>
        </p:nvSpPr>
        <p:spPr>
          <a:xfrm>
            <a:off x="1188720" y="21945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the files</a:t>
            </a:r>
            <a:endParaRPr lang="en-US" sz="2200" dirty="0"/>
          </a:p>
        </p:txBody>
      </p:sp>
      <p:sp>
        <p:nvSpPr>
          <p:cNvPr id="9" name="Card 294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D9F5E6"/>
          </a:solidFill>
          <a:ln w="38100">
            <a:solidFill>
              <a:srgbClr val="2E9E5B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Dot 295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296"/>
          <p:cNvSpPr txBox="1"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297"/>
          <p:cNvSpPr txBox="1"/>
          <p:nvPr/>
        </p:nvSpPr>
        <p:spPr>
          <a:xfrm>
            <a:off x="1188720" y="30175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messages to the right computer</a:t>
            </a:r>
            <a:endParaRPr lang="en-US" sz="2200" dirty="0"/>
          </a:p>
        </p:txBody>
      </p:sp>
      <p:sp>
        <p:nvSpPr>
          <p:cNvPr id="13" name="Card 298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DA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4" name="Dot 299"/>
          <p:cNvSpPr/>
          <p:nvPr/>
        </p:nvSpPr>
        <p:spPr>
          <a:xfrm>
            <a:off x="594360" y="3968496"/>
            <a:ext cx="457200" cy="457200"/>
          </a:xfrm>
          <a:prstGeom prst="ellipse">
            <a:avLst/>
          </a:prstGeom>
          <a:solidFill>
            <a:srgbClr val="CFCB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300"/>
          <p:cNvSpPr txBox="1"/>
          <p:nvPr/>
        </p:nvSpPr>
        <p:spPr>
          <a:xfrm>
            <a:off x="5943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301"/>
          <p:cNvSpPr txBox="1"/>
          <p:nvPr/>
        </p:nvSpPr>
        <p:spPr>
          <a:xfrm>
            <a:off x="118872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screen bigger</a:t>
            </a:r>
            <a:endParaRPr lang="en-US" sz="2200" dirty="0"/>
          </a:p>
        </p:txBody>
      </p:sp>
      <p:sp>
        <p:nvSpPr>
          <p:cNvPr id="17" name="Text 302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address and delivers messages.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303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304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3000" dirty="0"/>
          </a:p>
        </p:txBody>
      </p:sp>
      <p:sp>
        <p:nvSpPr>
          <p:cNvPr id="4" name="Text 305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school’s files stored?</a:t>
            </a:r>
            <a:endParaRPr lang="en-US" sz="2600" dirty="0"/>
          </a:p>
        </p:txBody>
      </p:sp>
      <p:sp>
        <p:nvSpPr>
          <p:cNvPr id="5" name="Card 306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6" name="Dot 307"/>
          <p:cNvSpPr/>
          <p:nvPr/>
        </p:nvSpPr>
        <p:spPr>
          <a:xfrm>
            <a:off x="594360" y="2322576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08"/>
          <p:cNvSpPr txBox="1"/>
          <p:nvPr/>
        </p:nvSpPr>
        <p:spPr>
          <a:xfrm>
            <a:off x="5943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309"/>
          <p:cNvSpPr txBox="1"/>
          <p:nvPr/>
        </p:nvSpPr>
        <p:spPr>
          <a:xfrm>
            <a:off x="1188720" y="21945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cable</a:t>
            </a:r>
            <a:endParaRPr lang="en-US" sz="2200" dirty="0"/>
          </a:p>
        </p:txBody>
      </p:sp>
      <p:sp>
        <p:nvSpPr>
          <p:cNvPr id="9" name="Card 310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Dot 311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312"/>
          <p:cNvSpPr txBox="1"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313"/>
          <p:cNvSpPr txBox="1"/>
          <p:nvPr/>
        </p:nvSpPr>
        <p:spPr>
          <a:xfrm>
            <a:off x="1188720" y="30175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server</a:t>
            </a:r>
            <a:endParaRPr lang="en-US" sz="2200" dirty="0"/>
          </a:p>
        </p:txBody>
      </p:sp>
      <p:sp>
        <p:nvSpPr>
          <p:cNvPr id="13" name="Card 314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4" name="Dot 315"/>
          <p:cNvSpPr/>
          <p:nvPr/>
        </p:nvSpPr>
        <p:spPr>
          <a:xfrm>
            <a:off x="594360" y="3968496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316"/>
          <p:cNvSpPr txBox="1"/>
          <p:nvPr/>
        </p:nvSpPr>
        <p:spPr>
          <a:xfrm>
            <a:off x="5943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317"/>
          <p:cNvSpPr txBox="1"/>
          <p:nvPr/>
        </p:nvSpPr>
        <p:spPr>
          <a:xfrm>
            <a:off x="118872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switch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318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Text 319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The answer</a:t>
            </a:r>
            <a:endParaRPr lang="en-US" sz="3000" dirty="0"/>
          </a:p>
        </p:txBody>
      </p:sp>
      <p:sp>
        <p:nvSpPr>
          <p:cNvPr id="4" name="Text 320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school’s files stored?</a:t>
            </a:r>
            <a:endParaRPr lang="en-US" sz="2600" dirty="0"/>
          </a:p>
        </p:txBody>
      </p:sp>
      <p:sp>
        <p:nvSpPr>
          <p:cNvPr id="5" name="Card 321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DA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6" name="Dot 322"/>
          <p:cNvSpPr/>
          <p:nvPr/>
        </p:nvSpPr>
        <p:spPr>
          <a:xfrm>
            <a:off x="594360" y="2322576"/>
            <a:ext cx="457200" cy="457200"/>
          </a:xfrm>
          <a:prstGeom prst="ellipse">
            <a:avLst/>
          </a:prstGeom>
          <a:solidFill>
            <a:srgbClr val="CFCB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23"/>
          <p:cNvSpPr txBox="1"/>
          <p:nvPr/>
        </p:nvSpPr>
        <p:spPr>
          <a:xfrm>
            <a:off x="5943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324"/>
          <p:cNvSpPr txBox="1"/>
          <p:nvPr/>
        </p:nvSpPr>
        <p:spPr>
          <a:xfrm>
            <a:off x="1188720" y="21945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cable</a:t>
            </a:r>
            <a:endParaRPr lang="en-US" sz="2200" dirty="0"/>
          </a:p>
        </p:txBody>
      </p:sp>
      <p:sp>
        <p:nvSpPr>
          <p:cNvPr id="9" name="Card 325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D9F5E6"/>
          </a:solidFill>
          <a:ln w="38100">
            <a:solidFill>
              <a:srgbClr val="2E9E5B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Dot 326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327"/>
          <p:cNvSpPr txBox="1"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328"/>
          <p:cNvSpPr txBox="1"/>
          <p:nvPr/>
        </p:nvSpPr>
        <p:spPr>
          <a:xfrm>
            <a:off x="1188720" y="30175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server</a:t>
            </a:r>
            <a:endParaRPr lang="en-US" sz="2200" dirty="0"/>
          </a:p>
        </p:txBody>
      </p:sp>
      <p:sp>
        <p:nvSpPr>
          <p:cNvPr id="13" name="Card 329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DA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4" name="Dot 330"/>
          <p:cNvSpPr/>
          <p:nvPr/>
        </p:nvSpPr>
        <p:spPr>
          <a:xfrm>
            <a:off x="594360" y="3968496"/>
            <a:ext cx="457200" cy="457200"/>
          </a:xfrm>
          <a:prstGeom prst="ellipse">
            <a:avLst/>
          </a:prstGeom>
          <a:solidFill>
            <a:srgbClr val="CFCB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331"/>
          <p:cNvSpPr txBox="1"/>
          <p:nvPr/>
        </p:nvSpPr>
        <p:spPr>
          <a:xfrm>
            <a:off x="5943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332"/>
          <p:cNvSpPr txBox="1"/>
          <p:nvPr/>
        </p:nvSpPr>
        <p:spPr>
          <a:xfrm>
            <a:off x="118872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switch</a:t>
            </a:r>
            <a:endParaRPr lang="en-US" sz="2200" dirty="0"/>
          </a:p>
        </p:txBody>
      </p:sp>
      <p:sp>
        <p:nvSpPr>
          <p:cNvPr id="17" name="Text 33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is the digital cupboard.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334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sp>
        <p:nvSpPr>
          <p:cNvPr id="3" name="Text 335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3000" dirty="0"/>
          </a:p>
        </p:txBody>
      </p:sp>
      <p:sp>
        <p:nvSpPr>
          <p:cNvPr id="4" name="Text 336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lets tablets join the network with no wires?</a:t>
            </a:r>
            <a:endParaRPr lang="en-US" sz="2600" dirty="0"/>
          </a:p>
        </p:txBody>
      </p:sp>
      <p:sp>
        <p:nvSpPr>
          <p:cNvPr id="5" name="Card 337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6" name="Dot 338"/>
          <p:cNvSpPr/>
          <p:nvPr/>
        </p:nvSpPr>
        <p:spPr>
          <a:xfrm>
            <a:off x="594360" y="2322576"/>
            <a:ext cx="457200" cy="45720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39"/>
          <p:cNvSpPr txBox="1"/>
          <p:nvPr/>
        </p:nvSpPr>
        <p:spPr>
          <a:xfrm>
            <a:off x="5943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340"/>
          <p:cNvSpPr txBox="1"/>
          <p:nvPr/>
        </p:nvSpPr>
        <p:spPr>
          <a:xfrm>
            <a:off x="1188720" y="21945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wireless access point</a:t>
            </a:r>
            <a:endParaRPr lang="en-US" sz="2200" dirty="0"/>
          </a:p>
        </p:txBody>
      </p:sp>
      <p:sp>
        <p:nvSpPr>
          <p:cNvPr id="9" name="Card 341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Dot 342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343"/>
          <p:cNvSpPr txBox="1"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344"/>
          <p:cNvSpPr txBox="1"/>
          <p:nvPr/>
        </p:nvSpPr>
        <p:spPr>
          <a:xfrm>
            <a:off x="1188720" y="30175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clip</a:t>
            </a:r>
            <a:endParaRPr lang="en-US" sz="2200" dirty="0"/>
          </a:p>
        </p:txBody>
      </p:sp>
      <p:sp>
        <p:nvSpPr>
          <p:cNvPr id="13" name="Card 345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9C3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4" name="Dot 346"/>
          <p:cNvSpPr/>
          <p:nvPr/>
        </p:nvSpPr>
        <p:spPr>
          <a:xfrm>
            <a:off x="594360" y="3968496"/>
            <a:ext cx="457200" cy="45720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347"/>
          <p:cNvSpPr txBox="1"/>
          <p:nvPr/>
        </p:nvSpPr>
        <p:spPr>
          <a:xfrm>
            <a:off x="5943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348"/>
          <p:cNvSpPr txBox="1"/>
          <p:nvPr/>
        </p:nvSpPr>
        <p:spPr>
          <a:xfrm>
            <a:off x="118872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printer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349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Text 35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The answer</a:t>
            </a:r>
            <a:endParaRPr lang="en-US" sz="3000" dirty="0"/>
          </a:p>
        </p:txBody>
      </p:sp>
      <p:sp>
        <p:nvSpPr>
          <p:cNvPr id="4" name="Text 351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lets tablets join the network with no wires?</a:t>
            </a:r>
            <a:endParaRPr lang="en-US" sz="2600" dirty="0"/>
          </a:p>
        </p:txBody>
      </p:sp>
      <p:sp>
        <p:nvSpPr>
          <p:cNvPr id="5" name="Card 352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D9F5E6"/>
          </a:solidFill>
          <a:ln w="38100">
            <a:solidFill>
              <a:srgbClr val="2E9E5B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6" name="Dot 353"/>
          <p:cNvSpPr/>
          <p:nvPr/>
        </p:nvSpPr>
        <p:spPr>
          <a:xfrm>
            <a:off x="594360" y="2322576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54"/>
          <p:cNvSpPr txBox="1"/>
          <p:nvPr/>
        </p:nvSpPr>
        <p:spPr>
          <a:xfrm>
            <a:off x="59436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355"/>
          <p:cNvSpPr txBox="1"/>
          <p:nvPr/>
        </p:nvSpPr>
        <p:spPr>
          <a:xfrm>
            <a:off x="1188720" y="21945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wireless access point</a:t>
            </a:r>
            <a:endParaRPr lang="en-US" sz="2200" dirty="0"/>
          </a:p>
        </p:txBody>
      </p:sp>
      <p:sp>
        <p:nvSpPr>
          <p:cNvPr id="9" name="Card 356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DA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Dot 357"/>
          <p:cNvSpPr/>
          <p:nvPr/>
        </p:nvSpPr>
        <p:spPr>
          <a:xfrm>
            <a:off x="594360" y="3145536"/>
            <a:ext cx="457200" cy="457200"/>
          </a:xfrm>
          <a:prstGeom prst="ellipse">
            <a:avLst/>
          </a:prstGeom>
          <a:solidFill>
            <a:srgbClr val="CFCB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358"/>
          <p:cNvSpPr txBox="1"/>
          <p:nvPr/>
        </p:nvSpPr>
        <p:spPr>
          <a:xfrm>
            <a:off x="5943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359"/>
          <p:cNvSpPr txBox="1"/>
          <p:nvPr/>
        </p:nvSpPr>
        <p:spPr>
          <a:xfrm>
            <a:off x="1188720" y="30175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clip</a:t>
            </a:r>
            <a:endParaRPr lang="en-US" sz="2200" dirty="0"/>
          </a:p>
        </p:txBody>
      </p:sp>
      <p:sp>
        <p:nvSpPr>
          <p:cNvPr id="13" name="Card 360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DDAEA"/>
            </a:solidFill>
            <a:prstDash val="solid"/>
          </a:ln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4" name="Dot 361"/>
          <p:cNvSpPr/>
          <p:nvPr/>
        </p:nvSpPr>
        <p:spPr>
          <a:xfrm>
            <a:off x="594360" y="3968496"/>
            <a:ext cx="457200" cy="457200"/>
          </a:xfrm>
          <a:prstGeom prst="ellipse">
            <a:avLst/>
          </a:prstGeom>
          <a:solidFill>
            <a:srgbClr val="CFCB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362"/>
          <p:cNvSpPr txBox="1"/>
          <p:nvPr/>
        </p:nvSpPr>
        <p:spPr>
          <a:xfrm>
            <a:off x="5943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363"/>
          <p:cNvSpPr txBox="1"/>
          <p:nvPr/>
        </p:nvSpPr>
        <p:spPr>
          <a:xfrm>
            <a:off x="118872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printer</a:t>
            </a:r>
            <a:endParaRPr lang="en-US" sz="2200" dirty="0"/>
          </a:p>
        </p:txBody>
      </p:sp>
      <p:sp>
        <p:nvSpPr>
          <p:cNvPr id="17" name="Text 36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 point sends and receives Wi-Fi.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365"/>
          <p:cNvSpPr/>
          <p:nvPr/>
        </p:nvSpPr>
        <p:spPr>
          <a:xfrm>
            <a:off x="0" y="274320"/>
            <a:ext cx="164592" cy="685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366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· Pair · Share</a:t>
            </a:r>
            <a:endParaRPr lang="en-US" sz="3000" dirty="0"/>
          </a:p>
        </p:txBody>
      </p:sp>
      <p:sp>
        <p:nvSpPr>
          <p:cNvPr id="4" name="Card 367"/>
          <p:cNvSpPr/>
          <p:nvPr/>
        </p:nvSpPr>
        <p:spPr>
          <a:xfrm>
            <a:off x="822960" y="1280160"/>
            <a:ext cx="74980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368"/>
          <p:cNvSpPr txBox="1"/>
          <p:nvPr/>
        </p:nvSpPr>
        <p:spPr>
          <a:xfrm>
            <a:off x="1188720" y="13716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to your partner using buzzwords: What is a network? What does a switch do?</a:t>
            </a:r>
            <a:endParaRPr lang="en-US" sz="2600" dirty="0"/>
          </a:p>
        </p:txBody>
      </p:sp>
      <p:pic>
        <p:nvPicPr>
          <p:cNvPr id="6" name="Icon 369" descr="FaUserFrien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3749040"/>
            <a:ext cx="731520" cy="731520"/>
          </a:xfrm>
          <a:prstGeom prst="rect">
            <a:avLst/>
          </a:prstGeom>
        </p:spPr>
      </p:pic>
      <p:pic>
        <p:nvPicPr>
          <p:cNvPr id="7" name="Icon 370" descr="FaCommentDo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3749040"/>
            <a:ext cx="731520" cy="731520"/>
          </a:xfrm>
          <a:prstGeom prst="rect">
            <a:avLst/>
          </a:prstGeom>
        </p:spPr>
      </p:pic>
      <p:pic>
        <p:nvPicPr>
          <p:cNvPr id="8" name="Icon 371" descr="FaHandsHelp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749040"/>
            <a:ext cx="731520" cy="731520"/>
          </a:xfrm>
          <a:prstGeom prst="rect">
            <a:avLst/>
          </a:prstGeom>
        </p:spPr>
      </p:pic>
      <p:sp>
        <p:nvSpPr>
          <p:cNvPr id="9" name="Text 372"/>
          <p:cNvSpPr txBox="1"/>
          <p:nvPr/>
        </p:nvSpPr>
        <p:spPr>
          <a:xfrm>
            <a:off x="2286000" y="4526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600" dirty="0"/>
          </a:p>
        </p:txBody>
      </p:sp>
      <p:sp>
        <p:nvSpPr>
          <p:cNvPr id="10" name="Text 373"/>
          <p:cNvSpPr txBox="1"/>
          <p:nvPr/>
        </p:nvSpPr>
        <p:spPr>
          <a:xfrm>
            <a:off x="4023360" y="4526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</a:t>
            </a:r>
            <a:endParaRPr lang="en-US" sz="1600" dirty="0"/>
          </a:p>
        </p:txBody>
      </p:sp>
      <p:sp>
        <p:nvSpPr>
          <p:cNvPr id="11" name="Text 374"/>
          <p:cNvSpPr txBox="1"/>
          <p:nvPr/>
        </p:nvSpPr>
        <p:spPr>
          <a:xfrm>
            <a:off x="5760720" y="4526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75"/>
          <p:cNvSpPr txBox="1"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 work!</a:t>
            </a:r>
            <a:endParaRPr lang="en-US" sz="4800" dirty="0"/>
          </a:p>
        </p:txBody>
      </p:sp>
      <p:sp>
        <p:nvSpPr>
          <p:cNvPr id="3" name="Text 376"/>
          <p:cNvSpPr txBox="1"/>
          <p:nvPr/>
        </p:nvSpPr>
        <p:spPr>
          <a:xfrm>
            <a:off x="731520" y="2651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experts. Keep asking questions!</a:t>
            </a:r>
            <a:endParaRPr lang="en-US" sz="2400" dirty="0"/>
          </a:p>
        </p:txBody>
      </p:sp>
      <p:pic>
        <p:nvPicPr>
          <p:cNvPr id="4" name="Icon 377" descr="FaDesk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3657600"/>
            <a:ext cx="731520" cy="731520"/>
          </a:xfrm>
          <a:prstGeom prst="rect">
            <a:avLst/>
          </a:prstGeom>
        </p:spPr>
      </p:pic>
      <p:pic>
        <p:nvPicPr>
          <p:cNvPr id="5" name="Icon 378" descr="FaWif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657600"/>
            <a:ext cx="731520" cy="731520"/>
          </a:xfrm>
          <a:prstGeom prst="rect">
            <a:avLst/>
          </a:prstGeom>
        </p:spPr>
      </p:pic>
      <p:pic>
        <p:nvPicPr>
          <p:cNvPr id="6" name="Icon 379" descr="FaSer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657600"/>
            <a:ext cx="731520" cy="731520"/>
          </a:xfrm>
          <a:prstGeom prst="rect">
            <a:avLst/>
          </a:prstGeom>
        </p:spPr>
      </p:pic>
      <p:pic>
        <p:nvPicPr>
          <p:cNvPr id="7" name="Icon 380" descr="FaSt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Y3c">
  <a:themeElements>
    <a:clrScheme name="Y3c">
      <a:dk1>
        <a:srgbClr val="2B2250"/>
      </a:dk1>
      <a:lt1>
        <a:srgbClr val="FFFFFF"/>
      </a:lt1>
      <a:dk2>
        <a:srgbClr val="3D3470"/>
      </a:dk2>
      <a:lt2>
        <a:srgbClr val="FFF8FB"/>
      </a:lt2>
      <a:accent1>
        <a:srgbClr val="1FB89A"/>
      </a:accent1>
      <a:accent2>
        <a:srgbClr val="FF9A3D"/>
      </a:accent2>
      <a:accent3>
        <a:srgbClr val="FF5C8A"/>
      </a:accent3>
      <a:accent4>
        <a:srgbClr val="4DA3E0"/>
      </a:accent4>
      <a:accent5>
        <a:srgbClr val="FFD23F"/>
      </a:accent5>
      <a:accent6>
        <a:srgbClr val="6B6685"/>
      </a:accent6>
      <a:hlink>
        <a:srgbClr val="4DA3E0"/>
      </a:hlink>
      <a:folHlink>
        <a:srgbClr val="6B6685"/>
      </a:folHlink>
    </a:clrScheme>
    <a:fontScheme name="Y3c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3 – Digital Devices and Networks</dc:title>
  <dc:subject>PptxGenJS Presentation</dc:subject>
  <dc:creator>ICT</dc:creator>
  <cp:lastModifiedBy>ICT</cp:lastModifiedBy>
  <cp:revision>1</cp:revision>
  <dcterms:created xsi:type="dcterms:W3CDTF">2026-10-16T06:48:13Z</dcterms:created>
  <dcterms:modified xsi:type="dcterms:W3CDTF">2026-10-16T06:48:13Z</dcterms:modified>
</cp:coreProperties>
</file>