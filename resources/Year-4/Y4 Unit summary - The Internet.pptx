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Lst>
  <p:notesMasterIdLst>
    <p:notesMasterId r:id="rId9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notesMaster" Target="notesMasters/notesMaster1.xml"/><Relationship Id="rId97" Type="http://schemas.openxmlformats.org/officeDocument/2006/relationships/presProps" Target="presProps.xml"/><Relationship Id="rId98" Type="http://schemas.openxmlformats.org/officeDocument/2006/relationships/viewProps" Target="viewProps.xml"/><Relationship Id="rId99" Type="http://schemas.openxmlformats.org/officeDocument/2006/relationships/theme" Target="theme/theme1.xml"/><Relationship Id="rId10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introduce the unit. Each lesson below has a section slide, key words, pictures, quick quizzes and an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 Connecting networks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objectives together. At the end of the lesson, come back to this slide and ask pupils to show thumbs up, sideways or down for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 pupils’ ideas on a flipchart. You will come back to them at the end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Groups of six. Use the A1 handout message cards. Each table only gets cards for its own location. Swap if a pupil receives their own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one router, then use three routers. Change who plays the switch from the first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 submarinecablemap.com. Pupils may suggest: lots of people use the internet; messages need a route; if one cable breaks another can be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vote with fingers (1, 2, 3) or on mini whiteboards before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vote with fingers (1, 2, 3) or on mini whiteboards before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vote with fingers (1, 2, 3) or on mini whiteboards before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vote with fingers (1, 2, 3) or on mini whiteboards before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act as routers and decide whether to let each message through. Discuss: private, not relevant, or harmful.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act as routers and decide whether to let each message through. Discuss: private, not relevant, or harmful.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internet is a global network of networks.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2: What is the internet made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objectives together. At the end of the lesson, come back to this slide and ask pupils to show thumbs up, sideways or down for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A1 Finding routes worksheet. Discuss the shortest route and what happens if a router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complete A1 Finding routes. Peer-mark.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Misconception check: the internet and the World Wide Web are NOT the same thing. The web is part of the internet. WWW = World Wide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vote with fingers (1, 2, 3) or on mini whiteboards before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vote with fingers (1, 2, 3) or on mini whiteboards before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Websites: bbc.co.uk/newsround and horrible-histories.co.uk plus your school website. Provide prompts for support: can you find a video, a picture, some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pupils revisit the two examples to spot the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vote with fingers (1, 2, 3) or on mini whiteboards before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vote with fingers (1, 2, 3) or on mini whiteboards before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internet; websites and web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3: Sharing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objectives together. At the end of the lesson, come back to this slide and ask pupils to show thumbs up, sideways or down for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Physical objects cannot be shared. Photos, videos, sounds and text can. A paper book cannot, but an electronic book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Physical objects cannot be shared. Photos, videos, sounds and text can. A paper book cannot, but an electronic book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pupils guess where sites come from. .co.uk = UK, .fr = France.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pupils to look for clues. Check: which domain would a French school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 Google’s data-centre map on slide 15 of the original L3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make a mind map on A3 sheet. Misconception: Google is a search engine; Chrome is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browsers have you used? Chrome, Safari, Edge, Firefox, Opera.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vote with fingers (1, 2, 3) or on mini whiteboards before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vote with fingers (1, 2, 3) or on mini whiteboards before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vote with fingers (1, 2, 3) or on mini whiteboards before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vote with fingers (1, 2, 3) or on mini whiteboards before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4: What is a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objectives together. At the end of the lesson, come back to this slide and ask pupils to show thumbs up, sideways or down for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CBBC site or a topic site that has lots of media types. Pupils write the content they can see on whiteboards.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 Features of a website activity sheet. Resource: BBC CBBC bring and buy sale page, or any media-rich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advantages and disadvantages. The school website has content added by teachers, administrators and pupils.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creating tools: Scratch, Paintz.app, Google or Office 365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pupils time to experiment. Point out that they used a tool on the World Wide Web to create their own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vote with fingers (1, 2, 3) or on mini whiteboards before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vote with fingers (1, 2, 3) or on mini whiteboards before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Designers made the top and bottom links. Users made the project, notes and credits, and comments. You can comment or remix.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5: Who owns the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objectives together. At the end of the lesson, come back to this slide and ask pupils to show thumbs up, sideways or down for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Websites used in the lesson: Dan TDM YouTube channel, LEGO website, Scratch.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A1 Solutions. YouTube content belongs to the creator even though it is on YouTube. LEGO instructions can be downloaded but not changed or claimed. Scratch allows remixing with credit.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A2 Sharing things activity. Groups of 2 or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Groups share their ideas with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BBC News article on slide 15: written by Paul Rincon, owned by the BBC, with images from NASA used with permission.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vote with fingers (1, 2, 3) or on mini whiteboards before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vote with fingers (1, 2, 3) or on mini whiteboards before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discussion with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6: Can I believe what I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objectives together. At the end of the lesson, come back to this slide and ask pupils to show thumbs up, sideways or down for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three pixabay images from the lesson plan. Then vote: Can we believe everything we see or hear on the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vote with fingers (1, 2, 3) or on mini whiteboards before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vote with fingers (1, 2, 3) or on mini whiteboards before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Reasons results can mislead: subjective question; sponsored results or ads; out-of-date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Think–pair–share, then record answers on whiteboards. “Fake news” is also used for news that is true but disliked.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A3 Activity sheet. Use coloured pencils for true and false. Point out that once information is shared, it cannot be un-shared. False news is 70% more likely to be retweeted than true stories (MIT study, 2018).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vote with fingers (1, 2, 3) or on mini whiteboards before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vote with fingers (1, 2, 3) or on mini whiteboards before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choose three things to consider before sharing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 Unit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vote with fingers (1, 2, 3) or on mini whiteboards before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vote with fingers (1, 2, 3) or on mini whiteboards before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vote with fingers (1, 2, 3) or on mini whiteboards before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vote with fingers (1, 2, 3) or on mini whiteboards before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vote with fingers (1, 2, 3) or on mini whiteboards before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vote with fingers (1, 2, 3) or on mini whiteboards before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vote with fingers (1, 2, 3) or on mini whiteboards before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vote with fingers (1, 2, 3) or on mini whiteboards before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vote with fingers (1, 2, 3) or on mini whiteboards before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vote with fingers (1, 2, 3) or on mini whiteboards before the answer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Pupils hold up 1, 2 or 3 fingers for each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3.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3.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3.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3.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3.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3.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slideLayout" Target="../slideLayouts/slideLayout3.xml"/><Relationship Id="rId6"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slideLayout" Target="../slideLayouts/slideLayout3.xml"/><Relationship Id="rId8"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slideLayout" Target="../slideLayouts/slideLayout3.xml"/><Relationship Id="rId8"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slideLayout" Target="../slideLayouts/slideLayout3.xml"/><Relationship Id="rId6"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slideLayout" Target="../slideLayouts/slideLayout3.xml"/><Relationship Id="rId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slideLayout" Target="../slideLayouts/slideLayout3.xml"/><Relationship Id="rId6"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3.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image" Target="../media/image-58-3.png"/><Relationship Id="rId4" Type="http://schemas.openxmlformats.org/officeDocument/2006/relationships/slideLayout" Target="../slideLayouts/slideLayout3.xml"/><Relationship Id="rId5"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image" Target="../media/image-60-3.png"/><Relationship Id="rId4" Type="http://schemas.openxmlformats.org/officeDocument/2006/relationships/slideLayout" Target="../slideLayouts/slideLayout3.xml"/><Relationship Id="rId5"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image" Target="../media/image-61-3.png"/><Relationship Id="rId4" Type="http://schemas.openxmlformats.org/officeDocument/2006/relationships/image" Target="../media/image-61-4.png"/><Relationship Id="rId5" Type="http://schemas.openxmlformats.org/officeDocument/2006/relationships/slideLayout" Target="../slideLayouts/slideLayout3.xml"/><Relationship Id="rId6"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image" Target="../media/image-63-3.png"/><Relationship Id="rId4" Type="http://schemas.openxmlformats.org/officeDocument/2006/relationships/slideLayout" Target="../slideLayouts/slideLayout3.xml"/><Relationship Id="rId5"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image" Target="../media/image-66-3.png"/><Relationship Id="rId4" Type="http://schemas.openxmlformats.org/officeDocument/2006/relationships/slideLayout" Target="../slideLayouts/slideLayout3.xml"/><Relationship Id="rId5"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image" Target="../media/image-69-2.png"/><Relationship Id="rId3" Type="http://schemas.openxmlformats.org/officeDocument/2006/relationships/image" Target="../media/image-69-3.png"/><Relationship Id="rId4" Type="http://schemas.openxmlformats.org/officeDocument/2006/relationships/image" Target="../media/image-69-4.png"/><Relationship Id="rId5" Type="http://schemas.openxmlformats.org/officeDocument/2006/relationships/image" Target="../media/image-69-5.png"/><Relationship Id="rId6" Type="http://schemas.openxmlformats.org/officeDocument/2006/relationships/image" Target="../media/image-69-6.png"/><Relationship Id="rId7" Type="http://schemas.openxmlformats.org/officeDocument/2006/relationships/slideLayout" Target="../slideLayouts/slideLayout3.xml"/><Relationship Id="rId8"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2.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image" Target="../media/image-71-2.png"/><Relationship Id="rId3" Type="http://schemas.openxmlformats.org/officeDocument/2006/relationships/image" Target="../media/image-71-3.png"/><Relationship Id="rId4" Type="http://schemas.openxmlformats.org/officeDocument/2006/relationships/slideLayout" Target="../slideLayouts/slideLayout3.xml"/><Relationship Id="rId5"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image" Target="../media/image-72-2.png"/><Relationship Id="rId3" Type="http://schemas.openxmlformats.org/officeDocument/2006/relationships/image" Target="../media/image-72-3.png"/><Relationship Id="rId4" Type="http://schemas.openxmlformats.org/officeDocument/2006/relationships/image" Target="../media/image-72-4.png"/><Relationship Id="rId5" Type="http://schemas.openxmlformats.org/officeDocument/2006/relationships/slideLayout" Target="../slideLayouts/slideLayout3.xml"/><Relationship Id="rId6"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image" Target="../media/image-76-1.png"/><Relationship Id="rId2" Type="http://schemas.openxmlformats.org/officeDocument/2006/relationships/slideLayout" Target="../slideLayouts/slideLayout3.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image" Target="../media/image-77-2.png"/><Relationship Id="rId3" Type="http://schemas.openxmlformats.org/officeDocument/2006/relationships/image" Target="../media/image-77-3.png"/><Relationship Id="rId4" Type="http://schemas.openxmlformats.org/officeDocument/2006/relationships/image" Target="../media/image-77-4.png"/><Relationship Id="rId5" Type="http://schemas.openxmlformats.org/officeDocument/2006/relationships/slideLayout" Target="../slideLayouts/slideLayout3.xml"/><Relationship Id="rId6"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image" Target="../media/image-78-1.png"/><Relationship Id="rId2" Type="http://schemas.openxmlformats.org/officeDocument/2006/relationships/slideLayout" Target="../slideLayouts/slideLayout3.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image" Target="../media/image-81-1.png"/><Relationship Id="rId2" Type="http://schemas.openxmlformats.org/officeDocument/2006/relationships/image" Target="../media/image-81-2.png"/><Relationship Id="rId3" Type="http://schemas.openxmlformats.org/officeDocument/2006/relationships/image" Target="../media/image-81-3.png"/><Relationship Id="rId4" Type="http://schemas.openxmlformats.org/officeDocument/2006/relationships/slideLayout" Target="../slideLayouts/slideLayout3.xml"/><Relationship Id="rId5"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2.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image" Target="../media/image-93-1.png"/><Relationship Id="rId2" Type="http://schemas.openxmlformats.org/officeDocument/2006/relationships/image" Target="../media/image-93-2.png"/><Relationship Id="rId3" Type="http://schemas.openxmlformats.org/officeDocument/2006/relationships/image" Target="../media/image-93-3.png"/><Relationship Id="rId4" Type="http://schemas.openxmlformats.org/officeDocument/2006/relationships/image" Target="../media/image-93-4.png"/><Relationship Id="rId5" Type="http://schemas.openxmlformats.org/officeDocument/2006/relationships/image" Target="../media/image-93-5.png"/><Relationship Id="rId6" Type="http://schemas.openxmlformats.org/officeDocument/2006/relationships/image" Target="../media/image-93-6.png"/><Relationship Id="rId7" Type="http://schemas.openxmlformats.org/officeDocument/2006/relationships/image" Target="../media/image-93-7.png"/><Relationship Id="rId8" Type="http://schemas.openxmlformats.org/officeDocument/2006/relationships/image" Target="../media/image-93-8.png"/><Relationship Id="rId9" Type="http://schemas.openxmlformats.org/officeDocument/2006/relationships/image" Target="../media/image-93-9.png"/><Relationship Id="rId10" Type="http://schemas.openxmlformats.org/officeDocument/2006/relationships/image" Target="../media/image-93-10.png"/><Relationship Id="rId11" Type="http://schemas.openxmlformats.org/officeDocument/2006/relationships/image" Target="../media/image-93-11.png"/><Relationship Id="rId12" Type="http://schemas.openxmlformats.org/officeDocument/2006/relationships/image" Target="../media/image-93-12.png"/><Relationship Id="rId13" Type="http://schemas.openxmlformats.org/officeDocument/2006/relationships/image" Target="../media/image-93-13.png"/><Relationship Id="rId14" Type="http://schemas.openxmlformats.org/officeDocument/2006/relationships/image" Target="../media/image-93-14.png"/><Relationship Id="rId15" Type="http://schemas.openxmlformats.org/officeDocument/2006/relationships/image" Target="../media/image-93-15.png"/><Relationship Id="rId16" Type="http://schemas.openxmlformats.org/officeDocument/2006/relationships/slideLayout" Target="../slideLayouts/slideLayout3.xml"/><Relationship Id="rId17"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image" Target="../media/image-94-1.png"/><Relationship Id="rId2" Type="http://schemas.openxmlformats.org/officeDocument/2006/relationships/image" Target="../media/image-94-2.png"/><Relationship Id="rId3" Type="http://schemas.openxmlformats.org/officeDocument/2006/relationships/image" Target="../media/image-94-3.png"/><Relationship Id="rId4" Type="http://schemas.openxmlformats.org/officeDocument/2006/relationships/image" Target="../media/image-94-4.png"/><Relationship Id="rId5" Type="http://schemas.openxmlformats.org/officeDocument/2006/relationships/slideLayout" Target="../slideLayouts/slideLayout2.xml"/><Relationship Id="rId6" Type="http://schemas.openxmlformats.org/officeDocument/2006/relationships/notesSlide" Target="../notesSlides/notesSlide9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lob 1"/>
          <p:cNvSpPr/>
          <p:nvPr/>
        </p:nvSpPr>
        <p:spPr>
          <a:xfrm>
            <a:off x="6035040" y="457200"/>
            <a:ext cx="3840480" cy="3840480"/>
          </a:xfrm>
          <a:prstGeom prst="ellipse">
            <a:avLst/>
          </a:prstGeom>
          <a:solidFill>
            <a:srgbClr val="1FB89A"/>
          </a:solidFill>
          <a:ln w="12700">
            <a:solidFill>
              <a:srgbClr val="1FB89A"/>
            </a:solidFill>
            <a:prstDash val="solid"/>
          </a:ln>
        </p:spPr>
      </p:sp>
      <p:sp>
        <p:nvSpPr>
          <p:cNvPr id="3" name="Blob 2"/>
          <p:cNvSpPr/>
          <p:nvPr/>
        </p:nvSpPr>
        <p:spPr>
          <a:xfrm>
            <a:off x="7223760" y="2926080"/>
            <a:ext cx="2926080" cy="2926080"/>
          </a:xfrm>
          <a:prstGeom prst="ellipse">
            <a:avLst/>
          </a:prstGeom>
          <a:solidFill>
            <a:srgbClr val="3D3470"/>
          </a:solidFill>
          <a:ln w="12700">
            <a:solidFill>
              <a:srgbClr val="3D3470"/>
            </a:solidFill>
            <a:prstDash val="solid"/>
          </a:ln>
        </p:spPr>
      </p:sp>
      <p:sp>
        <p:nvSpPr>
          <p:cNvPr id="4" name="Text 3"/>
          <p:cNvSpPr txBox="1"/>
          <p:nvPr/>
        </p:nvSpPr>
        <p:spPr>
          <a:xfrm>
            <a:off x="548640" y="1188720"/>
            <a:ext cx="5669280" cy="1737360"/>
          </a:xfrm>
          <a:prstGeom prst="rect">
            <a:avLst/>
          </a:prstGeom>
          <a:noFill/>
          <a:ln/>
        </p:spPr>
        <p:txBody>
          <a:bodyPr wrap="square" lIns="0" tIns="0" rIns="0" bIns="0" rtlCol="0" anchor="t"/>
          <a:lstStyle/>
          <a:p>
            <a:pPr indent="0" marL="0">
              <a:buNone/>
            </a:pPr>
            <a:r>
              <a:rPr lang="en-US" sz="4400" b="1" dirty="0">
                <a:solidFill>
                  <a:srgbClr val="FFFFFF"/>
                </a:solidFill>
                <a:latin typeface="Calibri" pitchFamily="34" charset="0"/>
                <a:ea typeface="Calibri" pitchFamily="34" charset="-122"/>
                <a:cs typeface="Calibri" pitchFamily="34" charset="-120"/>
              </a:rPr>
              <a:t>The Internet</a:t>
            </a:r>
            <a:endParaRPr lang="en-US" sz="4400" dirty="0"/>
          </a:p>
        </p:txBody>
      </p:sp>
      <p:sp>
        <p:nvSpPr>
          <p:cNvPr id="5" name="Text 4"/>
          <p:cNvSpPr txBox="1"/>
          <p:nvPr/>
        </p:nvSpPr>
        <p:spPr>
          <a:xfrm>
            <a:off x="548640" y="3108960"/>
            <a:ext cx="5486400" cy="822960"/>
          </a:xfrm>
          <a:prstGeom prst="rect">
            <a:avLst/>
          </a:prstGeom>
          <a:noFill/>
          <a:ln/>
        </p:spPr>
        <p:txBody>
          <a:bodyPr wrap="square" lIns="0" tIns="0" rIns="0" bIns="0" rtlCol="0" anchor="t"/>
          <a:lstStyle/>
          <a:p>
            <a:pPr indent="0" marL="0">
              <a:buNone/>
            </a:pPr>
            <a:r>
              <a:rPr lang="en-US" sz="2000" dirty="0">
                <a:solidFill>
                  <a:srgbClr val="D9D4F5"/>
                </a:solidFill>
                <a:latin typeface="Calibri" pitchFamily="34" charset="0"/>
                <a:ea typeface="Calibri" pitchFamily="34" charset="-122"/>
                <a:cs typeface="Calibri" pitchFamily="34" charset="-120"/>
              </a:rPr>
              <a:t>Year 4 · Computing systems and networks</a:t>
            </a:r>
            <a:endParaRPr lang="en-US" sz="2000" dirty="0"/>
          </a:p>
          <a:p>
            <a:pPr indent="0" marL="0">
              <a:buNone/>
            </a:pPr>
            <a:r>
              <a:rPr lang="en-US" sz="2000" dirty="0">
                <a:solidFill>
                  <a:srgbClr val="D9D4F5"/>
                </a:solidFill>
                <a:latin typeface="Calibri" pitchFamily="34" charset="0"/>
                <a:ea typeface="Calibri" pitchFamily="34" charset="-122"/>
                <a:cs typeface="Calibri" pitchFamily="34" charset="-120"/>
              </a:rPr>
              <a:t>Our whole unit in one adventure!</a:t>
            </a:r>
            <a:endParaRPr lang="en-US" sz="2000" dirty="0"/>
          </a:p>
        </p:txBody>
      </p:sp>
      <p:pic>
        <p:nvPicPr>
          <p:cNvPr id="6" name="Icon 5" descr="FaGlobeEurope">    </p:cNvPr>
          <p:cNvPicPr>
            <a:picLocks noChangeAspect="1"/>
          </p:cNvPicPr>
          <p:nvPr/>
        </p:nvPicPr>
        <p:blipFill>
          <a:blip r:embed="rId1"/>
          <a:stretch>
            <a:fillRect/>
          </a:stretch>
        </p:blipFill>
        <p:spPr>
          <a:xfrm>
            <a:off x="6263640" y="685800"/>
            <a:ext cx="822960" cy="822960"/>
          </a:xfrm>
          <a:prstGeom prst="rect">
            <a:avLst/>
          </a:prstGeom>
        </p:spPr>
      </p:pic>
      <p:pic>
        <p:nvPicPr>
          <p:cNvPr id="7" name="Icon 6" descr="FaWifi">    </p:cNvPr>
          <p:cNvPicPr>
            <a:picLocks noChangeAspect="1"/>
          </p:cNvPicPr>
          <p:nvPr/>
        </p:nvPicPr>
        <p:blipFill>
          <a:blip r:embed="rId2"/>
          <a:stretch>
            <a:fillRect/>
          </a:stretch>
        </p:blipFill>
        <p:spPr>
          <a:xfrm>
            <a:off x="7635240" y="685800"/>
            <a:ext cx="822960" cy="822960"/>
          </a:xfrm>
          <a:prstGeom prst="rect">
            <a:avLst/>
          </a:prstGeom>
        </p:spPr>
      </p:pic>
      <p:pic>
        <p:nvPicPr>
          <p:cNvPr id="8" name="Icon 7" descr="FaNetworkWired">    </p:cNvPr>
          <p:cNvPicPr>
            <a:picLocks noChangeAspect="1"/>
          </p:cNvPicPr>
          <p:nvPr/>
        </p:nvPicPr>
        <p:blipFill>
          <a:blip r:embed="rId3"/>
          <a:stretch>
            <a:fillRect/>
          </a:stretch>
        </p:blipFill>
        <p:spPr>
          <a:xfrm>
            <a:off x="6263640" y="1965960"/>
            <a:ext cx="822960" cy="822960"/>
          </a:xfrm>
          <a:prstGeom prst="rect">
            <a:avLst/>
          </a:prstGeom>
        </p:spPr>
      </p:pic>
      <p:pic>
        <p:nvPicPr>
          <p:cNvPr id="9" name="Icon 8" descr="FaLock">    </p:cNvPr>
          <p:cNvPicPr>
            <a:picLocks noChangeAspect="1"/>
          </p:cNvPicPr>
          <p:nvPr/>
        </p:nvPicPr>
        <p:blipFill>
          <a:blip r:embed="rId4"/>
          <a:stretch>
            <a:fillRect/>
          </a:stretch>
        </p:blipFill>
        <p:spPr>
          <a:xfrm>
            <a:off x="7635240" y="1965960"/>
            <a:ext cx="822960" cy="822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Accent 9"/>
          <p:cNvSpPr/>
          <p:nvPr/>
        </p:nvSpPr>
        <p:spPr>
          <a:xfrm>
            <a:off x="0" y="274320"/>
            <a:ext cx="164592" cy="685800"/>
          </a:xfrm>
          <a:prstGeom prst="rect">
            <a:avLst/>
          </a:prstGeom>
          <a:solidFill>
            <a:srgbClr val="1FB89A"/>
          </a:solidFill>
          <a:ln w="12700">
            <a:solidFill>
              <a:srgbClr val="1FB89A"/>
            </a:solidFill>
            <a:prstDash val="solid"/>
          </a:ln>
        </p:spPr>
      </p:sp>
      <p:sp>
        <p:nvSpPr>
          <p:cNvPr id="3" name="Text 1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Our adventure: 6 lessons</a:t>
            </a:r>
            <a:endParaRPr lang="en-US" sz="3000" dirty="0"/>
          </a:p>
        </p:txBody>
      </p:sp>
      <p:sp>
        <p:nvSpPr>
          <p:cNvPr id="4" name="Card 11"/>
          <p:cNvSpPr/>
          <p:nvPr/>
        </p:nvSpPr>
        <p:spPr>
          <a:xfrm>
            <a:off x="457200" y="1188720"/>
            <a:ext cx="2651760" cy="1737360"/>
          </a:xfrm>
          <a:prstGeom prst="roundRect">
            <a:avLst>
              <a:gd name="adj" fmla="val 6316"/>
            </a:avLst>
          </a:prstGeom>
          <a:solidFill>
            <a:srgbClr val="FFFFFF"/>
          </a:solidFill>
          <a:ln/>
          <a:effectLst>
            <a:outerShdw sx="100000" sy="100000" kx="0" ky="0" algn="bl" rotWithShape="0" blurRad="76200" dist="25400" dir="5400000">
              <a:srgbClr val="2B2250">
                <a:alpha val="15000"/>
              </a:srgbClr>
            </a:outerShdw>
          </a:effectLst>
        </p:spPr>
      </p:sp>
      <p:sp>
        <p:nvSpPr>
          <p:cNvPr id="5" name="Dot 12"/>
          <p:cNvSpPr/>
          <p:nvPr/>
        </p:nvSpPr>
        <p:spPr>
          <a:xfrm>
            <a:off x="640080" y="1371600"/>
            <a:ext cx="640080" cy="640080"/>
          </a:xfrm>
          <a:prstGeom prst="ellipse">
            <a:avLst/>
          </a:prstGeom>
          <a:solidFill>
            <a:srgbClr val="FF9A3D"/>
          </a:solidFill>
          <a:ln w="12700">
            <a:solidFill>
              <a:srgbClr val="FFFFFF"/>
            </a:solidFill>
            <a:prstDash val="solid"/>
          </a:ln>
        </p:spPr>
      </p:sp>
      <p:pic>
        <p:nvPicPr>
          <p:cNvPr id="6" name="Icon 13" descr="FaProjectDiagram">    </p:cNvPr>
          <p:cNvPicPr>
            <a:picLocks noChangeAspect="1"/>
          </p:cNvPicPr>
          <p:nvPr/>
        </p:nvPicPr>
        <p:blipFill>
          <a:blip r:embed="rId1"/>
          <a:stretch>
            <a:fillRect/>
          </a:stretch>
        </p:blipFill>
        <p:spPr>
          <a:xfrm>
            <a:off x="795528" y="1527048"/>
            <a:ext cx="329184" cy="329184"/>
          </a:xfrm>
          <a:prstGeom prst="rect">
            <a:avLst/>
          </a:prstGeom>
        </p:spPr>
      </p:pic>
      <p:sp>
        <p:nvSpPr>
          <p:cNvPr id="7" name="Text 14"/>
          <p:cNvSpPr txBox="1"/>
          <p:nvPr/>
        </p:nvSpPr>
        <p:spPr>
          <a:xfrm>
            <a:off x="1417320" y="1325880"/>
            <a:ext cx="1554480" cy="457200"/>
          </a:xfrm>
          <a:prstGeom prst="rect">
            <a:avLst/>
          </a:prstGeom>
          <a:noFill/>
          <a:ln/>
        </p:spPr>
        <p:txBody>
          <a:bodyPr wrap="square" lIns="0" tIns="0" rIns="0" bIns="0" rtlCol="0" anchor="t"/>
          <a:lstStyle/>
          <a:p>
            <a:pPr indent="0" marL="0">
              <a:buNone/>
            </a:pPr>
            <a:r>
              <a:rPr lang="en-US" sz="2000" b="1" dirty="0">
                <a:solidFill>
                  <a:srgbClr val="FF9A3D"/>
                </a:solidFill>
                <a:latin typeface="Calibri" pitchFamily="34" charset="0"/>
                <a:ea typeface="Calibri" pitchFamily="34" charset="-122"/>
                <a:cs typeface="Calibri" pitchFamily="34" charset="-120"/>
              </a:rPr>
              <a:t>1  Connecting networks</a:t>
            </a:r>
            <a:endParaRPr lang="en-US" sz="2000" dirty="0"/>
          </a:p>
        </p:txBody>
      </p:sp>
      <p:sp>
        <p:nvSpPr>
          <p:cNvPr id="8" name="Text 15"/>
          <p:cNvSpPr txBox="1"/>
          <p:nvPr/>
        </p:nvSpPr>
        <p:spPr>
          <a:xfrm>
            <a:off x="640080" y="2103120"/>
            <a:ext cx="2286000" cy="777240"/>
          </a:xfrm>
          <a:prstGeom prst="rect">
            <a:avLst/>
          </a:prstGeom>
          <a:noFill/>
          <a:ln/>
        </p:spPr>
        <p:txBody>
          <a:bodyPr wrap="square" lIns="0" tIns="0" rIns="0" bIns="0" rtlCol="0" anchor="t"/>
          <a:lstStyle/>
          <a:p>
            <a:pPr indent="0" marL="0">
              <a:buNone/>
            </a:pPr>
            <a:r>
              <a:rPr lang="en-US" sz="1700" dirty="0">
                <a:solidFill>
                  <a:schemeClr val="tx1"/>
                </a:solidFill>
                <a:latin typeface="Calibri" pitchFamily="34" charset="0"/>
                <a:ea typeface="Calibri" pitchFamily="34" charset="-122"/>
                <a:cs typeface="Calibri" pitchFamily="34" charset="-120"/>
              </a:rPr>
              <a:t>Networks join up to make the internet</a:t>
            </a:r>
            <a:endParaRPr lang="en-US" sz="1700" dirty="0"/>
          </a:p>
        </p:txBody>
      </p:sp>
      <p:sp>
        <p:nvSpPr>
          <p:cNvPr id="9" name="Card 16"/>
          <p:cNvSpPr/>
          <p:nvPr/>
        </p:nvSpPr>
        <p:spPr>
          <a:xfrm>
            <a:off x="3246120" y="1188720"/>
            <a:ext cx="2651760" cy="1737360"/>
          </a:xfrm>
          <a:prstGeom prst="roundRect">
            <a:avLst>
              <a:gd name="adj" fmla="val 6316"/>
            </a:avLst>
          </a:prstGeom>
          <a:solidFill>
            <a:srgbClr val="FFFFFF"/>
          </a:solidFill>
          <a:ln/>
          <a:effectLst>
            <a:outerShdw sx="100000" sy="100000" kx="0" ky="0" algn="bl" rotWithShape="0" blurRad="76200" dist="25400" dir="5400000">
              <a:srgbClr val="2B2250">
                <a:alpha val="15000"/>
              </a:srgbClr>
            </a:outerShdw>
          </a:effectLst>
        </p:spPr>
      </p:sp>
      <p:sp>
        <p:nvSpPr>
          <p:cNvPr id="10" name="Dot 17"/>
          <p:cNvSpPr/>
          <p:nvPr/>
        </p:nvSpPr>
        <p:spPr>
          <a:xfrm>
            <a:off x="3429000" y="1371600"/>
            <a:ext cx="640080" cy="640080"/>
          </a:xfrm>
          <a:prstGeom prst="ellipse">
            <a:avLst/>
          </a:prstGeom>
          <a:solidFill>
            <a:srgbClr val="FF5C8A"/>
          </a:solidFill>
          <a:ln w="12700">
            <a:solidFill>
              <a:srgbClr val="FFFFFF"/>
            </a:solidFill>
            <a:prstDash val="solid"/>
          </a:ln>
        </p:spPr>
      </p:sp>
      <p:pic>
        <p:nvPicPr>
          <p:cNvPr id="11" name="Icon 18" descr="FaCubes">    </p:cNvPr>
          <p:cNvPicPr>
            <a:picLocks noChangeAspect="1"/>
          </p:cNvPicPr>
          <p:nvPr/>
        </p:nvPicPr>
        <p:blipFill>
          <a:blip r:embed="rId2"/>
          <a:stretch>
            <a:fillRect/>
          </a:stretch>
        </p:blipFill>
        <p:spPr>
          <a:xfrm>
            <a:off x="3584448" y="1527048"/>
            <a:ext cx="329184" cy="329184"/>
          </a:xfrm>
          <a:prstGeom prst="rect">
            <a:avLst/>
          </a:prstGeom>
        </p:spPr>
      </p:pic>
      <p:sp>
        <p:nvSpPr>
          <p:cNvPr id="12" name="Text 19"/>
          <p:cNvSpPr txBox="1"/>
          <p:nvPr/>
        </p:nvSpPr>
        <p:spPr>
          <a:xfrm>
            <a:off x="4206240" y="1325880"/>
            <a:ext cx="1554480" cy="457200"/>
          </a:xfrm>
          <a:prstGeom prst="rect">
            <a:avLst/>
          </a:prstGeom>
          <a:noFill/>
          <a:ln/>
        </p:spPr>
        <p:txBody>
          <a:bodyPr wrap="square" lIns="0" tIns="0" rIns="0" bIns="0" rtlCol="0" anchor="t"/>
          <a:lstStyle/>
          <a:p>
            <a:pPr indent="0" marL="0">
              <a:buNone/>
            </a:pPr>
            <a:r>
              <a:rPr lang="en-US" sz="2000" b="1" dirty="0">
                <a:solidFill>
                  <a:srgbClr val="FF5C8A"/>
                </a:solidFill>
                <a:latin typeface="Calibri" pitchFamily="34" charset="0"/>
                <a:ea typeface="Calibri" pitchFamily="34" charset="-122"/>
                <a:cs typeface="Calibri" pitchFamily="34" charset="-120"/>
              </a:rPr>
              <a:t>2  What is it made of?</a:t>
            </a:r>
            <a:endParaRPr lang="en-US" sz="2000" dirty="0"/>
          </a:p>
        </p:txBody>
      </p:sp>
      <p:sp>
        <p:nvSpPr>
          <p:cNvPr id="13" name="Text 20"/>
          <p:cNvSpPr txBox="1"/>
          <p:nvPr/>
        </p:nvSpPr>
        <p:spPr>
          <a:xfrm>
            <a:off x="3429000" y="2103120"/>
            <a:ext cx="2286000" cy="777240"/>
          </a:xfrm>
          <a:prstGeom prst="rect">
            <a:avLst/>
          </a:prstGeom>
          <a:noFill/>
          <a:ln/>
        </p:spPr>
        <p:txBody>
          <a:bodyPr wrap="square" lIns="0" tIns="0" rIns="0" bIns="0" rtlCol="0" anchor="t"/>
          <a:lstStyle/>
          <a:p>
            <a:pPr indent="0" marL="0">
              <a:buNone/>
            </a:pPr>
            <a:r>
              <a:rPr lang="en-US" sz="1700" dirty="0">
                <a:solidFill>
                  <a:schemeClr val="tx1"/>
                </a:solidFill>
                <a:latin typeface="Calibri" pitchFamily="34" charset="0"/>
                <a:ea typeface="Calibri" pitchFamily="34" charset="-122"/>
                <a:cs typeface="Calibri" pitchFamily="34" charset="-120"/>
              </a:rPr>
              <a:t>Switches, servers, routers and the web</a:t>
            </a:r>
            <a:endParaRPr lang="en-US" sz="1700" dirty="0"/>
          </a:p>
        </p:txBody>
      </p:sp>
      <p:sp>
        <p:nvSpPr>
          <p:cNvPr id="14" name="Card 21"/>
          <p:cNvSpPr/>
          <p:nvPr/>
        </p:nvSpPr>
        <p:spPr>
          <a:xfrm>
            <a:off x="6035040" y="1188720"/>
            <a:ext cx="2651760" cy="1737360"/>
          </a:xfrm>
          <a:prstGeom prst="roundRect">
            <a:avLst>
              <a:gd name="adj" fmla="val 6316"/>
            </a:avLst>
          </a:prstGeom>
          <a:solidFill>
            <a:srgbClr val="FFFFFF"/>
          </a:solidFill>
          <a:ln/>
          <a:effectLst>
            <a:outerShdw sx="100000" sy="100000" kx="0" ky="0" algn="bl" rotWithShape="0" blurRad="76200" dist="25400" dir="5400000">
              <a:srgbClr val="2B2250">
                <a:alpha val="15000"/>
              </a:srgbClr>
            </a:outerShdw>
          </a:effectLst>
        </p:spPr>
      </p:sp>
      <p:sp>
        <p:nvSpPr>
          <p:cNvPr id="15" name="Dot 22"/>
          <p:cNvSpPr/>
          <p:nvPr/>
        </p:nvSpPr>
        <p:spPr>
          <a:xfrm>
            <a:off x="6217920" y="1371600"/>
            <a:ext cx="640080" cy="640080"/>
          </a:xfrm>
          <a:prstGeom prst="ellipse">
            <a:avLst/>
          </a:prstGeom>
          <a:solidFill>
            <a:srgbClr val="4DA3E0"/>
          </a:solidFill>
          <a:ln w="12700">
            <a:solidFill>
              <a:srgbClr val="FFFFFF"/>
            </a:solidFill>
            <a:prstDash val="solid"/>
          </a:ln>
        </p:spPr>
      </p:sp>
      <p:pic>
        <p:nvPicPr>
          <p:cNvPr id="16" name="Icon 23" descr="FaShareAlt">    </p:cNvPr>
          <p:cNvPicPr>
            <a:picLocks noChangeAspect="1"/>
          </p:cNvPicPr>
          <p:nvPr/>
        </p:nvPicPr>
        <p:blipFill>
          <a:blip r:embed="rId3"/>
          <a:stretch>
            <a:fillRect/>
          </a:stretch>
        </p:blipFill>
        <p:spPr>
          <a:xfrm>
            <a:off x="6373368" y="1527048"/>
            <a:ext cx="329184" cy="329184"/>
          </a:xfrm>
          <a:prstGeom prst="rect">
            <a:avLst/>
          </a:prstGeom>
        </p:spPr>
      </p:pic>
      <p:sp>
        <p:nvSpPr>
          <p:cNvPr id="17" name="Text 24"/>
          <p:cNvSpPr txBox="1"/>
          <p:nvPr/>
        </p:nvSpPr>
        <p:spPr>
          <a:xfrm>
            <a:off x="6995160" y="1325880"/>
            <a:ext cx="1554480" cy="457200"/>
          </a:xfrm>
          <a:prstGeom prst="rect">
            <a:avLst/>
          </a:prstGeom>
          <a:noFill/>
          <a:ln/>
        </p:spPr>
        <p:txBody>
          <a:bodyPr wrap="square" lIns="0" tIns="0" rIns="0" bIns="0" rtlCol="0" anchor="t"/>
          <a:lstStyle/>
          <a:p>
            <a:pPr indent="0" marL="0">
              <a:buNone/>
            </a:pPr>
            <a:r>
              <a:rPr lang="en-US" sz="2000" b="1" dirty="0">
                <a:solidFill>
                  <a:srgbClr val="4DA3E0"/>
                </a:solidFill>
                <a:latin typeface="Calibri" pitchFamily="34" charset="0"/>
                <a:ea typeface="Calibri" pitchFamily="34" charset="-122"/>
                <a:cs typeface="Calibri" pitchFamily="34" charset="-120"/>
              </a:rPr>
              <a:t>3  Sharing information</a:t>
            </a:r>
            <a:endParaRPr lang="en-US" sz="2000" dirty="0"/>
          </a:p>
        </p:txBody>
      </p:sp>
      <p:sp>
        <p:nvSpPr>
          <p:cNvPr id="18" name="Text 25"/>
          <p:cNvSpPr txBox="1"/>
          <p:nvPr/>
        </p:nvSpPr>
        <p:spPr>
          <a:xfrm>
            <a:off x="6217920" y="2103120"/>
            <a:ext cx="2286000" cy="777240"/>
          </a:xfrm>
          <a:prstGeom prst="rect">
            <a:avLst/>
          </a:prstGeom>
          <a:noFill/>
          <a:ln/>
        </p:spPr>
        <p:txBody>
          <a:bodyPr wrap="square" lIns="0" tIns="0" rIns="0" bIns="0" rtlCol="0" anchor="t"/>
          <a:lstStyle/>
          <a:p>
            <a:pPr indent="0" marL="0">
              <a:buNone/>
            </a:pPr>
            <a:r>
              <a:rPr lang="en-US" sz="1700" dirty="0">
                <a:solidFill>
                  <a:schemeClr val="tx1"/>
                </a:solidFill>
                <a:latin typeface="Calibri" pitchFamily="34" charset="0"/>
                <a:ea typeface="Calibri" pitchFamily="34" charset="-122"/>
                <a:cs typeface="Calibri" pitchFamily="34" charset="-120"/>
              </a:rPr>
              <a:t>Web addresses and where websites live</a:t>
            </a:r>
            <a:endParaRPr lang="en-US" sz="1700" dirty="0"/>
          </a:p>
        </p:txBody>
      </p:sp>
      <p:sp>
        <p:nvSpPr>
          <p:cNvPr id="19" name="Card 26"/>
          <p:cNvSpPr/>
          <p:nvPr/>
        </p:nvSpPr>
        <p:spPr>
          <a:xfrm>
            <a:off x="457200" y="3063240"/>
            <a:ext cx="2651760" cy="1737360"/>
          </a:xfrm>
          <a:prstGeom prst="roundRect">
            <a:avLst>
              <a:gd name="adj" fmla="val 6316"/>
            </a:avLst>
          </a:prstGeom>
          <a:solidFill>
            <a:srgbClr val="FFFFFF"/>
          </a:solidFill>
          <a:ln/>
          <a:effectLst>
            <a:outerShdw sx="100000" sy="100000" kx="0" ky="0" algn="bl" rotWithShape="0" blurRad="76200" dist="25400" dir="5400000">
              <a:srgbClr val="2B2250">
                <a:alpha val="15000"/>
              </a:srgbClr>
            </a:outerShdw>
          </a:effectLst>
        </p:spPr>
      </p:sp>
      <p:sp>
        <p:nvSpPr>
          <p:cNvPr id="20" name="Dot 27"/>
          <p:cNvSpPr/>
          <p:nvPr/>
        </p:nvSpPr>
        <p:spPr>
          <a:xfrm>
            <a:off x="640080" y="3246120"/>
            <a:ext cx="640080" cy="640080"/>
          </a:xfrm>
          <a:prstGeom prst="ellipse">
            <a:avLst/>
          </a:prstGeom>
          <a:solidFill>
            <a:srgbClr val="1FB89A"/>
          </a:solidFill>
          <a:ln w="12700">
            <a:solidFill>
              <a:srgbClr val="FFFFFF"/>
            </a:solidFill>
            <a:prstDash val="solid"/>
          </a:ln>
        </p:spPr>
      </p:sp>
      <p:pic>
        <p:nvPicPr>
          <p:cNvPr id="21" name="Icon 28" descr="FaDesktop">    </p:cNvPr>
          <p:cNvPicPr>
            <a:picLocks noChangeAspect="1"/>
          </p:cNvPicPr>
          <p:nvPr/>
        </p:nvPicPr>
        <p:blipFill>
          <a:blip r:embed="rId4"/>
          <a:stretch>
            <a:fillRect/>
          </a:stretch>
        </p:blipFill>
        <p:spPr>
          <a:xfrm>
            <a:off x="795528" y="3401568"/>
            <a:ext cx="329184" cy="329184"/>
          </a:xfrm>
          <a:prstGeom prst="rect">
            <a:avLst/>
          </a:prstGeom>
        </p:spPr>
      </p:pic>
      <p:sp>
        <p:nvSpPr>
          <p:cNvPr id="22" name="Text 29"/>
          <p:cNvSpPr txBox="1"/>
          <p:nvPr/>
        </p:nvSpPr>
        <p:spPr>
          <a:xfrm>
            <a:off x="1417320" y="3200400"/>
            <a:ext cx="1554480" cy="457200"/>
          </a:xfrm>
          <a:prstGeom prst="rect">
            <a:avLst/>
          </a:prstGeom>
          <a:noFill/>
          <a:ln/>
        </p:spPr>
        <p:txBody>
          <a:bodyPr wrap="square" lIns="0" tIns="0" rIns="0" bIns="0" rtlCol="0" anchor="t"/>
          <a:lstStyle/>
          <a:p>
            <a:pPr indent="0" marL="0">
              <a:buNone/>
            </a:pPr>
            <a:r>
              <a:rPr lang="en-US" sz="2000" b="1" dirty="0">
                <a:solidFill>
                  <a:srgbClr val="1FB89A"/>
                </a:solidFill>
                <a:latin typeface="Calibri" pitchFamily="34" charset="0"/>
                <a:ea typeface="Calibri" pitchFamily="34" charset="-122"/>
                <a:cs typeface="Calibri" pitchFamily="34" charset="-120"/>
              </a:rPr>
              <a:t>4  What is a website?</a:t>
            </a:r>
            <a:endParaRPr lang="en-US" sz="2000" dirty="0"/>
          </a:p>
        </p:txBody>
      </p:sp>
      <p:sp>
        <p:nvSpPr>
          <p:cNvPr id="23" name="Text 30"/>
          <p:cNvSpPr txBox="1"/>
          <p:nvPr/>
        </p:nvSpPr>
        <p:spPr>
          <a:xfrm>
            <a:off x="640080" y="3977640"/>
            <a:ext cx="2286000" cy="777240"/>
          </a:xfrm>
          <a:prstGeom prst="rect">
            <a:avLst/>
          </a:prstGeom>
          <a:noFill/>
          <a:ln/>
        </p:spPr>
        <p:txBody>
          <a:bodyPr wrap="square" lIns="0" tIns="0" rIns="0" bIns="0" rtlCol="0" anchor="t"/>
          <a:lstStyle/>
          <a:p>
            <a:pPr indent="0" marL="0">
              <a:buNone/>
            </a:pPr>
            <a:r>
              <a:rPr lang="en-US" sz="1700" dirty="0">
                <a:solidFill>
                  <a:schemeClr val="tx1"/>
                </a:solidFill>
                <a:latin typeface="Calibri" pitchFamily="34" charset="0"/>
                <a:ea typeface="Calibri" pitchFamily="34" charset="-122"/>
                <a:cs typeface="Calibri" pitchFamily="34" charset="-120"/>
              </a:rPr>
              <a:t>The parts of a website and making content</a:t>
            </a:r>
            <a:endParaRPr lang="en-US" sz="1700" dirty="0"/>
          </a:p>
        </p:txBody>
      </p:sp>
      <p:sp>
        <p:nvSpPr>
          <p:cNvPr id="24" name="Card 31"/>
          <p:cNvSpPr/>
          <p:nvPr/>
        </p:nvSpPr>
        <p:spPr>
          <a:xfrm>
            <a:off x="3246120" y="3063240"/>
            <a:ext cx="2651760" cy="1737360"/>
          </a:xfrm>
          <a:prstGeom prst="roundRect">
            <a:avLst>
              <a:gd name="adj" fmla="val 6316"/>
            </a:avLst>
          </a:prstGeom>
          <a:solidFill>
            <a:srgbClr val="FFFFFF"/>
          </a:solidFill>
          <a:ln/>
          <a:effectLst>
            <a:outerShdw sx="100000" sy="100000" kx="0" ky="0" algn="bl" rotWithShape="0" blurRad="76200" dist="25400" dir="5400000">
              <a:srgbClr val="2B2250">
                <a:alpha val="15000"/>
              </a:srgbClr>
            </a:outerShdw>
          </a:effectLst>
        </p:spPr>
      </p:sp>
      <p:sp>
        <p:nvSpPr>
          <p:cNvPr id="25" name="Dot 32"/>
          <p:cNvSpPr/>
          <p:nvPr/>
        </p:nvSpPr>
        <p:spPr>
          <a:xfrm>
            <a:off x="3429000" y="3246120"/>
            <a:ext cx="640080" cy="640080"/>
          </a:xfrm>
          <a:prstGeom prst="ellipse">
            <a:avLst/>
          </a:prstGeom>
          <a:solidFill>
            <a:srgbClr val="6C63FF"/>
          </a:solidFill>
          <a:ln w="12700">
            <a:solidFill>
              <a:srgbClr val="FFFFFF"/>
            </a:solidFill>
            <a:prstDash val="solid"/>
          </a:ln>
        </p:spPr>
      </p:sp>
      <p:pic>
        <p:nvPicPr>
          <p:cNvPr id="26" name="Icon 33" descr="FaCopyright">    </p:cNvPr>
          <p:cNvPicPr>
            <a:picLocks noChangeAspect="1"/>
          </p:cNvPicPr>
          <p:nvPr/>
        </p:nvPicPr>
        <p:blipFill>
          <a:blip r:embed="rId5"/>
          <a:stretch>
            <a:fillRect/>
          </a:stretch>
        </p:blipFill>
        <p:spPr>
          <a:xfrm>
            <a:off x="3584448" y="3401568"/>
            <a:ext cx="329184" cy="329184"/>
          </a:xfrm>
          <a:prstGeom prst="rect">
            <a:avLst/>
          </a:prstGeom>
        </p:spPr>
      </p:pic>
      <p:sp>
        <p:nvSpPr>
          <p:cNvPr id="27" name="Text 34"/>
          <p:cNvSpPr txBox="1"/>
          <p:nvPr/>
        </p:nvSpPr>
        <p:spPr>
          <a:xfrm>
            <a:off x="4206240" y="3200400"/>
            <a:ext cx="1554480" cy="457200"/>
          </a:xfrm>
          <a:prstGeom prst="rect">
            <a:avLst/>
          </a:prstGeom>
          <a:noFill/>
          <a:ln/>
        </p:spPr>
        <p:txBody>
          <a:bodyPr wrap="square" lIns="0" tIns="0" rIns="0" bIns="0" rtlCol="0" anchor="t"/>
          <a:lstStyle/>
          <a:p>
            <a:pPr indent="0" marL="0">
              <a:buNone/>
            </a:pPr>
            <a:r>
              <a:rPr lang="en-US" sz="2000" b="1" dirty="0">
                <a:solidFill>
                  <a:srgbClr val="6C63FF"/>
                </a:solidFill>
                <a:latin typeface="Calibri" pitchFamily="34" charset="0"/>
                <a:ea typeface="Calibri" pitchFamily="34" charset="-122"/>
                <a:cs typeface="Calibri" pitchFamily="34" charset="-120"/>
              </a:rPr>
              <a:t>5  Who owns the web?</a:t>
            </a:r>
            <a:endParaRPr lang="en-US" sz="2000" dirty="0"/>
          </a:p>
        </p:txBody>
      </p:sp>
      <p:sp>
        <p:nvSpPr>
          <p:cNvPr id="28" name="Text 35"/>
          <p:cNvSpPr txBox="1"/>
          <p:nvPr/>
        </p:nvSpPr>
        <p:spPr>
          <a:xfrm>
            <a:off x="3429000" y="3977640"/>
            <a:ext cx="2286000" cy="777240"/>
          </a:xfrm>
          <a:prstGeom prst="rect">
            <a:avLst/>
          </a:prstGeom>
          <a:noFill/>
          <a:ln/>
        </p:spPr>
        <p:txBody>
          <a:bodyPr wrap="square" lIns="0" tIns="0" rIns="0" bIns="0" rtlCol="0" anchor="t"/>
          <a:lstStyle/>
          <a:p>
            <a:pPr indent="0" marL="0">
              <a:buNone/>
            </a:pPr>
            <a:r>
              <a:rPr lang="en-US" sz="1700" dirty="0">
                <a:solidFill>
                  <a:schemeClr val="tx1"/>
                </a:solidFill>
                <a:latin typeface="Calibri" pitchFamily="34" charset="0"/>
                <a:ea typeface="Calibri" pitchFamily="34" charset="-122"/>
                <a:cs typeface="Calibri" pitchFamily="34" charset="-120"/>
              </a:rPr>
              <a:t>Content belongs to people</a:t>
            </a:r>
            <a:endParaRPr lang="en-US" sz="1700" dirty="0"/>
          </a:p>
        </p:txBody>
      </p:sp>
      <p:sp>
        <p:nvSpPr>
          <p:cNvPr id="29" name="Card 36"/>
          <p:cNvSpPr/>
          <p:nvPr/>
        </p:nvSpPr>
        <p:spPr>
          <a:xfrm>
            <a:off x="6035040" y="3063240"/>
            <a:ext cx="2651760" cy="1737360"/>
          </a:xfrm>
          <a:prstGeom prst="roundRect">
            <a:avLst>
              <a:gd name="adj" fmla="val 6316"/>
            </a:avLst>
          </a:prstGeom>
          <a:solidFill>
            <a:srgbClr val="FFFFFF"/>
          </a:solidFill>
          <a:ln/>
          <a:effectLst>
            <a:outerShdw sx="100000" sy="100000" kx="0" ky="0" algn="bl" rotWithShape="0" blurRad="76200" dist="25400" dir="5400000">
              <a:srgbClr val="2B2250">
                <a:alpha val="15000"/>
              </a:srgbClr>
            </a:outerShdw>
          </a:effectLst>
        </p:spPr>
      </p:sp>
      <p:sp>
        <p:nvSpPr>
          <p:cNvPr id="30" name="Dot 37"/>
          <p:cNvSpPr/>
          <p:nvPr/>
        </p:nvSpPr>
        <p:spPr>
          <a:xfrm>
            <a:off x="6217920" y="3246120"/>
            <a:ext cx="640080" cy="640080"/>
          </a:xfrm>
          <a:prstGeom prst="ellipse">
            <a:avLst/>
          </a:prstGeom>
          <a:solidFill>
            <a:srgbClr val="2E9E5B"/>
          </a:solidFill>
          <a:ln w="12700">
            <a:solidFill>
              <a:srgbClr val="FFFFFF"/>
            </a:solidFill>
            <a:prstDash val="solid"/>
          </a:ln>
        </p:spPr>
      </p:sp>
      <p:pic>
        <p:nvPicPr>
          <p:cNvPr id="31" name="Icon 38" descr="FaSearch">    </p:cNvPr>
          <p:cNvPicPr>
            <a:picLocks noChangeAspect="1"/>
          </p:cNvPicPr>
          <p:nvPr/>
        </p:nvPicPr>
        <p:blipFill>
          <a:blip r:embed="rId6"/>
          <a:stretch>
            <a:fillRect/>
          </a:stretch>
        </p:blipFill>
        <p:spPr>
          <a:xfrm>
            <a:off x="6373368" y="3401568"/>
            <a:ext cx="329184" cy="329184"/>
          </a:xfrm>
          <a:prstGeom prst="rect">
            <a:avLst/>
          </a:prstGeom>
        </p:spPr>
      </p:pic>
      <p:sp>
        <p:nvSpPr>
          <p:cNvPr id="32" name="Text 39"/>
          <p:cNvSpPr txBox="1"/>
          <p:nvPr/>
        </p:nvSpPr>
        <p:spPr>
          <a:xfrm>
            <a:off x="6995160" y="3200400"/>
            <a:ext cx="1554480" cy="457200"/>
          </a:xfrm>
          <a:prstGeom prst="rect">
            <a:avLst/>
          </a:prstGeom>
          <a:noFill/>
          <a:ln/>
        </p:spPr>
        <p:txBody>
          <a:bodyPr wrap="square" lIns="0" tIns="0" rIns="0" bIns="0" rtlCol="0" anchor="t"/>
          <a:lstStyle/>
          <a:p>
            <a:pPr indent="0" marL="0">
              <a:buNone/>
            </a:pPr>
            <a:r>
              <a:rPr lang="en-US" sz="2000" b="1" dirty="0">
                <a:solidFill>
                  <a:srgbClr val="2E9E5B"/>
                </a:solidFill>
                <a:latin typeface="Calibri" pitchFamily="34" charset="0"/>
                <a:ea typeface="Calibri" pitchFamily="34" charset="-122"/>
                <a:cs typeface="Calibri" pitchFamily="34" charset="-120"/>
              </a:rPr>
              <a:t>6  Can I believe it?</a:t>
            </a:r>
            <a:endParaRPr lang="en-US" sz="2000" dirty="0"/>
          </a:p>
        </p:txBody>
      </p:sp>
      <p:sp>
        <p:nvSpPr>
          <p:cNvPr id="33" name="Text 40"/>
          <p:cNvSpPr txBox="1"/>
          <p:nvPr/>
        </p:nvSpPr>
        <p:spPr>
          <a:xfrm>
            <a:off x="6217920" y="3977640"/>
            <a:ext cx="2286000" cy="777240"/>
          </a:xfrm>
          <a:prstGeom prst="rect">
            <a:avLst/>
          </a:prstGeom>
          <a:noFill/>
          <a:ln/>
        </p:spPr>
        <p:txBody>
          <a:bodyPr wrap="square" lIns="0" tIns="0" rIns="0" bIns="0" rtlCol="0" anchor="t"/>
          <a:lstStyle/>
          <a:p>
            <a:pPr indent="0" marL="0">
              <a:buNone/>
            </a:pPr>
            <a:r>
              <a:rPr lang="en-US" sz="1700" dirty="0">
                <a:solidFill>
                  <a:schemeClr val="tx1"/>
                </a:solidFill>
                <a:latin typeface="Calibri" pitchFamily="34" charset="0"/>
                <a:ea typeface="Calibri" pitchFamily="34" charset="-122"/>
                <a:cs typeface="Calibri" pitchFamily="34" charset="-120"/>
              </a:rPr>
              <a:t>Real or fake? Think before you share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Accent 41"/>
          <p:cNvSpPr/>
          <p:nvPr/>
        </p:nvSpPr>
        <p:spPr>
          <a:xfrm>
            <a:off x="0" y="0"/>
            <a:ext cx="457200" cy="5143500"/>
          </a:xfrm>
          <a:prstGeom prst="rect">
            <a:avLst/>
          </a:prstGeom>
          <a:solidFill>
            <a:srgbClr val="1FB89A"/>
          </a:solidFill>
          <a:ln w="12700">
            <a:solidFill>
              <a:srgbClr val="1FB89A"/>
            </a:solidFill>
            <a:prstDash val="solid"/>
          </a:ln>
        </p:spPr>
      </p:sp>
      <p:sp>
        <p:nvSpPr>
          <p:cNvPr id="3" name="Text 42"/>
          <p:cNvSpPr txBox="1"/>
          <p:nvPr/>
        </p:nvSpPr>
        <p:spPr>
          <a:xfrm>
            <a:off x="914400" y="822960"/>
            <a:ext cx="5486400" cy="457200"/>
          </a:xfrm>
          <a:prstGeom prst="rect">
            <a:avLst/>
          </a:prstGeom>
          <a:noFill/>
          <a:ln/>
        </p:spPr>
        <p:txBody>
          <a:bodyPr wrap="square" lIns="0" tIns="0" rIns="0" bIns="0" rtlCol="0" anchor="t"/>
          <a:lstStyle/>
          <a:p>
            <a:pPr indent="0" marL="0">
              <a:buNone/>
            </a:pPr>
            <a:r>
              <a:rPr lang="en-US" sz="2000" b="1" spc="400" kern="0" dirty="0">
                <a:solidFill>
                  <a:srgbClr val="FFD23F"/>
                </a:solidFill>
                <a:latin typeface="Calibri" pitchFamily="34" charset="0"/>
                <a:ea typeface="Calibri" pitchFamily="34" charset="-122"/>
                <a:cs typeface="Calibri" pitchFamily="34" charset="-120"/>
              </a:rPr>
              <a:t>LESSON 1</a:t>
            </a:r>
            <a:endParaRPr lang="en-US" sz="2000" dirty="0"/>
          </a:p>
        </p:txBody>
      </p:sp>
      <p:sp>
        <p:nvSpPr>
          <p:cNvPr id="4" name="Text 43"/>
          <p:cNvSpPr txBox="1"/>
          <p:nvPr/>
        </p:nvSpPr>
        <p:spPr>
          <a:xfrm>
            <a:off x="914400" y="1371600"/>
            <a:ext cx="5760720" cy="173736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Connecting networks</a:t>
            </a:r>
            <a:endParaRPr lang="en-US" sz="3800" dirty="0"/>
          </a:p>
        </p:txBody>
      </p:sp>
      <p:sp>
        <p:nvSpPr>
          <p:cNvPr id="5" name="Text 44"/>
          <p:cNvSpPr txBox="1"/>
          <p:nvPr/>
        </p:nvSpPr>
        <p:spPr>
          <a:xfrm>
            <a:off x="914400" y="3383280"/>
            <a:ext cx="5760720" cy="1005840"/>
          </a:xfrm>
          <a:prstGeom prst="rect">
            <a:avLst/>
          </a:prstGeom>
          <a:noFill/>
          <a:ln/>
        </p:spPr>
        <p:txBody>
          <a:bodyPr wrap="square" lIns="0" tIns="0" rIns="0" bIns="0" rtlCol="0" anchor="t"/>
          <a:lstStyle/>
          <a:p>
            <a:pPr indent="0" marL="0">
              <a:buNone/>
            </a:pPr>
            <a:r>
              <a:rPr lang="en-US" sz="2000" i="1" dirty="0">
                <a:solidFill>
                  <a:srgbClr val="D9D4F5"/>
                </a:solidFill>
                <a:latin typeface="Calibri" pitchFamily="34" charset="0"/>
                <a:ea typeface="Calibri" pitchFamily="34" charset="-122"/>
                <a:cs typeface="Calibri" pitchFamily="34" charset="-120"/>
              </a:rPr>
              <a:t>How do networks join to make the internet?</a:t>
            </a:r>
            <a:endParaRPr lang="en-US" sz="2000" dirty="0"/>
          </a:p>
        </p:txBody>
      </p:sp>
      <p:sp>
        <p:nvSpPr>
          <p:cNvPr id="6" name="Blob 45"/>
          <p:cNvSpPr/>
          <p:nvPr/>
        </p:nvSpPr>
        <p:spPr>
          <a:xfrm>
            <a:off x="6766560" y="1188720"/>
            <a:ext cx="2011680" cy="2011680"/>
          </a:xfrm>
          <a:prstGeom prst="ellipse">
            <a:avLst/>
          </a:prstGeom>
          <a:solidFill>
            <a:srgbClr val="1FB89A"/>
          </a:solidFill>
          <a:ln w="12700">
            <a:solidFill>
              <a:srgbClr val="1FB89A"/>
            </a:solidFill>
            <a:prstDash val="solid"/>
          </a:ln>
        </p:spPr>
      </p:sp>
      <p:pic>
        <p:nvPicPr>
          <p:cNvPr id="7" name="Icon 46" descr="FaProjectDiagram">    </p:cNvPr>
          <p:cNvPicPr>
            <a:picLocks noChangeAspect="1"/>
          </p:cNvPicPr>
          <p:nvPr/>
        </p:nvPicPr>
        <p:blipFill>
          <a:blip r:embed="rId1"/>
          <a:stretch>
            <a:fillRect/>
          </a:stretch>
        </p:blipFill>
        <p:spPr>
          <a:xfrm>
            <a:off x="7269480" y="1691640"/>
            <a:ext cx="1005840" cy="10058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Accent 47"/>
          <p:cNvSpPr/>
          <p:nvPr/>
        </p:nvSpPr>
        <p:spPr>
          <a:xfrm>
            <a:off x="0" y="274320"/>
            <a:ext cx="164592" cy="685800"/>
          </a:xfrm>
          <a:prstGeom prst="rect">
            <a:avLst/>
          </a:prstGeom>
          <a:solidFill>
            <a:srgbClr val="1FB89A"/>
          </a:solidFill>
          <a:ln w="12700">
            <a:solidFill>
              <a:srgbClr val="1FB89A"/>
            </a:solidFill>
            <a:prstDash val="solid"/>
          </a:ln>
        </p:spPr>
      </p:sp>
      <p:sp>
        <p:nvSpPr>
          <p:cNvPr id="3" name="Text 48"/>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Today I can…</a:t>
            </a:r>
            <a:endParaRPr lang="en-US" sz="3000" dirty="0"/>
          </a:p>
        </p:txBody>
      </p:sp>
      <p:sp>
        <p:nvSpPr>
          <p:cNvPr id="4" name="Card 49"/>
          <p:cNvSpPr/>
          <p:nvPr/>
        </p:nvSpPr>
        <p:spPr>
          <a:xfrm>
            <a:off x="457200" y="1234440"/>
            <a:ext cx="8229600" cy="914400"/>
          </a:xfrm>
          <a:prstGeom prst="roundRect">
            <a:avLst>
              <a:gd name="adj" fmla="val 12000"/>
            </a:avLst>
          </a:prstGeom>
          <a:solidFill>
            <a:srgbClr val="FFFFFF"/>
          </a:solidFill>
          <a:ln/>
          <a:effectLst>
            <a:outerShdw sx="100000" sy="100000" kx="0" ky="0" algn="bl" rotWithShape="0" blurRad="76200" dist="25400" dir="5400000">
              <a:srgbClr val="2B2250">
                <a:alpha val="15000"/>
              </a:srgbClr>
            </a:outerShdw>
          </a:effectLst>
        </p:spPr>
      </p:sp>
      <p:sp>
        <p:nvSpPr>
          <p:cNvPr id="5" name="Dot 50"/>
          <p:cNvSpPr/>
          <p:nvPr/>
        </p:nvSpPr>
        <p:spPr>
          <a:xfrm>
            <a:off x="640080" y="1389888"/>
            <a:ext cx="603504" cy="603504"/>
          </a:xfrm>
          <a:prstGeom prst="ellipse">
            <a:avLst/>
          </a:prstGeom>
          <a:solidFill>
            <a:srgbClr val="FF9A3D"/>
          </a:solidFill>
          <a:ln w="12700">
            <a:solidFill>
              <a:srgbClr val="FFFFFF"/>
            </a:solidFill>
            <a:prstDash val="solid"/>
          </a:ln>
        </p:spPr>
      </p:sp>
      <p:pic>
        <p:nvPicPr>
          <p:cNvPr id="6" name="Icon 51" descr="FaProjectDiagram">    </p:cNvPr>
          <p:cNvPicPr>
            <a:picLocks noChangeAspect="1"/>
          </p:cNvPicPr>
          <p:nvPr/>
        </p:nvPicPr>
        <p:blipFill>
          <a:blip r:embed="rId1"/>
          <a:stretch>
            <a:fillRect/>
          </a:stretch>
        </p:blipFill>
        <p:spPr>
          <a:xfrm>
            <a:off x="786384" y="1536192"/>
            <a:ext cx="310896" cy="310896"/>
          </a:xfrm>
          <a:prstGeom prst="rect">
            <a:avLst/>
          </a:prstGeom>
        </p:spPr>
      </p:pic>
      <p:sp>
        <p:nvSpPr>
          <p:cNvPr id="7" name="Text 52"/>
          <p:cNvSpPr txBox="1"/>
          <p:nvPr/>
        </p:nvSpPr>
        <p:spPr>
          <a:xfrm>
            <a:off x="1463040" y="1234440"/>
            <a:ext cx="7040880" cy="91440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I can describe the internet as a network of networks</a:t>
            </a:r>
            <a:endParaRPr lang="en-US" sz="2000" dirty="0"/>
          </a:p>
        </p:txBody>
      </p:sp>
      <p:sp>
        <p:nvSpPr>
          <p:cNvPr id="8" name="Card 53"/>
          <p:cNvSpPr/>
          <p:nvPr/>
        </p:nvSpPr>
        <p:spPr>
          <a:xfrm>
            <a:off x="457200" y="2286000"/>
            <a:ext cx="8229600" cy="914400"/>
          </a:xfrm>
          <a:prstGeom prst="roundRect">
            <a:avLst>
              <a:gd name="adj" fmla="val 12000"/>
            </a:avLst>
          </a:prstGeom>
          <a:solidFill>
            <a:srgbClr val="FFFFFF"/>
          </a:solidFill>
          <a:ln/>
          <a:effectLst>
            <a:outerShdw sx="100000" sy="100000" kx="0" ky="0" algn="bl" rotWithShape="0" blurRad="76200" dist="25400" dir="5400000">
              <a:srgbClr val="2B2250">
                <a:alpha val="15000"/>
              </a:srgbClr>
            </a:outerShdw>
          </a:effectLst>
        </p:spPr>
      </p:sp>
      <p:sp>
        <p:nvSpPr>
          <p:cNvPr id="9" name="Dot 54"/>
          <p:cNvSpPr/>
          <p:nvPr/>
        </p:nvSpPr>
        <p:spPr>
          <a:xfrm>
            <a:off x="640080" y="2441448"/>
            <a:ext cx="603504" cy="603504"/>
          </a:xfrm>
          <a:prstGeom prst="ellipse">
            <a:avLst/>
          </a:prstGeom>
          <a:solidFill>
            <a:srgbClr val="FF5C8A"/>
          </a:solidFill>
          <a:ln w="12700">
            <a:solidFill>
              <a:srgbClr val="FFFFFF"/>
            </a:solidFill>
            <a:prstDash val="solid"/>
          </a:ln>
        </p:spPr>
      </p:sp>
      <p:pic>
        <p:nvPicPr>
          <p:cNvPr id="10" name="Icon 55" descr="FaEnvelope">    </p:cNvPr>
          <p:cNvPicPr>
            <a:picLocks noChangeAspect="1"/>
          </p:cNvPicPr>
          <p:nvPr/>
        </p:nvPicPr>
        <p:blipFill>
          <a:blip r:embed="rId2"/>
          <a:stretch>
            <a:fillRect/>
          </a:stretch>
        </p:blipFill>
        <p:spPr>
          <a:xfrm>
            <a:off x="786384" y="2587752"/>
            <a:ext cx="310896" cy="310896"/>
          </a:xfrm>
          <a:prstGeom prst="rect">
            <a:avLst/>
          </a:prstGeom>
        </p:spPr>
      </p:pic>
      <p:sp>
        <p:nvSpPr>
          <p:cNvPr id="11" name="Text 56"/>
          <p:cNvSpPr txBox="1"/>
          <p:nvPr/>
        </p:nvSpPr>
        <p:spPr>
          <a:xfrm>
            <a:off x="1463040" y="2286000"/>
            <a:ext cx="7040880" cy="91440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I can show how information is shared across the internet</a:t>
            </a:r>
            <a:endParaRPr lang="en-US" sz="2000" dirty="0"/>
          </a:p>
        </p:txBody>
      </p:sp>
      <p:sp>
        <p:nvSpPr>
          <p:cNvPr id="12" name="Card 57"/>
          <p:cNvSpPr/>
          <p:nvPr/>
        </p:nvSpPr>
        <p:spPr>
          <a:xfrm>
            <a:off x="457200" y="3337560"/>
            <a:ext cx="8229600" cy="914400"/>
          </a:xfrm>
          <a:prstGeom prst="roundRect">
            <a:avLst>
              <a:gd name="adj" fmla="val 12000"/>
            </a:avLst>
          </a:prstGeom>
          <a:solidFill>
            <a:srgbClr val="FFFFFF"/>
          </a:solidFill>
          <a:ln/>
          <a:effectLst>
            <a:outerShdw sx="100000" sy="100000" kx="0" ky="0" algn="bl" rotWithShape="0" blurRad="76200" dist="25400" dir="5400000">
              <a:srgbClr val="2B2250">
                <a:alpha val="15000"/>
              </a:srgbClr>
            </a:outerShdw>
          </a:effectLst>
        </p:spPr>
      </p:sp>
      <p:sp>
        <p:nvSpPr>
          <p:cNvPr id="13" name="Dot 58"/>
          <p:cNvSpPr/>
          <p:nvPr/>
        </p:nvSpPr>
        <p:spPr>
          <a:xfrm>
            <a:off x="640080" y="3493008"/>
            <a:ext cx="603504" cy="603504"/>
          </a:xfrm>
          <a:prstGeom prst="ellipse">
            <a:avLst/>
          </a:prstGeom>
          <a:solidFill>
            <a:srgbClr val="4DA3E0"/>
          </a:solidFill>
          <a:ln w="12700">
            <a:solidFill>
              <a:srgbClr val="FFFFFF"/>
            </a:solidFill>
            <a:prstDash val="solid"/>
          </a:ln>
        </p:spPr>
      </p:sp>
      <p:pic>
        <p:nvPicPr>
          <p:cNvPr id="14" name="Icon 59" descr="FaLock">    </p:cNvPr>
          <p:cNvPicPr>
            <a:picLocks noChangeAspect="1"/>
          </p:cNvPicPr>
          <p:nvPr/>
        </p:nvPicPr>
        <p:blipFill>
          <a:blip r:embed="rId3"/>
          <a:stretch>
            <a:fillRect/>
          </a:stretch>
        </p:blipFill>
        <p:spPr>
          <a:xfrm>
            <a:off x="786384" y="3639312"/>
            <a:ext cx="310896" cy="310896"/>
          </a:xfrm>
          <a:prstGeom prst="rect">
            <a:avLst/>
          </a:prstGeom>
        </p:spPr>
      </p:pic>
      <p:sp>
        <p:nvSpPr>
          <p:cNvPr id="15" name="Text 60"/>
          <p:cNvSpPr txBox="1"/>
          <p:nvPr/>
        </p:nvSpPr>
        <p:spPr>
          <a:xfrm>
            <a:off x="1463040" y="3337560"/>
            <a:ext cx="7040880" cy="91440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I can explain why a network needs protecting</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Accent 61"/>
          <p:cNvSpPr/>
          <p:nvPr/>
        </p:nvSpPr>
        <p:spPr>
          <a:xfrm>
            <a:off x="0" y="274320"/>
            <a:ext cx="164592" cy="685800"/>
          </a:xfrm>
          <a:prstGeom prst="rect">
            <a:avLst/>
          </a:prstGeom>
          <a:solidFill>
            <a:srgbClr val="1FB89A"/>
          </a:solidFill>
          <a:ln w="12700">
            <a:solidFill>
              <a:srgbClr val="1FB89A"/>
            </a:solidFill>
            <a:prstDash val="solid"/>
          </a:ln>
        </p:spPr>
      </p:sp>
      <p:sp>
        <p:nvSpPr>
          <p:cNvPr id="3" name="Text 6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Think · Pair · Share</a:t>
            </a:r>
            <a:endParaRPr lang="en-US" sz="3000" dirty="0"/>
          </a:p>
        </p:txBody>
      </p:sp>
      <p:sp>
        <p:nvSpPr>
          <p:cNvPr id="4" name="Card 63"/>
          <p:cNvSpPr/>
          <p:nvPr/>
        </p:nvSpPr>
        <p:spPr>
          <a:xfrm>
            <a:off x="822960" y="1280160"/>
            <a:ext cx="7498080" cy="2194560"/>
          </a:xfrm>
          <a:prstGeom prst="roundRect">
            <a:avLst>
              <a:gd name="adj" fmla="val 5000"/>
            </a:avLst>
          </a:prstGeom>
          <a:solidFill>
            <a:srgbClr val="FFFFFF"/>
          </a:solidFill>
          <a:ln/>
          <a:effectLst>
            <a:outerShdw sx="100000" sy="100000" kx="0" ky="0" algn="bl" rotWithShape="0" blurRad="76200" dist="25400" dir="5400000">
              <a:srgbClr val="2B2250">
                <a:alpha val="15000"/>
              </a:srgbClr>
            </a:outerShdw>
          </a:effectLst>
        </p:spPr>
      </p:sp>
      <p:sp>
        <p:nvSpPr>
          <p:cNvPr id="5" name="Text 64"/>
          <p:cNvSpPr txBox="1"/>
          <p:nvPr/>
        </p:nvSpPr>
        <p:spPr>
          <a:xfrm>
            <a:off x="1188720" y="1371600"/>
            <a:ext cx="6766560" cy="2011680"/>
          </a:xfrm>
          <a:prstGeom prst="rect">
            <a:avLst/>
          </a:prstGeom>
          <a:noFill/>
          <a:ln/>
        </p:spPr>
        <p:txBody>
          <a:bodyPr wrap="square" lIns="0" tIns="0" rIns="0" bIns="0" rtlCol="0" anchor="ctr"/>
          <a:lstStyle/>
          <a:p>
            <a:pPr algn="ctr" indent="0" marL="0">
              <a:buNone/>
            </a:pPr>
            <a:r>
              <a:rPr lang="en-US" sz="2600" b="1" dirty="0">
                <a:solidFill>
                  <a:schemeClr val="tx1"/>
                </a:solidFill>
                <a:latin typeface="Calibri" pitchFamily="34" charset="0"/>
                <a:ea typeface="Calibri" pitchFamily="34" charset="-122"/>
                <a:cs typeface="Calibri" pitchFamily="34" charset="-120"/>
              </a:rPr>
              <a:t>What do you already know about the word “INTERNET”?</a:t>
            </a:r>
            <a:endParaRPr lang="en-US" sz="2600" dirty="0"/>
          </a:p>
        </p:txBody>
      </p:sp>
      <p:pic>
        <p:nvPicPr>
          <p:cNvPr id="6" name="Icon 65" descr="FaUserFriends">    </p:cNvPr>
          <p:cNvPicPr>
            <a:picLocks noChangeAspect="1"/>
          </p:cNvPicPr>
          <p:nvPr/>
        </p:nvPicPr>
        <p:blipFill>
          <a:blip r:embed="rId1"/>
          <a:stretch>
            <a:fillRect/>
          </a:stretch>
        </p:blipFill>
        <p:spPr>
          <a:xfrm>
            <a:off x="2468880" y="3749040"/>
            <a:ext cx="731520" cy="731520"/>
          </a:xfrm>
          <a:prstGeom prst="rect">
            <a:avLst/>
          </a:prstGeom>
        </p:spPr>
      </p:pic>
      <p:pic>
        <p:nvPicPr>
          <p:cNvPr id="7" name="Icon 66" descr="FaCommentDots">    </p:cNvPr>
          <p:cNvPicPr>
            <a:picLocks noChangeAspect="1"/>
          </p:cNvPicPr>
          <p:nvPr/>
        </p:nvPicPr>
        <p:blipFill>
          <a:blip r:embed="rId2"/>
          <a:stretch>
            <a:fillRect/>
          </a:stretch>
        </p:blipFill>
        <p:spPr>
          <a:xfrm>
            <a:off x="4206240" y="3749040"/>
            <a:ext cx="731520" cy="731520"/>
          </a:xfrm>
          <a:prstGeom prst="rect">
            <a:avLst/>
          </a:prstGeom>
        </p:spPr>
      </p:pic>
      <p:pic>
        <p:nvPicPr>
          <p:cNvPr id="8" name="Icon 67" descr="FaHandsHelping">    </p:cNvPr>
          <p:cNvPicPr>
            <a:picLocks noChangeAspect="1"/>
          </p:cNvPicPr>
          <p:nvPr/>
        </p:nvPicPr>
        <p:blipFill>
          <a:blip r:embed="rId3"/>
          <a:stretch>
            <a:fillRect/>
          </a:stretch>
        </p:blipFill>
        <p:spPr>
          <a:xfrm>
            <a:off x="5943600" y="3749040"/>
            <a:ext cx="731520" cy="731520"/>
          </a:xfrm>
          <a:prstGeom prst="rect">
            <a:avLst/>
          </a:prstGeom>
        </p:spPr>
      </p:pic>
      <p:sp>
        <p:nvSpPr>
          <p:cNvPr id="9" name="Text 68"/>
          <p:cNvSpPr txBox="1"/>
          <p:nvPr/>
        </p:nvSpPr>
        <p:spPr>
          <a:xfrm>
            <a:off x="2286000" y="4526280"/>
            <a:ext cx="1097280" cy="36576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Think</a:t>
            </a:r>
            <a:endParaRPr lang="en-US" sz="1600" dirty="0"/>
          </a:p>
        </p:txBody>
      </p:sp>
      <p:sp>
        <p:nvSpPr>
          <p:cNvPr id="10" name="Text 69"/>
          <p:cNvSpPr txBox="1"/>
          <p:nvPr/>
        </p:nvSpPr>
        <p:spPr>
          <a:xfrm>
            <a:off x="4023360" y="4526280"/>
            <a:ext cx="1097280" cy="36576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Pair</a:t>
            </a:r>
            <a:endParaRPr lang="en-US" sz="1600" dirty="0"/>
          </a:p>
        </p:txBody>
      </p:sp>
      <p:sp>
        <p:nvSpPr>
          <p:cNvPr id="11" name="Text 70"/>
          <p:cNvSpPr txBox="1"/>
          <p:nvPr/>
        </p:nvSpPr>
        <p:spPr>
          <a:xfrm>
            <a:off x="5760720" y="4526280"/>
            <a:ext cx="1097280" cy="36576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Share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Accent 71"/>
          <p:cNvSpPr/>
          <p:nvPr/>
        </p:nvSpPr>
        <p:spPr>
          <a:xfrm>
            <a:off x="0" y="274320"/>
            <a:ext cx="164592" cy="685800"/>
          </a:xfrm>
          <a:prstGeom prst="rect">
            <a:avLst/>
          </a:prstGeom>
          <a:solidFill>
            <a:srgbClr val="1FB89A"/>
          </a:solidFill>
          <a:ln w="12700">
            <a:solidFill>
              <a:srgbClr val="1FB89A"/>
            </a:solidFill>
            <a:prstDash val="solid"/>
          </a:ln>
        </p:spPr>
      </p:sp>
      <p:sp>
        <p:nvSpPr>
          <p:cNvPr id="3" name="Text 7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Key words</a:t>
            </a:r>
            <a:endParaRPr lang="en-US" sz="3000" dirty="0"/>
          </a:p>
        </p:txBody>
      </p:sp>
      <p:sp>
        <p:nvSpPr>
          <p:cNvPr id="4" name="Card 73"/>
          <p:cNvSpPr/>
          <p:nvPr/>
        </p:nvSpPr>
        <p:spPr>
          <a:xfrm>
            <a:off x="457200" y="1188720"/>
            <a:ext cx="4114800" cy="1783080"/>
          </a:xfrm>
          <a:prstGeom prst="roundRect">
            <a:avLst>
              <a:gd name="adj" fmla="val 6154"/>
            </a:avLst>
          </a:prstGeom>
          <a:solidFill>
            <a:srgbClr val="FFFFFF"/>
          </a:solidFill>
          <a:ln/>
          <a:effectLst>
            <a:outerShdw sx="100000" sy="100000" kx="0" ky="0" algn="bl" rotWithShape="0" blurRad="76200" dist="25400" dir="5400000">
              <a:srgbClr val="2B2250">
                <a:alpha val="15000"/>
              </a:srgbClr>
            </a:outerShdw>
          </a:effectLst>
        </p:spPr>
      </p:sp>
      <p:sp>
        <p:nvSpPr>
          <p:cNvPr id="5" name="Dot 74"/>
          <p:cNvSpPr/>
          <p:nvPr/>
        </p:nvSpPr>
        <p:spPr>
          <a:xfrm>
            <a:off x="640080" y="1371600"/>
            <a:ext cx="731520" cy="731520"/>
          </a:xfrm>
          <a:prstGeom prst="ellipse">
            <a:avLst/>
          </a:prstGeom>
          <a:solidFill>
            <a:srgbClr val="FF9A3D"/>
          </a:solidFill>
          <a:ln w="12700">
            <a:solidFill>
              <a:srgbClr val="FFFFFF"/>
            </a:solidFill>
            <a:prstDash val="solid"/>
          </a:ln>
        </p:spPr>
      </p:sp>
      <p:pic>
        <p:nvPicPr>
          <p:cNvPr id="6" name="Icon 75" descr="FaNetworkWired">    </p:cNvPr>
          <p:cNvPicPr>
            <a:picLocks noChangeAspect="1"/>
          </p:cNvPicPr>
          <p:nvPr/>
        </p:nvPicPr>
        <p:blipFill>
          <a:blip r:embed="rId1"/>
          <a:stretch>
            <a:fillRect/>
          </a:stretch>
        </p:blipFill>
        <p:spPr>
          <a:xfrm>
            <a:off x="813816" y="1545336"/>
            <a:ext cx="384048" cy="384048"/>
          </a:xfrm>
          <a:prstGeom prst="rect">
            <a:avLst/>
          </a:prstGeom>
        </p:spPr>
      </p:pic>
      <p:sp>
        <p:nvSpPr>
          <p:cNvPr id="7" name="Text 76"/>
          <p:cNvSpPr txBox="1"/>
          <p:nvPr/>
        </p:nvSpPr>
        <p:spPr>
          <a:xfrm>
            <a:off x="1554480" y="1325880"/>
            <a:ext cx="2926080" cy="457200"/>
          </a:xfrm>
          <a:prstGeom prst="rect">
            <a:avLst/>
          </a:prstGeom>
          <a:noFill/>
          <a:ln/>
        </p:spPr>
        <p:txBody>
          <a:bodyPr wrap="square" lIns="0" tIns="0" rIns="0" bIns="0" rtlCol="0" anchor="t"/>
          <a:lstStyle/>
          <a:p>
            <a:pPr indent="0" marL="0">
              <a:buNone/>
            </a:pPr>
            <a:r>
              <a:rPr lang="en-US" sz="2400" b="1" dirty="0">
                <a:solidFill>
                  <a:srgbClr val="FF9A3D"/>
                </a:solidFill>
                <a:latin typeface="Calibri" pitchFamily="34" charset="0"/>
                <a:ea typeface="Calibri" pitchFamily="34" charset="-122"/>
                <a:cs typeface="Calibri" pitchFamily="34" charset="-120"/>
              </a:rPr>
              <a:t>Network</a:t>
            </a:r>
            <a:endParaRPr lang="en-US" sz="2400" dirty="0"/>
          </a:p>
        </p:txBody>
      </p:sp>
      <p:sp>
        <p:nvSpPr>
          <p:cNvPr id="8" name="Text 77"/>
          <p:cNvSpPr txBox="1"/>
          <p:nvPr/>
        </p:nvSpPr>
        <p:spPr>
          <a:xfrm>
            <a:off x="1554480" y="1828800"/>
            <a:ext cx="2926080" cy="105156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Computers and devices joined together so they can share information</a:t>
            </a:r>
            <a:endParaRPr lang="en-US" sz="1800" dirty="0"/>
          </a:p>
        </p:txBody>
      </p:sp>
      <p:sp>
        <p:nvSpPr>
          <p:cNvPr id="9" name="Card 78"/>
          <p:cNvSpPr/>
          <p:nvPr/>
        </p:nvSpPr>
        <p:spPr>
          <a:xfrm>
            <a:off x="4663440" y="1188720"/>
            <a:ext cx="4114800" cy="1783080"/>
          </a:xfrm>
          <a:prstGeom prst="roundRect">
            <a:avLst>
              <a:gd name="adj" fmla="val 6154"/>
            </a:avLst>
          </a:prstGeom>
          <a:solidFill>
            <a:srgbClr val="FFFFFF"/>
          </a:solidFill>
          <a:ln/>
          <a:effectLst>
            <a:outerShdw sx="100000" sy="100000" kx="0" ky="0" algn="bl" rotWithShape="0" blurRad="76200" dist="25400" dir="5400000">
              <a:srgbClr val="2B2250">
                <a:alpha val="15000"/>
              </a:srgbClr>
            </a:outerShdw>
          </a:effectLst>
        </p:spPr>
      </p:sp>
      <p:sp>
        <p:nvSpPr>
          <p:cNvPr id="10" name="Dot 79"/>
          <p:cNvSpPr/>
          <p:nvPr/>
        </p:nvSpPr>
        <p:spPr>
          <a:xfrm>
            <a:off x="4846320" y="1371600"/>
            <a:ext cx="731520" cy="731520"/>
          </a:xfrm>
          <a:prstGeom prst="ellipse">
            <a:avLst/>
          </a:prstGeom>
          <a:solidFill>
            <a:srgbClr val="FF5C8A"/>
          </a:solidFill>
          <a:ln w="12700">
            <a:solidFill>
              <a:srgbClr val="FFFFFF"/>
            </a:solidFill>
            <a:prstDash val="solid"/>
          </a:ln>
        </p:spPr>
      </p:sp>
      <p:pic>
        <p:nvPicPr>
          <p:cNvPr id="11" name="Icon 80" descr="FaRoute">    </p:cNvPr>
          <p:cNvPicPr>
            <a:picLocks noChangeAspect="1"/>
          </p:cNvPicPr>
          <p:nvPr/>
        </p:nvPicPr>
        <p:blipFill>
          <a:blip r:embed="rId2"/>
          <a:stretch>
            <a:fillRect/>
          </a:stretch>
        </p:blipFill>
        <p:spPr>
          <a:xfrm>
            <a:off x="5020056" y="1545336"/>
            <a:ext cx="384048" cy="384048"/>
          </a:xfrm>
          <a:prstGeom prst="rect">
            <a:avLst/>
          </a:prstGeom>
        </p:spPr>
      </p:pic>
      <p:sp>
        <p:nvSpPr>
          <p:cNvPr id="12" name="Text 81"/>
          <p:cNvSpPr txBox="1"/>
          <p:nvPr/>
        </p:nvSpPr>
        <p:spPr>
          <a:xfrm>
            <a:off x="5760720" y="1325880"/>
            <a:ext cx="2926080" cy="457200"/>
          </a:xfrm>
          <a:prstGeom prst="rect">
            <a:avLst/>
          </a:prstGeom>
          <a:noFill/>
          <a:ln/>
        </p:spPr>
        <p:txBody>
          <a:bodyPr wrap="square" lIns="0" tIns="0" rIns="0" bIns="0" rtlCol="0" anchor="t"/>
          <a:lstStyle/>
          <a:p>
            <a:pPr indent="0" marL="0">
              <a:buNone/>
            </a:pPr>
            <a:r>
              <a:rPr lang="en-US" sz="2400" b="1" dirty="0">
                <a:solidFill>
                  <a:srgbClr val="FF5C8A"/>
                </a:solidFill>
                <a:latin typeface="Calibri" pitchFamily="34" charset="0"/>
                <a:ea typeface="Calibri" pitchFamily="34" charset="-122"/>
                <a:cs typeface="Calibri" pitchFamily="34" charset="-120"/>
              </a:rPr>
              <a:t>Router</a:t>
            </a:r>
            <a:endParaRPr lang="en-US" sz="2400" dirty="0"/>
          </a:p>
        </p:txBody>
      </p:sp>
      <p:sp>
        <p:nvSpPr>
          <p:cNvPr id="13" name="Text 82"/>
          <p:cNvSpPr txBox="1"/>
          <p:nvPr/>
        </p:nvSpPr>
        <p:spPr>
          <a:xfrm>
            <a:off x="5760720" y="1828800"/>
            <a:ext cx="2926080" cy="105156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A device that sends messages from one network to another</a:t>
            </a:r>
            <a:endParaRPr lang="en-US" sz="1800" dirty="0"/>
          </a:p>
        </p:txBody>
      </p:sp>
      <p:sp>
        <p:nvSpPr>
          <p:cNvPr id="14" name="Card 83"/>
          <p:cNvSpPr/>
          <p:nvPr/>
        </p:nvSpPr>
        <p:spPr>
          <a:xfrm>
            <a:off x="457200" y="3108960"/>
            <a:ext cx="4114800" cy="1783080"/>
          </a:xfrm>
          <a:prstGeom prst="roundRect">
            <a:avLst>
              <a:gd name="adj" fmla="val 6154"/>
            </a:avLst>
          </a:prstGeom>
          <a:solidFill>
            <a:srgbClr val="FFFFFF"/>
          </a:solidFill>
          <a:ln/>
          <a:effectLst>
            <a:outerShdw sx="100000" sy="100000" kx="0" ky="0" algn="bl" rotWithShape="0" blurRad="76200" dist="25400" dir="5400000">
              <a:srgbClr val="2B2250">
                <a:alpha val="15000"/>
              </a:srgbClr>
            </a:outerShdw>
          </a:effectLst>
        </p:spPr>
      </p:sp>
      <p:sp>
        <p:nvSpPr>
          <p:cNvPr id="15" name="Dot 84"/>
          <p:cNvSpPr/>
          <p:nvPr/>
        </p:nvSpPr>
        <p:spPr>
          <a:xfrm>
            <a:off x="640080" y="3291840"/>
            <a:ext cx="731520" cy="731520"/>
          </a:xfrm>
          <a:prstGeom prst="ellipse">
            <a:avLst/>
          </a:prstGeom>
          <a:solidFill>
            <a:srgbClr val="4DA3E0"/>
          </a:solidFill>
          <a:ln w="12700">
            <a:solidFill>
              <a:srgbClr val="FFFFFF"/>
            </a:solidFill>
            <a:prstDash val="solid"/>
          </a:ln>
        </p:spPr>
      </p:sp>
      <p:pic>
        <p:nvPicPr>
          <p:cNvPr id="16" name="Icon 85" descr="FaGlobeEurope">    </p:cNvPr>
          <p:cNvPicPr>
            <a:picLocks noChangeAspect="1"/>
          </p:cNvPicPr>
          <p:nvPr/>
        </p:nvPicPr>
        <p:blipFill>
          <a:blip r:embed="rId3"/>
          <a:stretch>
            <a:fillRect/>
          </a:stretch>
        </p:blipFill>
        <p:spPr>
          <a:xfrm>
            <a:off x="813816" y="3465576"/>
            <a:ext cx="384048" cy="384048"/>
          </a:xfrm>
          <a:prstGeom prst="rect">
            <a:avLst/>
          </a:prstGeom>
        </p:spPr>
      </p:pic>
      <p:sp>
        <p:nvSpPr>
          <p:cNvPr id="17" name="Text 86"/>
          <p:cNvSpPr txBox="1"/>
          <p:nvPr/>
        </p:nvSpPr>
        <p:spPr>
          <a:xfrm>
            <a:off x="1554480" y="3246120"/>
            <a:ext cx="2926080" cy="457200"/>
          </a:xfrm>
          <a:prstGeom prst="rect">
            <a:avLst/>
          </a:prstGeom>
          <a:noFill/>
          <a:ln/>
        </p:spPr>
        <p:txBody>
          <a:bodyPr wrap="square" lIns="0" tIns="0" rIns="0" bIns="0" rtlCol="0" anchor="t"/>
          <a:lstStyle/>
          <a:p>
            <a:pPr indent="0" marL="0">
              <a:buNone/>
            </a:pPr>
            <a:r>
              <a:rPr lang="en-US" sz="2400" b="1" dirty="0">
                <a:solidFill>
                  <a:srgbClr val="4DA3E0"/>
                </a:solidFill>
                <a:latin typeface="Calibri" pitchFamily="34" charset="0"/>
                <a:ea typeface="Calibri" pitchFamily="34" charset="-122"/>
                <a:cs typeface="Calibri" pitchFamily="34" charset="-120"/>
              </a:rPr>
              <a:t>Internet</a:t>
            </a:r>
            <a:endParaRPr lang="en-US" sz="2400" dirty="0"/>
          </a:p>
        </p:txBody>
      </p:sp>
      <p:sp>
        <p:nvSpPr>
          <p:cNvPr id="18" name="Text 87"/>
          <p:cNvSpPr txBox="1"/>
          <p:nvPr/>
        </p:nvSpPr>
        <p:spPr>
          <a:xfrm>
            <a:off x="1554480" y="3749040"/>
            <a:ext cx="2926080" cy="105156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A network of networks all over the world</a:t>
            </a:r>
            <a:endParaRPr lang="en-US" sz="1800" dirty="0"/>
          </a:p>
        </p:txBody>
      </p:sp>
      <p:sp>
        <p:nvSpPr>
          <p:cNvPr id="19" name="Card 88"/>
          <p:cNvSpPr/>
          <p:nvPr/>
        </p:nvSpPr>
        <p:spPr>
          <a:xfrm>
            <a:off x="4663440" y="3108960"/>
            <a:ext cx="4114800" cy="1783080"/>
          </a:xfrm>
          <a:prstGeom prst="roundRect">
            <a:avLst>
              <a:gd name="adj" fmla="val 6154"/>
            </a:avLst>
          </a:prstGeom>
          <a:solidFill>
            <a:srgbClr val="FFFFFF"/>
          </a:solidFill>
          <a:ln/>
          <a:effectLst>
            <a:outerShdw sx="100000" sy="100000" kx="0" ky="0" algn="bl" rotWithShape="0" blurRad="76200" dist="25400" dir="5400000">
              <a:srgbClr val="2B2250">
                <a:alpha val="15000"/>
              </a:srgbClr>
            </a:outerShdw>
          </a:effectLst>
        </p:spPr>
      </p:sp>
      <p:sp>
        <p:nvSpPr>
          <p:cNvPr id="20" name="Dot 89"/>
          <p:cNvSpPr/>
          <p:nvPr/>
        </p:nvSpPr>
        <p:spPr>
          <a:xfrm>
            <a:off x="4846320" y="3291840"/>
            <a:ext cx="731520" cy="731520"/>
          </a:xfrm>
          <a:prstGeom prst="ellipse">
            <a:avLst/>
          </a:prstGeom>
          <a:solidFill>
            <a:srgbClr val="1FB89A"/>
          </a:solidFill>
          <a:ln w="12700">
            <a:solidFill>
              <a:srgbClr val="FFFFFF"/>
            </a:solidFill>
            <a:prstDash val="solid"/>
          </a:ln>
        </p:spPr>
      </p:sp>
      <p:pic>
        <p:nvPicPr>
          <p:cNvPr id="21" name="Icon 90" descr="FaLock">    </p:cNvPr>
          <p:cNvPicPr>
            <a:picLocks noChangeAspect="1"/>
          </p:cNvPicPr>
          <p:nvPr/>
        </p:nvPicPr>
        <p:blipFill>
          <a:blip r:embed="rId4"/>
          <a:stretch>
            <a:fillRect/>
          </a:stretch>
        </p:blipFill>
        <p:spPr>
          <a:xfrm>
            <a:off x="5020056" y="3465576"/>
            <a:ext cx="384048" cy="384048"/>
          </a:xfrm>
          <a:prstGeom prst="rect">
            <a:avLst/>
          </a:prstGeom>
        </p:spPr>
      </p:pic>
      <p:sp>
        <p:nvSpPr>
          <p:cNvPr id="22" name="Text 91"/>
          <p:cNvSpPr txBox="1"/>
          <p:nvPr/>
        </p:nvSpPr>
        <p:spPr>
          <a:xfrm>
            <a:off x="5760720" y="3246120"/>
            <a:ext cx="2926080" cy="457200"/>
          </a:xfrm>
          <a:prstGeom prst="rect">
            <a:avLst/>
          </a:prstGeom>
          <a:noFill/>
          <a:ln/>
        </p:spPr>
        <p:txBody>
          <a:bodyPr wrap="square" lIns="0" tIns="0" rIns="0" bIns="0" rtlCol="0" anchor="t"/>
          <a:lstStyle/>
          <a:p>
            <a:pPr indent="0" marL="0">
              <a:buNone/>
            </a:pPr>
            <a:r>
              <a:rPr lang="en-US" sz="2400" b="1" dirty="0">
                <a:solidFill>
                  <a:srgbClr val="1FB89A"/>
                </a:solidFill>
                <a:latin typeface="Calibri" pitchFamily="34" charset="0"/>
                <a:ea typeface="Calibri" pitchFamily="34" charset="-122"/>
                <a:cs typeface="Calibri" pitchFamily="34" charset="-120"/>
              </a:rPr>
              <a:t>Network security</a:t>
            </a:r>
            <a:endParaRPr lang="en-US" sz="2400" dirty="0"/>
          </a:p>
        </p:txBody>
      </p:sp>
      <p:sp>
        <p:nvSpPr>
          <p:cNvPr id="23" name="Text 92"/>
          <p:cNvSpPr txBox="1"/>
          <p:nvPr/>
        </p:nvSpPr>
        <p:spPr>
          <a:xfrm>
            <a:off x="5760720" y="3749040"/>
            <a:ext cx="2926080" cy="105156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Keeping a network safe so only the right messages get in</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Accent 93"/>
          <p:cNvSpPr/>
          <p:nvPr/>
        </p:nvSpPr>
        <p:spPr>
          <a:xfrm>
            <a:off x="0" y="274320"/>
            <a:ext cx="164592" cy="685800"/>
          </a:xfrm>
          <a:prstGeom prst="rect">
            <a:avLst/>
          </a:prstGeom>
          <a:solidFill>
            <a:srgbClr val="1FB89A"/>
          </a:solidFill>
          <a:ln w="12700">
            <a:solidFill>
              <a:srgbClr val="1FB89A"/>
            </a:solidFill>
            <a:prstDash val="solid"/>
          </a:ln>
        </p:spPr>
      </p:sp>
      <p:sp>
        <p:nvSpPr>
          <p:cNvPr id="3" name="Text 94"/>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Inside one network</a:t>
            </a:r>
            <a:endParaRPr lang="en-US" sz="3000" dirty="0"/>
          </a:p>
        </p:txBody>
      </p:sp>
      <p:sp>
        <p:nvSpPr>
          <p:cNvPr id="4" name="Text 95"/>
          <p:cNvSpPr txBox="1"/>
          <p:nvPr/>
        </p:nvSpPr>
        <p:spPr>
          <a:xfrm>
            <a:off x="457200" y="1188720"/>
            <a:ext cx="3931920" cy="3566160"/>
          </a:xfrm>
          <a:prstGeom prst="rect">
            <a:avLst/>
          </a:prstGeom>
          <a:noFill/>
          <a:ln/>
        </p:spPr>
        <p:txBody>
          <a:bodyPr wrap="square" lIns="0" tIns="0" rIns="0" bIns="0" rtlCol="0" anchor="t"/>
          <a:lstStyle/>
          <a:p>
            <a:pPr marL="228600" indent="-228600">
              <a:spcAft>
                <a:spcPts val="1200"/>
              </a:spcAft>
              <a:buSzPct val="100000"/>
              <a:buChar char="•"/>
            </a:pPr>
            <a:r>
              <a:rPr lang="en-US" sz="1800" dirty="0">
                <a:solidFill>
                  <a:schemeClr val="tx1"/>
                </a:solidFill>
                <a:latin typeface="Calibri" pitchFamily="34" charset="0"/>
                <a:ea typeface="Calibri" pitchFamily="34" charset="-122"/>
                <a:cs typeface="Calibri" pitchFamily="34" charset="-120"/>
              </a:rPr>
              <a:t>Computers are connected to a switch.</a:t>
            </a:r>
            <a:endParaRPr lang="en-US" sz="1800" dirty="0"/>
          </a:p>
          <a:p>
            <a:pPr marL="228600" indent="-228600">
              <a:spcAft>
                <a:spcPts val="1200"/>
              </a:spcAft>
              <a:buSzPct val="100000"/>
              <a:buChar char="•"/>
            </a:pPr>
            <a:r>
              <a:rPr lang="en-US" sz="1800" dirty="0">
                <a:solidFill>
                  <a:schemeClr val="tx1"/>
                </a:solidFill>
                <a:latin typeface="Calibri" pitchFamily="34" charset="0"/>
                <a:ea typeface="Calibri" pitchFamily="34" charset="-122"/>
                <a:cs typeface="Calibri" pitchFamily="34" charset="-120"/>
              </a:rPr>
              <a:t>The switch passes messages round the network.</a:t>
            </a:r>
            <a:endParaRPr lang="en-US" sz="1800" dirty="0"/>
          </a:p>
          <a:p>
            <a:pPr marL="228600" indent="-228600">
              <a:spcAft>
                <a:spcPts val="1200"/>
              </a:spcAft>
              <a:buSzPct val="100000"/>
              <a:buChar char="•"/>
            </a:pPr>
            <a:r>
              <a:rPr lang="en-US" sz="1800" dirty="0">
                <a:solidFill>
                  <a:schemeClr val="tx1"/>
                </a:solidFill>
                <a:latin typeface="Calibri" pitchFamily="34" charset="0"/>
                <a:ea typeface="Calibri" pitchFamily="34" charset="-122"/>
                <a:cs typeface="Calibri" pitchFamily="34" charset="-120"/>
              </a:rPr>
              <a:t>A switch only needs the address of the person you are sending to.</a:t>
            </a:r>
            <a:endParaRPr lang="en-US" sz="1800" dirty="0"/>
          </a:p>
        </p:txBody>
      </p:sp>
      <p:sp>
        <p:nvSpPr>
          <p:cNvPr id="5" name="Card 96"/>
          <p:cNvSpPr/>
          <p:nvPr/>
        </p:nvSpPr>
        <p:spPr>
          <a:xfrm>
            <a:off x="4434840" y="1097280"/>
            <a:ext cx="4389120" cy="3127248"/>
          </a:xfrm>
          <a:prstGeom prst="roundRect">
            <a:avLst>
              <a:gd name="adj" fmla="val 3509"/>
            </a:avLst>
          </a:prstGeom>
          <a:solidFill>
            <a:srgbClr val="FFFFFF"/>
          </a:solidFill>
          <a:ln/>
          <a:effectLst>
            <a:outerShdw sx="100000" sy="100000" kx="0" ky="0" algn="bl" rotWithShape="0" blurRad="76200" dist="25400" dir="5400000">
              <a:srgbClr val="2B2250">
                <a:alpha val="15000"/>
              </a:srgbClr>
            </a:outerShdw>
          </a:effectLst>
        </p:spPr>
      </p:sp>
      <p:pic>
        <p:nvPicPr>
          <p:cNvPr id="6" name="Picture 97" descr="Computers connected to a switch">    </p:cNvPr>
          <p:cNvPicPr>
            <a:picLocks noChangeAspect="1"/>
          </p:cNvPicPr>
          <p:nvPr/>
        </p:nvPicPr>
        <p:blipFill>
          <a:blip r:embed="rId1"/>
          <a:stretch>
            <a:fillRect/>
          </a:stretch>
        </p:blipFill>
        <p:spPr>
          <a:xfrm>
            <a:off x="4526280" y="1188720"/>
            <a:ext cx="4206240" cy="294436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Accent 98"/>
          <p:cNvSpPr/>
          <p:nvPr/>
        </p:nvSpPr>
        <p:spPr>
          <a:xfrm>
            <a:off x="0" y="274320"/>
            <a:ext cx="164592" cy="685800"/>
          </a:xfrm>
          <a:prstGeom prst="rect">
            <a:avLst/>
          </a:prstGeom>
          <a:solidFill>
            <a:srgbClr val="1FB89A"/>
          </a:solidFill>
          <a:ln w="12700">
            <a:solidFill>
              <a:srgbClr val="1FB89A"/>
            </a:solidFill>
            <a:prstDash val="solid"/>
          </a:ln>
        </p:spPr>
      </p:sp>
      <p:sp>
        <p:nvSpPr>
          <p:cNvPr id="3" name="Text 99"/>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Activity: Be the network!</a:t>
            </a:r>
            <a:endParaRPr lang="en-US" sz="3000" dirty="0"/>
          </a:p>
        </p:txBody>
      </p:sp>
      <p:sp>
        <p:nvSpPr>
          <p:cNvPr id="4" name="Tag 100"/>
          <p:cNvSpPr/>
          <p:nvPr/>
        </p:nvSpPr>
        <p:spPr>
          <a:xfrm>
            <a:off x="7223760" y="384048"/>
            <a:ext cx="1463040" cy="457200"/>
          </a:xfrm>
          <a:prstGeom prst="roundRect">
            <a:avLst>
              <a:gd name="adj" fmla="val 50000"/>
            </a:avLst>
          </a:prstGeom>
          <a:solidFill>
            <a:srgbClr val="FF9A3D"/>
          </a:solidFill>
          <a:ln w="12700">
            <a:solidFill>
              <a:srgbClr val="FF9A3D"/>
            </a:solidFill>
            <a:prstDash val="solid"/>
          </a:ln>
        </p:spPr>
      </p:sp>
      <p:sp>
        <p:nvSpPr>
          <p:cNvPr id="5" name="Text 101"/>
          <p:cNvSpPr txBox="1"/>
          <p:nvPr/>
        </p:nvSpPr>
        <p:spPr>
          <a:xfrm>
            <a:off x="7223760" y="384048"/>
            <a:ext cx="14630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ACTIVITY</a:t>
            </a:r>
            <a:endParaRPr lang="en-US" sz="1600" dirty="0"/>
          </a:p>
        </p:txBody>
      </p:sp>
      <p:sp>
        <p:nvSpPr>
          <p:cNvPr id="6" name="Card 102"/>
          <p:cNvSpPr/>
          <p:nvPr/>
        </p:nvSpPr>
        <p:spPr>
          <a:xfrm>
            <a:off x="457200" y="1188720"/>
            <a:ext cx="8229600" cy="781812"/>
          </a:xfrm>
          <a:prstGeom prst="roundRect">
            <a:avLst>
              <a:gd name="adj" fmla="val 14035"/>
            </a:avLst>
          </a:prstGeom>
          <a:solidFill>
            <a:srgbClr val="FFFFFF"/>
          </a:solidFill>
          <a:ln/>
          <a:effectLst>
            <a:outerShdw sx="100000" sy="100000" kx="0" ky="0" algn="bl" rotWithShape="0" blurRad="76200" dist="25400" dir="5400000">
              <a:srgbClr val="2B2250">
                <a:alpha val="15000"/>
              </a:srgbClr>
            </a:outerShdw>
          </a:effectLst>
        </p:spPr>
      </p:sp>
      <p:sp>
        <p:nvSpPr>
          <p:cNvPr id="7" name="Dot 103"/>
          <p:cNvSpPr/>
          <p:nvPr/>
        </p:nvSpPr>
        <p:spPr>
          <a:xfrm>
            <a:off x="594360" y="1351026"/>
            <a:ext cx="457200" cy="457200"/>
          </a:xfrm>
          <a:prstGeom prst="ellipse">
            <a:avLst/>
          </a:prstGeom>
          <a:solidFill>
            <a:srgbClr val="FF9A3D"/>
          </a:solidFill>
          <a:ln w="12700">
            <a:solidFill>
              <a:srgbClr val="FFFFFF"/>
            </a:solidFill>
            <a:prstDash val="solid"/>
          </a:ln>
        </p:spPr>
      </p:sp>
      <p:sp>
        <p:nvSpPr>
          <p:cNvPr id="8" name="Text 104"/>
          <p:cNvSpPr txBox="1"/>
          <p:nvPr/>
        </p:nvSpPr>
        <p:spPr>
          <a:xfrm>
            <a:off x="594360" y="135102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Text 105"/>
          <p:cNvSpPr txBox="1"/>
          <p:nvPr/>
        </p:nvSpPr>
        <p:spPr>
          <a:xfrm>
            <a:off x="1188720" y="1188720"/>
            <a:ext cx="7315200" cy="781812"/>
          </a:xfrm>
          <a:prstGeom prst="rect">
            <a:avLst/>
          </a:prstGeom>
          <a:noFill/>
          <a:ln/>
        </p:spPr>
        <p:txBody>
          <a:bodyPr wrap="square" lIns="0" tIns="0" rIns="0" bIns="0" rtlCol="0" anchor="ctr"/>
          <a:lstStyle/>
          <a:p>
            <a:pPr indent="0" marL="0">
              <a:buNone/>
            </a:pPr>
            <a:r>
              <a:rPr lang="en-US" sz="1900" dirty="0">
                <a:solidFill>
                  <a:schemeClr val="tx1"/>
                </a:solidFill>
                <a:latin typeface="Calibri" pitchFamily="34" charset="0"/>
                <a:ea typeface="Calibri" pitchFamily="34" charset="-122"/>
                <a:cs typeface="Calibri" pitchFamily="34" charset="-120"/>
              </a:rPr>
              <a:t>Sit in groups of six. Each group is a place: home, hospital or shop.</a:t>
            </a:r>
            <a:endParaRPr lang="en-US" sz="1900" dirty="0"/>
          </a:p>
        </p:txBody>
      </p:sp>
      <p:sp>
        <p:nvSpPr>
          <p:cNvPr id="10" name="Card 106"/>
          <p:cNvSpPr/>
          <p:nvPr/>
        </p:nvSpPr>
        <p:spPr>
          <a:xfrm>
            <a:off x="457200" y="2080260"/>
            <a:ext cx="8229600" cy="781812"/>
          </a:xfrm>
          <a:prstGeom prst="roundRect">
            <a:avLst>
              <a:gd name="adj" fmla="val 14035"/>
            </a:avLst>
          </a:prstGeom>
          <a:solidFill>
            <a:srgbClr val="FFFFFF"/>
          </a:solidFill>
          <a:ln/>
          <a:effectLst>
            <a:outerShdw sx="100000" sy="100000" kx="0" ky="0" algn="bl" rotWithShape="0" blurRad="76200" dist="25400" dir="5400000">
              <a:srgbClr val="2B2250">
                <a:alpha val="15000"/>
              </a:srgbClr>
            </a:outerShdw>
          </a:effectLst>
        </p:spPr>
      </p:sp>
      <p:sp>
        <p:nvSpPr>
          <p:cNvPr id="11" name="Dot 107"/>
          <p:cNvSpPr/>
          <p:nvPr/>
        </p:nvSpPr>
        <p:spPr>
          <a:xfrm>
            <a:off x="594360" y="2242566"/>
            <a:ext cx="457200" cy="457200"/>
          </a:xfrm>
          <a:prstGeom prst="ellipse">
            <a:avLst/>
          </a:prstGeom>
          <a:solidFill>
            <a:srgbClr val="FF9A3D"/>
          </a:solidFill>
          <a:ln w="12700">
            <a:solidFill>
              <a:srgbClr val="FFFFFF"/>
            </a:solidFill>
            <a:prstDash val="solid"/>
          </a:ln>
        </p:spPr>
      </p:sp>
      <p:sp>
        <p:nvSpPr>
          <p:cNvPr id="12" name="Text 108"/>
          <p:cNvSpPr txBox="1"/>
          <p:nvPr/>
        </p:nvSpPr>
        <p:spPr>
          <a:xfrm>
            <a:off x="594360" y="224256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09"/>
          <p:cNvSpPr txBox="1"/>
          <p:nvPr/>
        </p:nvSpPr>
        <p:spPr>
          <a:xfrm>
            <a:off x="1188720" y="2080260"/>
            <a:ext cx="7315200" cy="781812"/>
          </a:xfrm>
          <a:prstGeom prst="rect">
            <a:avLst/>
          </a:prstGeom>
          <a:noFill/>
          <a:ln/>
        </p:spPr>
        <p:txBody>
          <a:bodyPr wrap="square" lIns="0" tIns="0" rIns="0" bIns="0" rtlCol="0" anchor="ctr"/>
          <a:lstStyle/>
          <a:p>
            <a:pPr indent="0" marL="0">
              <a:buNone/>
            </a:pPr>
            <a:r>
              <a:rPr lang="en-US" sz="1900" dirty="0">
                <a:solidFill>
                  <a:schemeClr val="tx1"/>
                </a:solidFill>
                <a:latin typeface="Calibri" pitchFamily="34" charset="0"/>
                <a:ea typeface="Calibri" pitchFamily="34" charset="-122"/>
                <a:cs typeface="Calibri" pitchFamily="34" charset="-120"/>
              </a:rPr>
              <a:t>Number yourselves 1 to 5. One person is the switch.</a:t>
            </a:r>
            <a:endParaRPr lang="en-US" sz="1900" dirty="0"/>
          </a:p>
        </p:txBody>
      </p:sp>
      <p:sp>
        <p:nvSpPr>
          <p:cNvPr id="14" name="Card 110"/>
          <p:cNvSpPr/>
          <p:nvPr/>
        </p:nvSpPr>
        <p:spPr>
          <a:xfrm>
            <a:off x="457200" y="2971800"/>
            <a:ext cx="8229600" cy="781812"/>
          </a:xfrm>
          <a:prstGeom prst="roundRect">
            <a:avLst>
              <a:gd name="adj" fmla="val 14035"/>
            </a:avLst>
          </a:prstGeom>
          <a:solidFill>
            <a:srgbClr val="FFFFFF"/>
          </a:solidFill>
          <a:ln/>
          <a:effectLst>
            <a:outerShdw sx="100000" sy="100000" kx="0" ky="0" algn="bl" rotWithShape="0" blurRad="76200" dist="25400" dir="5400000">
              <a:srgbClr val="2B2250">
                <a:alpha val="15000"/>
              </a:srgbClr>
            </a:outerShdw>
          </a:effectLst>
        </p:spPr>
      </p:sp>
      <p:sp>
        <p:nvSpPr>
          <p:cNvPr id="15" name="Dot 111"/>
          <p:cNvSpPr/>
          <p:nvPr/>
        </p:nvSpPr>
        <p:spPr>
          <a:xfrm>
            <a:off x="594360" y="3134106"/>
            <a:ext cx="457200" cy="457200"/>
          </a:xfrm>
          <a:prstGeom prst="ellipse">
            <a:avLst/>
          </a:prstGeom>
          <a:solidFill>
            <a:srgbClr val="FF9A3D"/>
          </a:solidFill>
          <a:ln w="12700">
            <a:solidFill>
              <a:srgbClr val="FFFFFF"/>
            </a:solidFill>
            <a:prstDash val="solid"/>
          </a:ln>
        </p:spPr>
      </p:sp>
      <p:sp>
        <p:nvSpPr>
          <p:cNvPr id="16" name="Text 112"/>
          <p:cNvSpPr txBox="1"/>
          <p:nvPr/>
        </p:nvSpPr>
        <p:spPr>
          <a:xfrm>
            <a:off x="594360" y="313410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113"/>
          <p:cNvSpPr txBox="1"/>
          <p:nvPr/>
        </p:nvSpPr>
        <p:spPr>
          <a:xfrm>
            <a:off x="1188720" y="2971800"/>
            <a:ext cx="7315200" cy="781812"/>
          </a:xfrm>
          <a:prstGeom prst="rect">
            <a:avLst/>
          </a:prstGeom>
          <a:noFill/>
          <a:ln/>
        </p:spPr>
        <p:txBody>
          <a:bodyPr wrap="square" lIns="0" tIns="0" rIns="0" bIns="0" rtlCol="0" anchor="ctr"/>
          <a:lstStyle/>
          <a:p>
            <a:pPr indent="0" marL="0">
              <a:buNone/>
            </a:pPr>
            <a:r>
              <a:rPr lang="en-US" sz="1900" dirty="0">
                <a:solidFill>
                  <a:schemeClr val="tx1"/>
                </a:solidFill>
                <a:latin typeface="Calibri" pitchFamily="34" charset="0"/>
                <a:ea typeface="Calibri" pitchFamily="34" charset="-122"/>
                <a:cs typeface="Calibri" pitchFamily="34" charset="-120"/>
              </a:rPr>
              <a:t>Write a message. Add your address, like 2@hospital.</a:t>
            </a:r>
            <a:endParaRPr lang="en-US" sz="1900" dirty="0"/>
          </a:p>
        </p:txBody>
      </p:sp>
      <p:sp>
        <p:nvSpPr>
          <p:cNvPr id="18" name="Card 114"/>
          <p:cNvSpPr/>
          <p:nvPr/>
        </p:nvSpPr>
        <p:spPr>
          <a:xfrm>
            <a:off x="457200" y="3863340"/>
            <a:ext cx="8229600" cy="781812"/>
          </a:xfrm>
          <a:prstGeom prst="roundRect">
            <a:avLst>
              <a:gd name="adj" fmla="val 14035"/>
            </a:avLst>
          </a:prstGeom>
          <a:solidFill>
            <a:srgbClr val="FFFFFF"/>
          </a:solidFill>
          <a:ln/>
          <a:effectLst>
            <a:outerShdw sx="100000" sy="100000" kx="0" ky="0" algn="bl" rotWithShape="0" blurRad="76200" dist="25400" dir="5400000">
              <a:srgbClr val="2B2250">
                <a:alpha val="15000"/>
              </a:srgbClr>
            </a:outerShdw>
          </a:effectLst>
        </p:spPr>
      </p:sp>
      <p:sp>
        <p:nvSpPr>
          <p:cNvPr id="19" name="Dot 115"/>
          <p:cNvSpPr/>
          <p:nvPr/>
        </p:nvSpPr>
        <p:spPr>
          <a:xfrm>
            <a:off x="594360" y="4025646"/>
            <a:ext cx="457200" cy="457200"/>
          </a:xfrm>
          <a:prstGeom prst="ellipse">
            <a:avLst/>
          </a:prstGeom>
          <a:solidFill>
            <a:srgbClr val="FF9A3D"/>
          </a:solidFill>
          <a:ln w="12700">
            <a:solidFill>
              <a:srgbClr val="FFFFFF"/>
            </a:solidFill>
            <a:prstDash val="solid"/>
          </a:ln>
        </p:spPr>
      </p:sp>
      <p:sp>
        <p:nvSpPr>
          <p:cNvPr id="20" name="Text 116"/>
          <p:cNvSpPr txBox="1"/>
          <p:nvPr/>
        </p:nvSpPr>
        <p:spPr>
          <a:xfrm>
            <a:off x="594360" y="402564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1" name="Text 117"/>
          <p:cNvSpPr txBox="1"/>
          <p:nvPr/>
        </p:nvSpPr>
        <p:spPr>
          <a:xfrm>
            <a:off x="1188720" y="3863340"/>
            <a:ext cx="7315200" cy="781812"/>
          </a:xfrm>
          <a:prstGeom prst="rect">
            <a:avLst/>
          </a:prstGeom>
          <a:noFill/>
          <a:ln/>
        </p:spPr>
        <p:txBody>
          <a:bodyPr wrap="square" lIns="0" tIns="0" rIns="0" bIns="0" rtlCol="0" anchor="ctr"/>
          <a:lstStyle/>
          <a:p>
            <a:pPr indent="0" marL="0">
              <a:buNone/>
            </a:pPr>
            <a:r>
              <a:rPr lang="en-US" sz="1900" dirty="0">
                <a:solidFill>
                  <a:schemeClr val="tx1"/>
                </a:solidFill>
                <a:latin typeface="Calibri" pitchFamily="34" charset="0"/>
                <a:ea typeface="Calibri" pitchFamily="34" charset="-122"/>
                <a:cs typeface="Calibri" pitchFamily="34" charset="-120"/>
              </a:rPr>
              <a:t>Pass your message to the switch. The switch delivers it!</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Accent 118"/>
          <p:cNvSpPr/>
          <p:nvPr/>
        </p:nvSpPr>
        <p:spPr>
          <a:xfrm>
            <a:off x="0" y="274320"/>
            <a:ext cx="164592" cy="685800"/>
          </a:xfrm>
          <a:prstGeom prst="rect">
            <a:avLst/>
          </a:prstGeom>
          <a:solidFill>
            <a:srgbClr val="1FB89A"/>
          </a:solidFill>
          <a:ln w="12700">
            <a:solidFill>
              <a:srgbClr val="1FB89A"/>
            </a:solidFill>
            <a:prstDash val="solid"/>
          </a:ln>
        </p:spPr>
      </p:sp>
      <p:sp>
        <p:nvSpPr>
          <p:cNvPr id="3" name="Text 119"/>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Messages between networks</a:t>
            </a:r>
            <a:endParaRPr lang="en-US" sz="3000" dirty="0"/>
          </a:p>
        </p:txBody>
      </p:sp>
      <p:sp>
        <p:nvSpPr>
          <p:cNvPr id="4" name="Text 120"/>
          <p:cNvSpPr txBox="1"/>
          <p:nvPr/>
        </p:nvSpPr>
        <p:spPr>
          <a:xfrm>
            <a:off x="457200" y="1188720"/>
            <a:ext cx="3931920" cy="3566160"/>
          </a:xfrm>
          <a:prstGeom prst="rect">
            <a:avLst/>
          </a:prstGeom>
          <a:noFill/>
          <a:ln/>
        </p:spPr>
        <p:txBody>
          <a:bodyPr wrap="square" lIns="0" tIns="0" rIns="0" bIns="0" rtlCol="0" anchor="t"/>
          <a:lstStyle/>
          <a:p>
            <a:pPr marL="228600" indent="-228600">
              <a:spcAft>
                <a:spcPts val="1200"/>
              </a:spcAft>
              <a:buSzPct val="100000"/>
              <a:buChar char="•"/>
            </a:pPr>
            <a:r>
              <a:rPr lang="en-US" sz="1800" dirty="0">
                <a:solidFill>
                  <a:schemeClr val="tx1"/>
                </a:solidFill>
                <a:latin typeface="Calibri" pitchFamily="34" charset="0"/>
                <a:ea typeface="Calibri" pitchFamily="34" charset="-122"/>
                <a:cs typeface="Calibri" pitchFamily="34" charset="-120"/>
              </a:rPr>
              <a:t>To reach another network you need a router.</a:t>
            </a:r>
            <a:endParaRPr lang="en-US" sz="1800" dirty="0"/>
          </a:p>
          <a:p>
            <a:pPr marL="228600" indent="-228600">
              <a:spcAft>
                <a:spcPts val="1200"/>
              </a:spcAft>
              <a:buSzPct val="100000"/>
              <a:buChar char="•"/>
            </a:pPr>
            <a:r>
              <a:rPr lang="en-US" sz="1800" dirty="0">
                <a:solidFill>
                  <a:schemeClr val="tx1"/>
                </a:solidFill>
                <a:latin typeface="Calibri" pitchFamily="34" charset="0"/>
                <a:ea typeface="Calibri" pitchFamily="34" charset="-122"/>
                <a:cs typeface="Calibri" pitchFamily="34" charset="-120"/>
              </a:rPr>
              <a:t>1  PC 1 sends to the switch in network A.</a:t>
            </a:r>
            <a:endParaRPr lang="en-US" sz="1800" dirty="0"/>
          </a:p>
          <a:p>
            <a:pPr marL="228600" indent="-228600">
              <a:spcAft>
                <a:spcPts val="1200"/>
              </a:spcAft>
              <a:buSzPct val="100000"/>
              <a:buChar char="•"/>
            </a:pPr>
            <a:r>
              <a:rPr lang="en-US" sz="1800" dirty="0">
                <a:solidFill>
                  <a:schemeClr val="tx1"/>
                </a:solidFill>
                <a:latin typeface="Calibri" pitchFamily="34" charset="0"/>
                <a:ea typeface="Calibri" pitchFamily="34" charset="-122"/>
                <a:cs typeface="Calibri" pitchFamily="34" charset="-120"/>
              </a:rPr>
              <a:t>2  The switch sends to the router.</a:t>
            </a:r>
            <a:endParaRPr lang="en-US" sz="1800" dirty="0"/>
          </a:p>
          <a:p>
            <a:pPr marL="228600" indent="-228600">
              <a:spcAft>
                <a:spcPts val="1200"/>
              </a:spcAft>
              <a:buSzPct val="100000"/>
              <a:buChar char="•"/>
            </a:pPr>
            <a:r>
              <a:rPr lang="en-US" sz="1800" dirty="0">
                <a:solidFill>
                  <a:schemeClr val="tx1"/>
                </a:solidFill>
                <a:latin typeface="Calibri" pitchFamily="34" charset="0"/>
                <a:ea typeface="Calibri" pitchFamily="34" charset="-122"/>
                <a:cs typeface="Calibri" pitchFamily="34" charset="-120"/>
              </a:rPr>
              <a:t>3  The router sends to the switch in network B.</a:t>
            </a:r>
            <a:endParaRPr lang="en-US" sz="1800" dirty="0"/>
          </a:p>
          <a:p>
            <a:pPr marL="228600" indent="-228600">
              <a:spcAft>
                <a:spcPts val="1200"/>
              </a:spcAft>
              <a:buSzPct val="100000"/>
              <a:buChar char="•"/>
            </a:pPr>
            <a:r>
              <a:rPr lang="en-US" sz="1800" dirty="0">
                <a:solidFill>
                  <a:schemeClr val="tx1"/>
                </a:solidFill>
                <a:latin typeface="Calibri" pitchFamily="34" charset="0"/>
                <a:ea typeface="Calibri" pitchFamily="34" charset="-122"/>
                <a:cs typeface="Calibri" pitchFamily="34" charset="-120"/>
              </a:rPr>
              <a:t>4  That switch delivers to PC 4.</a:t>
            </a:r>
            <a:endParaRPr lang="en-US" sz="1800" dirty="0"/>
          </a:p>
        </p:txBody>
      </p:sp>
      <p:sp>
        <p:nvSpPr>
          <p:cNvPr id="5" name="Card 121"/>
          <p:cNvSpPr/>
          <p:nvPr/>
        </p:nvSpPr>
        <p:spPr>
          <a:xfrm>
            <a:off x="4434840" y="1097280"/>
            <a:ext cx="4389120" cy="3127248"/>
          </a:xfrm>
          <a:prstGeom prst="roundRect">
            <a:avLst>
              <a:gd name="adj" fmla="val 3509"/>
            </a:avLst>
          </a:prstGeom>
          <a:solidFill>
            <a:srgbClr val="FFFFFF"/>
          </a:solidFill>
          <a:ln/>
          <a:effectLst>
            <a:outerShdw sx="100000" sy="100000" kx="0" ky="0" algn="bl" rotWithShape="0" blurRad="76200" dist="25400" dir="5400000">
              <a:srgbClr val="2B2250">
                <a:alpha val="15000"/>
              </a:srgbClr>
            </a:outerShdw>
          </a:effectLst>
        </p:spPr>
      </p:sp>
      <p:pic>
        <p:nvPicPr>
          <p:cNvPr id="6" name="Picture 122" descr="Message travelling from network A to network B">    </p:cNvPr>
          <p:cNvPicPr>
            <a:picLocks noChangeAspect="1"/>
          </p:cNvPicPr>
          <p:nvPr/>
        </p:nvPicPr>
        <p:blipFill>
          <a:blip r:embed="rId1"/>
          <a:stretch>
            <a:fillRect/>
          </a:stretch>
        </p:blipFill>
        <p:spPr>
          <a:xfrm>
            <a:off x="4526280" y="1188720"/>
            <a:ext cx="4206240" cy="294436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Accent 123"/>
          <p:cNvSpPr/>
          <p:nvPr/>
        </p:nvSpPr>
        <p:spPr>
          <a:xfrm>
            <a:off x="0" y="274320"/>
            <a:ext cx="164592" cy="685800"/>
          </a:xfrm>
          <a:prstGeom prst="rect">
            <a:avLst/>
          </a:prstGeom>
          <a:solidFill>
            <a:srgbClr val="1FB89A"/>
          </a:solidFill>
          <a:ln w="12700">
            <a:solidFill>
              <a:srgbClr val="1FB89A"/>
            </a:solidFill>
            <a:prstDash val="solid"/>
          </a:ln>
        </p:spPr>
      </p:sp>
      <p:sp>
        <p:nvSpPr>
          <p:cNvPr id="3" name="Text 124"/>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Activity: Be the router!</a:t>
            </a:r>
            <a:endParaRPr lang="en-US" sz="3000" dirty="0"/>
          </a:p>
        </p:txBody>
      </p:sp>
      <p:sp>
        <p:nvSpPr>
          <p:cNvPr id="4" name="Tag 125"/>
          <p:cNvSpPr/>
          <p:nvPr/>
        </p:nvSpPr>
        <p:spPr>
          <a:xfrm>
            <a:off x="7223760" y="384048"/>
            <a:ext cx="1463040" cy="457200"/>
          </a:xfrm>
          <a:prstGeom prst="roundRect">
            <a:avLst>
              <a:gd name="adj" fmla="val 50000"/>
            </a:avLst>
          </a:prstGeom>
          <a:solidFill>
            <a:srgbClr val="FF9A3D"/>
          </a:solidFill>
          <a:ln w="12700">
            <a:solidFill>
              <a:srgbClr val="FF9A3D"/>
            </a:solidFill>
            <a:prstDash val="solid"/>
          </a:ln>
        </p:spPr>
      </p:sp>
      <p:sp>
        <p:nvSpPr>
          <p:cNvPr id="5" name="Text 126"/>
          <p:cNvSpPr txBox="1"/>
          <p:nvPr/>
        </p:nvSpPr>
        <p:spPr>
          <a:xfrm>
            <a:off x="7223760" y="384048"/>
            <a:ext cx="14630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ACTIVITY</a:t>
            </a:r>
            <a:endParaRPr lang="en-US" sz="1600" dirty="0"/>
          </a:p>
        </p:txBody>
      </p:sp>
      <p:sp>
        <p:nvSpPr>
          <p:cNvPr id="6" name="Card 127"/>
          <p:cNvSpPr/>
          <p:nvPr/>
        </p:nvSpPr>
        <p:spPr>
          <a:xfrm>
            <a:off x="457200" y="1188720"/>
            <a:ext cx="8229600" cy="781812"/>
          </a:xfrm>
          <a:prstGeom prst="roundRect">
            <a:avLst>
              <a:gd name="adj" fmla="val 14035"/>
            </a:avLst>
          </a:prstGeom>
          <a:solidFill>
            <a:srgbClr val="FFFFFF"/>
          </a:solidFill>
          <a:ln/>
          <a:effectLst>
            <a:outerShdw sx="100000" sy="100000" kx="0" ky="0" algn="bl" rotWithShape="0" blurRad="76200" dist="25400" dir="5400000">
              <a:srgbClr val="2B2250">
                <a:alpha val="15000"/>
              </a:srgbClr>
            </a:outerShdw>
          </a:effectLst>
        </p:spPr>
      </p:sp>
      <p:sp>
        <p:nvSpPr>
          <p:cNvPr id="7" name="Dot 128"/>
          <p:cNvSpPr/>
          <p:nvPr/>
        </p:nvSpPr>
        <p:spPr>
          <a:xfrm>
            <a:off x="594360" y="1351026"/>
            <a:ext cx="457200" cy="457200"/>
          </a:xfrm>
          <a:prstGeom prst="ellipse">
            <a:avLst/>
          </a:prstGeom>
          <a:solidFill>
            <a:srgbClr val="FF9A3D"/>
          </a:solidFill>
          <a:ln w="12700">
            <a:solidFill>
              <a:srgbClr val="FFFFFF"/>
            </a:solidFill>
            <a:prstDash val="solid"/>
          </a:ln>
        </p:spPr>
      </p:sp>
      <p:sp>
        <p:nvSpPr>
          <p:cNvPr id="8" name="Text 129"/>
          <p:cNvSpPr txBox="1"/>
          <p:nvPr/>
        </p:nvSpPr>
        <p:spPr>
          <a:xfrm>
            <a:off x="594360" y="135102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Text 130"/>
          <p:cNvSpPr txBox="1"/>
          <p:nvPr/>
        </p:nvSpPr>
        <p:spPr>
          <a:xfrm>
            <a:off x="1188720" y="1188720"/>
            <a:ext cx="7315200" cy="781812"/>
          </a:xfrm>
          <a:prstGeom prst="rect">
            <a:avLst/>
          </a:prstGeom>
          <a:noFill/>
          <a:ln/>
        </p:spPr>
        <p:txBody>
          <a:bodyPr wrap="square" lIns="0" tIns="0" rIns="0" bIns="0" rtlCol="0" anchor="ctr"/>
          <a:lstStyle/>
          <a:p>
            <a:pPr indent="0" marL="0">
              <a:buNone/>
            </a:pPr>
            <a:r>
              <a:rPr lang="en-US" sz="1900" dirty="0">
                <a:solidFill>
                  <a:schemeClr val="tx1"/>
                </a:solidFill>
                <a:latin typeface="Calibri" pitchFamily="34" charset="0"/>
                <a:ea typeface="Calibri" pitchFamily="34" charset="-122"/>
                <a:cs typeface="Calibri" pitchFamily="34" charset="-120"/>
              </a:rPr>
              <a:t>One pupil from each table is a router.</a:t>
            </a:r>
            <a:endParaRPr lang="en-US" sz="1900" dirty="0"/>
          </a:p>
        </p:txBody>
      </p:sp>
      <p:sp>
        <p:nvSpPr>
          <p:cNvPr id="10" name="Card 131"/>
          <p:cNvSpPr/>
          <p:nvPr/>
        </p:nvSpPr>
        <p:spPr>
          <a:xfrm>
            <a:off x="457200" y="2080260"/>
            <a:ext cx="8229600" cy="781812"/>
          </a:xfrm>
          <a:prstGeom prst="roundRect">
            <a:avLst>
              <a:gd name="adj" fmla="val 14035"/>
            </a:avLst>
          </a:prstGeom>
          <a:solidFill>
            <a:srgbClr val="FFFFFF"/>
          </a:solidFill>
          <a:ln/>
          <a:effectLst>
            <a:outerShdw sx="100000" sy="100000" kx="0" ky="0" algn="bl" rotWithShape="0" blurRad="76200" dist="25400" dir="5400000">
              <a:srgbClr val="2B2250">
                <a:alpha val="15000"/>
              </a:srgbClr>
            </a:outerShdw>
          </a:effectLst>
        </p:spPr>
      </p:sp>
      <p:sp>
        <p:nvSpPr>
          <p:cNvPr id="11" name="Dot 132"/>
          <p:cNvSpPr/>
          <p:nvPr/>
        </p:nvSpPr>
        <p:spPr>
          <a:xfrm>
            <a:off x="594360" y="2242566"/>
            <a:ext cx="457200" cy="457200"/>
          </a:xfrm>
          <a:prstGeom prst="ellipse">
            <a:avLst/>
          </a:prstGeom>
          <a:solidFill>
            <a:srgbClr val="FF9A3D"/>
          </a:solidFill>
          <a:ln w="12700">
            <a:solidFill>
              <a:srgbClr val="FFFFFF"/>
            </a:solidFill>
            <a:prstDash val="solid"/>
          </a:ln>
        </p:spPr>
      </p:sp>
      <p:sp>
        <p:nvSpPr>
          <p:cNvPr id="12" name="Text 133"/>
          <p:cNvSpPr txBox="1"/>
          <p:nvPr/>
        </p:nvSpPr>
        <p:spPr>
          <a:xfrm>
            <a:off x="594360" y="224256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34"/>
          <p:cNvSpPr txBox="1"/>
          <p:nvPr/>
        </p:nvSpPr>
        <p:spPr>
          <a:xfrm>
            <a:off x="1188720" y="2080260"/>
            <a:ext cx="7315200" cy="781812"/>
          </a:xfrm>
          <a:prstGeom prst="rect">
            <a:avLst/>
          </a:prstGeom>
          <a:noFill/>
          <a:ln/>
        </p:spPr>
        <p:txBody>
          <a:bodyPr wrap="square" lIns="0" tIns="0" rIns="0" bIns="0" rtlCol="0" anchor="ctr"/>
          <a:lstStyle/>
          <a:p>
            <a:pPr indent="0" marL="0">
              <a:buNone/>
            </a:pPr>
            <a:r>
              <a:rPr lang="en-US" sz="1900" dirty="0">
                <a:solidFill>
                  <a:schemeClr val="tx1"/>
                </a:solidFill>
                <a:latin typeface="Calibri" pitchFamily="34" charset="0"/>
                <a:ea typeface="Calibri" pitchFamily="34" charset="-122"/>
                <a:cs typeface="Calibri" pitchFamily="34" charset="-120"/>
              </a:rPr>
              <a:t>Pass your message to your switch.</a:t>
            </a:r>
            <a:endParaRPr lang="en-US" sz="1900" dirty="0"/>
          </a:p>
        </p:txBody>
      </p:sp>
      <p:sp>
        <p:nvSpPr>
          <p:cNvPr id="14" name="Card 135"/>
          <p:cNvSpPr/>
          <p:nvPr/>
        </p:nvSpPr>
        <p:spPr>
          <a:xfrm>
            <a:off x="457200" y="2971800"/>
            <a:ext cx="8229600" cy="781812"/>
          </a:xfrm>
          <a:prstGeom prst="roundRect">
            <a:avLst>
              <a:gd name="adj" fmla="val 14035"/>
            </a:avLst>
          </a:prstGeom>
          <a:solidFill>
            <a:srgbClr val="FFFFFF"/>
          </a:solidFill>
          <a:ln/>
          <a:effectLst>
            <a:outerShdw sx="100000" sy="100000" kx="0" ky="0" algn="bl" rotWithShape="0" blurRad="76200" dist="25400" dir="5400000">
              <a:srgbClr val="2B2250">
                <a:alpha val="15000"/>
              </a:srgbClr>
            </a:outerShdw>
          </a:effectLst>
        </p:spPr>
      </p:sp>
      <p:sp>
        <p:nvSpPr>
          <p:cNvPr id="15" name="Dot 136"/>
          <p:cNvSpPr/>
          <p:nvPr/>
        </p:nvSpPr>
        <p:spPr>
          <a:xfrm>
            <a:off x="594360" y="3134106"/>
            <a:ext cx="457200" cy="457200"/>
          </a:xfrm>
          <a:prstGeom prst="ellipse">
            <a:avLst/>
          </a:prstGeom>
          <a:solidFill>
            <a:srgbClr val="FF9A3D"/>
          </a:solidFill>
          <a:ln w="12700">
            <a:solidFill>
              <a:srgbClr val="FFFFFF"/>
            </a:solidFill>
            <a:prstDash val="solid"/>
          </a:ln>
        </p:spPr>
      </p:sp>
      <p:sp>
        <p:nvSpPr>
          <p:cNvPr id="16" name="Text 137"/>
          <p:cNvSpPr txBox="1"/>
          <p:nvPr/>
        </p:nvSpPr>
        <p:spPr>
          <a:xfrm>
            <a:off x="594360" y="313410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138"/>
          <p:cNvSpPr txBox="1"/>
          <p:nvPr/>
        </p:nvSpPr>
        <p:spPr>
          <a:xfrm>
            <a:off x="1188720" y="2971800"/>
            <a:ext cx="7315200" cy="781812"/>
          </a:xfrm>
          <a:prstGeom prst="rect">
            <a:avLst/>
          </a:prstGeom>
          <a:noFill/>
          <a:ln/>
        </p:spPr>
        <p:txBody>
          <a:bodyPr wrap="square" lIns="0" tIns="0" rIns="0" bIns="0" rtlCol="0" anchor="ctr"/>
          <a:lstStyle/>
          <a:p>
            <a:pPr indent="0" marL="0">
              <a:buNone/>
            </a:pPr>
            <a:r>
              <a:rPr lang="en-US" sz="1900" dirty="0">
                <a:solidFill>
                  <a:schemeClr val="tx1"/>
                </a:solidFill>
                <a:latin typeface="Calibri" pitchFamily="34" charset="0"/>
                <a:ea typeface="Calibri" pitchFamily="34" charset="-122"/>
                <a:cs typeface="Calibri" pitchFamily="34" charset="-120"/>
              </a:rPr>
              <a:t>The switch gives it to a router.</a:t>
            </a:r>
            <a:endParaRPr lang="en-US" sz="1900" dirty="0"/>
          </a:p>
        </p:txBody>
      </p:sp>
      <p:sp>
        <p:nvSpPr>
          <p:cNvPr id="18" name="Card 139"/>
          <p:cNvSpPr/>
          <p:nvPr/>
        </p:nvSpPr>
        <p:spPr>
          <a:xfrm>
            <a:off x="457200" y="3863340"/>
            <a:ext cx="8229600" cy="781812"/>
          </a:xfrm>
          <a:prstGeom prst="roundRect">
            <a:avLst>
              <a:gd name="adj" fmla="val 14035"/>
            </a:avLst>
          </a:prstGeom>
          <a:solidFill>
            <a:srgbClr val="FFFFFF"/>
          </a:solidFill>
          <a:ln/>
          <a:effectLst>
            <a:outerShdw sx="100000" sy="100000" kx="0" ky="0" algn="bl" rotWithShape="0" blurRad="76200" dist="25400" dir="5400000">
              <a:srgbClr val="2B2250">
                <a:alpha val="15000"/>
              </a:srgbClr>
            </a:outerShdw>
          </a:effectLst>
        </p:spPr>
      </p:sp>
      <p:sp>
        <p:nvSpPr>
          <p:cNvPr id="19" name="Dot 140"/>
          <p:cNvSpPr/>
          <p:nvPr/>
        </p:nvSpPr>
        <p:spPr>
          <a:xfrm>
            <a:off x="594360" y="4025646"/>
            <a:ext cx="457200" cy="457200"/>
          </a:xfrm>
          <a:prstGeom prst="ellipse">
            <a:avLst/>
          </a:prstGeom>
          <a:solidFill>
            <a:srgbClr val="FF9A3D"/>
          </a:solidFill>
          <a:ln w="12700">
            <a:solidFill>
              <a:srgbClr val="FFFFFF"/>
            </a:solidFill>
            <a:prstDash val="solid"/>
          </a:ln>
        </p:spPr>
      </p:sp>
      <p:sp>
        <p:nvSpPr>
          <p:cNvPr id="20" name="Text 141"/>
          <p:cNvSpPr txBox="1"/>
          <p:nvPr/>
        </p:nvSpPr>
        <p:spPr>
          <a:xfrm>
            <a:off x="594360" y="402564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1" name="Text 142"/>
          <p:cNvSpPr txBox="1"/>
          <p:nvPr/>
        </p:nvSpPr>
        <p:spPr>
          <a:xfrm>
            <a:off x="1188720" y="3863340"/>
            <a:ext cx="7315200" cy="781812"/>
          </a:xfrm>
          <a:prstGeom prst="rect">
            <a:avLst/>
          </a:prstGeom>
          <a:noFill/>
          <a:ln/>
        </p:spPr>
        <p:txBody>
          <a:bodyPr wrap="square" lIns="0" tIns="0" rIns="0" bIns="0" rtlCol="0" anchor="ctr"/>
          <a:lstStyle/>
          <a:p>
            <a:pPr indent="0" marL="0">
              <a:buNone/>
            </a:pPr>
            <a:r>
              <a:rPr lang="en-US" sz="1900" dirty="0">
                <a:solidFill>
                  <a:schemeClr val="tx1"/>
                </a:solidFill>
                <a:latin typeface="Calibri" pitchFamily="34" charset="0"/>
                <a:ea typeface="Calibri" pitchFamily="34" charset="-122"/>
                <a:cs typeface="Calibri" pitchFamily="34" charset="-120"/>
              </a:rPr>
              <a:t>The router carries it to the right table’s switch.</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Accent 143"/>
          <p:cNvSpPr/>
          <p:nvPr/>
        </p:nvSpPr>
        <p:spPr>
          <a:xfrm>
            <a:off x="0" y="274320"/>
            <a:ext cx="164592" cy="685800"/>
          </a:xfrm>
          <a:prstGeom prst="rect">
            <a:avLst/>
          </a:prstGeom>
          <a:solidFill>
            <a:srgbClr val="1FB89A"/>
          </a:solidFill>
          <a:ln w="12700">
            <a:solidFill>
              <a:srgbClr val="1FB89A"/>
            </a:solidFill>
            <a:prstDash val="solid"/>
          </a:ln>
        </p:spPr>
      </p:sp>
      <p:sp>
        <p:nvSpPr>
          <p:cNvPr id="3" name="Text 144"/>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A network of networks</a:t>
            </a:r>
            <a:endParaRPr lang="en-US" sz="3000" dirty="0"/>
          </a:p>
        </p:txBody>
      </p:sp>
      <p:sp>
        <p:nvSpPr>
          <p:cNvPr id="4" name="Card 145"/>
          <p:cNvSpPr/>
          <p:nvPr/>
        </p:nvSpPr>
        <p:spPr>
          <a:xfrm>
            <a:off x="548640" y="1051560"/>
            <a:ext cx="5120640" cy="3639312"/>
          </a:xfrm>
          <a:prstGeom prst="roundRect">
            <a:avLst>
              <a:gd name="adj" fmla="val 3015"/>
            </a:avLst>
          </a:prstGeom>
          <a:solidFill>
            <a:srgbClr val="FFFFFF"/>
          </a:solidFill>
          <a:ln/>
          <a:effectLst>
            <a:outerShdw sx="100000" sy="100000" kx="0" ky="0" algn="bl" rotWithShape="0" blurRad="76200" dist="25400" dir="5400000">
              <a:srgbClr val="2B2250">
                <a:alpha val="15000"/>
              </a:srgbClr>
            </a:outerShdw>
          </a:effectLst>
        </p:spPr>
      </p:sp>
      <p:pic>
        <p:nvPicPr>
          <p:cNvPr id="5" name="Picture 146" descr="Home, hospital and shop networks joined by routers">    </p:cNvPr>
          <p:cNvPicPr>
            <a:picLocks noChangeAspect="1"/>
          </p:cNvPicPr>
          <p:nvPr/>
        </p:nvPicPr>
        <p:blipFill>
          <a:blip r:embed="rId1"/>
          <a:stretch>
            <a:fillRect/>
          </a:stretch>
        </p:blipFill>
        <p:spPr>
          <a:xfrm>
            <a:off x="640080" y="1143000"/>
            <a:ext cx="4937760" cy="3456432"/>
          </a:xfrm>
          <a:prstGeom prst="rect">
            <a:avLst/>
          </a:prstGeom>
        </p:spPr>
      </p:pic>
      <p:sp>
        <p:nvSpPr>
          <p:cNvPr id="6" name="Text 147"/>
          <p:cNvSpPr txBox="1"/>
          <p:nvPr/>
        </p:nvSpPr>
        <p:spPr>
          <a:xfrm>
            <a:off x="5897880" y="1234440"/>
            <a:ext cx="2834640" cy="3566160"/>
          </a:xfrm>
          <a:prstGeom prst="rect">
            <a:avLst/>
          </a:prstGeom>
          <a:noFill/>
          <a:ln/>
        </p:spPr>
        <p:txBody>
          <a:bodyPr wrap="square" lIns="0" tIns="0" rIns="0" bIns="0" rtlCol="0" anchor="t"/>
          <a:lstStyle/>
          <a:p>
            <a:pPr indent="0" marL="0">
              <a:buNone/>
            </a:pPr>
            <a:r>
              <a:rPr lang="en-US" sz="2000" dirty="0">
                <a:solidFill>
                  <a:schemeClr val="tx1"/>
                </a:solidFill>
                <a:latin typeface="Calibri" pitchFamily="34" charset="0"/>
                <a:ea typeface="Calibri" pitchFamily="34" charset="-122"/>
                <a:cs typeface="Calibri" pitchFamily="34" charset="-120"/>
              </a:rPr>
              <a:t>Many networks joined by routers make a much bigger network. On the real internet a message passes through lots of routers.</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Accent 148"/>
          <p:cNvSpPr/>
          <p:nvPr/>
        </p:nvSpPr>
        <p:spPr>
          <a:xfrm>
            <a:off x="0" y="274320"/>
            <a:ext cx="164592" cy="685800"/>
          </a:xfrm>
          <a:prstGeom prst="rect">
            <a:avLst/>
          </a:prstGeom>
          <a:solidFill>
            <a:srgbClr val="1FB89A"/>
          </a:solidFill>
          <a:ln w="12700">
            <a:solidFill>
              <a:srgbClr val="1FB89A"/>
            </a:solidFill>
            <a:prstDash val="solid"/>
          </a:ln>
        </p:spPr>
      </p:sp>
      <p:sp>
        <p:nvSpPr>
          <p:cNvPr id="3" name="Text 149"/>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Networks in different countries</a:t>
            </a:r>
            <a:endParaRPr lang="en-US" sz="3000" dirty="0"/>
          </a:p>
        </p:txBody>
      </p:sp>
      <p:sp>
        <p:nvSpPr>
          <p:cNvPr id="4" name="Card 150"/>
          <p:cNvSpPr/>
          <p:nvPr/>
        </p:nvSpPr>
        <p:spPr>
          <a:xfrm>
            <a:off x="548640" y="1051560"/>
            <a:ext cx="5120640" cy="3639312"/>
          </a:xfrm>
          <a:prstGeom prst="roundRect">
            <a:avLst>
              <a:gd name="adj" fmla="val 3015"/>
            </a:avLst>
          </a:prstGeom>
          <a:solidFill>
            <a:srgbClr val="FFFFFF"/>
          </a:solidFill>
          <a:ln/>
          <a:effectLst>
            <a:outerShdw sx="100000" sy="100000" kx="0" ky="0" algn="bl" rotWithShape="0" blurRad="76200" dist="25400" dir="5400000">
              <a:srgbClr val="2B2250">
                <a:alpha val="15000"/>
              </a:srgbClr>
            </a:outerShdw>
          </a:effectLst>
        </p:spPr>
      </p:sp>
      <p:pic>
        <p:nvPicPr>
          <p:cNvPr id="5" name="Picture 151" descr="Globe with cables to buildings">    </p:cNvPr>
          <p:cNvPicPr>
            <a:picLocks noChangeAspect="1"/>
          </p:cNvPicPr>
          <p:nvPr/>
        </p:nvPicPr>
        <p:blipFill>
          <a:blip r:embed="rId1"/>
          <a:stretch>
            <a:fillRect/>
          </a:stretch>
        </p:blipFill>
        <p:spPr>
          <a:xfrm>
            <a:off x="640080" y="1143000"/>
            <a:ext cx="4937760" cy="3456432"/>
          </a:xfrm>
          <a:prstGeom prst="rect">
            <a:avLst/>
          </a:prstGeom>
        </p:spPr>
      </p:pic>
      <p:sp>
        <p:nvSpPr>
          <p:cNvPr id="6" name="Text 152"/>
          <p:cNvSpPr txBox="1"/>
          <p:nvPr/>
        </p:nvSpPr>
        <p:spPr>
          <a:xfrm>
            <a:off x="5897880" y="1234440"/>
            <a:ext cx="2834640" cy="3566160"/>
          </a:xfrm>
          <a:prstGeom prst="rect">
            <a:avLst/>
          </a:prstGeom>
          <a:noFill/>
          <a:ln/>
        </p:spPr>
        <p:txBody>
          <a:bodyPr wrap="square" lIns="0" tIns="0" rIns="0" bIns="0" rtlCol="0" anchor="t"/>
          <a:lstStyle/>
          <a:p>
            <a:pPr indent="0" marL="0">
              <a:buNone/>
            </a:pPr>
            <a:r>
              <a:rPr lang="en-US" sz="2000" dirty="0">
                <a:solidFill>
                  <a:schemeClr val="tx1"/>
                </a:solidFill>
                <a:latin typeface="Calibri" pitchFamily="34" charset="0"/>
                <a:ea typeface="Calibri" pitchFamily="34" charset="-122"/>
                <a:cs typeface="Calibri" pitchFamily="34" charset="-120"/>
              </a:rPr>
              <a:t>Cables join networks together on land and under the sea. Why do you think there are SO many cables?</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Accent 153"/>
          <p:cNvSpPr/>
          <p:nvPr/>
        </p:nvSpPr>
        <p:spPr>
          <a:xfrm>
            <a:off x="0" y="274320"/>
            <a:ext cx="164592" cy="685800"/>
          </a:xfrm>
          <a:prstGeom prst="rect">
            <a:avLst/>
          </a:prstGeom>
          <a:solidFill>
            <a:srgbClr val="1FB89A"/>
          </a:solidFill>
          <a:ln w="12700">
            <a:solidFill>
              <a:srgbClr val="1FB89A"/>
            </a:solidFill>
            <a:prstDash val="solid"/>
          </a:ln>
        </p:spPr>
      </p:sp>
      <p:sp>
        <p:nvSpPr>
          <p:cNvPr id="3" name="Text 154"/>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Quick quiz</a:t>
            </a:r>
            <a:endParaRPr lang="en-US" sz="3000" dirty="0"/>
          </a:p>
        </p:txBody>
      </p:sp>
      <p:sp>
        <p:nvSpPr>
          <p:cNvPr id="4" name="Text 155"/>
          <p:cNvSpPr txBox="1"/>
          <p:nvPr/>
        </p:nvSpPr>
        <p:spPr>
          <a:xfrm>
            <a:off x="457200" y="1051560"/>
            <a:ext cx="8229600" cy="914400"/>
          </a:xfrm>
          <a:prstGeom prst="rect">
            <a:avLst/>
          </a:prstGeom>
          <a:noFill/>
          <a:ln/>
        </p:spPr>
        <p:txBody>
          <a:bodyPr wrap="square" lIns="0" tIns="0" rIns="0" bIns="0" rtlCol="0" anchor="ctr"/>
          <a:lstStyle/>
          <a:p>
            <a:pPr indent="0" marL="0">
              <a:buNone/>
            </a:pPr>
            <a:r>
              <a:rPr lang="en-US" sz="2600" b="1" dirty="0">
                <a:solidFill>
                  <a:schemeClr val="tx1"/>
                </a:solidFill>
                <a:latin typeface="Calibri" pitchFamily="34" charset="0"/>
                <a:ea typeface="Calibri" pitchFamily="34" charset="-122"/>
                <a:cs typeface="Calibri" pitchFamily="34" charset="-120"/>
              </a:rPr>
              <a:t>What is the internet?</a:t>
            </a:r>
            <a:endParaRPr lang="en-US" sz="2600" dirty="0"/>
          </a:p>
        </p:txBody>
      </p:sp>
      <p:sp>
        <p:nvSpPr>
          <p:cNvPr id="5" name="Card 156"/>
          <p:cNvSpPr/>
          <p:nvPr/>
        </p:nvSpPr>
        <p:spPr>
          <a:xfrm>
            <a:off x="457200" y="219456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6" name="Dot 157"/>
          <p:cNvSpPr/>
          <p:nvPr/>
        </p:nvSpPr>
        <p:spPr>
          <a:xfrm>
            <a:off x="594360" y="2322576"/>
            <a:ext cx="457200" cy="457200"/>
          </a:xfrm>
          <a:prstGeom prst="ellipse">
            <a:avLst/>
          </a:prstGeom>
          <a:solidFill>
            <a:srgbClr val="1FB89A"/>
          </a:solidFill>
          <a:ln w="12700">
            <a:solidFill>
              <a:srgbClr val="FFFFFF"/>
            </a:solidFill>
            <a:prstDash val="solid"/>
          </a:ln>
        </p:spPr>
      </p:sp>
      <p:sp>
        <p:nvSpPr>
          <p:cNvPr id="7" name="Text 158"/>
          <p:cNvSpPr txBox="1"/>
          <p:nvPr/>
        </p:nvSpPr>
        <p:spPr>
          <a:xfrm>
            <a:off x="594360" y="2322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8" name="Text 159"/>
          <p:cNvSpPr txBox="1"/>
          <p:nvPr/>
        </p:nvSpPr>
        <p:spPr>
          <a:xfrm>
            <a:off x="1188720" y="219456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One big computer in America</a:t>
            </a:r>
            <a:endParaRPr lang="en-US" sz="2200" dirty="0"/>
          </a:p>
        </p:txBody>
      </p:sp>
      <p:sp>
        <p:nvSpPr>
          <p:cNvPr id="9" name="Card 160"/>
          <p:cNvSpPr/>
          <p:nvPr/>
        </p:nvSpPr>
        <p:spPr>
          <a:xfrm>
            <a:off x="457200" y="301752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10" name="Dot 161"/>
          <p:cNvSpPr/>
          <p:nvPr/>
        </p:nvSpPr>
        <p:spPr>
          <a:xfrm>
            <a:off x="594360" y="3145536"/>
            <a:ext cx="457200" cy="457200"/>
          </a:xfrm>
          <a:prstGeom prst="ellipse">
            <a:avLst/>
          </a:prstGeom>
          <a:solidFill>
            <a:srgbClr val="1FB89A"/>
          </a:solidFill>
          <a:ln w="12700">
            <a:solidFill>
              <a:srgbClr val="FFFFFF"/>
            </a:solidFill>
            <a:prstDash val="solid"/>
          </a:ln>
        </p:spPr>
      </p:sp>
      <p:sp>
        <p:nvSpPr>
          <p:cNvPr id="11" name="Text 162"/>
          <p:cNvSpPr txBox="1"/>
          <p:nvPr/>
        </p:nvSpPr>
        <p:spPr>
          <a:xfrm>
            <a:off x="594360" y="314553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63"/>
          <p:cNvSpPr txBox="1"/>
          <p:nvPr/>
        </p:nvSpPr>
        <p:spPr>
          <a:xfrm>
            <a:off x="1188720" y="301752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A network of networks joined together</a:t>
            </a:r>
            <a:endParaRPr lang="en-US" sz="2200" dirty="0"/>
          </a:p>
        </p:txBody>
      </p:sp>
      <p:sp>
        <p:nvSpPr>
          <p:cNvPr id="13" name="Card 164"/>
          <p:cNvSpPr/>
          <p:nvPr/>
        </p:nvSpPr>
        <p:spPr>
          <a:xfrm>
            <a:off x="457200" y="384048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14" name="Dot 165"/>
          <p:cNvSpPr/>
          <p:nvPr/>
        </p:nvSpPr>
        <p:spPr>
          <a:xfrm>
            <a:off x="594360" y="3968496"/>
            <a:ext cx="457200" cy="457200"/>
          </a:xfrm>
          <a:prstGeom prst="ellipse">
            <a:avLst/>
          </a:prstGeom>
          <a:solidFill>
            <a:srgbClr val="1FB89A"/>
          </a:solidFill>
          <a:ln w="12700">
            <a:solidFill>
              <a:srgbClr val="FFFFFF"/>
            </a:solidFill>
            <a:prstDash val="solid"/>
          </a:ln>
        </p:spPr>
      </p:sp>
      <p:sp>
        <p:nvSpPr>
          <p:cNvPr id="15" name="Text 166"/>
          <p:cNvSpPr txBox="1"/>
          <p:nvPr/>
        </p:nvSpPr>
        <p:spPr>
          <a:xfrm>
            <a:off x="594360" y="39684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6" name="Text 167"/>
          <p:cNvSpPr txBox="1"/>
          <p:nvPr/>
        </p:nvSpPr>
        <p:spPr>
          <a:xfrm>
            <a:off x="1188720" y="384048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A website for watching videos</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Accent 168"/>
          <p:cNvSpPr/>
          <p:nvPr/>
        </p:nvSpPr>
        <p:spPr>
          <a:xfrm>
            <a:off x="0" y="274320"/>
            <a:ext cx="164592" cy="685800"/>
          </a:xfrm>
          <a:prstGeom prst="rect">
            <a:avLst/>
          </a:prstGeom>
          <a:solidFill>
            <a:srgbClr val="2E9E5B"/>
          </a:solidFill>
          <a:ln w="12700">
            <a:solidFill>
              <a:srgbClr val="2E9E5B"/>
            </a:solidFill>
            <a:prstDash val="solid"/>
          </a:ln>
        </p:spPr>
      </p:sp>
      <p:sp>
        <p:nvSpPr>
          <p:cNvPr id="3" name="Text 169"/>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 The answer</a:t>
            </a:r>
            <a:endParaRPr lang="en-US" sz="3000" dirty="0"/>
          </a:p>
        </p:txBody>
      </p:sp>
      <p:sp>
        <p:nvSpPr>
          <p:cNvPr id="4" name="Text 170"/>
          <p:cNvSpPr txBox="1"/>
          <p:nvPr/>
        </p:nvSpPr>
        <p:spPr>
          <a:xfrm>
            <a:off x="457200" y="1051560"/>
            <a:ext cx="8229600" cy="914400"/>
          </a:xfrm>
          <a:prstGeom prst="rect">
            <a:avLst/>
          </a:prstGeom>
          <a:noFill/>
          <a:ln/>
        </p:spPr>
        <p:txBody>
          <a:bodyPr wrap="square" lIns="0" tIns="0" rIns="0" bIns="0" rtlCol="0" anchor="ctr"/>
          <a:lstStyle/>
          <a:p>
            <a:pPr indent="0" marL="0">
              <a:buNone/>
            </a:pPr>
            <a:r>
              <a:rPr lang="en-US" sz="2600" b="1" dirty="0">
                <a:solidFill>
                  <a:schemeClr val="tx1"/>
                </a:solidFill>
                <a:latin typeface="Calibri" pitchFamily="34" charset="0"/>
                <a:ea typeface="Calibri" pitchFamily="34" charset="-122"/>
                <a:cs typeface="Calibri" pitchFamily="34" charset="-120"/>
              </a:rPr>
              <a:t>What is the internet?</a:t>
            </a:r>
            <a:endParaRPr lang="en-US" sz="2600" dirty="0"/>
          </a:p>
        </p:txBody>
      </p:sp>
      <p:sp>
        <p:nvSpPr>
          <p:cNvPr id="5" name="Card 171"/>
          <p:cNvSpPr/>
          <p:nvPr/>
        </p:nvSpPr>
        <p:spPr>
          <a:xfrm>
            <a:off x="457200" y="2194560"/>
            <a:ext cx="8229600" cy="713232"/>
          </a:xfrm>
          <a:prstGeom prst="roundRect">
            <a:avLst>
              <a:gd name="adj" fmla="val 15385"/>
            </a:avLst>
          </a:prstGeom>
          <a:solidFill>
            <a:srgbClr val="FFFFFF"/>
          </a:solidFill>
          <a:ln w="19050">
            <a:solidFill>
              <a:srgbClr val="DDDAEA"/>
            </a:solidFill>
            <a:prstDash val="solid"/>
          </a:ln>
          <a:effectLst>
            <a:outerShdw sx="100000" sy="100000" kx="0" ky="0" algn="bl" rotWithShape="0" blurRad="76200" dist="25400" dir="5400000">
              <a:srgbClr val="2B2250">
                <a:alpha val="15000"/>
              </a:srgbClr>
            </a:outerShdw>
          </a:effectLst>
        </p:spPr>
      </p:sp>
      <p:sp>
        <p:nvSpPr>
          <p:cNvPr id="6" name="Dot 172"/>
          <p:cNvSpPr/>
          <p:nvPr/>
        </p:nvSpPr>
        <p:spPr>
          <a:xfrm>
            <a:off x="594360" y="2322576"/>
            <a:ext cx="457200" cy="457200"/>
          </a:xfrm>
          <a:prstGeom prst="ellipse">
            <a:avLst/>
          </a:prstGeom>
          <a:solidFill>
            <a:srgbClr val="CFCBE0"/>
          </a:solidFill>
          <a:ln w="12700">
            <a:solidFill>
              <a:srgbClr val="FFFFFF"/>
            </a:solidFill>
            <a:prstDash val="solid"/>
          </a:ln>
        </p:spPr>
      </p:sp>
      <p:sp>
        <p:nvSpPr>
          <p:cNvPr id="7" name="Text 173"/>
          <p:cNvSpPr txBox="1"/>
          <p:nvPr/>
        </p:nvSpPr>
        <p:spPr>
          <a:xfrm>
            <a:off x="594360" y="2322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8" name="Text 174"/>
          <p:cNvSpPr txBox="1"/>
          <p:nvPr/>
        </p:nvSpPr>
        <p:spPr>
          <a:xfrm>
            <a:off x="1188720" y="2194560"/>
            <a:ext cx="7406640" cy="713232"/>
          </a:xfrm>
          <a:prstGeom prst="rect">
            <a:avLst/>
          </a:prstGeom>
          <a:noFill/>
          <a:ln/>
        </p:spPr>
        <p:txBody>
          <a:bodyPr wrap="square" lIns="0" tIns="0" rIns="0" bIns="0" rtlCol="0" anchor="ctr"/>
          <a:lstStyle/>
          <a:p>
            <a:pPr indent="0" marL="0">
              <a:buNone/>
            </a:pPr>
            <a:r>
              <a:rPr lang="en-US" sz="2200" dirty="0">
                <a:solidFill>
                  <a:srgbClr val="8A86A3"/>
                </a:solidFill>
                <a:latin typeface="Calibri" pitchFamily="34" charset="0"/>
                <a:ea typeface="Calibri" pitchFamily="34" charset="-122"/>
                <a:cs typeface="Calibri" pitchFamily="34" charset="-120"/>
              </a:rPr>
              <a:t>One big computer in America</a:t>
            </a:r>
            <a:endParaRPr lang="en-US" sz="2200" dirty="0"/>
          </a:p>
        </p:txBody>
      </p:sp>
      <p:sp>
        <p:nvSpPr>
          <p:cNvPr id="9" name="Card 175"/>
          <p:cNvSpPr/>
          <p:nvPr/>
        </p:nvSpPr>
        <p:spPr>
          <a:xfrm>
            <a:off x="457200" y="3017520"/>
            <a:ext cx="8229600" cy="713232"/>
          </a:xfrm>
          <a:prstGeom prst="roundRect">
            <a:avLst>
              <a:gd name="adj" fmla="val 15385"/>
            </a:avLst>
          </a:prstGeom>
          <a:solidFill>
            <a:srgbClr val="D9F5E6"/>
          </a:solidFill>
          <a:ln w="38100">
            <a:solidFill>
              <a:srgbClr val="2E9E5B"/>
            </a:solidFill>
            <a:prstDash val="solid"/>
          </a:ln>
          <a:effectLst>
            <a:outerShdw sx="100000" sy="100000" kx="0" ky="0" algn="bl" rotWithShape="0" blurRad="76200" dist="25400" dir="5400000">
              <a:srgbClr val="2B2250">
                <a:alpha val="15000"/>
              </a:srgbClr>
            </a:outerShdw>
          </a:effectLst>
        </p:spPr>
      </p:sp>
      <p:sp>
        <p:nvSpPr>
          <p:cNvPr id="10" name="Dot 176"/>
          <p:cNvSpPr/>
          <p:nvPr/>
        </p:nvSpPr>
        <p:spPr>
          <a:xfrm>
            <a:off x="594360" y="3145536"/>
            <a:ext cx="457200" cy="457200"/>
          </a:xfrm>
          <a:prstGeom prst="ellipse">
            <a:avLst/>
          </a:prstGeom>
          <a:solidFill>
            <a:srgbClr val="2E9E5B"/>
          </a:solidFill>
          <a:ln w="12700">
            <a:solidFill>
              <a:srgbClr val="FFFFFF"/>
            </a:solidFill>
            <a:prstDash val="solid"/>
          </a:ln>
        </p:spPr>
      </p:sp>
      <p:sp>
        <p:nvSpPr>
          <p:cNvPr id="11" name="Text 177"/>
          <p:cNvSpPr txBox="1"/>
          <p:nvPr/>
        </p:nvSpPr>
        <p:spPr>
          <a:xfrm>
            <a:off x="594360" y="314553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78"/>
          <p:cNvSpPr txBox="1"/>
          <p:nvPr/>
        </p:nvSpPr>
        <p:spPr>
          <a:xfrm>
            <a:off x="1188720" y="3017520"/>
            <a:ext cx="7406640" cy="713232"/>
          </a:xfrm>
          <a:prstGeom prst="rect">
            <a:avLst/>
          </a:prstGeom>
          <a:noFill/>
          <a:ln/>
        </p:spPr>
        <p:txBody>
          <a:bodyPr wrap="square" lIns="0" tIns="0" rIns="0" bIns="0" rtlCol="0" anchor="ctr"/>
          <a:lstStyle/>
          <a:p>
            <a:pPr indent="0" marL="0">
              <a:buNone/>
            </a:pPr>
            <a:r>
              <a:rPr lang="en-US" sz="2200" b="1" dirty="0">
                <a:solidFill>
                  <a:srgbClr val="2B2250"/>
                </a:solidFill>
                <a:latin typeface="Calibri" pitchFamily="34" charset="0"/>
                <a:ea typeface="Calibri" pitchFamily="34" charset="-122"/>
                <a:cs typeface="Calibri" pitchFamily="34" charset="-120"/>
              </a:rPr>
              <a:t>A network of networks joined together</a:t>
            </a:r>
            <a:endParaRPr lang="en-US" sz="2200" dirty="0"/>
          </a:p>
        </p:txBody>
      </p:sp>
      <p:sp>
        <p:nvSpPr>
          <p:cNvPr id="13" name="Card 179"/>
          <p:cNvSpPr/>
          <p:nvPr/>
        </p:nvSpPr>
        <p:spPr>
          <a:xfrm>
            <a:off x="457200" y="3840480"/>
            <a:ext cx="8229600" cy="713232"/>
          </a:xfrm>
          <a:prstGeom prst="roundRect">
            <a:avLst>
              <a:gd name="adj" fmla="val 15385"/>
            </a:avLst>
          </a:prstGeom>
          <a:solidFill>
            <a:srgbClr val="FFFFFF"/>
          </a:solidFill>
          <a:ln w="19050">
            <a:solidFill>
              <a:srgbClr val="DDDAEA"/>
            </a:solidFill>
            <a:prstDash val="solid"/>
          </a:ln>
          <a:effectLst>
            <a:outerShdw sx="100000" sy="100000" kx="0" ky="0" algn="bl" rotWithShape="0" blurRad="76200" dist="25400" dir="5400000">
              <a:srgbClr val="2B2250">
                <a:alpha val="15000"/>
              </a:srgbClr>
            </a:outerShdw>
          </a:effectLst>
        </p:spPr>
      </p:sp>
      <p:sp>
        <p:nvSpPr>
          <p:cNvPr id="14" name="Dot 180"/>
          <p:cNvSpPr/>
          <p:nvPr/>
        </p:nvSpPr>
        <p:spPr>
          <a:xfrm>
            <a:off x="594360" y="3968496"/>
            <a:ext cx="457200" cy="457200"/>
          </a:xfrm>
          <a:prstGeom prst="ellipse">
            <a:avLst/>
          </a:prstGeom>
          <a:solidFill>
            <a:srgbClr val="CFCBE0"/>
          </a:solidFill>
          <a:ln w="12700">
            <a:solidFill>
              <a:srgbClr val="FFFFFF"/>
            </a:solidFill>
            <a:prstDash val="solid"/>
          </a:ln>
        </p:spPr>
      </p:sp>
      <p:sp>
        <p:nvSpPr>
          <p:cNvPr id="15" name="Text 181"/>
          <p:cNvSpPr txBox="1"/>
          <p:nvPr/>
        </p:nvSpPr>
        <p:spPr>
          <a:xfrm>
            <a:off x="594360" y="39684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6" name="Text 182"/>
          <p:cNvSpPr txBox="1"/>
          <p:nvPr/>
        </p:nvSpPr>
        <p:spPr>
          <a:xfrm>
            <a:off x="1188720" y="3840480"/>
            <a:ext cx="7406640" cy="713232"/>
          </a:xfrm>
          <a:prstGeom prst="rect">
            <a:avLst/>
          </a:prstGeom>
          <a:noFill/>
          <a:ln/>
        </p:spPr>
        <p:txBody>
          <a:bodyPr wrap="square" lIns="0" tIns="0" rIns="0" bIns="0" rtlCol="0" anchor="ctr"/>
          <a:lstStyle/>
          <a:p>
            <a:pPr indent="0" marL="0">
              <a:buNone/>
            </a:pPr>
            <a:r>
              <a:rPr lang="en-US" sz="2200" dirty="0">
                <a:solidFill>
                  <a:srgbClr val="8A86A3"/>
                </a:solidFill>
                <a:latin typeface="Calibri" pitchFamily="34" charset="0"/>
                <a:ea typeface="Calibri" pitchFamily="34" charset="-122"/>
                <a:cs typeface="Calibri" pitchFamily="34" charset="-120"/>
              </a:rPr>
              <a:t>A website for watching videos</a:t>
            </a:r>
            <a:endParaRPr lang="en-US" sz="2200" dirty="0"/>
          </a:p>
        </p:txBody>
      </p:sp>
      <p:sp>
        <p:nvSpPr>
          <p:cNvPr id="17" name="Text 183"/>
          <p:cNvSpPr txBox="1"/>
          <p:nvPr/>
        </p:nvSpPr>
        <p:spPr>
          <a:xfrm>
            <a:off x="457200" y="4572000"/>
            <a:ext cx="8229600" cy="457200"/>
          </a:xfrm>
          <a:prstGeom prst="rect">
            <a:avLst/>
          </a:prstGeom>
          <a:noFill/>
          <a:ln/>
        </p:spPr>
        <p:txBody>
          <a:bodyPr wrap="square" lIns="0" tIns="0" rIns="0" bIns="0" rtlCol="0" anchor="t"/>
          <a:lstStyle/>
          <a:p>
            <a:pPr algn="ctr" indent="0" marL="0">
              <a:buNone/>
            </a:pPr>
            <a:r>
              <a:rPr lang="en-US" sz="2000" b="1" dirty="0">
                <a:solidFill>
                  <a:srgbClr val="2E9E5B"/>
                </a:solidFill>
                <a:latin typeface="Calibri" pitchFamily="34" charset="0"/>
                <a:ea typeface="Calibri" pitchFamily="34" charset="-122"/>
                <a:cs typeface="Calibri" pitchFamily="34" charset="-120"/>
              </a:rPr>
              <a:t>The internet is a global network of networks!</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Accent 184"/>
          <p:cNvSpPr/>
          <p:nvPr/>
        </p:nvSpPr>
        <p:spPr>
          <a:xfrm>
            <a:off x="0" y="274320"/>
            <a:ext cx="164592" cy="685800"/>
          </a:xfrm>
          <a:prstGeom prst="rect">
            <a:avLst/>
          </a:prstGeom>
          <a:solidFill>
            <a:srgbClr val="1FB89A"/>
          </a:solidFill>
          <a:ln w="12700">
            <a:solidFill>
              <a:srgbClr val="1FB89A"/>
            </a:solidFill>
            <a:prstDash val="solid"/>
          </a:ln>
        </p:spPr>
      </p:sp>
      <p:sp>
        <p:nvSpPr>
          <p:cNvPr id="3" name="Text 185"/>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Quick quiz</a:t>
            </a:r>
            <a:endParaRPr lang="en-US" sz="3000" dirty="0"/>
          </a:p>
        </p:txBody>
      </p:sp>
      <p:sp>
        <p:nvSpPr>
          <p:cNvPr id="4" name="Text 186"/>
          <p:cNvSpPr txBox="1"/>
          <p:nvPr/>
        </p:nvSpPr>
        <p:spPr>
          <a:xfrm>
            <a:off x="457200" y="1051560"/>
            <a:ext cx="8229600" cy="914400"/>
          </a:xfrm>
          <a:prstGeom prst="rect">
            <a:avLst/>
          </a:prstGeom>
          <a:noFill/>
          <a:ln/>
        </p:spPr>
        <p:txBody>
          <a:bodyPr wrap="square" lIns="0" tIns="0" rIns="0" bIns="0" rtlCol="0" anchor="ctr"/>
          <a:lstStyle/>
          <a:p>
            <a:pPr indent="0" marL="0">
              <a:buNone/>
            </a:pPr>
            <a:r>
              <a:rPr lang="en-US" sz="2600" b="1" dirty="0">
                <a:solidFill>
                  <a:schemeClr val="tx1"/>
                </a:solidFill>
                <a:latin typeface="Calibri" pitchFamily="34" charset="0"/>
                <a:ea typeface="Calibri" pitchFamily="34" charset="-122"/>
                <a:cs typeface="Calibri" pitchFamily="34" charset="-120"/>
              </a:rPr>
              <a:t>What does a router do?</a:t>
            </a:r>
            <a:endParaRPr lang="en-US" sz="2600" dirty="0"/>
          </a:p>
        </p:txBody>
      </p:sp>
      <p:sp>
        <p:nvSpPr>
          <p:cNvPr id="5" name="Card 187"/>
          <p:cNvSpPr/>
          <p:nvPr/>
        </p:nvSpPr>
        <p:spPr>
          <a:xfrm>
            <a:off x="457200" y="219456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6" name="Dot 188"/>
          <p:cNvSpPr/>
          <p:nvPr/>
        </p:nvSpPr>
        <p:spPr>
          <a:xfrm>
            <a:off x="594360" y="2322576"/>
            <a:ext cx="457200" cy="457200"/>
          </a:xfrm>
          <a:prstGeom prst="ellipse">
            <a:avLst/>
          </a:prstGeom>
          <a:solidFill>
            <a:srgbClr val="1FB89A"/>
          </a:solidFill>
          <a:ln w="12700">
            <a:solidFill>
              <a:srgbClr val="FFFFFF"/>
            </a:solidFill>
            <a:prstDash val="solid"/>
          </a:ln>
        </p:spPr>
      </p:sp>
      <p:sp>
        <p:nvSpPr>
          <p:cNvPr id="7" name="Text 189"/>
          <p:cNvSpPr txBox="1"/>
          <p:nvPr/>
        </p:nvSpPr>
        <p:spPr>
          <a:xfrm>
            <a:off x="594360" y="2322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8" name="Text 190"/>
          <p:cNvSpPr txBox="1"/>
          <p:nvPr/>
        </p:nvSpPr>
        <p:spPr>
          <a:xfrm>
            <a:off x="1188720" y="219456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Sends messages from one network to another</a:t>
            </a:r>
            <a:endParaRPr lang="en-US" sz="2200" dirty="0"/>
          </a:p>
        </p:txBody>
      </p:sp>
      <p:sp>
        <p:nvSpPr>
          <p:cNvPr id="9" name="Card 191"/>
          <p:cNvSpPr/>
          <p:nvPr/>
        </p:nvSpPr>
        <p:spPr>
          <a:xfrm>
            <a:off x="457200" y="301752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10" name="Dot 192"/>
          <p:cNvSpPr/>
          <p:nvPr/>
        </p:nvSpPr>
        <p:spPr>
          <a:xfrm>
            <a:off x="594360" y="3145536"/>
            <a:ext cx="457200" cy="457200"/>
          </a:xfrm>
          <a:prstGeom prst="ellipse">
            <a:avLst/>
          </a:prstGeom>
          <a:solidFill>
            <a:srgbClr val="1FB89A"/>
          </a:solidFill>
          <a:ln w="12700">
            <a:solidFill>
              <a:srgbClr val="FFFFFF"/>
            </a:solidFill>
            <a:prstDash val="solid"/>
          </a:ln>
        </p:spPr>
      </p:sp>
      <p:sp>
        <p:nvSpPr>
          <p:cNvPr id="11" name="Text 193"/>
          <p:cNvSpPr txBox="1"/>
          <p:nvPr/>
        </p:nvSpPr>
        <p:spPr>
          <a:xfrm>
            <a:off x="594360" y="314553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94"/>
          <p:cNvSpPr txBox="1"/>
          <p:nvPr/>
        </p:nvSpPr>
        <p:spPr>
          <a:xfrm>
            <a:off x="1188720" y="301752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Stores your homework</a:t>
            </a:r>
            <a:endParaRPr lang="en-US" sz="2200" dirty="0"/>
          </a:p>
        </p:txBody>
      </p:sp>
      <p:sp>
        <p:nvSpPr>
          <p:cNvPr id="13" name="Card 195"/>
          <p:cNvSpPr/>
          <p:nvPr/>
        </p:nvSpPr>
        <p:spPr>
          <a:xfrm>
            <a:off x="457200" y="384048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14" name="Dot 196"/>
          <p:cNvSpPr/>
          <p:nvPr/>
        </p:nvSpPr>
        <p:spPr>
          <a:xfrm>
            <a:off x="594360" y="3968496"/>
            <a:ext cx="457200" cy="457200"/>
          </a:xfrm>
          <a:prstGeom prst="ellipse">
            <a:avLst/>
          </a:prstGeom>
          <a:solidFill>
            <a:srgbClr val="1FB89A"/>
          </a:solidFill>
          <a:ln w="12700">
            <a:solidFill>
              <a:srgbClr val="FFFFFF"/>
            </a:solidFill>
            <a:prstDash val="solid"/>
          </a:ln>
        </p:spPr>
      </p:sp>
      <p:sp>
        <p:nvSpPr>
          <p:cNvPr id="15" name="Text 197"/>
          <p:cNvSpPr txBox="1"/>
          <p:nvPr/>
        </p:nvSpPr>
        <p:spPr>
          <a:xfrm>
            <a:off x="594360" y="39684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6" name="Text 198"/>
          <p:cNvSpPr txBox="1"/>
          <p:nvPr/>
        </p:nvSpPr>
        <p:spPr>
          <a:xfrm>
            <a:off x="1188720" y="384048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Makes the screen brighter</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Accent 199"/>
          <p:cNvSpPr/>
          <p:nvPr/>
        </p:nvSpPr>
        <p:spPr>
          <a:xfrm>
            <a:off x="0" y="274320"/>
            <a:ext cx="164592" cy="685800"/>
          </a:xfrm>
          <a:prstGeom prst="rect">
            <a:avLst/>
          </a:prstGeom>
          <a:solidFill>
            <a:srgbClr val="2E9E5B"/>
          </a:solidFill>
          <a:ln w="12700">
            <a:solidFill>
              <a:srgbClr val="2E9E5B"/>
            </a:solidFill>
            <a:prstDash val="solid"/>
          </a:ln>
        </p:spPr>
      </p:sp>
      <p:sp>
        <p:nvSpPr>
          <p:cNvPr id="3" name="Text 20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 The answer</a:t>
            </a:r>
            <a:endParaRPr lang="en-US" sz="3000" dirty="0"/>
          </a:p>
        </p:txBody>
      </p:sp>
      <p:sp>
        <p:nvSpPr>
          <p:cNvPr id="4" name="Text 201"/>
          <p:cNvSpPr txBox="1"/>
          <p:nvPr/>
        </p:nvSpPr>
        <p:spPr>
          <a:xfrm>
            <a:off x="457200" y="1051560"/>
            <a:ext cx="8229600" cy="914400"/>
          </a:xfrm>
          <a:prstGeom prst="rect">
            <a:avLst/>
          </a:prstGeom>
          <a:noFill/>
          <a:ln/>
        </p:spPr>
        <p:txBody>
          <a:bodyPr wrap="square" lIns="0" tIns="0" rIns="0" bIns="0" rtlCol="0" anchor="ctr"/>
          <a:lstStyle/>
          <a:p>
            <a:pPr indent="0" marL="0">
              <a:buNone/>
            </a:pPr>
            <a:r>
              <a:rPr lang="en-US" sz="2600" b="1" dirty="0">
                <a:solidFill>
                  <a:schemeClr val="tx1"/>
                </a:solidFill>
                <a:latin typeface="Calibri" pitchFamily="34" charset="0"/>
                <a:ea typeface="Calibri" pitchFamily="34" charset="-122"/>
                <a:cs typeface="Calibri" pitchFamily="34" charset="-120"/>
              </a:rPr>
              <a:t>What does a router do?</a:t>
            </a:r>
            <a:endParaRPr lang="en-US" sz="2600" dirty="0"/>
          </a:p>
        </p:txBody>
      </p:sp>
      <p:sp>
        <p:nvSpPr>
          <p:cNvPr id="5" name="Card 202"/>
          <p:cNvSpPr/>
          <p:nvPr/>
        </p:nvSpPr>
        <p:spPr>
          <a:xfrm>
            <a:off x="457200" y="2194560"/>
            <a:ext cx="8229600" cy="713232"/>
          </a:xfrm>
          <a:prstGeom prst="roundRect">
            <a:avLst>
              <a:gd name="adj" fmla="val 15385"/>
            </a:avLst>
          </a:prstGeom>
          <a:solidFill>
            <a:srgbClr val="D9F5E6"/>
          </a:solidFill>
          <a:ln w="38100">
            <a:solidFill>
              <a:srgbClr val="2E9E5B"/>
            </a:solidFill>
            <a:prstDash val="solid"/>
          </a:ln>
          <a:effectLst>
            <a:outerShdw sx="100000" sy="100000" kx="0" ky="0" algn="bl" rotWithShape="0" blurRad="76200" dist="25400" dir="5400000">
              <a:srgbClr val="2B2250">
                <a:alpha val="15000"/>
              </a:srgbClr>
            </a:outerShdw>
          </a:effectLst>
        </p:spPr>
      </p:sp>
      <p:sp>
        <p:nvSpPr>
          <p:cNvPr id="6" name="Dot 203"/>
          <p:cNvSpPr/>
          <p:nvPr/>
        </p:nvSpPr>
        <p:spPr>
          <a:xfrm>
            <a:off x="594360" y="2322576"/>
            <a:ext cx="457200" cy="457200"/>
          </a:xfrm>
          <a:prstGeom prst="ellipse">
            <a:avLst/>
          </a:prstGeom>
          <a:solidFill>
            <a:srgbClr val="2E9E5B"/>
          </a:solidFill>
          <a:ln w="12700">
            <a:solidFill>
              <a:srgbClr val="FFFFFF"/>
            </a:solidFill>
            <a:prstDash val="solid"/>
          </a:ln>
        </p:spPr>
      </p:sp>
      <p:sp>
        <p:nvSpPr>
          <p:cNvPr id="7" name="Text 204"/>
          <p:cNvSpPr txBox="1"/>
          <p:nvPr/>
        </p:nvSpPr>
        <p:spPr>
          <a:xfrm>
            <a:off x="594360" y="2322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8" name="Text 205"/>
          <p:cNvSpPr txBox="1"/>
          <p:nvPr/>
        </p:nvSpPr>
        <p:spPr>
          <a:xfrm>
            <a:off x="1188720" y="2194560"/>
            <a:ext cx="7406640" cy="713232"/>
          </a:xfrm>
          <a:prstGeom prst="rect">
            <a:avLst/>
          </a:prstGeom>
          <a:noFill/>
          <a:ln/>
        </p:spPr>
        <p:txBody>
          <a:bodyPr wrap="square" lIns="0" tIns="0" rIns="0" bIns="0" rtlCol="0" anchor="ctr"/>
          <a:lstStyle/>
          <a:p>
            <a:pPr indent="0" marL="0">
              <a:buNone/>
            </a:pPr>
            <a:r>
              <a:rPr lang="en-US" sz="2200" b="1" dirty="0">
                <a:solidFill>
                  <a:srgbClr val="2B2250"/>
                </a:solidFill>
                <a:latin typeface="Calibri" pitchFamily="34" charset="0"/>
                <a:ea typeface="Calibri" pitchFamily="34" charset="-122"/>
                <a:cs typeface="Calibri" pitchFamily="34" charset="-120"/>
              </a:rPr>
              <a:t>Sends messages from one network to another</a:t>
            </a:r>
            <a:endParaRPr lang="en-US" sz="2200" dirty="0"/>
          </a:p>
        </p:txBody>
      </p:sp>
      <p:sp>
        <p:nvSpPr>
          <p:cNvPr id="9" name="Card 206"/>
          <p:cNvSpPr/>
          <p:nvPr/>
        </p:nvSpPr>
        <p:spPr>
          <a:xfrm>
            <a:off x="457200" y="3017520"/>
            <a:ext cx="8229600" cy="713232"/>
          </a:xfrm>
          <a:prstGeom prst="roundRect">
            <a:avLst>
              <a:gd name="adj" fmla="val 15385"/>
            </a:avLst>
          </a:prstGeom>
          <a:solidFill>
            <a:srgbClr val="FFFFFF"/>
          </a:solidFill>
          <a:ln w="19050">
            <a:solidFill>
              <a:srgbClr val="DDDAEA"/>
            </a:solidFill>
            <a:prstDash val="solid"/>
          </a:ln>
          <a:effectLst>
            <a:outerShdw sx="100000" sy="100000" kx="0" ky="0" algn="bl" rotWithShape="0" blurRad="76200" dist="25400" dir="5400000">
              <a:srgbClr val="2B2250">
                <a:alpha val="15000"/>
              </a:srgbClr>
            </a:outerShdw>
          </a:effectLst>
        </p:spPr>
      </p:sp>
      <p:sp>
        <p:nvSpPr>
          <p:cNvPr id="10" name="Dot 207"/>
          <p:cNvSpPr/>
          <p:nvPr/>
        </p:nvSpPr>
        <p:spPr>
          <a:xfrm>
            <a:off x="594360" y="3145536"/>
            <a:ext cx="457200" cy="457200"/>
          </a:xfrm>
          <a:prstGeom prst="ellipse">
            <a:avLst/>
          </a:prstGeom>
          <a:solidFill>
            <a:srgbClr val="CFCBE0"/>
          </a:solidFill>
          <a:ln w="12700">
            <a:solidFill>
              <a:srgbClr val="FFFFFF"/>
            </a:solidFill>
            <a:prstDash val="solid"/>
          </a:ln>
        </p:spPr>
      </p:sp>
      <p:sp>
        <p:nvSpPr>
          <p:cNvPr id="11" name="Text 208"/>
          <p:cNvSpPr txBox="1"/>
          <p:nvPr/>
        </p:nvSpPr>
        <p:spPr>
          <a:xfrm>
            <a:off x="594360" y="314553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209"/>
          <p:cNvSpPr txBox="1"/>
          <p:nvPr/>
        </p:nvSpPr>
        <p:spPr>
          <a:xfrm>
            <a:off x="1188720" y="3017520"/>
            <a:ext cx="7406640" cy="713232"/>
          </a:xfrm>
          <a:prstGeom prst="rect">
            <a:avLst/>
          </a:prstGeom>
          <a:noFill/>
          <a:ln/>
        </p:spPr>
        <p:txBody>
          <a:bodyPr wrap="square" lIns="0" tIns="0" rIns="0" bIns="0" rtlCol="0" anchor="ctr"/>
          <a:lstStyle/>
          <a:p>
            <a:pPr indent="0" marL="0">
              <a:buNone/>
            </a:pPr>
            <a:r>
              <a:rPr lang="en-US" sz="2200" dirty="0">
                <a:solidFill>
                  <a:srgbClr val="8A86A3"/>
                </a:solidFill>
                <a:latin typeface="Calibri" pitchFamily="34" charset="0"/>
                <a:ea typeface="Calibri" pitchFamily="34" charset="-122"/>
                <a:cs typeface="Calibri" pitchFamily="34" charset="-120"/>
              </a:rPr>
              <a:t>Stores your homework</a:t>
            </a:r>
            <a:endParaRPr lang="en-US" sz="2200" dirty="0"/>
          </a:p>
        </p:txBody>
      </p:sp>
      <p:sp>
        <p:nvSpPr>
          <p:cNvPr id="13" name="Card 210"/>
          <p:cNvSpPr/>
          <p:nvPr/>
        </p:nvSpPr>
        <p:spPr>
          <a:xfrm>
            <a:off x="457200" y="3840480"/>
            <a:ext cx="8229600" cy="713232"/>
          </a:xfrm>
          <a:prstGeom prst="roundRect">
            <a:avLst>
              <a:gd name="adj" fmla="val 15385"/>
            </a:avLst>
          </a:prstGeom>
          <a:solidFill>
            <a:srgbClr val="FFFFFF"/>
          </a:solidFill>
          <a:ln w="19050">
            <a:solidFill>
              <a:srgbClr val="DDDAEA"/>
            </a:solidFill>
            <a:prstDash val="solid"/>
          </a:ln>
          <a:effectLst>
            <a:outerShdw sx="100000" sy="100000" kx="0" ky="0" algn="bl" rotWithShape="0" blurRad="76200" dist="25400" dir="5400000">
              <a:srgbClr val="2B2250">
                <a:alpha val="15000"/>
              </a:srgbClr>
            </a:outerShdw>
          </a:effectLst>
        </p:spPr>
      </p:sp>
      <p:sp>
        <p:nvSpPr>
          <p:cNvPr id="14" name="Dot 211"/>
          <p:cNvSpPr/>
          <p:nvPr/>
        </p:nvSpPr>
        <p:spPr>
          <a:xfrm>
            <a:off x="594360" y="3968496"/>
            <a:ext cx="457200" cy="457200"/>
          </a:xfrm>
          <a:prstGeom prst="ellipse">
            <a:avLst/>
          </a:prstGeom>
          <a:solidFill>
            <a:srgbClr val="CFCBE0"/>
          </a:solidFill>
          <a:ln w="12700">
            <a:solidFill>
              <a:srgbClr val="FFFFFF"/>
            </a:solidFill>
            <a:prstDash val="solid"/>
          </a:ln>
        </p:spPr>
      </p:sp>
      <p:sp>
        <p:nvSpPr>
          <p:cNvPr id="15" name="Text 212"/>
          <p:cNvSpPr txBox="1"/>
          <p:nvPr/>
        </p:nvSpPr>
        <p:spPr>
          <a:xfrm>
            <a:off x="594360" y="39684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6" name="Text 213"/>
          <p:cNvSpPr txBox="1"/>
          <p:nvPr/>
        </p:nvSpPr>
        <p:spPr>
          <a:xfrm>
            <a:off x="1188720" y="3840480"/>
            <a:ext cx="7406640" cy="713232"/>
          </a:xfrm>
          <a:prstGeom prst="rect">
            <a:avLst/>
          </a:prstGeom>
          <a:noFill/>
          <a:ln/>
        </p:spPr>
        <p:txBody>
          <a:bodyPr wrap="square" lIns="0" tIns="0" rIns="0" bIns="0" rtlCol="0" anchor="ctr"/>
          <a:lstStyle/>
          <a:p>
            <a:pPr indent="0" marL="0">
              <a:buNone/>
            </a:pPr>
            <a:r>
              <a:rPr lang="en-US" sz="2200" dirty="0">
                <a:solidFill>
                  <a:srgbClr val="8A86A3"/>
                </a:solidFill>
                <a:latin typeface="Calibri" pitchFamily="34" charset="0"/>
                <a:ea typeface="Calibri" pitchFamily="34" charset="-122"/>
                <a:cs typeface="Calibri" pitchFamily="34" charset="-120"/>
              </a:rPr>
              <a:t>Makes the screen brighter</a:t>
            </a:r>
            <a:endParaRPr lang="en-US" sz="2200" dirty="0"/>
          </a:p>
        </p:txBody>
      </p:sp>
      <p:sp>
        <p:nvSpPr>
          <p:cNvPr id="17" name="Text 214"/>
          <p:cNvSpPr txBox="1"/>
          <p:nvPr/>
        </p:nvSpPr>
        <p:spPr>
          <a:xfrm>
            <a:off x="457200" y="4572000"/>
            <a:ext cx="8229600" cy="457200"/>
          </a:xfrm>
          <a:prstGeom prst="rect">
            <a:avLst/>
          </a:prstGeom>
          <a:noFill/>
          <a:ln/>
        </p:spPr>
        <p:txBody>
          <a:bodyPr wrap="square" lIns="0" tIns="0" rIns="0" bIns="0" rtlCol="0" anchor="t"/>
          <a:lstStyle/>
          <a:p>
            <a:pPr algn="ctr" indent="0" marL="0">
              <a:buNone/>
            </a:pPr>
            <a:r>
              <a:rPr lang="en-US" sz="2000" b="1" dirty="0">
                <a:solidFill>
                  <a:srgbClr val="2E9E5B"/>
                </a:solidFill>
                <a:latin typeface="Calibri" pitchFamily="34" charset="0"/>
                <a:ea typeface="Calibri" pitchFamily="34" charset="-122"/>
                <a:cs typeface="Calibri" pitchFamily="34" charset="-120"/>
              </a:rPr>
              <a:t>A router routes messages between networks.</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Accent 215"/>
          <p:cNvSpPr/>
          <p:nvPr/>
        </p:nvSpPr>
        <p:spPr>
          <a:xfrm>
            <a:off x="0" y="274320"/>
            <a:ext cx="164592" cy="685800"/>
          </a:xfrm>
          <a:prstGeom prst="rect">
            <a:avLst/>
          </a:prstGeom>
          <a:solidFill>
            <a:srgbClr val="1FB89A"/>
          </a:solidFill>
          <a:ln w="12700">
            <a:solidFill>
              <a:srgbClr val="1FB89A"/>
            </a:solidFill>
            <a:prstDash val="solid"/>
          </a:ln>
        </p:spPr>
      </p:sp>
      <p:sp>
        <p:nvSpPr>
          <p:cNvPr id="3" name="Text 216"/>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Keeping networks safe</a:t>
            </a:r>
            <a:endParaRPr lang="en-US" sz="3000" dirty="0"/>
          </a:p>
        </p:txBody>
      </p:sp>
      <p:sp>
        <p:nvSpPr>
          <p:cNvPr id="4" name="Text 217"/>
          <p:cNvSpPr txBox="1"/>
          <p:nvPr/>
        </p:nvSpPr>
        <p:spPr>
          <a:xfrm>
            <a:off x="457200" y="1188720"/>
            <a:ext cx="3931920" cy="3566160"/>
          </a:xfrm>
          <a:prstGeom prst="rect">
            <a:avLst/>
          </a:prstGeom>
          <a:noFill/>
          <a:ln/>
        </p:spPr>
        <p:txBody>
          <a:bodyPr wrap="square" lIns="0" tIns="0" rIns="0" bIns="0" rtlCol="0" anchor="t"/>
          <a:lstStyle/>
          <a:p>
            <a:pPr marL="228600" indent="-228600">
              <a:spcAft>
                <a:spcPts val="1200"/>
              </a:spcAft>
              <a:buSzPct val="100000"/>
              <a:buChar char="•"/>
            </a:pPr>
            <a:r>
              <a:rPr lang="en-US" sz="1800" dirty="0">
                <a:solidFill>
                  <a:schemeClr val="tx1"/>
                </a:solidFill>
                <a:latin typeface="Calibri" pitchFamily="34" charset="0"/>
                <a:ea typeface="Calibri" pitchFamily="34" charset="-122"/>
                <a:cs typeface="Calibri" pitchFamily="34" charset="-120"/>
              </a:rPr>
              <a:t>A front door has a lock so only people with a key can come in.</a:t>
            </a:r>
            <a:endParaRPr lang="en-US" sz="1800" dirty="0"/>
          </a:p>
          <a:p>
            <a:pPr marL="228600" indent="-228600">
              <a:spcAft>
                <a:spcPts val="1200"/>
              </a:spcAft>
              <a:buSzPct val="100000"/>
              <a:buChar char="•"/>
            </a:pPr>
            <a:r>
              <a:rPr lang="en-US" sz="1800" dirty="0">
                <a:solidFill>
                  <a:schemeClr val="tx1"/>
                </a:solidFill>
                <a:latin typeface="Calibri" pitchFamily="34" charset="0"/>
                <a:ea typeface="Calibri" pitchFamily="34" charset="-122"/>
                <a:cs typeface="Calibri" pitchFamily="34" charset="-120"/>
              </a:rPr>
              <a:t>A network needs security too.</a:t>
            </a:r>
            <a:endParaRPr lang="en-US" sz="1800" dirty="0"/>
          </a:p>
          <a:p>
            <a:pPr marL="228600" indent="-228600">
              <a:spcAft>
                <a:spcPts val="1200"/>
              </a:spcAft>
              <a:buSzPct val="100000"/>
              <a:buChar char="•"/>
            </a:pPr>
            <a:r>
              <a:rPr lang="en-US" sz="1800" dirty="0">
                <a:solidFill>
                  <a:schemeClr val="tx1"/>
                </a:solidFill>
                <a:latin typeface="Calibri" pitchFamily="34" charset="0"/>
                <a:ea typeface="Calibri" pitchFamily="34" charset="-122"/>
                <a:cs typeface="Calibri" pitchFamily="34" charset="-120"/>
              </a:rPr>
              <a:t>Some information is private.</a:t>
            </a:r>
            <a:endParaRPr lang="en-US" sz="1800" dirty="0"/>
          </a:p>
          <a:p>
            <a:pPr marL="228600" indent="-228600">
              <a:spcAft>
                <a:spcPts val="1200"/>
              </a:spcAft>
              <a:buSzPct val="100000"/>
              <a:buChar char="•"/>
            </a:pPr>
            <a:r>
              <a:rPr lang="en-US" sz="1800" dirty="0">
                <a:solidFill>
                  <a:schemeClr val="tx1"/>
                </a:solidFill>
                <a:latin typeface="Calibri" pitchFamily="34" charset="0"/>
                <a:ea typeface="Calibri" pitchFamily="34" charset="-122"/>
                <a:cs typeface="Calibri" pitchFamily="34" charset="-120"/>
              </a:rPr>
              <a:t>Some information can be harmful, like a computer virus.</a:t>
            </a:r>
            <a:endParaRPr lang="en-US" sz="1800" dirty="0"/>
          </a:p>
        </p:txBody>
      </p:sp>
      <p:sp>
        <p:nvSpPr>
          <p:cNvPr id="5" name="Card 218"/>
          <p:cNvSpPr/>
          <p:nvPr/>
        </p:nvSpPr>
        <p:spPr>
          <a:xfrm>
            <a:off x="4434840" y="1097280"/>
            <a:ext cx="4389120" cy="3127248"/>
          </a:xfrm>
          <a:prstGeom prst="roundRect">
            <a:avLst>
              <a:gd name="adj" fmla="val 3509"/>
            </a:avLst>
          </a:prstGeom>
          <a:solidFill>
            <a:srgbClr val="FFFFFF"/>
          </a:solidFill>
          <a:ln/>
          <a:effectLst>
            <a:outerShdw sx="100000" sy="100000" kx="0" ky="0" algn="bl" rotWithShape="0" blurRad="76200" dist="25400" dir="5400000">
              <a:srgbClr val="2B2250">
                <a:alpha val="15000"/>
              </a:srgbClr>
            </a:outerShdw>
          </a:effectLst>
        </p:spPr>
      </p:sp>
      <p:pic>
        <p:nvPicPr>
          <p:cNvPr id="6" name="Picture 219" descr="House with a locked door and a protected network">    </p:cNvPr>
          <p:cNvPicPr>
            <a:picLocks noChangeAspect="1"/>
          </p:cNvPicPr>
          <p:nvPr/>
        </p:nvPicPr>
        <p:blipFill>
          <a:blip r:embed="rId1"/>
          <a:stretch>
            <a:fillRect/>
          </a:stretch>
        </p:blipFill>
        <p:spPr>
          <a:xfrm>
            <a:off x="4526280" y="1188720"/>
            <a:ext cx="4206240" cy="294436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Accent 220"/>
          <p:cNvSpPr/>
          <p:nvPr/>
        </p:nvSpPr>
        <p:spPr>
          <a:xfrm>
            <a:off x="0" y="274320"/>
            <a:ext cx="164592" cy="685800"/>
          </a:xfrm>
          <a:prstGeom prst="rect">
            <a:avLst/>
          </a:prstGeom>
          <a:solidFill>
            <a:srgbClr val="1FB89A"/>
          </a:solidFill>
          <a:ln w="12700">
            <a:solidFill>
              <a:srgbClr val="1FB89A"/>
            </a:solidFill>
            <a:prstDash val="solid"/>
          </a:ln>
        </p:spPr>
      </p:sp>
      <p:sp>
        <p:nvSpPr>
          <p:cNvPr id="3" name="Text 221"/>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Accept or block?</a:t>
            </a:r>
            <a:endParaRPr lang="en-US" sz="3000" dirty="0"/>
          </a:p>
        </p:txBody>
      </p:sp>
      <p:sp>
        <p:nvSpPr>
          <p:cNvPr id="4" name="Card 222"/>
          <p:cNvSpPr/>
          <p:nvPr/>
        </p:nvSpPr>
        <p:spPr>
          <a:xfrm>
            <a:off x="457200" y="1188720"/>
            <a:ext cx="2560320" cy="1417320"/>
          </a:xfrm>
          <a:prstGeom prst="roundRect">
            <a:avLst>
              <a:gd name="adj" fmla="val 7742"/>
            </a:avLst>
          </a:prstGeom>
          <a:solidFill>
            <a:srgbClr val="FFFFFF"/>
          </a:solidFill>
          <a:ln/>
          <a:effectLst>
            <a:outerShdw sx="100000" sy="100000" kx="0" ky="0" algn="bl" rotWithShape="0" blurRad="76200" dist="25400" dir="5400000">
              <a:srgbClr val="2B2250">
                <a:alpha val="15000"/>
              </a:srgbClr>
            </a:outerShdw>
          </a:effectLst>
        </p:spPr>
      </p:sp>
      <p:pic>
        <p:nvPicPr>
          <p:cNvPr id="5" name="Icon 223" descr="FaGift">    </p:cNvPr>
          <p:cNvPicPr>
            <a:picLocks noChangeAspect="1"/>
          </p:cNvPicPr>
          <p:nvPr/>
        </p:nvPicPr>
        <p:blipFill>
          <a:blip r:embed="rId1"/>
          <a:stretch>
            <a:fillRect/>
          </a:stretch>
        </p:blipFill>
        <p:spPr>
          <a:xfrm>
            <a:off x="685800" y="1417320"/>
            <a:ext cx="548640" cy="548640"/>
          </a:xfrm>
          <a:prstGeom prst="rect">
            <a:avLst/>
          </a:prstGeom>
        </p:spPr>
      </p:pic>
      <p:sp>
        <p:nvSpPr>
          <p:cNvPr id="6" name="Text 224"/>
          <p:cNvSpPr txBox="1"/>
          <p:nvPr/>
        </p:nvSpPr>
        <p:spPr>
          <a:xfrm>
            <a:off x="1371600" y="1280160"/>
            <a:ext cx="1554480" cy="82296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Message from a friend: “Come to my party!”</a:t>
            </a:r>
            <a:endParaRPr lang="en-US" sz="1800" dirty="0"/>
          </a:p>
        </p:txBody>
      </p:sp>
      <p:sp>
        <p:nvSpPr>
          <p:cNvPr id="7" name="Card 225"/>
          <p:cNvSpPr/>
          <p:nvPr/>
        </p:nvSpPr>
        <p:spPr>
          <a:xfrm>
            <a:off x="3291840" y="1188720"/>
            <a:ext cx="2560320" cy="1417320"/>
          </a:xfrm>
          <a:prstGeom prst="roundRect">
            <a:avLst>
              <a:gd name="adj" fmla="val 7742"/>
            </a:avLst>
          </a:prstGeom>
          <a:solidFill>
            <a:srgbClr val="FFFFFF"/>
          </a:solidFill>
          <a:ln/>
          <a:effectLst>
            <a:outerShdw sx="100000" sy="100000" kx="0" ky="0" algn="bl" rotWithShape="0" blurRad="76200" dist="25400" dir="5400000">
              <a:srgbClr val="2B2250">
                <a:alpha val="15000"/>
              </a:srgbClr>
            </a:outerShdw>
          </a:effectLst>
        </p:spPr>
      </p:sp>
      <p:pic>
        <p:nvPicPr>
          <p:cNvPr id="8" name="Icon 226" descr="FaFileMedical">    </p:cNvPr>
          <p:cNvPicPr>
            <a:picLocks noChangeAspect="1"/>
          </p:cNvPicPr>
          <p:nvPr/>
        </p:nvPicPr>
        <p:blipFill>
          <a:blip r:embed="rId2"/>
          <a:stretch>
            <a:fillRect/>
          </a:stretch>
        </p:blipFill>
        <p:spPr>
          <a:xfrm>
            <a:off x="3520440" y="1417320"/>
            <a:ext cx="548640" cy="548640"/>
          </a:xfrm>
          <a:prstGeom prst="rect">
            <a:avLst/>
          </a:prstGeom>
        </p:spPr>
      </p:pic>
      <p:sp>
        <p:nvSpPr>
          <p:cNvPr id="9" name="Text 227"/>
          <p:cNvSpPr txBox="1"/>
          <p:nvPr/>
        </p:nvSpPr>
        <p:spPr>
          <a:xfrm>
            <a:off x="4206240" y="1280160"/>
            <a:ext cx="1554480" cy="82296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Hospital patient records sent to a shop</a:t>
            </a:r>
            <a:endParaRPr lang="en-US" sz="1800" dirty="0"/>
          </a:p>
        </p:txBody>
      </p:sp>
      <p:sp>
        <p:nvSpPr>
          <p:cNvPr id="10" name="Card 228"/>
          <p:cNvSpPr/>
          <p:nvPr/>
        </p:nvSpPr>
        <p:spPr>
          <a:xfrm>
            <a:off x="6126480" y="1188720"/>
            <a:ext cx="2560320" cy="1417320"/>
          </a:xfrm>
          <a:prstGeom prst="roundRect">
            <a:avLst>
              <a:gd name="adj" fmla="val 7742"/>
            </a:avLst>
          </a:prstGeom>
          <a:solidFill>
            <a:srgbClr val="FFFFFF"/>
          </a:solidFill>
          <a:ln/>
          <a:effectLst>
            <a:outerShdw sx="100000" sy="100000" kx="0" ky="0" algn="bl" rotWithShape="0" blurRad="76200" dist="25400" dir="5400000">
              <a:srgbClr val="2B2250">
                <a:alpha val="15000"/>
              </a:srgbClr>
            </a:outerShdw>
          </a:effectLst>
        </p:spPr>
      </p:sp>
      <p:pic>
        <p:nvPicPr>
          <p:cNvPr id="11" name="Icon 229" descr="FaBug">    </p:cNvPr>
          <p:cNvPicPr>
            <a:picLocks noChangeAspect="1"/>
          </p:cNvPicPr>
          <p:nvPr/>
        </p:nvPicPr>
        <p:blipFill>
          <a:blip r:embed="rId3"/>
          <a:stretch>
            <a:fillRect/>
          </a:stretch>
        </p:blipFill>
        <p:spPr>
          <a:xfrm>
            <a:off x="6355080" y="1417320"/>
            <a:ext cx="548640" cy="548640"/>
          </a:xfrm>
          <a:prstGeom prst="rect">
            <a:avLst/>
          </a:prstGeom>
        </p:spPr>
      </p:pic>
      <p:sp>
        <p:nvSpPr>
          <p:cNvPr id="12" name="Text 230"/>
          <p:cNvSpPr txBox="1"/>
          <p:nvPr/>
        </p:nvSpPr>
        <p:spPr>
          <a:xfrm>
            <a:off x="7040880" y="1280160"/>
            <a:ext cx="1554480" cy="82296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An email with a virus attachment</a:t>
            </a:r>
            <a:endParaRPr lang="en-US" sz="1800" dirty="0"/>
          </a:p>
        </p:txBody>
      </p:sp>
      <p:sp>
        <p:nvSpPr>
          <p:cNvPr id="13" name="Card 231"/>
          <p:cNvSpPr/>
          <p:nvPr/>
        </p:nvSpPr>
        <p:spPr>
          <a:xfrm>
            <a:off x="457200" y="2743200"/>
            <a:ext cx="2560320" cy="1417320"/>
          </a:xfrm>
          <a:prstGeom prst="roundRect">
            <a:avLst>
              <a:gd name="adj" fmla="val 7742"/>
            </a:avLst>
          </a:prstGeom>
          <a:solidFill>
            <a:srgbClr val="FFFFFF"/>
          </a:solidFill>
          <a:ln/>
          <a:effectLst>
            <a:outerShdw sx="100000" sy="100000" kx="0" ky="0" algn="bl" rotWithShape="0" blurRad="76200" dist="25400" dir="5400000">
              <a:srgbClr val="2B2250">
                <a:alpha val="15000"/>
              </a:srgbClr>
            </a:outerShdw>
          </a:effectLst>
        </p:spPr>
      </p:sp>
      <p:pic>
        <p:nvPicPr>
          <p:cNvPr id="14" name="Icon 232" descr="FaNewspaper">    </p:cNvPr>
          <p:cNvPicPr>
            <a:picLocks noChangeAspect="1"/>
          </p:cNvPicPr>
          <p:nvPr/>
        </p:nvPicPr>
        <p:blipFill>
          <a:blip r:embed="rId4"/>
          <a:stretch>
            <a:fillRect/>
          </a:stretch>
        </p:blipFill>
        <p:spPr>
          <a:xfrm>
            <a:off x="685800" y="2971800"/>
            <a:ext cx="548640" cy="548640"/>
          </a:xfrm>
          <a:prstGeom prst="rect">
            <a:avLst/>
          </a:prstGeom>
        </p:spPr>
      </p:pic>
      <p:sp>
        <p:nvSpPr>
          <p:cNvPr id="15" name="Text 233"/>
          <p:cNvSpPr txBox="1"/>
          <p:nvPr/>
        </p:nvSpPr>
        <p:spPr>
          <a:xfrm>
            <a:off x="1371600" y="2834640"/>
            <a:ext cx="1554480" cy="82296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School newsletter for parents</a:t>
            </a:r>
            <a:endParaRPr lang="en-US" sz="1800" dirty="0"/>
          </a:p>
        </p:txBody>
      </p:sp>
      <p:sp>
        <p:nvSpPr>
          <p:cNvPr id="16" name="Card 234"/>
          <p:cNvSpPr/>
          <p:nvPr/>
        </p:nvSpPr>
        <p:spPr>
          <a:xfrm>
            <a:off x="3291840" y="2743200"/>
            <a:ext cx="2560320" cy="1417320"/>
          </a:xfrm>
          <a:prstGeom prst="roundRect">
            <a:avLst>
              <a:gd name="adj" fmla="val 7742"/>
            </a:avLst>
          </a:prstGeom>
          <a:solidFill>
            <a:srgbClr val="FFFFFF"/>
          </a:solidFill>
          <a:ln/>
          <a:effectLst>
            <a:outerShdw sx="100000" sy="100000" kx="0" ky="0" algn="bl" rotWithShape="0" blurRad="76200" dist="25400" dir="5400000">
              <a:srgbClr val="2B2250">
                <a:alpha val="15000"/>
              </a:srgbClr>
            </a:outerShdw>
          </a:effectLst>
        </p:spPr>
      </p:sp>
      <p:pic>
        <p:nvPicPr>
          <p:cNvPr id="17" name="Icon 235" descr="FaKey">    </p:cNvPr>
          <p:cNvPicPr>
            <a:picLocks noChangeAspect="1"/>
          </p:cNvPicPr>
          <p:nvPr/>
        </p:nvPicPr>
        <p:blipFill>
          <a:blip r:embed="rId5"/>
          <a:stretch>
            <a:fillRect/>
          </a:stretch>
        </p:blipFill>
        <p:spPr>
          <a:xfrm>
            <a:off x="3520440" y="2971800"/>
            <a:ext cx="548640" cy="548640"/>
          </a:xfrm>
          <a:prstGeom prst="rect">
            <a:avLst/>
          </a:prstGeom>
        </p:spPr>
      </p:pic>
      <p:sp>
        <p:nvSpPr>
          <p:cNvPr id="18" name="Text 236"/>
          <p:cNvSpPr txBox="1"/>
          <p:nvPr/>
        </p:nvSpPr>
        <p:spPr>
          <a:xfrm>
            <a:off x="4206240" y="2834640"/>
            <a:ext cx="1554480" cy="82296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Someone asking for your password</a:t>
            </a:r>
            <a:endParaRPr lang="en-US" sz="1800" dirty="0"/>
          </a:p>
        </p:txBody>
      </p:sp>
      <p:sp>
        <p:nvSpPr>
          <p:cNvPr id="19" name="Card 237"/>
          <p:cNvSpPr/>
          <p:nvPr/>
        </p:nvSpPr>
        <p:spPr>
          <a:xfrm>
            <a:off x="6126480" y="2743200"/>
            <a:ext cx="2560320" cy="1417320"/>
          </a:xfrm>
          <a:prstGeom prst="roundRect">
            <a:avLst>
              <a:gd name="adj" fmla="val 7742"/>
            </a:avLst>
          </a:prstGeom>
          <a:solidFill>
            <a:srgbClr val="FFFFFF"/>
          </a:solidFill>
          <a:ln/>
          <a:effectLst>
            <a:outerShdw sx="100000" sy="100000" kx="0" ky="0" algn="bl" rotWithShape="0" blurRad="76200" dist="25400" dir="5400000">
              <a:srgbClr val="2B2250">
                <a:alpha val="15000"/>
              </a:srgbClr>
            </a:outerShdw>
          </a:effectLst>
        </p:spPr>
      </p:sp>
      <p:pic>
        <p:nvPicPr>
          <p:cNvPr id="20" name="Icon 238" descr="FaBook">    </p:cNvPr>
          <p:cNvPicPr>
            <a:picLocks noChangeAspect="1"/>
          </p:cNvPicPr>
          <p:nvPr/>
        </p:nvPicPr>
        <p:blipFill>
          <a:blip r:embed="rId6"/>
          <a:stretch>
            <a:fillRect/>
          </a:stretch>
        </p:blipFill>
        <p:spPr>
          <a:xfrm>
            <a:off x="6355080" y="2971800"/>
            <a:ext cx="548640" cy="548640"/>
          </a:xfrm>
          <a:prstGeom prst="rect">
            <a:avLst/>
          </a:prstGeom>
        </p:spPr>
      </p:pic>
      <p:sp>
        <p:nvSpPr>
          <p:cNvPr id="21" name="Text 239"/>
          <p:cNvSpPr txBox="1"/>
          <p:nvPr/>
        </p:nvSpPr>
        <p:spPr>
          <a:xfrm>
            <a:off x="7040880" y="2834640"/>
            <a:ext cx="1554480" cy="82296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Your teacher’s homework message</a:t>
            </a:r>
            <a:endParaRPr lang="en-US" sz="1800" dirty="0"/>
          </a:p>
        </p:txBody>
      </p:sp>
      <p:sp>
        <p:nvSpPr>
          <p:cNvPr id="22" name="Text 240"/>
          <p:cNvSpPr txBox="1"/>
          <p:nvPr/>
        </p:nvSpPr>
        <p:spPr>
          <a:xfrm>
            <a:off x="457200" y="4480560"/>
            <a:ext cx="8229600" cy="457200"/>
          </a:xfrm>
          <a:prstGeom prst="rect">
            <a:avLst/>
          </a:prstGeom>
          <a:noFill/>
          <a:ln/>
        </p:spPr>
        <p:txBody>
          <a:bodyPr wrap="square" lIns="0" tIns="0" rIns="0" bIns="0" rtlCol="0" anchor="t"/>
          <a:lstStyle/>
          <a:p>
            <a:pPr algn="ctr" indent="0" marL="0">
              <a:buNone/>
            </a:pPr>
            <a:r>
              <a:rPr lang="en-US" sz="2000" b="1" dirty="0">
                <a:solidFill>
                  <a:srgbClr val="1FB89A"/>
                </a:solidFill>
                <a:latin typeface="Calibri" pitchFamily="34" charset="0"/>
                <a:ea typeface="Calibri" pitchFamily="34" charset="-122"/>
                <a:cs typeface="Calibri" pitchFamily="34" charset="-120"/>
              </a:rPr>
              <a:t>Decide: ACCEPT ✔ or BLOCK ✖?</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Accent 241"/>
          <p:cNvSpPr/>
          <p:nvPr/>
        </p:nvSpPr>
        <p:spPr>
          <a:xfrm>
            <a:off x="0" y="274320"/>
            <a:ext cx="164592" cy="685800"/>
          </a:xfrm>
          <a:prstGeom prst="rect">
            <a:avLst/>
          </a:prstGeom>
          <a:solidFill>
            <a:srgbClr val="2E9E5B"/>
          </a:solidFill>
          <a:ln w="12700">
            <a:solidFill>
              <a:srgbClr val="2E9E5B"/>
            </a:solidFill>
            <a:prstDash val="solid"/>
          </a:ln>
        </p:spPr>
      </p:sp>
      <p:sp>
        <p:nvSpPr>
          <p:cNvPr id="3" name="Text 24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 Accept or block? — answers</a:t>
            </a:r>
            <a:endParaRPr lang="en-US" sz="3000" dirty="0"/>
          </a:p>
        </p:txBody>
      </p:sp>
      <p:sp>
        <p:nvSpPr>
          <p:cNvPr id="4" name="Card 243"/>
          <p:cNvSpPr/>
          <p:nvPr/>
        </p:nvSpPr>
        <p:spPr>
          <a:xfrm>
            <a:off x="457200" y="1188720"/>
            <a:ext cx="2560320" cy="1417320"/>
          </a:xfrm>
          <a:prstGeom prst="roundRect">
            <a:avLst>
              <a:gd name="adj" fmla="val 7742"/>
            </a:avLst>
          </a:prstGeom>
          <a:solidFill>
            <a:srgbClr val="D9F5E6"/>
          </a:solidFill>
          <a:ln w="31750">
            <a:solidFill>
              <a:srgbClr val="2E9E5B"/>
            </a:solidFill>
            <a:prstDash val="solid"/>
          </a:ln>
          <a:effectLst>
            <a:outerShdw sx="100000" sy="100000" kx="0" ky="0" algn="bl" rotWithShape="0" blurRad="76200" dist="25400" dir="5400000">
              <a:srgbClr val="2B2250">
                <a:alpha val="15000"/>
              </a:srgbClr>
            </a:outerShdw>
          </a:effectLst>
        </p:spPr>
      </p:sp>
      <p:pic>
        <p:nvPicPr>
          <p:cNvPr id="5" name="Icon 244" descr="FaGift">    </p:cNvPr>
          <p:cNvPicPr>
            <a:picLocks noChangeAspect="1"/>
          </p:cNvPicPr>
          <p:nvPr/>
        </p:nvPicPr>
        <p:blipFill>
          <a:blip r:embed="rId1"/>
          <a:stretch>
            <a:fillRect/>
          </a:stretch>
        </p:blipFill>
        <p:spPr>
          <a:xfrm>
            <a:off x="685800" y="1417320"/>
            <a:ext cx="548640" cy="548640"/>
          </a:xfrm>
          <a:prstGeom prst="rect">
            <a:avLst/>
          </a:prstGeom>
        </p:spPr>
      </p:pic>
      <p:sp>
        <p:nvSpPr>
          <p:cNvPr id="6" name="Text 245"/>
          <p:cNvSpPr txBox="1"/>
          <p:nvPr/>
        </p:nvSpPr>
        <p:spPr>
          <a:xfrm>
            <a:off x="1371600" y="1280160"/>
            <a:ext cx="1554480" cy="82296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Message from a friend: “Come to my party!”</a:t>
            </a:r>
            <a:endParaRPr lang="en-US" sz="1800" dirty="0"/>
          </a:p>
        </p:txBody>
      </p:sp>
      <p:sp>
        <p:nvSpPr>
          <p:cNvPr id="7" name="Text 246"/>
          <p:cNvSpPr txBox="1"/>
          <p:nvPr/>
        </p:nvSpPr>
        <p:spPr>
          <a:xfrm>
            <a:off x="594360" y="2148840"/>
            <a:ext cx="2286000" cy="411480"/>
          </a:xfrm>
          <a:prstGeom prst="rect">
            <a:avLst/>
          </a:prstGeom>
          <a:noFill/>
          <a:ln/>
        </p:spPr>
        <p:txBody>
          <a:bodyPr wrap="square" lIns="0" tIns="0" rIns="0" bIns="0" rtlCol="0" anchor="t"/>
          <a:lstStyle/>
          <a:p>
            <a:pPr indent="0" marL="0">
              <a:buNone/>
            </a:pPr>
            <a:r>
              <a:rPr lang="en-US" sz="1600" b="1" dirty="0">
                <a:solidFill>
                  <a:srgbClr val="2E9E5B"/>
                </a:solidFill>
                <a:latin typeface="Calibri" pitchFamily="34" charset="0"/>
                <a:ea typeface="Calibri" pitchFamily="34" charset="-122"/>
                <a:cs typeface="Calibri" pitchFamily="34" charset="-120"/>
              </a:rPr>
              <a:t>ACCEPT ✔</a:t>
            </a:r>
            <a:endParaRPr lang="en-US" sz="1600" dirty="0"/>
          </a:p>
        </p:txBody>
      </p:sp>
      <p:sp>
        <p:nvSpPr>
          <p:cNvPr id="8" name="Card 247"/>
          <p:cNvSpPr/>
          <p:nvPr/>
        </p:nvSpPr>
        <p:spPr>
          <a:xfrm>
            <a:off x="3291840" y="1188720"/>
            <a:ext cx="2560320" cy="1417320"/>
          </a:xfrm>
          <a:prstGeom prst="roundRect">
            <a:avLst>
              <a:gd name="adj" fmla="val 7742"/>
            </a:avLst>
          </a:prstGeom>
          <a:solidFill>
            <a:srgbClr val="FFE3E8"/>
          </a:solidFill>
          <a:ln w="31750">
            <a:solidFill>
              <a:srgbClr val="D64545"/>
            </a:solidFill>
            <a:prstDash val="solid"/>
          </a:ln>
          <a:effectLst>
            <a:outerShdw sx="100000" sy="100000" kx="0" ky="0" algn="bl" rotWithShape="0" blurRad="76200" dist="25400" dir="5400000">
              <a:srgbClr val="2B2250">
                <a:alpha val="15000"/>
              </a:srgbClr>
            </a:outerShdw>
          </a:effectLst>
        </p:spPr>
      </p:sp>
      <p:pic>
        <p:nvPicPr>
          <p:cNvPr id="9" name="Icon 248" descr="FaFileMedical">    </p:cNvPr>
          <p:cNvPicPr>
            <a:picLocks noChangeAspect="1"/>
          </p:cNvPicPr>
          <p:nvPr/>
        </p:nvPicPr>
        <p:blipFill>
          <a:blip r:embed="rId2"/>
          <a:stretch>
            <a:fillRect/>
          </a:stretch>
        </p:blipFill>
        <p:spPr>
          <a:xfrm>
            <a:off x="3520440" y="1417320"/>
            <a:ext cx="548640" cy="548640"/>
          </a:xfrm>
          <a:prstGeom prst="rect">
            <a:avLst/>
          </a:prstGeom>
        </p:spPr>
      </p:pic>
      <p:sp>
        <p:nvSpPr>
          <p:cNvPr id="10" name="Text 249"/>
          <p:cNvSpPr txBox="1"/>
          <p:nvPr/>
        </p:nvSpPr>
        <p:spPr>
          <a:xfrm>
            <a:off x="4206240" y="1280160"/>
            <a:ext cx="1554480" cy="82296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Hospital patient records sent to a shop</a:t>
            </a:r>
            <a:endParaRPr lang="en-US" sz="1800" dirty="0"/>
          </a:p>
        </p:txBody>
      </p:sp>
      <p:sp>
        <p:nvSpPr>
          <p:cNvPr id="11" name="Text 250"/>
          <p:cNvSpPr txBox="1"/>
          <p:nvPr/>
        </p:nvSpPr>
        <p:spPr>
          <a:xfrm>
            <a:off x="3429000" y="2148840"/>
            <a:ext cx="2286000" cy="411480"/>
          </a:xfrm>
          <a:prstGeom prst="rect">
            <a:avLst/>
          </a:prstGeom>
          <a:noFill/>
          <a:ln/>
        </p:spPr>
        <p:txBody>
          <a:bodyPr wrap="square" lIns="0" tIns="0" rIns="0" bIns="0" rtlCol="0" anchor="t"/>
          <a:lstStyle/>
          <a:p>
            <a:pPr indent="0" marL="0">
              <a:buNone/>
            </a:pPr>
            <a:r>
              <a:rPr lang="en-US" sz="1600" b="1" dirty="0">
                <a:solidFill>
                  <a:srgbClr val="D64545"/>
                </a:solidFill>
                <a:latin typeface="Calibri" pitchFamily="34" charset="0"/>
                <a:ea typeface="Calibri" pitchFamily="34" charset="-122"/>
                <a:cs typeface="Calibri" pitchFamily="34" charset="-120"/>
              </a:rPr>
              <a:t>BLOCK ✖</a:t>
            </a:r>
            <a:endParaRPr lang="en-US" sz="1600" dirty="0"/>
          </a:p>
        </p:txBody>
      </p:sp>
      <p:sp>
        <p:nvSpPr>
          <p:cNvPr id="12" name="Card 251"/>
          <p:cNvSpPr/>
          <p:nvPr/>
        </p:nvSpPr>
        <p:spPr>
          <a:xfrm>
            <a:off x="6126480" y="1188720"/>
            <a:ext cx="2560320" cy="1417320"/>
          </a:xfrm>
          <a:prstGeom prst="roundRect">
            <a:avLst>
              <a:gd name="adj" fmla="val 7742"/>
            </a:avLst>
          </a:prstGeom>
          <a:solidFill>
            <a:srgbClr val="FFE3E8"/>
          </a:solidFill>
          <a:ln w="31750">
            <a:solidFill>
              <a:srgbClr val="D64545"/>
            </a:solidFill>
            <a:prstDash val="solid"/>
          </a:ln>
          <a:effectLst>
            <a:outerShdw sx="100000" sy="100000" kx="0" ky="0" algn="bl" rotWithShape="0" blurRad="76200" dist="25400" dir="5400000">
              <a:srgbClr val="2B2250">
                <a:alpha val="15000"/>
              </a:srgbClr>
            </a:outerShdw>
          </a:effectLst>
        </p:spPr>
      </p:sp>
      <p:pic>
        <p:nvPicPr>
          <p:cNvPr id="13" name="Icon 252" descr="FaBug">    </p:cNvPr>
          <p:cNvPicPr>
            <a:picLocks noChangeAspect="1"/>
          </p:cNvPicPr>
          <p:nvPr/>
        </p:nvPicPr>
        <p:blipFill>
          <a:blip r:embed="rId3"/>
          <a:stretch>
            <a:fillRect/>
          </a:stretch>
        </p:blipFill>
        <p:spPr>
          <a:xfrm>
            <a:off x="6355080" y="1417320"/>
            <a:ext cx="548640" cy="548640"/>
          </a:xfrm>
          <a:prstGeom prst="rect">
            <a:avLst/>
          </a:prstGeom>
        </p:spPr>
      </p:pic>
      <p:sp>
        <p:nvSpPr>
          <p:cNvPr id="14" name="Text 253"/>
          <p:cNvSpPr txBox="1"/>
          <p:nvPr/>
        </p:nvSpPr>
        <p:spPr>
          <a:xfrm>
            <a:off x="7040880" y="1280160"/>
            <a:ext cx="1554480" cy="82296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An email with a virus attachment</a:t>
            </a:r>
            <a:endParaRPr lang="en-US" sz="1800" dirty="0"/>
          </a:p>
        </p:txBody>
      </p:sp>
      <p:sp>
        <p:nvSpPr>
          <p:cNvPr id="15" name="Text 254"/>
          <p:cNvSpPr txBox="1"/>
          <p:nvPr/>
        </p:nvSpPr>
        <p:spPr>
          <a:xfrm>
            <a:off x="6263640" y="2148840"/>
            <a:ext cx="2286000" cy="411480"/>
          </a:xfrm>
          <a:prstGeom prst="rect">
            <a:avLst/>
          </a:prstGeom>
          <a:noFill/>
          <a:ln/>
        </p:spPr>
        <p:txBody>
          <a:bodyPr wrap="square" lIns="0" tIns="0" rIns="0" bIns="0" rtlCol="0" anchor="t"/>
          <a:lstStyle/>
          <a:p>
            <a:pPr indent="0" marL="0">
              <a:buNone/>
            </a:pPr>
            <a:r>
              <a:rPr lang="en-US" sz="1600" b="1" dirty="0">
                <a:solidFill>
                  <a:srgbClr val="D64545"/>
                </a:solidFill>
                <a:latin typeface="Calibri" pitchFamily="34" charset="0"/>
                <a:ea typeface="Calibri" pitchFamily="34" charset="-122"/>
                <a:cs typeface="Calibri" pitchFamily="34" charset="-120"/>
              </a:rPr>
              <a:t>BLOCK ✖</a:t>
            </a:r>
            <a:endParaRPr lang="en-US" sz="1600" dirty="0"/>
          </a:p>
        </p:txBody>
      </p:sp>
      <p:sp>
        <p:nvSpPr>
          <p:cNvPr id="16" name="Card 255"/>
          <p:cNvSpPr/>
          <p:nvPr/>
        </p:nvSpPr>
        <p:spPr>
          <a:xfrm>
            <a:off x="457200" y="2743200"/>
            <a:ext cx="2560320" cy="1417320"/>
          </a:xfrm>
          <a:prstGeom prst="roundRect">
            <a:avLst>
              <a:gd name="adj" fmla="val 7742"/>
            </a:avLst>
          </a:prstGeom>
          <a:solidFill>
            <a:srgbClr val="D9F5E6"/>
          </a:solidFill>
          <a:ln w="31750">
            <a:solidFill>
              <a:srgbClr val="2E9E5B"/>
            </a:solidFill>
            <a:prstDash val="solid"/>
          </a:ln>
          <a:effectLst>
            <a:outerShdw sx="100000" sy="100000" kx="0" ky="0" algn="bl" rotWithShape="0" blurRad="76200" dist="25400" dir="5400000">
              <a:srgbClr val="2B2250">
                <a:alpha val="15000"/>
              </a:srgbClr>
            </a:outerShdw>
          </a:effectLst>
        </p:spPr>
      </p:sp>
      <p:pic>
        <p:nvPicPr>
          <p:cNvPr id="17" name="Icon 256" descr="FaNewspaper">    </p:cNvPr>
          <p:cNvPicPr>
            <a:picLocks noChangeAspect="1"/>
          </p:cNvPicPr>
          <p:nvPr/>
        </p:nvPicPr>
        <p:blipFill>
          <a:blip r:embed="rId4"/>
          <a:stretch>
            <a:fillRect/>
          </a:stretch>
        </p:blipFill>
        <p:spPr>
          <a:xfrm>
            <a:off x="685800" y="2971800"/>
            <a:ext cx="548640" cy="548640"/>
          </a:xfrm>
          <a:prstGeom prst="rect">
            <a:avLst/>
          </a:prstGeom>
        </p:spPr>
      </p:pic>
      <p:sp>
        <p:nvSpPr>
          <p:cNvPr id="18" name="Text 257"/>
          <p:cNvSpPr txBox="1"/>
          <p:nvPr/>
        </p:nvSpPr>
        <p:spPr>
          <a:xfrm>
            <a:off x="1371600" y="2834640"/>
            <a:ext cx="1554480" cy="82296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School newsletter for parents</a:t>
            </a:r>
            <a:endParaRPr lang="en-US" sz="1800" dirty="0"/>
          </a:p>
        </p:txBody>
      </p:sp>
      <p:sp>
        <p:nvSpPr>
          <p:cNvPr id="19" name="Text 258"/>
          <p:cNvSpPr txBox="1"/>
          <p:nvPr/>
        </p:nvSpPr>
        <p:spPr>
          <a:xfrm>
            <a:off x="594360" y="3703320"/>
            <a:ext cx="2286000" cy="411480"/>
          </a:xfrm>
          <a:prstGeom prst="rect">
            <a:avLst/>
          </a:prstGeom>
          <a:noFill/>
          <a:ln/>
        </p:spPr>
        <p:txBody>
          <a:bodyPr wrap="square" lIns="0" tIns="0" rIns="0" bIns="0" rtlCol="0" anchor="t"/>
          <a:lstStyle/>
          <a:p>
            <a:pPr indent="0" marL="0">
              <a:buNone/>
            </a:pPr>
            <a:r>
              <a:rPr lang="en-US" sz="1600" b="1" dirty="0">
                <a:solidFill>
                  <a:srgbClr val="2E9E5B"/>
                </a:solidFill>
                <a:latin typeface="Calibri" pitchFamily="34" charset="0"/>
                <a:ea typeface="Calibri" pitchFamily="34" charset="-122"/>
                <a:cs typeface="Calibri" pitchFamily="34" charset="-120"/>
              </a:rPr>
              <a:t>ACCEPT ✔</a:t>
            </a:r>
            <a:endParaRPr lang="en-US" sz="1600" dirty="0"/>
          </a:p>
        </p:txBody>
      </p:sp>
      <p:sp>
        <p:nvSpPr>
          <p:cNvPr id="20" name="Card 259"/>
          <p:cNvSpPr/>
          <p:nvPr/>
        </p:nvSpPr>
        <p:spPr>
          <a:xfrm>
            <a:off x="3291840" y="2743200"/>
            <a:ext cx="2560320" cy="1417320"/>
          </a:xfrm>
          <a:prstGeom prst="roundRect">
            <a:avLst>
              <a:gd name="adj" fmla="val 7742"/>
            </a:avLst>
          </a:prstGeom>
          <a:solidFill>
            <a:srgbClr val="FFE3E8"/>
          </a:solidFill>
          <a:ln w="31750">
            <a:solidFill>
              <a:srgbClr val="D64545"/>
            </a:solidFill>
            <a:prstDash val="solid"/>
          </a:ln>
          <a:effectLst>
            <a:outerShdw sx="100000" sy="100000" kx="0" ky="0" algn="bl" rotWithShape="0" blurRad="76200" dist="25400" dir="5400000">
              <a:srgbClr val="2B2250">
                <a:alpha val="15000"/>
              </a:srgbClr>
            </a:outerShdw>
          </a:effectLst>
        </p:spPr>
      </p:sp>
      <p:pic>
        <p:nvPicPr>
          <p:cNvPr id="21" name="Icon 260" descr="FaKey">    </p:cNvPr>
          <p:cNvPicPr>
            <a:picLocks noChangeAspect="1"/>
          </p:cNvPicPr>
          <p:nvPr/>
        </p:nvPicPr>
        <p:blipFill>
          <a:blip r:embed="rId5"/>
          <a:stretch>
            <a:fillRect/>
          </a:stretch>
        </p:blipFill>
        <p:spPr>
          <a:xfrm>
            <a:off x="3520440" y="2971800"/>
            <a:ext cx="548640" cy="548640"/>
          </a:xfrm>
          <a:prstGeom prst="rect">
            <a:avLst/>
          </a:prstGeom>
        </p:spPr>
      </p:pic>
      <p:sp>
        <p:nvSpPr>
          <p:cNvPr id="22" name="Text 261"/>
          <p:cNvSpPr txBox="1"/>
          <p:nvPr/>
        </p:nvSpPr>
        <p:spPr>
          <a:xfrm>
            <a:off x="4206240" y="2834640"/>
            <a:ext cx="1554480" cy="82296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Someone asking for your password</a:t>
            </a:r>
            <a:endParaRPr lang="en-US" sz="1800" dirty="0"/>
          </a:p>
        </p:txBody>
      </p:sp>
      <p:sp>
        <p:nvSpPr>
          <p:cNvPr id="23" name="Text 262"/>
          <p:cNvSpPr txBox="1"/>
          <p:nvPr/>
        </p:nvSpPr>
        <p:spPr>
          <a:xfrm>
            <a:off x="3429000" y="3703320"/>
            <a:ext cx="2286000" cy="411480"/>
          </a:xfrm>
          <a:prstGeom prst="rect">
            <a:avLst/>
          </a:prstGeom>
          <a:noFill/>
          <a:ln/>
        </p:spPr>
        <p:txBody>
          <a:bodyPr wrap="square" lIns="0" tIns="0" rIns="0" bIns="0" rtlCol="0" anchor="t"/>
          <a:lstStyle/>
          <a:p>
            <a:pPr indent="0" marL="0">
              <a:buNone/>
            </a:pPr>
            <a:r>
              <a:rPr lang="en-US" sz="1600" b="1" dirty="0">
                <a:solidFill>
                  <a:srgbClr val="D64545"/>
                </a:solidFill>
                <a:latin typeface="Calibri" pitchFamily="34" charset="0"/>
                <a:ea typeface="Calibri" pitchFamily="34" charset="-122"/>
                <a:cs typeface="Calibri" pitchFamily="34" charset="-120"/>
              </a:rPr>
              <a:t>BLOCK ✖</a:t>
            </a:r>
            <a:endParaRPr lang="en-US" sz="1600" dirty="0"/>
          </a:p>
        </p:txBody>
      </p:sp>
      <p:sp>
        <p:nvSpPr>
          <p:cNvPr id="24" name="Card 263"/>
          <p:cNvSpPr/>
          <p:nvPr/>
        </p:nvSpPr>
        <p:spPr>
          <a:xfrm>
            <a:off x="6126480" y="2743200"/>
            <a:ext cx="2560320" cy="1417320"/>
          </a:xfrm>
          <a:prstGeom prst="roundRect">
            <a:avLst>
              <a:gd name="adj" fmla="val 7742"/>
            </a:avLst>
          </a:prstGeom>
          <a:solidFill>
            <a:srgbClr val="D9F5E6"/>
          </a:solidFill>
          <a:ln w="31750">
            <a:solidFill>
              <a:srgbClr val="2E9E5B"/>
            </a:solidFill>
            <a:prstDash val="solid"/>
          </a:ln>
          <a:effectLst>
            <a:outerShdw sx="100000" sy="100000" kx="0" ky="0" algn="bl" rotWithShape="0" blurRad="76200" dist="25400" dir="5400000">
              <a:srgbClr val="2B2250">
                <a:alpha val="15000"/>
              </a:srgbClr>
            </a:outerShdw>
          </a:effectLst>
        </p:spPr>
      </p:sp>
      <p:pic>
        <p:nvPicPr>
          <p:cNvPr id="25" name="Icon 264" descr="FaBook">    </p:cNvPr>
          <p:cNvPicPr>
            <a:picLocks noChangeAspect="1"/>
          </p:cNvPicPr>
          <p:nvPr/>
        </p:nvPicPr>
        <p:blipFill>
          <a:blip r:embed="rId6"/>
          <a:stretch>
            <a:fillRect/>
          </a:stretch>
        </p:blipFill>
        <p:spPr>
          <a:xfrm>
            <a:off x="6355080" y="2971800"/>
            <a:ext cx="548640" cy="548640"/>
          </a:xfrm>
          <a:prstGeom prst="rect">
            <a:avLst/>
          </a:prstGeom>
        </p:spPr>
      </p:pic>
      <p:sp>
        <p:nvSpPr>
          <p:cNvPr id="26" name="Text 265"/>
          <p:cNvSpPr txBox="1"/>
          <p:nvPr/>
        </p:nvSpPr>
        <p:spPr>
          <a:xfrm>
            <a:off x="7040880" y="2834640"/>
            <a:ext cx="1554480" cy="82296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Your teacher’s homework message</a:t>
            </a:r>
            <a:endParaRPr lang="en-US" sz="1800" dirty="0"/>
          </a:p>
        </p:txBody>
      </p:sp>
      <p:sp>
        <p:nvSpPr>
          <p:cNvPr id="27" name="Text 266"/>
          <p:cNvSpPr txBox="1"/>
          <p:nvPr/>
        </p:nvSpPr>
        <p:spPr>
          <a:xfrm>
            <a:off x="6263640" y="3703320"/>
            <a:ext cx="2286000" cy="411480"/>
          </a:xfrm>
          <a:prstGeom prst="rect">
            <a:avLst/>
          </a:prstGeom>
          <a:noFill/>
          <a:ln/>
        </p:spPr>
        <p:txBody>
          <a:bodyPr wrap="square" lIns="0" tIns="0" rIns="0" bIns="0" rtlCol="0" anchor="t"/>
          <a:lstStyle/>
          <a:p>
            <a:pPr indent="0" marL="0">
              <a:buNone/>
            </a:pPr>
            <a:r>
              <a:rPr lang="en-US" sz="1600" b="1" dirty="0">
                <a:solidFill>
                  <a:srgbClr val="2E9E5B"/>
                </a:solidFill>
                <a:latin typeface="Calibri" pitchFamily="34" charset="0"/>
                <a:ea typeface="Calibri" pitchFamily="34" charset="-122"/>
                <a:cs typeface="Calibri" pitchFamily="34" charset="-120"/>
              </a:rPr>
              <a:t>ACCEPT ✔</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Accent 267"/>
          <p:cNvSpPr/>
          <p:nvPr/>
        </p:nvSpPr>
        <p:spPr>
          <a:xfrm>
            <a:off x="0" y="274320"/>
            <a:ext cx="164592" cy="685800"/>
          </a:xfrm>
          <a:prstGeom prst="rect">
            <a:avLst/>
          </a:prstGeom>
          <a:solidFill>
            <a:srgbClr val="1FB89A"/>
          </a:solidFill>
          <a:ln w="12700">
            <a:solidFill>
              <a:srgbClr val="1FB89A"/>
            </a:solidFill>
            <a:prstDash val="solid"/>
          </a:ln>
        </p:spPr>
      </p:sp>
      <p:sp>
        <p:nvSpPr>
          <p:cNvPr id="3" name="Text 268"/>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Think · Pair · Share</a:t>
            </a:r>
            <a:endParaRPr lang="en-US" sz="3000" dirty="0"/>
          </a:p>
        </p:txBody>
      </p:sp>
      <p:sp>
        <p:nvSpPr>
          <p:cNvPr id="4" name="Card 269"/>
          <p:cNvSpPr/>
          <p:nvPr/>
        </p:nvSpPr>
        <p:spPr>
          <a:xfrm>
            <a:off x="822960" y="1280160"/>
            <a:ext cx="7498080" cy="2194560"/>
          </a:xfrm>
          <a:prstGeom prst="roundRect">
            <a:avLst>
              <a:gd name="adj" fmla="val 5000"/>
            </a:avLst>
          </a:prstGeom>
          <a:solidFill>
            <a:srgbClr val="FFFFFF"/>
          </a:solidFill>
          <a:ln/>
          <a:effectLst>
            <a:outerShdw sx="100000" sy="100000" kx="0" ky="0" algn="bl" rotWithShape="0" blurRad="76200" dist="25400" dir="5400000">
              <a:srgbClr val="2B2250">
                <a:alpha val="15000"/>
              </a:srgbClr>
            </a:outerShdw>
          </a:effectLst>
        </p:spPr>
      </p:sp>
      <p:sp>
        <p:nvSpPr>
          <p:cNvPr id="5" name="Text 270"/>
          <p:cNvSpPr txBox="1"/>
          <p:nvPr/>
        </p:nvSpPr>
        <p:spPr>
          <a:xfrm>
            <a:off x="1188720" y="1371600"/>
            <a:ext cx="6766560" cy="2011680"/>
          </a:xfrm>
          <a:prstGeom prst="rect">
            <a:avLst/>
          </a:prstGeom>
          <a:noFill/>
          <a:ln/>
        </p:spPr>
        <p:txBody>
          <a:bodyPr wrap="square" lIns="0" tIns="0" rIns="0" bIns="0" rtlCol="0" anchor="ctr"/>
          <a:lstStyle/>
          <a:p>
            <a:pPr algn="ctr" indent="0" marL="0">
              <a:buNone/>
            </a:pPr>
            <a:r>
              <a:rPr lang="en-US" sz="2600" b="1" dirty="0">
                <a:solidFill>
                  <a:schemeClr val="tx1"/>
                </a:solidFill>
                <a:latin typeface="Calibri" pitchFamily="34" charset="0"/>
                <a:ea typeface="Calibri" pitchFamily="34" charset="-122"/>
                <a:cs typeface="Calibri" pitchFamily="34" charset="-120"/>
              </a:rPr>
              <a:t>Now: what IS the internet? Improve your first idea!</a:t>
            </a:r>
            <a:endParaRPr lang="en-US" sz="2600" dirty="0"/>
          </a:p>
        </p:txBody>
      </p:sp>
      <p:pic>
        <p:nvPicPr>
          <p:cNvPr id="6" name="Icon 271" descr="FaUserFriends">    </p:cNvPr>
          <p:cNvPicPr>
            <a:picLocks noChangeAspect="1"/>
          </p:cNvPicPr>
          <p:nvPr/>
        </p:nvPicPr>
        <p:blipFill>
          <a:blip r:embed="rId1"/>
          <a:stretch>
            <a:fillRect/>
          </a:stretch>
        </p:blipFill>
        <p:spPr>
          <a:xfrm>
            <a:off x="2468880" y="3749040"/>
            <a:ext cx="731520" cy="731520"/>
          </a:xfrm>
          <a:prstGeom prst="rect">
            <a:avLst/>
          </a:prstGeom>
        </p:spPr>
      </p:pic>
      <p:pic>
        <p:nvPicPr>
          <p:cNvPr id="7" name="Icon 272" descr="FaCommentDots">    </p:cNvPr>
          <p:cNvPicPr>
            <a:picLocks noChangeAspect="1"/>
          </p:cNvPicPr>
          <p:nvPr/>
        </p:nvPicPr>
        <p:blipFill>
          <a:blip r:embed="rId2"/>
          <a:stretch>
            <a:fillRect/>
          </a:stretch>
        </p:blipFill>
        <p:spPr>
          <a:xfrm>
            <a:off x="4206240" y="3749040"/>
            <a:ext cx="731520" cy="731520"/>
          </a:xfrm>
          <a:prstGeom prst="rect">
            <a:avLst/>
          </a:prstGeom>
        </p:spPr>
      </p:pic>
      <p:pic>
        <p:nvPicPr>
          <p:cNvPr id="8" name="Icon 273" descr="FaHandsHelping">    </p:cNvPr>
          <p:cNvPicPr>
            <a:picLocks noChangeAspect="1"/>
          </p:cNvPicPr>
          <p:nvPr/>
        </p:nvPicPr>
        <p:blipFill>
          <a:blip r:embed="rId3"/>
          <a:stretch>
            <a:fillRect/>
          </a:stretch>
        </p:blipFill>
        <p:spPr>
          <a:xfrm>
            <a:off x="5943600" y="3749040"/>
            <a:ext cx="731520" cy="731520"/>
          </a:xfrm>
          <a:prstGeom prst="rect">
            <a:avLst/>
          </a:prstGeom>
        </p:spPr>
      </p:pic>
      <p:sp>
        <p:nvSpPr>
          <p:cNvPr id="9" name="Text 274"/>
          <p:cNvSpPr txBox="1"/>
          <p:nvPr/>
        </p:nvSpPr>
        <p:spPr>
          <a:xfrm>
            <a:off x="2286000" y="4526280"/>
            <a:ext cx="1097280" cy="36576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Think</a:t>
            </a:r>
            <a:endParaRPr lang="en-US" sz="1600" dirty="0"/>
          </a:p>
        </p:txBody>
      </p:sp>
      <p:sp>
        <p:nvSpPr>
          <p:cNvPr id="10" name="Text 275"/>
          <p:cNvSpPr txBox="1"/>
          <p:nvPr/>
        </p:nvSpPr>
        <p:spPr>
          <a:xfrm>
            <a:off x="4023360" y="4526280"/>
            <a:ext cx="1097280" cy="36576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Pair</a:t>
            </a:r>
            <a:endParaRPr lang="en-US" sz="1600" dirty="0"/>
          </a:p>
        </p:txBody>
      </p:sp>
      <p:sp>
        <p:nvSpPr>
          <p:cNvPr id="11" name="Text 276"/>
          <p:cNvSpPr txBox="1"/>
          <p:nvPr/>
        </p:nvSpPr>
        <p:spPr>
          <a:xfrm>
            <a:off x="5760720" y="4526280"/>
            <a:ext cx="1097280" cy="36576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Share</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Accent 277"/>
          <p:cNvSpPr/>
          <p:nvPr/>
        </p:nvSpPr>
        <p:spPr>
          <a:xfrm>
            <a:off x="0" y="0"/>
            <a:ext cx="457200" cy="5143500"/>
          </a:xfrm>
          <a:prstGeom prst="rect">
            <a:avLst/>
          </a:prstGeom>
          <a:solidFill>
            <a:srgbClr val="4DA3E0"/>
          </a:solidFill>
          <a:ln w="12700">
            <a:solidFill>
              <a:srgbClr val="4DA3E0"/>
            </a:solidFill>
            <a:prstDash val="solid"/>
          </a:ln>
        </p:spPr>
      </p:sp>
      <p:sp>
        <p:nvSpPr>
          <p:cNvPr id="3" name="Text 278"/>
          <p:cNvSpPr txBox="1"/>
          <p:nvPr/>
        </p:nvSpPr>
        <p:spPr>
          <a:xfrm>
            <a:off x="914400" y="822960"/>
            <a:ext cx="5486400" cy="457200"/>
          </a:xfrm>
          <a:prstGeom prst="rect">
            <a:avLst/>
          </a:prstGeom>
          <a:noFill/>
          <a:ln/>
        </p:spPr>
        <p:txBody>
          <a:bodyPr wrap="square" lIns="0" tIns="0" rIns="0" bIns="0" rtlCol="0" anchor="t"/>
          <a:lstStyle/>
          <a:p>
            <a:pPr indent="0" marL="0">
              <a:buNone/>
            </a:pPr>
            <a:r>
              <a:rPr lang="en-US" sz="2000" b="1" spc="400" kern="0" dirty="0">
                <a:solidFill>
                  <a:srgbClr val="FFD23F"/>
                </a:solidFill>
                <a:latin typeface="Calibri" pitchFamily="34" charset="0"/>
                <a:ea typeface="Calibri" pitchFamily="34" charset="-122"/>
                <a:cs typeface="Calibri" pitchFamily="34" charset="-120"/>
              </a:rPr>
              <a:t>LESSON 2</a:t>
            </a:r>
            <a:endParaRPr lang="en-US" sz="2000" dirty="0"/>
          </a:p>
        </p:txBody>
      </p:sp>
      <p:sp>
        <p:nvSpPr>
          <p:cNvPr id="4" name="Text 279"/>
          <p:cNvSpPr txBox="1"/>
          <p:nvPr/>
        </p:nvSpPr>
        <p:spPr>
          <a:xfrm>
            <a:off x="914400" y="1371600"/>
            <a:ext cx="5760720" cy="173736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What is the internet made of?</a:t>
            </a:r>
            <a:endParaRPr lang="en-US" sz="3800" dirty="0"/>
          </a:p>
        </p:txBody>
      </p:sp>
      <p:sp>
        <p:nvSpPr>
          <p:cNvPr id="5" name="Text 280"/>
          <p:cNvSpPr txBox="1"/>
          <p:nvPr/>
        </p:nvSpPr>
        <p:spPr>
          <a:xfrm>
            <a:off x="914400" y="3383280"/>
            <a:ext cx="5760720" cy="1005840"/>
          </a:xfrm>
          <a:prstGeom prst="rect">
            <a:avLst/>
          </a:prstGeom>
          <a:noFill/>
          <a:ln/>
        </p:spPr>
        <p:txBody>
          <a:bodyPr wrap="square" lIns="0" tIns="0" rIns="0" bIns="0" rtlCol="0" anchor="t"/>
          <a:lstStyle/>
          <a:p>
            <a:pPr indent="0" marL="0">
              <a:buNone/>
            </a:pPr>
            <a:r>
              <a:rPr lang="en-US" sz="2000" i="1" dirty="0">
                <a:solidFill>
                  <a:srgbClr val="D9D4F5"/>
                </a:solidFill>
                <a:latin typeface="Calibri" pitchFamily="34" charset="0"/>
                <a:ea typeface="Calibri" pitchFamily="34" charset="-122"/>
                <a:cs typeface="Calibri" pitchFamily="34" charset="-120"/>
              </a:rPr>
              <a:t>What parts join up to make the internet?</a:t>
            </a:r>
            <a:endParaRPr lang="en-US" sz="2000" dirty="0"/>
          </a:p>
        </p:txBody>
      </p:sp>
      <p:sp>
        <p:nvSpPr>
          <p:cNvPr id="6" name="Blob 281"/>
          <p:cNvSpPr/>
          <p:nvPr/>
        </p:nvSpPr>
        <p:spPr>
          <a:xfrm>
            <a:off x="6766560" y="1188720"/>
            <a:ext cx="2011680" cy="2011680"/>
          </a:xfrm>
          <a:prstGeom prst="ellipse">
            <a:avLst/>
          </a:prstGeom>
          <a:solidFill>
            <a:srgbClr val="4DA3E0"/>
          </a:solidFill>
          <a:ln w="12700">
            <a:solidFill>
              <a:srgbClr val="4DA3E0"/>
            </a:solidFill>
            <a:prstDash val="solid"/>
          </a:ln>
        </p:spPr>
      </p:sp>
      <p:pic>
        <p:nvPicPr>
          <p:cNvPr id="7" name="Icon 282" descr="FaCubes">    </p:cNvPr>
          <p:cNvPicPr>
            <a:picLocks noChangeAspect="1"/>
          </p:cNvPicPr>
          <p:nvPr/>
        </p:nvPicPr>
        <p:blipFill>
          <a:blip r:embed="rId1"/>
          <a:stretch>
            <a:fillRect/>
          </a:stretch>
        </p:blipFill>
        <p:spPr>
          <a:xfrm>
            <a:off x="7269480" y="1691640"/>
            <a:ext cx="1005840" cy="100584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Accent 283"/>
          <p:cNvSpPr/>
          <p:nvPr/>
        </p:nvSpPr>
        <p:spPr>
          <a:xfrm>
            <a:off x="0" y="274320"/>
            <a:ext cx="164592" cy="685800"/>
          </a:xfrm>
          <a:prstGeom prst="rect">
            <a:avLst/>
          </a:prstGeom>
          <a:solidFill>
            <a:srgbClr val="4DA3E0"/>
          </a:solidFill>
          <a:ln w="12700">
            <a:solidFill>
              <a:srgbClr val="4DA3E0"/>
            </a:solidFill>
            <a:prstDash val="solid"/>
          </a:ln>
        </p:spPr>
      </p:sp>
      <p:sp>
        <p:nvSpPr>
          <p:cNvPr id="3" name="Text 284"/>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Today I can…</a:t>
            </a:r>
            <a:endParaRPr lang="en-US" sz="3000" dirty="0"/>
          </a:p>
        </p:txBody>
      </p:sp>
      <p:sp>
        <p:nvSpPr>
          <p:cNvPr id="4" name="Card 285"/>
          <p:cNvSpPr/>
          <p:nvPr/>
        </p:nvSpPr>
        <p:spPr>
          <a:xfrm>
            <a:off x="457200" y="1234440"/>
            <a:ext cx="8229600" cy="914400"/>
          </a:xfrm>
          <a:prstGeom prst="roundRect">
            <a:avLst>
              <a:gd name="adj" fmla="val 12000"/>
            </a:avLst>
          </a:prstGeom>
          <a:solidFill>
            <a:srgbClr val="FFFFFF"/>
          </a:solidFill>
          <a:ln/>
          <a:effectLst>
            <a:outerShdw sx="100000" sy="100000" kx="0" ky="0" algn="bl" rotWithShape="0" blurRad="76200" dist="25400" dir="5400000">
              <a:srgbClr val="2B2250">
                <a:alpha val="15000"/>
              </a:srgbClr>
            </a:outerShdw>
          </a:effectLst>
        </p:spPr>
      </p:sp>
      <p:sp>
        <p:nvSpPr>
          <p:cNvPr id="5" name="Dot 286"/>
          <p:cNvSpPr/>
          <p:nvPr/>
        </p:nvSpPr>
        <p:spPr>
          <a:xfrm>
            <a:off x="640080" y="1389888"/>
            <a:ext cx="603504" cy="603504"/>
          </a:xfrm>
          <a:prstGeom prst="ellipse">
            <a:avLst/>
          </a:prstGeom>
          <a:solidFill>
            <a:srgbClr val="FF9A3D"/>
          </a:solidFill>
          <a:ln w="12700">
            <a:solidFill>
              <a:srgbClr val="FFFFFF"/>
            </a:solidFill>
            <a:prstDash val="solid"/>
          </a:ln>
        </p:spPr>
      </p:sp>
      <p:pic>
        <p:nvPicPr>
          <p:cNvPr id="6" name="Icon 287" descr="FaServer">    </p:cNvPr>
          <p:cNvPicPr>
            <a:picLocks noChangeAspect="1"/>
          </p:cNvPicPr>
          <p:nvPr/>
        </p:nvPicPr>
        <p:blipFill>
          <a:blip r:embed="rId1"/>
          <a:stretch>
            <a:fillRect/>
          </a:stretch>
        </p:blipFill>
        <p:spPr>
          <a:xfrm>
            <a:off x="786384" y="1536192"/>
            <a:ext cx="310896" cy="310896"/>
          </a:xfrm>
          <a:prstGeom prst="rect">
            <a:avLst/>
          </a:prstGeom>
        </p:spPr>
      </p:pic>
      <p:sp>
        <p:nvSpPr>
          <p:cNvPr id="7" name="Text 288"/>
          <p:cNvSpPr txBox="1"/>
          <p:nvPr/>
        </p:nvSpPr>
        <p:spPr>
          <a:xfrm>
            <a:off x="1463040" y="1234440"/>
            <a:ext cx="7040880" cy="91440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I can describe networked devices and how they connect</a:t>
            </a:r>
            <a:endParaRPr lang="en-US" sz="2000" dirty="0"/>
          </a:p>
        </p:txBody>
      </p:sp>
      <p:sp>
        <p:nvSpPr>
          <p:cNvPr id="8" name="Card 289"/>
          <p:cNvSpPr/>
          <p:nvPr/>
        </p:nvSpPr>
        <p:spPr>
          <a:xfrm>
            <a:off x="457200" y="2286000"/>
            <a:ext cx="8229600" cy="914400"/>
          </a:xfrm>
          <a:prstGeom prst="roundRect">
            <a:avLst>
              <a:gd name="adj" fmla="val 12000"/>
            </a:avLst>
          </a:prstGeom>
          <a:solidFill>
            <a:srgbClr val="FFFFFF"/>
          </a:solidFill>
          <a:ln/>
          <a:effectLst>
            <a:outerShdw sx="100000" sy="100000" kx="0" ky="0" algn="bl" rotWithShape="0" blurRad="76200" dist="25400" dir="5400000">
              <a:srgbClr val="2B2250">
                <a:alpha val="15000"/>
              </a:srgbClr>
            </a:outerShdw>
          </a:effectLst>
        </p:spPr>
      </p:sp>
      <p:sp>
        <p:nvSpPr>
          <p:cNvPr id="9" name="Dot 290"/>
          <p:cNvSpPr/>
          <p:nvPr/>
        </p:nvSpPr>
        <p:spPr>
          <a:xfrm>
            <a:off x="640080" y="2441448"/>
            <a:ext cx="603504" cy="603504"/>
          </a:xfrm>
          <a:prstGeom prst="ellipse">
            <a:avLst/>
          </a:prstGeom>
          <a:solidFill>
            <a:srgbClr val="FF5C8A"/>
          </a:solidFill>
          <a:ln w="12700">
            <a:solidFill>
              <a:srgbClr val="FFFFFF"/>
            </a:solidFill>
            <a:prstDash val="solid"/>
          </a:ln>
        </p:spPr>
      </p:sp>
      <p:pic>
        <p:nvPicPr>
          <p:cNvPr id="10" name="Icon 291" descr="FaConciergeBell">    </p:cNvPr>
          <p:cNvPicPr>
            <a:picLocks noChangeAspect="1"/>
          </p:cNvPicPr>
          <p:nvPr/>
        </p:nvPicPr>
        <p:blipFill>
          <a:blip r:embed="rId2"/>
          <a:stretch>
            <a:fillRect/>
          </a:stretch>
        </p:blipFill>
        <p:spPr>
          <a:xfrm>
            <a:off x="786384" y="2587752"/>
            <a:ext cx="310896" cy="310896"/>
          </a:xfrm>
          <a:prstGeom prst="rect">
            <a:avLst/>
          </a:prstGeom>
        </p:spPr>
      </p:pic>
      <p:sp>
        <p:nvSpPr>
          <p:cNvPr id="11" name="Text 292"/>
          <p:cNvSpPr txBox="1"/>
          <p:nvPr/>
        </p:nvSpPr>
        <p:spPr>
          <a:xfrm>
            <a:off x="1463040" y="2286000"/>
            <a:ext cx="7040880" cy="91440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I can explain the internet provides many services</a:t>
            </a:r>
            <a:endParaRPr lang="en-US" sz="2000" dirty="0"/>
          </a:p>
        </p:txBody>
      </p:sp>
      <p:sp>
        <p:nvSpPr>
          <p:cNvPr id="12" name="Card 293"/>
          <p:cNvSpPr/>
          <p:nvPr/>
        </p:nvSpPr>
        <p:spPr>
          <a:xfrm>
            <a:off x="457200" y="3337560"/>
            <a:ext cx="8229600" cy="914400"/>
          </a:xfrm>
          <a:prstGeom prst="roundRect">
            <a:avLst>
              <a:gd name="adj" fmla="val 12000"/>
            </a:avLst>
          </a:prstGeom>
          <a:solidFill>
            <a:srgbClr val="FFFFFF"/>
          </a:solidFill>
          <a:ln/>
          <a:effectLst>
            <a:outerShdw sx="100000" sy="100000" kx="0" ky="0" algn="bl" rotWithShape="0" blurRad="76200" dist="25400" dir="5400000">
              <a:srgbClr val="2B2250">
                <a:alpha val="15000"/>
              </a:srgbClr>
            </a:outerShdw>
          </a:effectLst>
        </p:spPr>
      </p:sp>
      <p:sp>
        <p:nvSpPr>
          <p:cNvPr id="13" name="Dot 294"/>
          <p:cNvSpPr/>
          <p:nvPr/>
        </p:nvSpPr>
        <p:spPr>
          <a:xfrm>
            <a:off x="640080" y="3493008"/>
            <a:ext cx="603504" cy="603504"/>
          </a:xfrm>
          <a:prstGeom prst="ellipse">
            <a:avLst/>
          </a:prstGeom>
          <a:solidFill>
            <a:srgbClr val="4DA3E0"/>
          </a:solidFill>
          <a:ln w="12700">
            <a:solidFill>
              <a:srgbClr val="FFFFFF"/>
            </a:solidFill>
            <a:prstDash val="solid"/>
          </a:ln>
        </p:spPr>
      </p:sp>
      <p:pic>
        <p:nvPicPr>
          <p:cNvPr id="14" name="Icon 295" descr="FaGlobe">    </p:cNvPr>
          <p:cNvPicPr>
            <a:picLocks noChangeAspect="1"/>
          </p:cNvPicPr>
          <p:nvPr/>
        </p:nvPicPr>
        <p:blipFill>
          <a:blip r:embed="rId3"/>
          <a:stretch>
            <a:fillRect/>
          </a:stretch>
        </p:blipFill>
        <p:spPr>
          <a:xfrm>
            <a:off x="786384" y="3639312"/>
            <a:ext cx="310896" cy="310896"/>
          </a:xfrm>
          <a:prstGeom prst="rect">
            <a:avLst/>
          </a:prstGeom>
        </p:spPr>
      </p:pic>
      <p:sp>
        <p:nvSpPr>
          <p:cNvPr id="15" name="Text 296"/>
          <p:cNvSpPr txBox="1"/>
          <p:nvPr/>
        </p:nvSpPr>
        <p:spPr>
          <a:xfrm>
            <a:off x="1463040" y="3337560"/>
            <a:ext cx="7040880" cy="91440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I can say the World Wide Web is part of the internet</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Accent 297"/>
          <p:cNvSpPr/>
          <p:nvPr/>
        </p:nvSpPr>
        <p:spPr>
          <a:xfrm>
            <a:off x="0" y="274320"/>
            <a:ext cx="164592" cy="685800"/>
          </a:xfrm>
          <a:prstGeom prst="rect">
            <a:avLst/>
          </a:prstGeom>
          <a:solidFill>
            <a:srgbClr val="4DA3E0"/>
          </a:solidFill>
          <a:ln w="12700">
            <a:solidFill>
              <a:srgbClr val="4DA3E0"/>
            </a:solidFill>
            <a:prstDash val="solid"/>
          </a:ln>
        </p:spPr>
      </p:sp>
      <p:sp>
        <p:nvSpPr>
          <p:cNvPr id="3" name="Text 298"/>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Key words</a:t>
            </a:r>
            <a:endParaRPr lang="en-US" sz="3000" dirty="0"/>
          </a:p>
        </p:txBody>
      </p:sp>
      <p:sp>
        <p:nvSpPr>
          <p:cNvPr id="4" name="Card 299"/>
          <p:cNvSpPr/>
          <p:nvPr/>
        </p:nvSpPr>
        <p:spPr>
          <a:xfrm>
            <a:off x="457200" y="1188720"/>
            <a:ext cx="4114800" cy="1783080"/>
          </a:xfrm>
          <a:prstGeom prst="roundRect">
            <a:avLst>
              <a:gd name="adj" fmla="val 6154"/>
            </a:avLst>
          </a:prstGeom>
          <a:solidFill>
            <a:srgbClr val="FFFFFF"/>
          </a:solidFill>
          <a:ln/>
          <a:effectLst>
            <a:outerShdw sx="100000" sy="100000" kx="0" ky="0" algn="bl" rotWithShape="0" blurRad="76200" dist="25400" dir="5400000">
              <a:srgbClr val="2B2250">
                <a:alpha val="15000"/>
              </a:srgbClr>
            </a:outerShdw>
          </a:effectLst>
        </p:spPr>
      </p:sp>
      <p:sp>
        <p:nvSpPr>
          <p:cNvPr id="5" name="Dot 300"/>
          <p:cNvSpPr/>
          <p:nvPr/>
        </p:nvSpPr>
        <p:spPr>
          <a:xfrm>
            <a:off x="640080" y="1371600"/>
            <a:ext cx="731520" cy="731520"/>
          </a:xfrm>
          <a:prstGeom prst="ellipse">
            <a:avLst/>
          </a:prstGeom>
          <a:solidFill>
            <a:srgbClr val="FF9A3D"/>
          </a:solidFill>
          <a:ln w="12700">
            <a:solidFill>
              <a:srgbClr val="FFFFFF"/>
            </a:solidFill>
            <a:prstDash val="solid"/>
          </a:ln>
        </p:spPr>
      </p:sp>
      <p:pic>
        <p:nvPicPr>
          <p:cNvPr id="6" name="Icon 301" descr="FaNetworkWired">    </p:cNvPr>
          <p:cNvPicPr>
            <a:picLocks noChangeAspect="1"/>
          </p:cNvPicPr>
          <p:nvPr/>
        </p:nvPicPr>
        <p:blipFill>
          <a:blip r:embed="rId1"/>
          <a:stretch>
            <a:fillRect/>
          </a:stretch>
        </p:blipFill>
        <p:spPr>
          <a:xfrm>
            <a:off x="813816" y="1545336"/>
            <a:ext cx="384048" cy="384048"/>
          </a:xfrm>
          <a:prstGeom prst="rect">
            <a:avLst/>
          </a:prstGeom>
        </p:spPr>
      </p:pic>
      <p:sp>
        <p:nvSpPr>
          <p:cNvPr id="7" name="Text 302"/>
          <p:cNvSpPr txBox="1"/>
          <p:nvPr/>
        </p:nvSpPr>
        <p:spPr>
          <a:xfrm>
            <a:off x="1554480" y="1325880"/>
            <a:ext cx="2926080" cy="457200"/>
          </a:xfrm>
          <a:prstGeom prst="rect">
            <a:avLst/>
          </a:prstGeom>
          <a:noFill/>
          <a:ln/>
        </p:spPr>
        <p:txBody>
          <a:bodyPr wrap="square" lIns="0" tIns="0" rIns="0" bIns="0" rtlCol="0" anchor="t"/>
          <a:lstStyle/>
          <a:p>
            <a:pPr indent="0" marL="0">
              <a:buNone/>
            </a:pPr>
            <a:r>
              <a:rPr lang="en-US" sz="2400" b="1" dirty="0">
                <a:solidFill>
                  <a:srgbClr val="FF9A3D"/>
                </a:solidFill>
                <a:latin typeface="Calibri" pitchFamily="34" charset="0"/>
                <a:ea typeface="Calibri" pitchFamily="34" charset="-122"/>
                <a:cs typeface="Calibri" pitchFamily="34" charset="-120"/>
              </a:rPr>
              <a:t>Network switch</a:t>
            </a:r>
            <a:endParaRPr lang="en-US" sz="2400" dirty="0"/>
          </a:p>
        </p:txBody>
      </p:sp>
      <p:sp>
        <p:nvSpPr>
          <p:cNvPr id="8" name="Text 303"/>
          <p:cNvSpPr txBox="1"/>
          <p:nvPr/>
        </p:nvSpPr>
        <p:spPr>
          <a:xfrm>
            <a:off x="1554480" y="1828800"/>
            <a:ext cx="2926080" cy="105156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Connects lots of devices on a network to each other</a:t>
            </a:r>
            <a:endParaRPr lang="en-US" sz="1800" dirty="0"/>
          </a:p>
        </p:txBody>
      </p:sp>
      <p:sp>
        <p:nvSpPr>
          <p:cNvPr id="9" name="Card 304"/>
          <p:cNvSpPr/>
          <p:nvPr/>
        </p:nvSpPr>
        <p:spPr>
          <a:xfrm>
            <a:off x="4663440" y="1188720"/>
            <a:ext cx="4114800" cy="1783080"/>
          </a:xfrm>
          <a:prstGeom prst="roundRect">
            <a:avLst>
              <a:gd name="adj" fmla="val 6154"/>
            </a:avLst>
          </a:prstGeom>
          <a:solidFill>
            <a:srgbClr val="FFFFFF"/>
          </a:solidFill>
          <a:ln/>
          <a:effectLst>
            <a:outerShdw sx="100000" sy="100000" kx="0" ky="0" algn="bl" rotWithShape="0" blurRad="76200" dist="25400" dir="5400000">
              <a:srgbClr val="2B2250">
                <a:alpha val="15000"/>
              </a:srgbClr>
            </a:outerShdw>
          </a:effectLst>
        </p:spPr>
      </p:sp>
      <p:sp>
        <p:nvSpPr>
          <p:cNvPr id="10" name="Dot 305"/>
          <p:cNvSpPr/>
          <p:nvPr/>
        </p:nvSpPr>
        <p:spPr>
          <a:xfrm>
            <a:off x="4846320" y="1371600"/>
            <a:ext cx="731520" cy="731520"/>
          </a:xfrm>
          <a:prstGeom prst="ellipse">
            <a:avLst/>
          </a:prstGeom>
          <a:solidFill>
            <a:srgbClr val="FF5C8A"/>
          </a:solidFill>
          <a:ln w="12700">
            <a:solidFill>
              <a:srgbClr val="FFFFFF"/>
            </a:solidFill>
            <a:prstDash val="solid"/>
          </a:ln>
        </p:spPr>
      </p:sp>
      <p:pic>
        <p:nvPicPr>
          <p:cNvPr id="11" name="Icon 306" descr="FaServer">    </p:cNvPr>
          <p:cNvPicPr>
            <a:picLocks noChangeAspect="1"/>
          </p:cNvPicPr>
          <p:nvPr/>
        </p:nvPicPr>
        <p:blipFill>
          <a:blip r:embed="rId2"/>
          <a:stretch>
            <a:fillRect/>
          </a:stretch>
        </p:blipFill>
        <p:spPr>
          <a:xfrm>
            <a:off x="5020056" y="1545336"/>
            <a:ext cx="384048" cy="384048"/>
          </a:xfrm>
          <a:prstGeom prst="rect">
            <a:avLst/>
          </a:prstGeom>
        </p:spPr>
      </p:pic>
      <p:sp>
        <p:nvSpPr>
          <p:cNvPr id="12" name="Text 307"/>
          <p:cNvSpPr txBox="1"/>
          <p:nvPr/>
        </p:nvSpPr>
        <p:spPr>
          <a:xfrm>
            <a:off x="5760720" y="1325880"/>
            <a:ext cx="2926080" cy="457200"/>
          </a:xfrm>
          <a:prstGeom prst="rect">
            <a:avLst/>
          </a:prstGeom>
          <a:noFill/>
          <a:ln/>
        </p:spPr>
        <p:txBody>
          <a:bodyPr wrap="square" lIns="0" tIns="0" rIns="0" bIns="0" rtlCol="0" anchor="t"/>
          <a:lstStyle/>
          <a:p>
            <a:pPr indent="0" marL="0">
              <a:buNone/>
            </a:pPr>
            <a:r>
              <a:rPr lang="en-US" sz="2400" b="1" dirty="0">
                <a:solidFill>
                  <a:srgbClr val="FF5C8A"/>
                </a:solidFill>
                <a:latin typeface="Calibri" pitchFamily="34" charset="0"/>
                <a:ea typeface="Calibri" pitchFamily="34" charset="-122"/>
                <a:cs typeface="Calibri" pitchFamily="34" charset="-120"/>
              </a:rPr>
              <a:t>Server</a:t>
            </a:r>
            <a:endParaRPr lang="en-US" sz="2400" dirty="0"/>
          </a:p>
        </p:txBody>
      </p:sp>
      <p:sp>
        <p:nvSpPr>
          <p:cNvPr id="13" name="Text 308"/>
          <p:cNvSpPr txBox="1"/>
          <p:nvPr/>
        </p:nvSpPr>
        <p:spPr>
          <a:xfrm>
            <a:off x="5760720" y="1828800"/>
            <a:ext cx="2926080" cy="105156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A computer that stores files and looks after the network</a:t>
            </a:r>
            <a:endParaRPr lang="en-US" sz="1800" dirty="0"/>
          </a:p>
        </p:txBody>
      </p:sp>
      <p:sp>
        <p:nvSpPr>
          <p:cNvPr id="14" name="Card 309"/>
          <p:cNvSpPr/>
          <p:nvPr/>
        </p:nvSpPr>
        <p:spPr>
          <a:xfrm>
            <a:off x="457200" y="3108960"/>
            <a:ext cx="4114800" cy="1783080"/>
          </a:xfrm>
          <a:prstGeom prst="roundRect">
            <a:avLst>
              <a:gd name="adj" fmla="val 6154"/>
            </a:avLst>
          </a:prstGeom>
          <a:solidFill>
            <a:srgbClr val="FFFFFF"/>
          </a:solidFill>
          <a:ln/>
          <a:effectLst>
            <a:outerShdw sx="100000" sy="100000" kx="0" ky="0" algn="bl" rotWithShape="0" blurRad="76200" dist="25400" dir="5400000">
              <a:srgbClr val="2B2250">
                <a:alpha val="15000"/>
              </a:srgbClr>
            </a:outerShdw>
          </a:effectLst>
        </p:spPr>
      </p:sp>
      <p:sp>
        <p:nvSpPr>
          <p:cNvPr id="15" name="Dot 310"/>
          <p:cNvSpPr/>
          <p:nvPr/>
        </p:nvSpPr>
        <p:spPr>
          <a:xfrm>
            <a:off x="640080" y="3291840"/>
            <a:ext cx="731520" cy="731520"/>
          </a:xfrm>
          <a:prstGeom prst="ellipse">
            <a:avLst/>
          </a:prstGeom>
          <a:solidFill>
            <a:srgbClr val="4DA3E0"/>
          </a:solidFill>
          <a:ln w="12700">
            <a:solidFill>
              <a:srgbClr val="FFFFFF"/>
            </a:solidFill>
            <a:prstDash val="solid"/>
          </a:ln>
        </p:spPr>
      </p:sp>
      <p:pic>
        <p:nvPicPr>
          <p:cNvPr id="16" name="Icon 311" descr="FaWifi">    </p:cNvPr>
          <p:cNvPicPr>
            <a:picLocks noChangeAspect="1"/>
          </p:cNvPicPr>
          <p:nvPr/>
        </p:nvPicPr>
        <p:blipFill>
          <a:blip r:embed="rId3"/>
          <a:stretch>
            <a:fillRect/>
          </a:stretch>
        </p:blipFill>
        <p:spPr>
          <a:xfrm>
            <a:off x="813816" y="3465576"/>
            <a:ext cx="384048" cy="384048"/>
          </a:xfrm>
          <a:prstGeom prst="rect">
            <a:avLst/>
          </a:prstGeom>
        </p:spPr>
      </p:pic>
      <p:sp>
        <p:nvSpPr>
          <p:cNvPr id="17" name="Text 312"/>
          <p:cNvSpPr txBox="1"/>
          <p:nvPr/>
        </p:nvSpPr>
        <p:spPr>
          <a:xfrm>
            <a:off x="1554480" y="3246120"/>
            <a:ext cx="2926080" cy="457200"/>
          </a:xfrm>
          <a:prstGeom prst="rect">
            <a:avLst/>
          </a:prstGeom>
          <a:noFill/>
          <a:ln/>
        </p:spPr>
        <p:txBody>
          <a:bodyPr wrap="square" lIns="0" tIns="0" rIns="0" bIns="0" rtlCol="0" anchor="t"/>
          <a:lstStyle/>
          <a:p>
            <a:pPr indent="0" marL="0">
              <a:buNone/>
            </a:pPr>
            <a:r>
              <a:rPr lang="en-US" sz="2400" b="1" dirty="0">
                <a:solidFill>
                  <a:srgbClr val="4DA3E0"/>
                </a:solidFill>
                <a:latin typeface="Calibri" pitchFamily="34" charset="0"/>
                <a:ea typeface="Calibri" pitchFamily="34" charset="-122"/>
                <a:cs typeface="Calibri" pitchFamily="34" charset="-120"/>
              </a:rPr>
              <a:t>Wireless access point</a:t>
            </a:r>
            <a:endParaRPr lang="en-US" sz="2400" dirty="0"/>
          </a:p>
        </p:txBody>
      </p:sp>
      <p:sp>
        <p:nvSpPr>
          <p:cNvPr id="18" name="Text 313"/>
          <p:cNvSpPr txBox="1"/>
          <p:nvPr/>
        </p:nvSpPr>
        <p:spPr>
          <a:xfrm>
            <a:off x="1554480" y="3749040"/>
            <a:ext cx="2926080" cy="105156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Sends and receives Wi-Fi signals for the network</a:t>
            </a:r>
            <a:endParaRPr lang="en-US" sz="1800" dirty="0"/>
          </a:p>
        </p:txBody>
      </p:sp>
      <p:sp>
        <p:nvSpPr>
          <p:cNvPr id="19" name="Card 314"/>
          <p:cNvSpPr/>
          <p:nvPr/>
        </p:nvSpPr>
        <p:spPr>
          <a:xfrm>
            <a:off x="4663440" y="3108960"/>
            <a:ext cx="4114800" cy="1783080"/>
          </a:xfrm>
          <a:prstGeom prst="roundRect">
            <a:avLst>
              <a:gd name="adj" fmla="val 6154"/>
            </a:avLst>
          </a:prstGeom>
          <a:solidFill>
            <a:srgbClr val="FFFFFF"/>
          </a:solidFill>
          <a:ln/>
          <a:effectLst>
            <a:outerShdw sx="100000" sy="100000" kx="0" ky="0" algn="bl" rotWithShape="0" blurRad="76200" dist="25400" dir="5400000">
              <a:srgbClr val="2B2250">
                <a:alpha val="15000"/>
              </a:srgbClr>
            </a:outerShdw>
          </a:effectLst>
        </p:spPr>
      </p:sp>
      <p:sp>
        <p:nvSpPr>
          <p:cNvPr id="20" name="Dot 315"/>
          <p:cNvSpPr/>
          <p:nvPr/>
        </p:nvSpPr>
        <p:spPr>
          <a:xfrm>
            <a:off x="4846320" y="3291840"/>
            <a:ext cx="731520" cy="731520"/>
          </a:xfrm>
          <a:prstGeom prst="ellipse">
            <a:avLst/>
          </a:prstGeom>
          <a:solidFill>
            <a:srgbClr val="1FB89A"/>
          </a:solidFill>
          <a:ln w="12700">
            <a:solidFill>
              <a:srgbClr val="FFFFFF"/>
            </a:solidFill>
            <a:prstDash val="solid"/>
          </a:ln>
        </p:spPr>
      </p:sp>
      <p:pic>
        <p:nvPicPr>
          <p:cNvPr id="21" name="Icon 316" descr="FaRoute">    </p:cNvPr>
          <p:cNvPicPr>
            <a:picLocks noChangeAspect="1"/>
          </p:cNvPicPr>
          <p:nvPr/>
        </p:nvPicPr>
        <p:blipFill>
          <a:blip r:embed="rId4"/>
          <a:stretch>
            <a:fillRect/>
          </a:stretch>
        </p:blipFill>
        <p:spPr>
          <a:xfrm>
            <a:off x="5020056" y="3465576"/>
            <a:ext cx="384048" cy="384048"/>
          </a:xfrm>
          <a:prstGeom prst="rect">
            <a:avLst/>
          </a:prstGeom>
        </p:spPr>
      </p:pic>
      <p:sp>
        <p:nvSpPr>
          <p:cNvPr id="22" name="Text 317"/>
          <p:cNvSpPr txBox="1"/>
          <p:nvPr/>
        </p:nvSpPr>
        <p:spPr>
          <a:xfrm>
            <a:off x="5760720" y="3246120"/>
            <a:ext cx="2926080" cy="457200"/>
          </a:xfrm>
          <a:prstGeom prst="rect">
            <a:avLst/>
          </a:prstGeom>
          <a:noFill/>
          <a:ln/>
        </p:spPr>
        <p:txBody>
          <a:bodyPr wrap="square" lIns="0" tIns="0" rIns="0" bIns="0" rtlCol="0" anchor="t"/>
          <a:lstStyle/>
          <a:p>
            <a:pPr indent="0" marL="0">
              <a:buNone/>
            </a:pPr>
            <a:r>
              <a:rPr lang="en-US" sz="2400" b="1" dirty="0">
                <a:solidFill>
                  <a:srgbClr val="1FB89A"/>
                </a:solidFill>
                <a:latin typeface="Calibri" pitchFamily="34" charset="0"/>
                <a:ea typeface="Calibri" pitchFamily="34" charset="-122"/>
                <a:cs typeface="Calibri" pitchFamily="34" charset="-120"/>
              </a:rPr>
              <a:t>Router</a:t>
            </a:r>
            <a:endParaRPr lang="en-US" sz="2400" dirty="0"/>
          </a:p>
        </p:txBody>
      </p:sp>
      <p:sp>
        <p:nvSpPr>
          <p:cNvPr id="23" name="Text 318"/>
          <p:cNvSpPr txBox="1"/>
          <p:nvPr/>
        </p:nvSpPr>
        <p:spPr>
          <a:xfrm>
            <a:off x="5760720" y="3749040"/>
            <a:ext cx="2926080" cy="105156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Passes information between two networks</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Accent 319"/>
          <p:cNvSpPr/>
          <p:nvPr/>
        </p:nvSpPr>
        <p:spPr>
          <a:xfrm>
            <a:off x="0" y="274320"/>
            <a:ext cx="164592" cy="685800"/>
          </a:xfrm>
          <a:prstGeom prst="rect">
            <a:avLst/>
          </a:prstGeom>
          <a:solidFill>
            <a:srgbClr val="4DA3E0"/>
          </a:solidFill>
          <a:ln w="12700">
            <a:solidFill>
              <a:srgbClr val="4DA3E0"/>
            </a:solidFill>
            <a:prstDash val="solid"/>
          </a:ln>
        </p:spPr>
      </p:sp>
      <p:sp>
        <p:nvSpPr>
          <p:cNvPr id="3" name="Text 32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Finding routes</a:t>
            </a:r>
            <a:endParaRPr lang="en-US" sz="3000" dirty="0"/>
          </a:p>
        </p:txBody>
      </p:sp>
      <p:sp>
        <p:nvSpPr>
          <p:cNvPr id="4" name="Card 321"/>
          <p:cNvSpPr/>
          <p:nvPr/>
        </p:nvSpPr>
        <p:spPr>
          <a:xfrm>
            <a:off x="548640" y="1051560"/>
            <a:ext cx="5120640" cy="3639312"/>
          </a:xfrm>
          <a:prstGeom prst="roundRect">
            <a:avLst>
              <a:gd name="adj" fmla="val 3015"/>
            </a:avLst>
          </a:prstGeom>
          <a:solidFill>
            <a:srgbClr val="FFFFFF"/>
          </a:solidFill>
          <a:ln/>
          <a:effectLst>
            <a:outerShdw sx="100000" sy="100000" kx="0" ky="0" algn="bl" rotWithShape="0" blurRad="76200" dist="25400" dir="5400000">
              <a:srgbClr val="2B2250">
                <a:alpha val="15000"/>
              </a:srgbClr>
            </a:outerShdw>
          </a:effectLst>
        </p:spPr>
      </p:sp>
      <p:pic>
        <p:nvPicPr>
          <p:cNvPr id="5" name="Picture 322" descr="Network of routers with an orange route highlighted">    </p:cNvPr>
          <p:cNvPicPr>
            <a:picLocks noChangeAspect="1"/>
          </p:cNvPicPr>
          <p:nvPr/>
        </p:nvPicPr>
        <p:blipFill>
          <a:blip r:embed="rId1"/>
          <a:stretch>
            <a:fillRect/>
          </a:stretch>
        </p:blipFill>
        <p:spPr>
          <a:xfrm>
            <a:off x="640080" y="1143000"/>
            <a:ext cx="4937760" cy="3456432"/>
          </a:xfrm>
          <a:prstGeom prst="rect">
            <a:avLst/>
          </a:prstGeom>
        </p:spPr>
      </p:pic>
      <p:sp>
        <p:nvSpPr>
          <p:cNvPr id="6" name="Text 323"/>
          <p:cNvSpPr txBox="1"/>
          <p:nvPr/>
        </p:nvSpPr>
        <p:spPr>
          <a:xfrm>
            <a:off x="5897880" y="1234440"/>
            <a:ext cx="2834640" cy="3566160"/>
          </a:xfrm>
          <a:prstGeom prst="rect">
            <a:avLst/>
          </a:prstGeom>
          <a:noFill/>
          <a:ln/>
        </p:spPr>
        <p:txBody>
          <a:bodyPr wrap="square" lIns="0" tIns="0" rIns="0" bIns="0" rtlCol="0" anchor="t"/>
          <a:lstStyle/>
          <a:p>
            <a:pPr indent="0" marL="0">
              <a:buNone/>
            </a:pPr>
            <a:r>
              <a:rPr lang="en-US" sz="2000" dirty="0">
                <a:solidFill>
                  <a:schemeClr val="tx1"/>
                </a:solidFill>
                <a:latin typeface="Calibri" pitchFamily="34" charset="0"/>
                <a:ea typeface="Calibri" pitchFamily="34" charset="-122"/>
                <a:cs typeface="Calibri" pitchFamily="34" charset="-120"/>
              </a:rPr>
              <a:t>Messages can take many routes to get from you to the web. If one route is blocked they can use another!</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Accent 324"/>
          <p:cNvSpPr/>
          <p:nvPr/>
        </p:nvSpPr>
        <p:spPr>
          <a:xfrm>
            <a:off x="0" y="274320"/>
            <a:ext cx="164592" cy="685800"/>
          </a:xfrm>
          <a:prstGeom prst="rect">
            <a:avLst/>
          </a:prstGeom>
          <a:solidFill>
            <a:srgbClr val="4DA3E0"/>
          </a:solidFill>
          <a:ln w="12700">
            <a:solidFill>
              <a:srgbClr val="4DA3E0"/>
            </a:solidFill>
            <a:prstDash val="solid"/>
          </a:ln>
        </p:spPr>
      </p:sp>
      <p:sp>
        <p:nvSpPr>
          <p:cNvPr id="3" name="Text 325"/>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Activity: Finding routes</a:t>
            </a:r>
            <a:endParaRPr lang="en-US" sz="3000" dirty="0"/>
          </a:p>
        </p:txBody>
      </p:sp>
      <p:sp>
        <p:nvSpPr>
          <p:cNvPr id="4" name="Tag 326"/>
          <p:cNvSpPr/>
          <p:nvPr/>
        </p:nvSpPr>
        <p:spPr>
          <a:xfrm>
            <a:off x="7223760" y="384048"/>
            <a:ext cx="1463040" cy="457200"/>
          </a:xfrm>
          <a:prstGeom prst="roundRect">
            <a:avLst>
              <a:gd name="adj" fmla="val 50000"/>
            </a:avLst>
          </a:prstGeom>
          <a:solidFill>
            <a:srgbClr val="FF9A3D"/>
          </a:solidFill>
          <a:ln w="12700">
            <a:solidFill>
              <a:srgbClr val="FF9A3D"/>
            </a:solidFill>
            <a:prstDash val="solid"/>
          </a:ln>
        </p:spPr>
      </p:sp>
      <p:sp>
        <p:nvSpPr>
          <p:cNvPr id="5" name="Text 327"/>
          <p:cNvSpPr txBox="1"/>
          <p:nvPr/>
        </p:nvSpPr>
        <p:spPr>
          <a:xfrm>
            <a:off x="7223760" y="384048"/>
            <a:ext cx="14630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ACTIVITY</a:t>
            </a:r>
            <a:endParaRPr lang="en-US" sz="1600" dirty="0"/>
          </a:p>
        </p:txBody>
      </p:sp>
      <p:sp>
        <p:nvSpPr>
          <p:cNvPr id="6" name="Card 328"/>
          <p:cNvSpPr/>
          <p:nvPr/>
        </p:nvSpPr>
        <p:spPr>
          <a:xfrm>
            <a:off x="457200" y="1188720"/>
            <a:ext cx="4114800" cy="781812"/>
          </a:xfrm>
          <a:prstGeom prst="roundRect">
            <a:avLst>
              <a:gd name="adj" fmla="val 14035"/>
            </a:avLst>
          </a:prstGeom>
          <a:solidFill>
            <a:srgbClr val="FFFFFF"/>
          </a:solidFill>
          <a:ln/>
          <a:effectLst>
            <a:outerShdw sx="100000" sy="100000" kx="0" ky="0" algn="bl" rotWithShape="0" blurRad="76200" dist="25400" dir="5400000">
              <a:srgbClr val="2B2250">
                <a:alpha val="15000"/>
              </a:srgbClr>
            </a:outerShdw>
          </a:effectLst>
        </p:spPr>
      </p:sp>
      <p:sp>
        <p:nvSpPr>
          <p:cNvPr id="7" name="Dot 329"/>
          <p:cNvSpPr/>
          <p:nvPr/>
        </p:nvSpPr>
        <p:spPr>
          <a:xfrm>
            <a:off x="594360" y="1351026"/>
            <a:ext cx="457200" cy="457200"/>
          </a:xfrm>
          <a:prstGeom prst="ellipse">
            <a:avLst/>
          </a:prstGeom>
          <a:solidFill>
            <a:srgbClr val="FF9A3D"/>
          </a:solidFill>
          <a:ln w="12700">
            <a:solidFill>
              <a:srgbClr val="FFFFFF"/>
            </a:solidFill>
            <a:prstDash val="solid"/>
          </a:ln>
        </p:spPr>
      </p:sp>
      <p:sp>
        <p:nvSpPr>
          <p:cNvPr id="8" name="Text 330"/>
          <p:cNvSpPr txBox="1"/>
          <p:nvPr/>
        </p:nvSpPr>
        <p:spPr>
          <a:xfrm>
            <a:off x="594360" y="135102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Text 331"/>
          <p:cNvSpPr txBox="1"/>
          <p:nvPr/>
        </p:nvSpPr>
        <p:spPr>
          <a:xfrm>
            <a:off x="1188720" y="1188720"/>
            <a:ext cx="3200400" cy="781812"/>
          </a:xfrm>
          <a:prstGeom prst="rect">
            <a:avLst/>
          </a:prstGeom>
          <a:noFill/>
          <a:ln/>
        </p:spPr>
        <p:txBody>
          <a:bodyPr wrap="square" lIns="0" tIns="0" rIns="0" bIns="0" rtlCol="0" anchor="ctr"/>
          <a:lstStyle/>
          <a:p>
            <a:pPr indent="0" marL="0">
              <a:buNone/>
            </a:pPr>
            <a:r>
              <a:rPr lang="en-US" sz="1700" dirty="0">
                <a:solidFill>
                  <a:schemeClr val="tx1"/>
                </a:solidFill>
                <a:latin typeface="Calibri" pitchFamily="34" charset="0"/>
                <a:ea typeface="Calibri" pitchFamily="34" charset="-122"/>
                <a:cs typeface="Calibri" pitchFamily="34" charset="-120"/>
              </a:rPr>
              <a:t>Look at the map of routers.</a:t>
            </a:r>
            <a:endParaRPr lang="en-US" sz="1700" dirty="0"/>
          </a:p>
        </p:txBody>
      </p:sp>
      <p:sp>
        <p:nvSpPr>
          <p:cNvPr id="10" name="Card 332"/>
          <p:cNvSpPr/>
          <p:nvPr/>
        </p:nvSpPr>
        <p:spPr>
          <a:xfrm>
            <a:off x="457200" y="2080260"/>
            <a:ext cx="4114800" cy="781812"/>
          </a:xfrm>
          <a:prstGeom prst="roundRect">
            <a:avLst>
              <a:gd name="adj" fmla="val 14035"/>
            </a:avLst>
          </a:prstGeom>
          <a:solidFill>
            <a:srgbClr val="FFFFFF"/>
          </a:solidFill>
          <a:ln/>
          <a:effectLst>
            <a:outerShdw sx="100000" sy="100000" kx="0" ky="0" algn="bl" rotWithShape="0" blurRad="76200" dist="25400" dir="5400000">
              <a:srgbClr val="2B2250">
                <a:alpha val="15000"/>
              </a:srgbClr>
            </a:outerShdw>
          </a:effectLst>
        </p:spPr>
      </p:sp>
      <p:sp>
        <p:nvSpPr>
          <p:cNvPr id="11" name="Dot 333"/>
          <p:cNvSpPr/>
          <p:nvPr/>
        </p:nvSpPr>
        <p:spPr>
          <a:xfrm>
            <a:off x="594360" y="2242566"/>
            <a:ext cx="457200" cy="457200"/>
          </a:xfrm>
          <a:prstGeom prst="ellipse">
            <a:avLst/>
          </a:prstGeom>
          <a:solidFill>
            <a:srgbClr val="FF9A3D"/>
          </a:solidFill>
          <a:ln w="12700">
            <a:solidFill>
              <a:srgbClr val="FFFFFF"/>
            </a:solidFill>
            <a:prstDash val="solid"/>
          </a:ln>
        </p:spPr>
      </p:sp>
      <p:sp>
        <p:nvSpPr>
          <p:cNvPr id="12" name="Text 334"/>
          <p:cNvSpPr txBox="1"/>
          <p:nvPr/>
        </p:nvSpPr>
        <p:spPr>
          <a:xfrm>
            <a:off x="594360" y="224256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335"/>
          <p:cNvSpPr txBox="1"/>
          <p:nvPr/>
        </p:nvSpPr>
        <p:spPr>
          <a:xfrm>
            <a:off x="1188720" y="2080260"/>
            <a:ext cx="3200400" cy="781812"/>
          </a:xfrm>
          <a:prstGeom prst="rect">
            <a:avLst/>
          </a:prstGeom>
          <a:noFill/>
          <a:ln/>
        </p:spPr>
        <p:txBody>
          <a:bodyPr wrap="square" lIns="0" tIns="0" rIns="0" bIns="0" rtlCol="0" anchor="ctr"/>
          <a:lstStyle/>
          <a:p>
            <a:pPr indent="0" marL="0">
              <a:buNone/>
            </a:pPr>
            <a:r>
              <a:rPr lang="en-US" sz="1700" dirty="0">
                <a:solidFill>
                  <a:schemeClr val="tx1"/>
                </a:solidFill>
                <a:latin typeface="Calibri" pitchFamily="34" charset="0"/>
                <a:ea typeface="Calibri" pitchFamily="34" charset="-122"/>
                <a:cs typeface="Calibri" pitchFamily="34" charset="-120"/>
              </a:rPr>
              <a:t>Find the shortest route from Me to Web.</a:t>
            </a:r>
            <a:endParaRPr lang="en-US" sz="1700" dirty="0"/>
          </a:p>
        </p:txBody>
      </p:sp>
      <p:sp>
        <p:nvSpPr>
          <p:cNvPr id="14" name="Card 336"/>
          <p:cNvSpPr/>
          <p:nvPr/>
        </p:nvSpPr>
        <p:spPr>
          <a:xfrm>
            <a:off x="457200" y="2971800"/>
            <a:ext cx="4114800" cy="781812"/>
          </a:xfrm>
          <a:prstGeom prst="roundRect">
            <a:avLst>
              <a:gd name="adj" fmla="val 14035"/>
            </a:avLst>
          </a:prstGeom>
          <a:solidFill>
            <a:srgbClr val="FFFFFF"/>
          </a:solidFill>
          <a:ln/>
          <a:effectLst>
            <a:outerShdw sx="100000" sy="100000" kx="0" ky="0" algn="bl" rotWithShape="0" blurRad="76200" dist="25400" dir="5400000">
              <a:srgbClr val="2B2250">
                <a:alpha val="15000"/>
              </a:srgbClr>
            </a:outerShdw>
          </a:effectLst>
        </p:spPr>
      </p:sp>
      <p:sp>
        <p:nvSpPr>
          <p:cNvPr id="15" name="Dot 337"/>
          <p:cNvSpPr/>
          <p:nvPr/>
        </p:nvSpPr>
        <p:spPr>
          <a:xfrm>
            <a:off x="594360" y="3134106"/>
            <a:ext cx="457200" cy="457200"/>
          </a:xfrm>
          <a:prstGeom prst="ellipse">
            <a:avLst/>
          </a:prstGeom>
          <a:solidFill>
            <a:srgbClr val="FF9A3D"/>
          </a:solidFill>
          <a:ln w="12700">
            <a:solidFill>
              <a:srgbClr val="FFFFFF"/>
            </a:solidFill>
            <a:prstDash val="solid"/>
          </a:ln>
        </p:spPr>
      </p:sp>
      <p:sp>
        <p:nvSpPr>
          <p:cNvPr id="16" name="Text 338"/>
          <p:cNvSpPr txBox="1"/>
          <p:nvPr/>
        </p:nvSpPr>
        <p:spPr>
          <a:xfrm>
            <a:off x="594360" y="313410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339"/>
          <p:cNvSpPr txBox="1"/>
          <p:nvPr/>
        </p:nvSpPr>
        <p:spPr>
          <a:xfrm>
            <a:off x="1188720" y="2971800"/>
            <a:ext cx="3200400" cy="781812"/>
          </a:xfrm>
          <a:prstGeom prst="rect">
            <a:avLst/>
          </a:prstGeom>
          <a:noFill/>
          <a:ln/>
        </p:spPr>
        <p:txBody>
          <a:bodyPr wrap="square" lIns="0" tIns="0" rIns="0" bIns="0" rtlCol="0" anchor="ctr"/>
          <a:lstStyle/>
          <a:p>
            <a:pPr indent="0" marL="0">
              <a:buNone/>
            </a:pPr>
            <a:r>
              <a:rPr lang="en-US" sz="1700" dirty="0">
                <a:solidFill>
                  <a:schemeClr val="tx1"/>
                </a:solidFill>
                <a:latin typeface="Calibri" pitchFamily="34" charset="0"/>
                <a:ea typeface="Calibri" pitchFamily="34" charset="-122"/>
                <a:cs typeface="Calibri" pitchFamily="34" charset="-120"/>
              </a:rPr>
              <a:t>Find a different route in case one is broken.</a:t>
            </a:r>
            <a:endParaRPr lang="en-US" sz="1700" dirty="0"/>
          </a:p>
        </p:txBody>
      </p:sp>
      <p:sp>
        <p:nvSpPr>
          <p:cNvPr id="18" name="Card 340"/>
          <p:cNvSpPr/>
          <p:nvPr/>
        </p:nvSpPr>
        <p:spPr>
          <a:xfrm>
            <a:off x="457200" y="3863340"/>
            <a:ext cx="4114800" cy="781812"/>
          </a:xfrm>
          <a:prstGeom prst="roundRect">
            <a:avLst>
              <a:gd name="adj" fmla="val 14035"/>
            </a:avLst>
          </a:prstGeom>
          <a:solidFill>
            <a:srgbClr val="FFFFFF"/>
          </a:solidFill>
          <a:ln/>
          <a:effectLst>
            <a:outerShdw sx="100000" sy="100000" kx="0" ky="0" algn="bl" rotWithShape="0" blurRad="76200" dist="25400" dir="5400000">
              <a:srgbClr val="2B2250">
                <a:alpha val="15000"/>
              </a:srgbClr>
            </a:outerShdw>
          </a:effectLst>
        </p:spPr>
      </p:sp>
      <p:sp>
        <p:nvSpPr>
          <p:cNvPr id="19" name="Dot 341"/>
          <p:cNvSpPr/>
          <p:nvPr/>
        </p:nvSpPr>
        <p:spPr>
          <a:xfrm>
            <a:off x="594360" y="4025646"/>
            <a:ext cx="457200" cy="457200"/>
          </a:xfrm>
          <a:prstGeom prst="ellipse">
            <a:avLst/>
          </a:prstGeom>
          <a:solidFill>
            <a:srgbClr val="FF9A3D"/>
          </a:solidFill>
          <a:ln w="12700">
            <a:solidFill>
              <a:srgbClr val="FFFFFF"/>
            </a:solidFill>
            <a:prstDash val="solid"/>
          </a:ln>
        </p:spPr>
      </p:sp>
      <p:sp>
        <p:nvSpPr>
          <p:cNvPr id="20" name="Text 342"/>
          <p:cNvSpPr txBox="1"/>
          <p:nvPr/>
        </p:nvSpPr>
        <p:spPr>
          <a:xfrm>
            <a:off x="594360" y="402564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1" name="Text 343"/>
          <p:cNvSpPr txBox="1"/>
          <p:nvPr/>
        </p:nvSpPr>
        <p:spPr>
          <a:xfrm>
            <a:off x="1188720" y="3863340"/>
            <a:ext cx="3200400" cy="781812"/>
          </a:xfrm>
          <a:prstGeom prst="rect">
            <a:avLst/>
          </a:prstGeom>
          <a:noFill/>
          <a:ln/>
        </p:spPr>
        <p:txBody>
          <a:bodyPr wrap="square" lIns="0" tIns="0" rIns="0" bIns="0" rtlCol="0" anchor="ctr"/>
          <a:lstStyle/>
          <a:p>
            <a:pPr indent="0" marL="0">
              <a:buNone/>
            </a:pPr>
            <a:r>
              <a:rPr lang="en-US" sz="1700" dirty="0">
                <a:solidFill>
                  <a:schemeClr val="tx1"/>
                </a:solidFill>
                <a:latin typeface="Calibri" pitchFamily="34" charset="0"/>
                <a:ea typeface="Calibri" pitchFamily="34" charset="-122"/>
                <a:cs typeface="Calibri" pitchFamily="34" charset="-120"/>
              </a:rPr>
              <a:t>Count how many routers each route uses.</a:t>
            </a:r>
            <a:endParaRPr lang="en-US" sz="1700" dirty="0"/>
          </a:p>
        </p:txBody>
      </p:sp>
      <p:sp>
        <p:nvSpPr>
          <p:cNvPr id="22" name="Card 344"/>
          <p:cNvSpPr/>
          <p:nvPr/>
        </p:nvSpPr>
        <p:spPr>
          <a:xfrm>
            <a:off x="4617720" y="1097280"/>
            <a:ext cx="4206240" cy="2999232"/>
          </a:xfrm>
          <a:prstGeom prst="roundRect">
            <a:avLst>
              <a:gd name="adj" fmla="val 3659"/>
            </a:avLst>
          </a:prstGeom>
          <a:solidFill>
            <a:srgbClr val="FFFFFF"/>
          </a:solidFill>
          <a:ln/>
          <a:effectLst>
            <a:outerShdw sx="100000" sy="100000" kx="0" ky="0" algn="bl" rotWithShape="0" blurRad="76200" dist="25400" dir="5400000">
              <a:srgbClr val="2B2250">
                <a:alpha val="15000"/>
              </a:srgbClr>
            </a:outerShdw>
          </a:effectLst>
        </p:spPr>
      </p:sp>
      <p:pic>
        <p:nvPicPr>
          <p:cNvPr id="23" name="Picture 345" descr="Activity picture">    </p:cNvPr>
          <p:cNvPicPr>
            <a:picLocks noChangeAspect="1"/>
          </p:cNvPicPr>
          <p:nvPr/>
        </p:nvPicPr>
        <p:blipFill>
          <a:blip r:embed="rId1"/>
          <a:stretch>
            <a:fillRect/>
          </a:stretch>
        </p:blipFill>
        <p:spPr>
          <a:xfrm>
            <a:off x="4709160" y="1188720"/>
            <a:ext cx="4023360" cy="2816352"/>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Accent 346"/>
          <p:cNvSpPr/>
          <p:nvPr/>
        </p:nvSpPr>
        <p:spPr>
          <a:xfrm>
            <a:off x="0" y="274320"/>
            <a:ext cx="164592" cy="685800"/>
          </a:xfrm>
          <a:prstGeom prst="rect">
            <a:avLst/>
          </a:prstGeom>
          <a:solidFill>
            <a:srgbClr val="4DA3E0"/>
          </a:solidFill>
          <a:ln w="12700">
            <a:solidFill>
              <a:srgbClr val="4DA3E0"/>
            </a:solidFill>
            <a:prstDash val="solid"/>
          </a:ln>
        </p:spPr>
      </p:sp>
      <p:sp>
        <p:nvSpPr>
          <p:cNvPr id="3" name="Text 347"/>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The internet gives us services</a:t>
            </a:r>
            <a:endParaRPr lang="en-US" sz="3000" dirty="0"/>
          </a:p>
        </p:txBody>
      </p:sp>
      <p:sp>
        <p:nvSpPr>
          <p:cNvPr id="4" name="Card 348"/>
          <p:cNvSpPr/>
          <p:nvPr/>
        </p:nvSpPr>
        <p:spPr>
          <a:xfrm>
            <a:off x="548640" y="1051560"/>
            <a:ext cx="5120640" cy="3639312"/>
          </a:xfrm>
          <a:prstGeom prst="roundRect">
            <a:avLst>
              <a:gd name="adj" fmla="val 3015"/>
            </a:avLst>
          </a:prstGeom>
          <a:solidFill>
            <a:srgbClr val="FFFFFF"/>
          </a:solidFill>
          <a:ln/>
          <a:effectLst>
            <a:outerShdw sx="100000" sy="100000" kx="0" ky="0" algn="bl" rotWithShape="0" blurRad="76200" dist="25400" dir="5400000">
              <a:srgbClr val="2B2250">
                <a:alpha val="15000"/>
              </a:srgbClr>
            </a:outerShdw>
          </a:effectLst>
        </p:spPr>
      </p:sp>
      <p:pic>
        <p:nvPicPr>
          <p:cNvPr id="5" name="Picture 349" descr="Internet circle containing the World Wide Web, with email, files and video calls">    </p:cNvPr>
          <p:cNvPicPr>
            <a:picLocks noChangeAspect="1"/>
          </p:cNvPicPr>
          <p:nvPr/>
        </p:nvPicPr>
        <p:blipFill>
          <a:blip r:embed="rId1"/>
          <a:stretch>
            <a:fillRect/>
          </a:stretch>
        </p:blipFill>
        <p:spPr>
          <a:xfrm>
            <a:off x="640080" y="1143000"/>
            <a:ext cx="4937760" cy="3456432"/>
          </a:xfrm>
          <a:prstGeom prst="rect">
            <a:avLst/>
          </a:prstGeom>
        </p:spPr>
      </p:pic>
      <p:sp>
        <p:nvSpPr>
          <p:cNvPr id="6" name="Text 350"/>
          <p:cNvSpPr txBox="1"/>
          <p:nvPr/>
        </p:nvSpPr>
        <p:spPr>
          <a:xfrm>
            <a:off x="5897880" y="1234440"/>
            <a:ext cx="2834640" cy="3566160"/>
          </a:xfrm>
          <a:prstGeom prst="rect">
            <a:avLst/>
          </a:prstGeom>
          <a:noFill/>
          <a:ln/>
        </p:spPr>
        <p:txBody>
          <a:bodyPr wrap="square" lIns="0" tIns="0" rIns="0" bIns="0" rtlCol="0" anchor="t"/>
          <a:lstStyle/>
          <a:p>
            <a:pPr indent="0" marL="0">
              <a:buNone/>
            </a:pPr>
            <a:r>
              <a:rPr lang="en-US" sz="2000" dirty="0">
                <a:solidFill>
                  <a:schemeClr val="tx1"/>
                </a:solidFill>
                <a:latin typeface="Calibri" pitchFamily="34" charset="0"/>
                <a:ea typeface="Calibri" pitchFamily="34" charset="-122"/>
                <a:cs typeface="Calibri" pitchFamily="34" charset="-120"/>
              </a:rPr>
              <a:t>The internet delivers MANY services. The World Wide Web is just ONE of them!</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Accent 351"/>
          <p:cNvSpPr/>
          <p:nvPr/>
        </p:nvSpPr>
        <p:spPr>
          <a:xfrm>
            <a:off x="0" y="274320"/>
            <a:ext cx="164592" cy="685800"/>
          </a:xfrm>
          <a:prstGeom prst="rect">
            <a:avLst/>
          </a:prstGeom>
          <a:solidFill>
            <a:srgbClr val="4DA3E0"/>
          </a:solidFill>
          <a:ln w="12700">
            <a:solidFill>
              <a:srgbClr val="4DA3E0"/>
            </a:solidFill>
            <a:prstDash val="solid"/>
          </a:ln>
        </p:spPr>
      </p:sp>
      <p:sp>
        <p:nvSpPr>
          <p:cNvPr id="3" name="Text 35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Quick quiz</a:t>
            </a:r>
            <a:endParaRPr lang="en-US" sz="3000" dirty="0"/>
          </a:p>
        </p:txBody>
      </p:sp>
      <p:sp>
        <p:nvSpPr>
          <p:cNvPr id="4" name="Text 353"/>
          <p:cNvSpPr txBox="1"/>
          <p:nvPr/>
        </p:nvSpPr>
        <p:spPr>
          <a:xfrm>
            <a:off x="457200" y="1051560"/>
            <a:ext cx="8229600" cy="914400"/>
          </a:xfrm>
          <a:prstGeom prst="rect">
            <a:avLst/>
          </a:prstGeom>
          <a:noFill/>
          <a:ln/>
        </p:spPr>
        <p:txBody>
          <a:bodyPr wrap="square" lIns="0" tIns="0" rIns="0" bIns="0" rtlCol="0" anchor="ctr"/>
          <a:lstStyle/>
          <a:p>
            <a:pPr indent="0" marL="0">
              <a:buNone/>
            </a:pPr>
            <a:r>
              <a:rPr lang="en-US" sz="2600" b="1" dirty="0">
                <a:solidFill>
                  <a:schemeClr val="tx1"/>
                </a:solidFill>
                <a:latin typeface="Calibri" pitchFamily="34" charset="0"/>
                <a:ea typeface="Calibri" pitchFamily="34" charset="-122"/>
                <a:cs typeface="Calibri" pitchFamily="34" charset="-120"/>
              </a:rPr>
              <a:t>Which is correct?</a:t>
            </a:r>
            <a:endParaRPr lang="en-US" sz="2600" dirty="0"/>
          </a:p>
        </p:txBody>
      </p:sp>
      <p:sp>
        <p:nvSpPr>
          <p:cNvPr id="5" name="Card 354"/>
          <p:cNvSpPr/>
          <p:nvPr/>
        </p:nvSpPr>
        <p:spPr>
          <a:xfrm>
            <a:off x="457200" y="219456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6" name="Dot 355"/>
          <p:cNvSpPr/>
          <p:nvPr/>
        </p:nvSpPr>
        <p:spPr>
          <a:xfrm>
            <a:off x="594360" y="2322576"/>
            <a:ext cx="457200" cy="457200"/>
          </a:xfrm>
          <a:prstGeom prst="ellipse">
            <a:avLst/>
          </a:prstGeom>
          <a:solidFill>
            <a:srgbClr val="4DA3E0"/>
          </a:solidFill>
          <a:ln w="12700">
            <a:solidFill>
              <a:srgbClr val="FFFFFF"/>
            </a:solidFill>
            <a:prstDash val="solid"/>
          </a:ln>
        </p:spPr>
      </p:sp>
      <p:sp>
        <p:nvSpPr>
          <p:cNvPr id="7" name="Text 356"/>
          <p:cNvSpPr txBox="1"/>
          <p:nvPr/>
        </p:nvSpPr>
        <p:spPr>
          <a:xfrm>
            <a:off x="594360" y="2322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8" name="Text 357"/>
          <p:cNvSpPr txBox="1"/>
          <p:nvPr/>
        </p:nvSpPr>
        <p:spPr>
          <a:xfrm>
            <a:off x="1188720" y="219456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The World Wide Web is part of the internet</a:t>
            </a:r>
            <a:endParaRPr lang="en-US" sz="2200" dirty="0"/>
          </a:p>
        </p:txBody>
      </p:sp>
      <p:sp>
        <p:nvSpPr>
          <p:cNvPr id="9" name="Card 358"/>
          <p:cNvSpPr/>
          <p:nvPr/>
        </p:nvSpPr>
        <p:spPr>
          <a:xfrm>
            <a:off x="457200" y="301752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10" name="Dot 359"/>
          <p:cNvSpPr/>
          <p:nvPr/>
        </p:nvSpPr>
        <p:spPr>
          <a:xfrm>
            <a:off x="594360" y="3145536"/>
            <a:ext cx="457200" cy="457200"/>
          </a:xfrm>
          <a:prstGeom prst="ellipse">
            <a:avLst/>
          </a:prstGeom>
          <a:solidFill>
            <a:srgbClr val="4DA3E0"/>
          </a:solidFill>
          <a:ln w="12700">
            <a:solidFill>
              <a:srgbClr val="FFFFFF"/>
            </a:solidFill>
            <a:prstDash val="solid"/>
          </a:ln>
        </p:spPr>
      </p:sp>
      <p:sp>
        <p:nvSpPr>
          <p:cNvPr id="11" name="Text 360"/>
          <p:cNvSpPr txBox="1"/>
          <p:nvPr/>
        </p:nvSpPr>
        <p:spPr>
          <a:xfrm>
            <a:off x="594360" y="314553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361"/>
          <p:cNvSpPr txBox="1"/>
          <p:nvPr/>
        </p:nvSpPr>
        <p:spPr>
          <a:xfrm>
            <a:off x="1188720" y="301752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The internet is part of the World Wide Web</a:t>
            </a:r>
            <a:endParaRPr lang="en-US" sz="2200" dirty="0"/>
          </a:p>
        </p:txBody>
      </p:sp>
      <p:sp>
        <p:nvSpPr>
          <p:cNvPr id="13" name="Card 362"/>
          <p:cNvSpPr/>
          <p:nvPr/>
        </p:nvSpPr>
        <p:spPr>
          <a:xfrm>
            <a:off x="457200" y="384048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14" name="Dot 363"/>
          <p:cNvSpPr/>
          <p:nvPr/>
        </p:nvSpPr>
        <p:spPr>
          <a:xfrm>
            <a:off x="594360" y="3968496"/>
            <a:ext cx="457200" cy="457200"/>
          </a:xfrm>
          <a:prstGeom prst="ellipse">
            <a:avLst/>
          </a:prstGeom>
          <a:solidFill>
            <a:srgbClr val="4DA3E0"/>
          </a:solidFill>
          <a:ln w="12700">
            <a:solidFill>
              <a:srgbClr val="FFFFFF"/>
            </a:solidFill>
            <a:prstDash val="solid"/>
          </a:ln>
        </p:spPr>
      </p:sp>
      <p:sp>
        <p:nvSpPr>
          <p:cNvPr id="15" name="Text 364"/>
          <p:cNvSpPr txBox="1"/>
          <p:nvPr/>
        </p:nvSpPr>
        <p:spPr>
          <a:xfrm>
            <a:off x="594360" y="39684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6" name="Text 365"/>
          <p:cNvSpPr txBox="1"/>
          <p:nvPr/>
        </p:nvSpPr>
        <p:spPr>
          <a:xfrm>
            <a:off x="1188720" y="384048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They are exactly the same thing</a:t>
            </a:r>
            <a:endParaRPr lang="en-US" sz="2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Accent 366"/>
          <p:cNvSpPr/>
          <p:nvPr/>
        </p:nvSpPr>
        <p:spPr>
          <a:xfrm>
            <a:off x="0" y="274320"/>
            <a:ext cx="164592" cy="685800"/>
          </a:xfrm>
          <a:prstGeom prst="rect">
            <a:avLst/>
          </a:prstGeom>
          <a:solidFill>
            <a:srgbClr val="2E9E5B"/>
          </a:solidFill>
          <a:ln w="12700">
            <a:solidFill>
              <a:srgbClr val="2E9E5B"/>
            </a:solidFill>
            <a:prstDash val="solid"/>
          </a:ln>
        </p:spPr>
      </p:sp>
      <p:sp>
        <p:nvSpPr>
          <p:cNvPr id="3" name="Text 367"/>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 The answer</a:t>
            </a:r>
            <a:endParaRPr lang="en-US" sz="3000" dirty="0"/>
          </a:p>
        </p:txBody>
      </p:sp>
      <p:sp>
        <p:nvSpPr>
          <p:cNvPr id="4" name="Text 368"/>
          <p:cNvSpPr txBox="1"/>
          <p:nvPr/>
        </p:nvSpPr>
        <p:spPr>
          <a:xfrm>
            <a:off x="457200" y="1051560"/>
            <a:ext cx="8229600" cy="914400"/>
          </a:xfrm>
          <a:prstGeom prst="rect">
            <a:avLst/>
          </a:prstGeom>
          <a:noFill/>
          <a:ln/>
        </p:spPr>
        <p:txBody>
          <a:bodyPr wrap="square" lIns="0" tIns="0" rIns="0" bIns="0" rtlCol="0" anchor="ctr"/>
          <a:lstStyle/>
          <a:p>
            <a:pPr indent="0" marL="0">
              <a:buNone/>
            </a:pPr>
            <a:r>
              <a:rPr lang="en-US" sz="2600" b="1" dirty="0">
                <a:solidFill>
                  <a:schemeClr val="tx1"/>
                </a:solidFill>
                <a:latin typeface="Calibri" pitchFamily="34" charset="0"/>
                <a:ea typeface="Calibri" pitchFamily="34" charset="-122"/>
                <a:cs typeface="Calibri" pitchFamily="34" charset="-120"/>
              </a:rPr>
              <a:t>Which is correct?</a:t>
            </a:r>
            <a:endParaRPr lang="en-US" sz="2600" dirty="0"/>
          </a:p>
        </p:txBody>
      </p:sp>
      <p:sp>
        <p:nvSpPr>
          <p:cNvPr id="5" name="Card 369"/>
          <p:cNvSpPr/>
          <p:nvPr/>
        </p:nvSpPr>
        <p:spPr>
          <a:xfrm>
            <a:off x="457200" y="2194560"/>
            <a:ext cx="8229600" cy="713232"/>
          </a:xfrm>
          <a:prstGeom prst="roundRect">
            <a:avLst>
              <a:gd name="adj" fmla="val 15385"/>
            </a:avLst>
          </a:prstGeom>
          <a:solidFill>
            <a:srgbClr val="D9F5E6"/>
          </a:solidFill>
          <a:ln w="38100">
            <a:solidFill>
              <a:srgbClr val="2E9E5B"/>
            </a:solidFill>
            <a:prstDash val="solid"/>
          </a:ln>
          <a:effectLst>
            <a:outerShdw sx="100000" sy="100000" kx="0" ky="0" algn="bl" rotWithShape="0" blurRad="76200" dist="25400" dir="5400000">
              <a:srgbClr val="2B2250">
                <a:alpha val="15000"/>
              </a:srgbClr>
            </a:outerShdw>
          </a:effectLst>
        </p:spPr>
      </p:sp>
      <p:sp>
        <p:nvSpPr>
          <p:cNvPr id="6" name="Dot 370"/>
          <p:cNvSpPr/>
          <p:nvPr/>
        </p:nvSpPr>
        <p:spPr>
          <a:xfrm>
            <a:off x="594360" y="2322576"/>
            <a:ext cx="457200" cy="457200"/>
          </a:xfrm>
          <a:prstGeom prst="ellipse">
            <a:avLst/>
          </a:prstGeom>
          <a:solidFill>
            <a:srgbClr val="2E9E5B"/>
          </a:solidFill>
          <a:ln w="12700">
            <a:solidFill>
              <a:srgbClr val="FFFFFF"/>
            </a:solidFill>
            <a:prstDash val="solid"/>
          </a:ln>
        </p:spPr>
      </p:sp>
      <p:sp>
        <p:nvSpPr>
          <p:cNvPr id="7" name="Text 371"/>
          <p:cNvSpPr txBox="1"/>
          <p:nvPr/>
        </p:nvSpPr>
        <p:spPr>
          <a:xfrm>
            <a:off x="594360" y="2322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8" name="Text 372"/>
          <p:cNvSpPr txBox="1"/>
          <p:nvPr/>
        </p:nvSpPr>
        <p:spPr>
          <a:xfrm>
            <a:off x="1188720" y="2194560"/>
            <a:ext cx="7406640" cy="713232"/>
          </a:xfrm>
          <a:prstGeom prst="rect">
            <a:avLst/>
          </a:prstGeom>
          <a:noFill/>
          <a:ln/>
        </p:spPr>
        <p:txBody>
          <a:bodyPr wrap="square" lIns="0" tIns="0" rIns="0" bIns="0" rtlCol="0" anchor="ctr"/>
          <a:lstStyle/>
          <a:p>
            <a:pPr indent="0" marL="0">
              <a:buNone/>
            </a:pPr>
            <a:r>
              <a:rPr lang="en-US" sz="2200" b="1" dirty="0">
                <a:solidFill>
                  <a:srgbClr val="2B2250"/>
                </a:solidFill>
                <a:latin typeface="Calibri" pitchFamily="34" charset="0"/>
                <a:ea typeface="Calibri" pitchFamily="34" charset="-122"/>
                <a:cs typeface="Calibri" pitchFamily="34" charset="-120"/>
              </a:rPr>
              <a:t>The World Wide Web is part of the internet</a:t>
            </a:r>
            <a:endParaRPr lang="en-US" sz="2200" dirty="0"/>
          </a:p>
        </p:txBody>
      </p:sp>
      <p:sp>
        <p:nvSpPr>
          <p:cNvPr id="9" name="Card 373"/>
          <p:cNvSpPr/>
          <p:nvPr/>
        </p:nvSpPr>
        <p:spPr>
          <a:xfrm>
            <a:off x="457200" y="3017520"/>
            <a:ext cx="8229600" cy="713232"/>
          </a:xfrm>
          <a:prstGeom prst="roundRect">
            <a:avLst>
              <a:gd name="adj" fmla="val 15385"/>
            </a:avLst>
          </a:prstGeom>
          <a:solidFill>
            <a:srgbClr val="FFFFFF"/>
          </a:solidFill>
          <a:ln w="19050">
            <a:solidFill>
              <a:srgbClr val="DDDAEA"/>
            </a:solidFill>
            <a:prstDash val="solid"/>
          </a:ln>
          <a:effectLst>
            <a:outerShdw sx="100000" sy="100000" kx="0" ky="0" algn="bl" rotWithShape="0" blurRad="76200" dist="25400" dir="5400000">
              <a:srgbClr val="2B2250">
                <a:alpha val="15000"/>
              </a:srgbClr>
            </a:outerShdw>
          </a:effectLst>
        </p:spPr>
      </p:sp>
      <p:sp>
        <p:nvSpPr>
          <p:cNvPr id="10" name="Dot 374"/>
          <p:cNvSpPr/>
          <p:nvPr/>
        </p:nvSpPr>
        <p:spPr>
          <a:xfrm>
            <a:off x="594360" y="3145536"/>
            <a:ext cx="457200" cy="457200"/>
          </a:xfrm>
          <a:prstGeom prst="ellipse">
            <a:avLst/>
          </a:prstGeom>
          <a:solidFill>
            <a:srgbClr val="CFCBE0"/>
          </a:solidFill>
          <a:ln w="12700">
            <a:solidFill>
              <a:srgbClr val="FFFFFF"/>
            </a:solidFill>
            <a:prstDash val="solid"/>
          </a:ln>
        </p:spPr>
      </p:sp>
      <p:sp>
        <p:nvSpPr>
          <p:cNvPr id="11" name="Text 375"/>
          <p:cNvSpPr txBox="1"/>
          <p:nvPr/>
        </p:nvSpPr>
        <p:spPr>
          <a:xfrm>
            <a:off x="594360" y="314553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376"/>
          <p:cNvSpPr txBox="1"/>
          <p:nvPr/>
        </p:nvSpPr>
        <p:spPr>
          <a:xfrm>
            <a:off x="1188720" y="3017520"/>
            <a:ext cx="7406640" cy="713232"/>
          </a:xfrm>
          <a:prstGeom prst="rect">
            <a:avLst/>
          </a:prstGeom>
          <a:noFill/>
          <a:ln/>
        </p:spPr>
        <p:txBody>
          <a:bodyPr wrap="square" lIns="0" tIns="0" rIns="0" bIns="0" rtlCol="0" anchor="ctr"/>
          <a:lstStyle/>
          <a:p>
            <a:pPr indent="0" marL="0">
              <a:buNone/>
            </a:pPr>
            <a:r>
              <a:rPr lang="en-US" sz="2200" dirty="0">
                <a:solidFill>
                  <a:srgbClr val="8A86A3"/>
                </a:solidFill>
                <a:latin typeface="Calibri" pitchFamily="34" charset="0"/>
                <a:ea typeface="Calibri" pitchFamily="34" charset="-122"/>
                <a:cs typeface="Calibri" pitchFamily="34" charset="-120"/>
              </a:rPr>
              <a:t>The internet is part of the World Wide Web</a:t>
            </a:r>
            <a:endParaRPr lang="en-US" sz="2200" dirty="0"/>
          </a:p>
        </p:txBody>
      </p:sp>
      <p:sp>
        <p:nvSpPr>
          <p:cNvPr id="13" name="Card 377"/>
          <p:cNvSpPr/>
          <p:nvPr/>
        </p:nvSpPr>
        <p:spPr>
          <a:xfrm>
            <a:off x="457200" y="3840480"/>
            <a:ext cx="8229600" cy="713232"/>
          </a:xfrm>
          <a:prstGeom prst="roundRect">
            <a:avLst>
              <a:gd name="adj" fmla="val 15385"/>
            </a:avLst>
          </a:prstGeom>
          <a:solidFill>
            <a:srgbClr val="FFFFFF"/>
          </a:solidFill>
          <a:ln w="19050">
            <a:solidFill>
              <a:srgbClr val="DDDAEA"/>
            </a:solidFill>
            <a:prstDash val="solid"/>
          </a:ln>
          <a:effectLst>
            <a:outerShdw sx="100000" sy="100000" kx="0" ky="0" algn="bl" rotWithShape="0" blurRad="76200" dist="25400" dir="5400000">
              <a:srgbClr val="2B2250">
                <a:alpha val="15000"/>
              </a:srgbClr>
            </a:outerShdw>
          </a:effectLst>
        </p:spPr>
      </p:sp>
      <p:sp>
        <p:nvSpPr>
          <p:cNvPr id="14" name="Dot 378"/>
          <p:cNvSpPr/>
          <p:nvPr/>
        </p:nvSpPr>
        <p:spPr>
          <a:xfrm>
            <a:off x="594360" y="3968496"/>
            <a:ext cx="457200" cy="457200"/>
          </a:xfrm>
          <a:prstGeom prst="ellipse">
            <a:avLst/>
          </a:prstGeom>
          <a:solidFill>
            <a:srgbClr val="CFCBE0"/>
          </a:solidFill>
          <a:ln w="12700">
            <a:solidFill>
              <a:srgbClr val="FFFFFF"/>
            </a:solidFill>
            <a:prstDash val="solid"/>
          </a:ln>
        </p:spPr>
      </p:sp>
      <p:sp>
        <p:nvSpPr>
          <p:cNvPr id="15" name="Text 379"/>
          <p:cNvSpPr txBox="1"/>
          <p:nvPr/>
        </p:nvSpPr>
        <p:spPr>
          <a:xfrm>
            <a:off x="594360" y="39684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6" name="Text 380"/>
          <p:cNvSpPr txBox="1"/>
          <p:nvPr/>
        </p:nvSpPr>
        <p:spPr>
          <a:xfrm>
            <a:off x="1188720" y="3840480"/>
            <a:ext cx="7406640" cy="713232"/>
          </a:xfrm>
          <a:prstGeom prst="rect">
            <a:avLst/>
          </a:prstGeom>
          <a:noFill/>
          <a:ln/>
        </p:spPr>
        <p:txBody>
          <a:bodyPr wrap="square" lIns="0" tIns="0" rIns="0" bIns="0" rtlCol="0" anchor="ctr"/>
          <a:lstStyle/>
          <a:p>
            <a:pPr indent="0" marL="0">
              <a:buNone/>
            </a:pPr>
            <a:r>
              <a:rPr lang="en-US" sz="2200" dirty="0">
                <a:solidFill>
                  <a:srgbClr val="8A86A3"/>
                </a:solidFill>
                <a:latin typeface="Calibri" pitchFamily="34" charset="0"/>
                <a:ea typeface="Calibri" pitchFamily="34" charset="-122"/>
                <a:cs typeface="Calibri" pitchFamily="34" charset="-120"/>
              </a:rPr>
              <a:t>They are exactly the same thing</a:t>
            </a:r>
            <a:endParaRPr lang="en-US" sz="2200" dirty="0"/>
          </a:p>
        </p:txBody>
      </p:sp>
      <p:sp>
        <p:nvSpPr>
          <p:cNvPr id="17" name="Text 381"/>
          <p:cNvSpPr txBox="1"/>
          <p:nvPr/>
        </p:nvSpPr>
        <p:spPr>
          <a:xfrm>
            <a:off x="457200" y="4572000"/>
            <a:ext cx="8229600" cy="457200"/>
          </a:xfrm>
          <a:prstGeom prst="rect">
            <a:avLst/>
          </a:prstGeom>
          <a:noFill/>
          <a:ln/>
        </p:spPr>
        <p:txBody>
          <a:bodyPr wrap="square" lIns="0" tIns="0" rIns="0" bIns="0" rtlCol="0" anchor="t"/>
          <a:lstStyle/>
          <a:p>
            <a:pPr algn="ctr" indent="0" marL="0">
              <a:buNone/>
            </a:pPr>
            <a:r>
              <a:rPr lang="en-US" sz="2000" b="1" dirty="0">
                <a:solidFill>
                  <a:srgbClr val="2E9E5B"/>
                </a:solidFill>
                <a:latin typeface="Calibri" pitchFamily="34" charset="0"/>
                <a:ea typeface="Calibri" pitchFamily="34" charset="-122"/>
                <a:cs typeface="Calibri" pitchFamily="34" charset="-120"/>
              </a:rPr>
              <a:t>The web is one service on the internet.</a:t>
            </a: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Accent 382"/>
          <p:cNvSpPr/>
          <p:nvPr/>
        </p:nvSpPr>
        <p:spPr>
          <a:xfrm>
            <a:off x="0" y="274320"/>
            <a:ext cx="164592" cy="685800"/>
          </a:xfrm>
          <a:prstGeom prst="rect">
            <a:avLst/>
          </a:prstGeom>
          <a:solidFill>
            <a:srgbClr val="4DA3E0"/>
          </a:solidFill>
          <a:ln w="12700">
            <a:solidFill>
              <a:srgbClr val="4DA3E0"/>
            </a:solidFill>
            <a:prstDash val="solid"/>
          </a:ln>
        </p:spPr>
      </p:sp>
      <p:sp>
        <p:nvSpPr>
          <p:cNvPr id="3" name="Text 383"/>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Activity: Explore the web</a:t>
            </a:r>
            <a:endParaRPr lang="en-US" sz="3000" dirty="0"/>
          </a:p>
        </p:txBody>
      </p:sp>
      <p:sp>
        <p:nvSpPr>
          <p:cNvPr id="4" name="Tag 384"/>
          <p:cNvSpPr/>
          <p:nvPr/>
        </p:nvSpPr>
        <p:spPr>
          <a:xfrm>
            <a:off x="7223760" y="384048"/>
            <a:ext cx="1463040" cy="457200"/>
          </a:xfrm>
          <a:prstGeom prst="roundRect">
            <a:avLst>
              <a:gd name="adj" fmla="val 50000"/>
            </a:avLst>
          </a:prstGeom>
          <a:solidFill>
            <a:srgbClr val="FF9A3D"/>
          </a:solidFill>
          <a:ln w="12700">
            <a:solidFill>
              <a:srgbClr val="FF9A3D"/>
            </a:solidFill>
            <a:prstDash val="solid"/>
          </a:ln>
        </p:spPr>
      </p:sp>
      <p:sp>
        <p:nvSpPr>
          <p:cNvPr id="5" name="Text 385"/>
          <p:cNvSpPr txBox="1"/>
          <p:nvPr/>
        </p:nvSpPr>
        <p:spPr>
          <a:xfrm>
            <a:off x="7223760" y="384048"/>
            <a:ext cx="14630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ACTIVITY</a:t>
            </a:r>
            <a:endParaRPr lang="en-US" sz="1600" dirty="0"/>
          </a:p>
        </p:txBody>
      </p:sp>
      <p:sp>
        <p:nvSpPr>
          <p:cNvPr id="6" name="Card 386"/>
          <p:cNvSpPr/>
          <p:nvPr/>
        </p:nvSpPr>
        <p:spPr>
          <a:xfrm>
            <a:off x="457200" y="1188720"/>
            <a:ext cx="8229600" cy="781812"/>
          </a:xfrm>
          <a:prstGeom prst="roundRect">
            <a:avLst>
              <a:gd name="adj" fmla="val 14035"/>
            </a:avLst>
          </a:prstGeom>
          <a:solidFill>
            <a:srgbClr val="FFFFFF"/>
          </a:solidFill>
          <a:ln/>
          <a:effectLst>
            <a:outerShdw sx="100000" sy="100000" kx="0" ky="0" algn="bl" rotWithShape="0" blurRad="76200" dist="25400" dir="5400000">
              <a:srgbClr val="2B2250">
                <a:alpha val="15000"/>
              </a:srgbClr>
            </a:outerShdw>
          </a:effectLst>
        </p:spPr>
      </p:sp>
      <p:sp>
        <p:nvSpPr>
          <p:cNvPr id="7" name="Dot 387"/>
          <p:cNvSpPr/>
          <p:nvPr/>
        </p:nvSpPr>
        <p:spPr>
          <a:xfrm>
            <a:off x="594360" y="1351026"/>
            <a:ext cx="457200" cy="457200"/>
          </a:xfrm>
          <a:prstGeom prst="ellipse">
            <a:avLst/>
          </a:prstGeom>
          <a:solidFill>
            <a:srgbClr val="FF9A3D"/>
          </a:solidFill>
          <a:ln w="12700">
            <a:solidFill>
              <a:srgbClr val="FFFFFF"/>
            </a:solidFill>
            <a:prstDash val="solid"/>
          </a:ln>
        </p:spPr>
      </p:sp>
      <p:sp>
        <p:nvSpPr>
          <p:cNvPr id="8" name="Text 388"/>
          <p:cNvSpPr txBox="1"/>
          <p:nvPr/>
        </p:nvSpPr>
        <p:spPr>
          <a:xfrm>
            <a:off x="594360" y="135102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Text 389"/>
          <p:cNvSpPr txBox="1"/>
          <p:nvPr/>
        </p:nvSpPr>
        <p:spPr>
          <a:xfrm>
            <a:off x="1188720" y="1188720"/>
            <a:ext cx="7315200" cy="781812"/>
          </a:xfrm>
          <a:prstGeom prst="rect">
            <a:avLst/>
          </a:prstGeom>
          <a:noFill/>
          <a:ln/>
        </p:spPr>
        <p:txBody>
          <a:bodyPr wrap="square" lIns="0" tIns="0" rIns="0" bIns="0" rtlCol="0" anchor="ctr"/>
          <a:lstStyle/>
          <a:p>
            <a:pPr indent="0" marL="0">
              <a:buNone/>
            </a:pPr>
            <a:r>
              <a:rPr lang="en-US" sz="1900" dirty="0">
                <a:solidFill>
                  <a:schemeClr val="tx1"/>
                </a:solidFill>
                <a:latin typeface="Calibri" pitchFamily="34" charset="0"/>
                <a:ea typeface="Calibri" pitchFamily="34" charset="-122"/>
                <a:cs typeface="Calibri" pitchFamily="34" charset="-120"/>
              </a:rPr>
              <a:t>Visit the three websites your teacher gives you.</a:t>
            </a:r>
            <a:endParaRPr lang="en-US" sz="1900" dirty="0"/>
          </a:p>
        </p:txBody>
      </p:sp>
      <p:sp>
        <p:nvSpPr>
          <p:cNvPr id="10" name="Card 390"/>
          <p:cNvSpPr/>
          <p:nvPr/>
        </p:nvSpPr>
        <p:spPr>
          <a:xfrm>
            <a:off x="457200" y="2080260"/>
            <a:ext cx="8229600" cy="781812"/>
          </a:xfrm>
          <a:prstGeom prst="roundRect">
            <a:avLst>
              <a:gd name="adj" fmla="val 14035"/>
            </a:avLst>
          </a:prstGeom>
          <a:solidFill>
            <a:srgbClr val="FFFFFF"/>
          </a:solidFill>
          <a:ln/>
          <a:effectLst>
            <a:outerShdw sx="100000" sy="100000" kx="0" ky="0" algn="bl" rotWithShape="0" blurRad="76200" dist="25400" dir="5400000">
              <a:srgbClr val="2B2250">
                <a:alpha val="15000"/>
              </a:srgbClr>
            </a:outerShdw>
          </a:effectLst>
        </p:spPr>
      </p:sp>
      <p:sp>
        <p:nvSpPr>
          <p:cNvPr id="11" name="Dot 391"/>
          <p:cNvSpPr/>
          <p:nvPr/>
        </p:nvSpPr>
        <p:spPr>
          <a:xfrm>
            <a:off x="594360" y="2242566"/>
            <a:ext cx="457200" cy="457200"/>
          </a:xfrm>
          <a:prstGeom prst="ellipse">
            <a:avLst/>
          </a:prstGeom>
          <a:solidFill>
            <a:srgbClr val="FF9A3D"/>
          </a:solidFill>
          <a:ln w="12700">
            <a:solidFill>
              <a:srgbClr val="FFFFFF"/>
            </a:solidFill>
            <a:prstDash val="solid"/>
          </a:ln>
        </p:spPr>
      </p:sp>
      <p:sp>
        <p:nvSpPr>
          <p:cNvPr id="12" name="Text 392"/>
          <p:cNvSpPr txBox="1"/>
          <p:nvPr/>
        </p:nvSpPr>
        <p:spPr>
          <a:xfrm>
            <a:off x="594360" y="224256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393"/>
          <p:cNvSpPr txBox="1"/>
          <p:nvPr/>
        </p:nvSpPr>
        <p:spPr>
          <a:xfrm>
            <a:off x="1188720" y="2080260"/>
            <a:ext cx="7315200" cy="781812"/>
          </a:xfrm>
          <a:prstGeom prst="rect">
            <a:avLst/>
          </a:prstGeom>
          <a:noFill/>
          <a:ln/>
        </p:spPr>
        <p:txBody>
          <a:bodyPr wrap="square" lIns="0" tIns="0" rIns="0" bIns="0" rtlCol="0" anchor="ctr"/>
          <a:lstStyle/>
          <a:p>
            <a:pPr indent="0" marL="0">
              <a:buNone/>
            </a:pPr>
            <a:r>
              <a:rPr lang="en-US" sz="1900" dirty="0">
                <a:solidFill>
                  <a:schemeClr val="tx1"/>
                </a:solidFill>
                <a:latin typeface="Calibri" pitchFamily="34" charset="0"/>
                <a:ea typeface="Calibri" pitchFamily="34" charset="-122"/>
                <a:cs typeface="Calibri" pitchFamily="34" charset="-120"/>
              </a:rPr>
              <a:t>For each one, write 3 things you can SEE, HEAR or DO.</a:t>
            </a:r>
            <a:endParaRPr lang="en-US" sz="1900" dirty="0"/>
          </a:p>
        </p:txBody>
      </p:sp>
      <p:sp>
        <p:nvSpPr>
          <p:cNvPr id="14" name="Card 394"/>
          <p:cNvSpPr/>
          <p:nvPr/>
        </p:nvSpPr>
        <p:spPr>
          <a:xfrm>
            <a:off x="457200" y="2971800"/>
            <a:ext cx="8229600" cy="781812"/>
          </a:xfrm>
          <a:prstGeom prst="roundRect">
            <a:avLst>
              <a:gd name="adj" fmla="val 14035"/>
            </a:avLst>
          </a:prstGeom>
          <a:solidFill>
            <a:srgbClr val="FFFFFF"/>
          </a:solidFill>
          <a:ln/>
          <a:effectLst>
            <a:outerShdw sx="100000" sy="100000" kx="0" ky="0" algn="bl" rotWithShape="0" blurRad="76200" dist="25400" dir="5400000">
              <a:srgbClr val="2B2250">
                <a:alpha val="15000"/>
              </a:srgbClr>
            </a:outerShdw>
          </a:effectLst>
        </p:spPr>
      </p:sp>
      <p:sp>
        <p:nvSpPr>
          <p:cNvPr id="15" name="Dot 395"/>
          <p:cNvSpPr/>
          <p:nvPr/>
        </p:nvSpPr>
        <p:spPr>
          <a:xfrm>
            <a:off x="594360" y="3134106"/>
            <a:ext cx="457200" cy="457200"/>
          </a:xfrm>
          <a:prstGeom prst="ellipse">
            <a:avLst/>
          </a:prstGeom>
          <a:solidFill>
            <a:srgbClr val="FF9A3D"/>
          </a:solidFill>
          <a:ln w="12700">
            <a:solidFill>
              <a:srgbClr val="FFFFFF"/>
            </a:solidFill>
            <a:prstDash val="solid"/>
          </a:ln>
        </p:spPr>
      </p:sp>
      <p:sp>
        <p:nvSpPr>
          <p:cNvPr id="16" name="Text 396"/>
          <p:cNvSpPr txBox="1"/>
          <p:nvPr/>
        </p:nvSpPr>
        <p:spPr>
          <a:xfrm>
            <a:off x="594360" y="313410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397"/>
          <p:cNvSpPr txBox="1"/>
          <p:nvPr/>
        </p:nvSpPr>
        <p:spPr>
          <a:xfrm>
            <a:off x="1188720" y="2971800"/>
            <a:ext cx="7315200" cy="781812"/>
          </a:xfrm>
          <a:prstGeom prst="rect">
            <a:avLst/>
          </a:prstGeom>
          <a:noFill/>
          <a:ln/>
        </p:spPr>
        <p:txBody>
          <a:bodyPr wrap="square" lIns="0" tIns="0" rIns="0" bIns="0" rtlCol="0" anchor="ctr"/>
          <a:lstStyle/>
          <a:p>
            <a:pPr indent="0" marL="0">
              <a:buNone/>
            </a:pPr>
            <a:r>
              <a:rPr lang="en-US" sz="1900" dirty="0">
                <a:solidFill>
                  <a:schemeClr val="tx1"/>
                </a:solidFill>
                <a:latin typeface="Calibri" pitchFamily="34" charset="0"/>
                <a:ea typeface="Calibri" pitchFamily="34" charset="-122"/>
                <a:cs typeface="Calibri" pitchFamily="34" charset="-120"/>
              </a:rPr>
              <a:t>Is there a video? A picture? A game?</a:t>
            </a:r>
            <a:endParaRPr lang="en-US" sz="1900" dirty="0"/>
          </a:p>
        </p:txBody>
      </p:sp>
      <p:sp>
        <p:nvSpPr>
          <p:cNvPr id="18" name="Card 398"/>
          <p:cNvSpPr/>
          <p:nvPr/>
        </p:nvSpPr>
        <p:spPr>
          <a:xfrm>
            <a:off x="457200" y="3863340"/>
            <a:ext cx="8229600" cy="781812"/>
          </a:xfrm>
          <a:prstGeom prst="roundRect">
            <a:avLst>
              <a:gd name="adj" fmla="val 14035"/>
            </a:avLst>
          </a:prstGeom>
          <a:solidFill>
            <a:srgbClr val="FFFFFF"/>
          </a:solidFill>
          <a:ln/>
          <a:effectLst>
            <a:outerShdw sx="100000" sy="100000" kx="0" ky="0" algn="bl" rotWithShape="0" blurRad="76200" dist="25400" dir="5400000">
              <a:srgbClr val="2B2250">
                <a:alpha val="15000"/>
              </a:srgbClr>
            </a:outerShdw>
          </a:effectLst>
        </p:spPr>
      </p:sp>
      <p:sp>
        <p:nvSpPr>
          <p:cNvPr id="19" name="Dot 399"/>
          <p:cNvSpPr/>
          <p:nvPr/>
        </p:nvSpPr>
        <p:spPr>
          <a:xfrm>
            <a:off x="594360" y="4025646"/>
            <a:ext cx="457200" cy="457200"/>
          </a:xfrm>
          <a:prstGeom prst="ellipse">
            <a:avLst/>
          </a:prstGeom>
          <a:solidFill>
            <a:srgbClr val="FF9A3D"/>
          </a:solidFill>
          <a:ln w="12700">
            <a:solidFill>
              <a:srgbClr val="FFFFFF"/>
            </a:solidFill>
            <a:prstDash val="solid"/>
          </a:ln>
        </p:spPr>
      </p:sp>
      <p:sp>
        <p:nvSpPr>
          <p:cNvPr id="20" name="Text 400"/>
          <p:cNvSpPr txBox="1"/>
          <p:nvPr/>
        </p:nvSpPr>
        <p:spPr>
          <a:xfrm>
            <a:off x="594360" y="402564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1" name="Text 401"/>
          <p:cNvSpPr txBox="1"/>
          <p:nvPr/>
        </p:nvSpPr>
        <p:spPr>
          <a:xfrm>
            <a:off x="1188720" y="3863340"/>
            <a:ext cx="7315200" cy="781812"/>
          </a:xfrm>
          <a:prstGeom prst="rect">
            <a:avLst/>
          </a:prstGeom>
          <a:noFill/>
          <a:ln/>
        </p:spPr>
        <p:txBody>
          <a:bodyPr wrap="square" lIns="0" tIns="0" rIns="0" bIns="0" rtlCol="0" anchor="ctr"/>
          <a:lstStyle/>
          <a:p>
            <a:pPr indent="0" marL="0">
              <a:buNone/>
            </a:pPr>
            <a:r>
              <a:rPr lang="en-US" sz="1900" dirty="0">
                <a:solidFill>
                  <a:schemeClr val="tx1"/>
                </a:solidFill>
                <a:latin typeface="Calibri" pitchFamily="34" charset="0"/>
                <a:ea typeface="Calibri" pitchFamily="34" charset="-122"/>
                <a:cs typeface="Calibri" pitchFamily="34" charset="-120"/>
              </a:rPr>
              <a:t>Which website would you visit again? Why?</a:t>
            </a:r>
            <a:endParaRPr lang="en-US" sz="1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Accent 402"/>
          <p:cNvSpPr/>
          <p:nvPr/>
        </p:nvSpPr>
        <p:spPr>
          <a:xfrm>
            <a:off x="0" y="274320"/>
            <a:ext cx="164592" cy="685800"/>
          </a:xfrm>
          <a:prstGeom prst="rect">
            <a:avLst/>
          </a:prstGeom>
          <a:solidFill>
            <a:srgbClr val="4DA3E0"/>
          </a:solidFill>
          <a:ln w="12700">
            <a:solidFill>
              <a:srgbClr val="4DA3E0"/>
            </a:solidFill>
            <a:prstDash val="solid"/>
          </a:ln>
        </p:spPr>
      </p:sp>
      <p:sp>
        <p:nvSpPr>
          <p:cNvPr id="3" name="Text 403"/>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Website or web page?</a:t>
            </a:r>
            <a:endParaRPr lang="en-US" sz="3000" dirty="0"/>
          </a:p>
        </p:txBody>
      </p:sp>
      <p:sp>
        <p:nvSpPr>
          <p:cNvPr id="4" name="Card 404"/>
          <p:cNvSpPr/>
          <p:nvPr/>
        </p:nvSpPr>
        <p:spPr>
          <a:xfrm>
            <a:off x="548640" y="1051560"/>
            <a:ext cx="5120640" cy="3639312"/>
          </a:xfrm>
          <a:prstGeom prst="roundRect">
            <a:avLst>
              <a:gd name="adj" fmla="val 3015"/>
            </a:avLst>
          </a:prstGeom>
          <a:solidFill>
            <a:srgbClr val="FFFFFF"/>
          </a:solidFill>
          <a:ln/>
          <a:effectLst>
            <a:outerShdw sx="100000" sy="100000" kx="0" ky="0" algn="bl" rotWithShape="0" blurRad="76200" dist="25400" dir="5400000">
              <a:srgbClr val="2B2250">
                <a:alpha val="15000"/>
              </a:srgbClr>
            </a:outerShdw>
          </a:effectLst>
        </p:spPr>
      </p:sp>
      <p:pic>
        <p:nvPicPr>
          <p:cNvPr id="5" name="Picture 405" descr="A stack of pages for a website and a single web page">    </p:cNvPr>
          <p:cNvPicPr>
            <a:picLocks noChangeAspect="1"/>
          </p:cNvPicPr>
          <p:nvPr/>
        </p:nvPicPr>
        <p:blipFill>
          <a:blip r:embed="rId1"/>
          <a:stretch>
            <a:fillRect/>
          </a:stretch>
        </p:blipFill>
        <p:spPr>
          <a:xfrm>
            <a:off x="640080" y="1143000"/>
            <a:ext cx="4937760" cy="3456432"/>
          </a:xfrm>
          <a:prstGeom prst="rect">
            <a:avLst/>
          </a:prstGeom>
        </p:spPr>
      </p:pic>
      <p:sp>
        <p:nvSpPr>
          <p:cNvPr id="6" name="Text 406"/>
          <p:cNvSpPr txBox="1"/>
          <p:nvPr/>
        </p:nvSpPr>
        <p:spPr>
          <a:xfrm>
            <a:off x="5897880" y="1234440"/>
            <a:ext cx="2834640" cy="3566160"/>
          </a:xfrm>
          <a:prstGeom prst="rect">
            <a:avLst/>
          </a:prstGeom>
          <a:noFill/>
          <a:ln/>
        </p:spPr>
        <p:txBody>
          <a:bodyPr wrap="square" lIns="0" tIns="0" rIns="0" bIns="0" rtlCol="0" anchor="t"/>
          <a:lstStyle/>
          <a:p>
            <a:pPr indent="0" marL="0">
              <a:buNone/>
            </a:pPr>
            <a:r>
              <a:rPr lang="en-US" sz="2000" dirty="0">
                <a:solidFill>
                  <a:schemeClr val="tx1"/>
                </a:solidFill>
                <a:latin typeface="Calibri" pitchFamily="34" charset="0"/>
                <a:ea typeface="Calibri" pitchFamily="34" charset="-122"/>
                <a:cs typeface="Calibri" pitchFamily="34" charset="-120"/>
              </a:rPr>
              <a:t>A website is a collection of web pages under one name. A web page is a single page.</a:t>
            </a:r>
            <a:endParaRPr lang="en-US" sz="2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Accent 407"/>
          <p:cNvSpPr/>
          <p:nvPr/>
        </p:nvSpPr>
        <p:spPr>
          <a:xfrm>
            <a:off x="0" y="274320"/>
            <a:ext cx="164592" cy="685800"/>
          </a:xfrm>
          <a:prstGeom prst="rect">
            <a:avLst/>
          </a:prstGeom>
          <a:solidFill>
            <a:srgbClr val="4DA3E0"/>
          </a:solidFill>
          <a:ln w="12700">
            <a:solidFill>
              <a:srgbClr val="4DA3E0"/>
            </a:solidFill>
            <a:prstDash val="solid"/>
          </a:ln>
        </p:spPr>
      </p:sp>
      <p:sp>
        <p:nvSpPr>
          <p:cNvPr id="3" name="Text 408"/>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Quick quiz</a:t>
            </a:r>
            <a:endParaRPr lang="en-US" sz="3000" dirty="0"/>
          </a:p>
        </p:txBody>
      </p:sp>
      <p:sp>
        <p:nvSpPr>
          <p:cNvPr id="4" name="Text 409"/>
          <p:cNvSpPr txBox="1"/>
          <p:nvPr/>
        </p:nvSpPr>
        <p:spPr>
          <a:xfrm>
            <a:off x="457200" y="1051560"/>
            <a:ext cx="8229600" cy="914400"/>
          </a:xfrm>
          <a:prstGeom prst="rect">
            <a:avLst/>
          </a:prstGeom>
          <a:noFill/>
          <a:ln/>
        </p:spPr>
        <p:txBody>
          <a:bodyPr wrap="square" lIns="0" tIns="0" rIns="0" bIns="0" rtlCol="0" anchor="ctr"/>
          <a:lstStyle/>
          <a:p>
            <a:pPr indent="0" marL="0">
              <a:buNone/>
            </a:pPr>
            <a:r>
              <a:rPr lang="en-US" sz="2600" b="1" dirty="0">
                <a:solidFill>
                  <a:schemeClr val="tx1"/>
                </a:solidFill>
                <a:latin typeface="Calibri" pitchFamily="34" charset="0"/>
                <a:ea typeface="Calibri" pitchFamily="34" charset="-122"/>
                <a:cs typeface="Calibri" pitchFamily="34" charset="-120"/>
              </a:rPr>
              <a:t>A website is…</a:t>
            </a:r>
            <a:endParaRPr lang="en-US" sz="2600" dirty="0"/>
          </a:p>
        </p:txBody>
      </p:sp>
      <p:sp>
        <p:nvSpPr>
          <p:cNvPr id="5" name="Card 410"/>
          <p:cNvSpPr/>
          <p:nvPr/>
        </p:nvSpPr>
        <p:spPr>
          <a:xfrm>
            <a:off x="457200" y="219456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6" name="Dot 411"/>
          <p:cNvSpPr/>
          <p:nvPr/>
        </p:nvSpPr>
        <p:spPr>
          <a:xfrm>
            <a:off x="594360" y="2322576"/>
            <a:ext cx="457200" cy="457200"/>
          </a:xfrm>
          <a:prstGeom prst="ellipse">
            <a:avLst/>
          </a:prstGeom>
          <a:solidFill>
            <a:srgbClr val="4DA3E0"/>
          </a:solidFill>
          <a:ln w="12700">
            <a:solidFill>
              <a:srgbClr val="FFFFFF"/>
            </a:solidFill>
            <a:prstDash val="solid"/>
          </a:ln>
        </p:spPr>
      </p:sp>
      <p:sp>
        <p:nvSpPr>
          <p:cNvPr id="7" name="Text 412"/>
          <p:cNvSpPr txBox="1"/>
          <p:nvPr/>
        </p:nvSpPr>
        <p:spPr>
          <a:xfrm>
            <a:off x="594360" y="2322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8" name="Text 413"/>
          <p:cNvSpPr txBox="1"/>
          <p:nvPr/>
        </p:nvSpPr>
        <p:spPr>
          <a:xfrm>
            <a:off x="1188720" y="219456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One single page</a:t>
            </a:r>
            <a:endParaRPr lang="en-US" sz="2200" dirty="0"/>
          </a:p>
        </p:txBody>
      </p:sp>
      <p:sp>
        <p:nvSpPr>
          <p:cNvPr id="9" name="Card 414"/>
          <p:cNvSpPr/>
          <p:nvPr/>
        </p:nvSpPr>
        <p:spPr>
          <a:xfrm>
            <a:off x="457200" y="301752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10" name="Dot 415"/>
          <p:cNvSpPr/>
          <p:nvPr/>
        </p:nvSpPr>
        <p:spPr>
          <a:xfrm>
            <a:off x="594360" y="3145536"/>
            <a:ext cx="457200" cy="457200"/>
          </a:xfrm>
          <a:prstGeom prst="ellipse">
            <a:avLst/>
          </a:prstGeom>
          <a:solidFill>
            <a:srgbClr val="4DA3E0"/>
          </a:solidFill>
          <a:ln w="12700">
            <a:solidFill>
              <a:srgbClr val="FFFFFF"/>
            </a:solidFill>
            <a:prstDash val="solid"/>
          </a:ln>
        </p:spPr>
      </p:sp>
      <p:sp>
        <p:nvSpPr>
          <p:cNvPr id="11" name="Text 416"/>
          <p:cNvSpPr txBox="1"/>
          <p:nvPr/>
        </p:nvSpPr>
        <p:spPr>
          <a:xfrm>
            <a:off x="594360" y="314553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417"/>
          <p:cNvSpPr txBox="1"/>
          <p:nvPr/>
        </p:nvSpPr>
        <p:spPr>
          <a:xfrm>
            <a:off x="1188720" y="301752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A collection of web pages under one name</a:t>
            </a:r>
            <a:endParaRPr lang="en-US" sz="2200" dirty="0"/>
          </a:p>
        </p:txBody>
      </p:sp>
      <p:sp>
        <p:nvSpPr>
          <p:cNvPr id="13" name="Card 418"/>
          <p:cNvSpPr/>
          <p:nvPr/>
        </p:nvSpPr>
        <p:spPr>
          <a:xfrm>
            <a:off x="457200" y="384048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14" name="Dot 419"/>
          <p:cNvSpPr/>
          <p:nvPr/>
        </p:nvSpPr>
        <p:spPr>
          <a:xfrm>
            <a:off x="594360" y="3968496"/>
            <a:ext cx="457200" cy="457200"/>
          </a:xfrm>
          <a:prstGeom prst="ellipse">
            <a:avLst/>
          </a:prstGeom>
          <a:solidFill>
            <a:srgbClr val="4DA3E0"/>
          </a:solidFill>
          <a:ln w="12700">
            <a:solidFill>
              <a:srgbClr val="FFFFFF"/>
            </a:solidFill>
            <a:prstDash val="solid"/>
          </a:ln>
        </p:spPr>
      </p:sp>
      <p:sp>
        <p:nvSpPr>
          <p:cNvPr id="15" name="Text 420"/>
          <p:cNvSpPr txBox="1"/>
          <p:nvPr/>
        </p:nvSpPr>
        <p:spPr>
          <a:xfrm>
            <a:off x="594360" y="39684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6" name="Text 421"/>
          <p:cNvSpPr txBox="1"/>
          <p:nvPr/>
        </p:nvSpPr>
        <p:spPr>
          <a:xfrm>
            <a:off x="1188720" y="384048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A type of router</a:t>
            </a:r>
            <a:endParaRPr lang="en-US" sz="2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Accent 422"/>
          <p:cNvSpPr/>
          <p:nvPr/>
        </p:nvSpPr>
        <p:spPr>
          <a:xfrm>
            <a:off x="0" y="274320"/>
            <a:ext cx="164592" cy="685800"/>
          </a:xfrm>
          <a:prstGeom prst="rect">
            <a:avLst/>
          </a:prstGeom>
          <a:solidFill>
            <a:srgbClr val="2E9E5B"/>
          </a:solidFill>
          <a:ln w="12700">
            <a:solidFill>
              <a:srgbClr val="2E9E5B"/>
            </a:solidFill>
            <a:prstDash val="solid"/>
          </a:ln>
        </p:spPr>
      </p:sp>
      <p:sp>
        <p:nvSpPr>
          <p:cNvPr id="3" name="Text 423"/>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 The answer</a:t>
            </a:r>
            <a:endParaRPr lang="en-US" sz="3000" dirty="0"/>
          </a:p>
        </p:txBody>
      </p:sp>
      <p:sp>
        <p:nvSpPr>
          <p:cNvPr id="4" name="Text 424"/>
          <p:cNvSpPr txBox="1"/>
          <p:nvPr/>
        </p:nvSpPr>
        <p:spPr>
          <a:xfrm>
            <a:off x="457200" y="1051560"/>
            <a:ext cx="8229600" cy="914400"/>
          </a:xfrm>
          <a:prstGeom prst="rect">
            <a:avLst/>
          </a:prstGeom>
          <a:noFill/>
          <a:ln/>
        </p:spPr>
        <p:txBody>
          <a:bodyPr wrap="square" lIns="0" tIns="0" rIns="0" bIns="0" rtlCol="0" anchor="ctr"/>
          <a:lstStyle/>
          <a:p>
            <a:pPr indent="0" marL="0">
              <a:buNone/>
            </a:pPr>
            <a:r>
              <a:rPr lang="en-US" sz="2600" b="1" dirty="0">
                <a:solidFill>
                  <a:schemeClr val="tx1"/>
                </a:solidFill>
                <a:latin typeface="Calibri" pitchFamily="34" charset="0"/>
                <a:ea typeface="Calibri" pitchFamily="34" charset="-122"/>
                <a:cs typeface="Calibri" pitchFamily="34" charset="-120"/>
              </a:rPr>
              <a:t>A website is…</a:t>
            </a:r>
            <a:endParaRPr lang="en-US" sz="2600" dirty="0"/>
          </a:p>
        </p:txBody>
      </p:sp>
      <p:sp>
        <p:nvSpPr>
          <p:cNvPr id="5" name="Card 425"/>
          <p:cNvSpPr/>
          <p:nvPr/>
        </p:nvSpPr>
        <p:spPr>
          <a:xfrm>
            <a:off x="457200" y="2194560"/>
            <a:ext cx="8229600" cy="713232"/>
          </a:xfrm>
          <a:prstGeom prst="roundRect">
            <a:avLst>
              <a:gd name="adj" fmla="val 15385"/>
            </a:avLst>
          </a:prstGeom>
          <a:solidFill>
            <a:srgbClr val="FFFFFF"/>
          </a:solidFill>
          <a:ln w="19050">
            <a:solidFill>
              <a:srgbClr val="DDDAEA"/>
            </a:solidFill>
            <a:prstDash val="solid"/>
          </a:ln>
          <a:effectLst>
            <a:outerShdw sx="100000" sy="100000" kx="0" ky="0" algn="bl" rotWithShape="0" blurRad="76200" dist="25400" dir="5400000">
              <a:srgbClr val="2B2250">
                <a:alpha val="15000"/>
              </a:srgbClr>
            </a:outerShdw>
          </a:effectLst>
        </p:spPr>
      </p:sp>
      <p:sp>
        <p:nvSpPr>
          <p:cNvPr id="6" name="Dot 426"/>
          <p:cNvSpPr/>
          <p:nvPr/>
        </p:nvSpPr>
        <p:spPr>
          <a:xfrm>
            <a:off x="594360" y="2322576"/>
            <a:ext cx="457200" cy="457200"/>
          </a:xfrm>
          <a:prstGeom prst="ellipse">
            <a:avLst/>
          </a:prstGeom>
          <a:solidFill>
            <a:srgbClr val="CFCBE0"/>
          </a:solidFill>
          <a:ln w="12700">
            <a:solidFill>
              <a:srgbClr val="FFFFFF"/>
            </a:solidFill>
            <a:prstDash val="solid"/>
          </a:ln>
        </p:spPr>
      </p:sp>
      <p:sp>
        <p:nvSpPr>
          <p:cNvPr id="7" name="Text 427"/>
          <p:cNvSpPr txBox="1"/>
          <p:nvPr/>
        </p:nvSpPr>
        <p:spPr>
          <a:xfrm>
            <a:off x="594360" y="2322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8" name="Text 428"/>
          <p:cNvSpPr txBox="1"/>
          <p:nvPr/>
        </p:nvSpPr>
        <p:spPr>
          <a:xfrm>
            <a:off x="1188720" y="2194560"/>
            <a:ext cx="7406640" cy="713232"/>
          </a:xfrm>
          <a:prstGeom prst="rect">
            <a:avLst/>
          </a:prstGeom>
          <a:noFill/>
          <a:ln/>
        </p:spPr>
        <p:txBody>
          <a:bodyPr wrap="square" lIns="0" tIns="0" rIns="0" bIns="0" rtlCol="0" anchor="ctr"/>
          <a:lstStyle/>
          <a:p>
            <a:pPr indent="0" marL="0">
              <a:buNone/>
            </a:pPr>
            <a:r>
              <a:rPr lang="en-US" sz="2200" dirty="0">
                <a:solidFill>
                  <a:srgbClr val="8A86A3"/>
                </a:solidFill>
                <a:latin typeface="Calibri" pitchFamily="34" charset="0"/>
                <a:ea typeface="Calibri" pitchFamily="34" charset="-122"/>
                <a:cs typeface="Calibri" pitchFamily="34" charset="-120"/>
              </a:rPr>
              <a:t>One single page</a:t>
            </a:r>
            <a:endParaRPr lang="en-US" sz="2200" dirty="0"/>
          </a:p>
        </p:txBody>
      </p:sp>
      <p:sp>
        <p:nvSpPr>
          <p:cNvPr id="9" name="Card 429"/>
          <p:cNvSpPr/>
          <p:nvPr/>
        </p:nvSpPr>
        <p:spPr>
          <a:xfrm>
            <a:off x="457200" y="3017520"/>
            <a:ext cx="8229600" cy="713232"/>
          </a:xfrm>
          <a:prstGeom prst="roundRect">
            <a:avLst>
              <a:gd name="adj" fmla="val 15385"/>
            </a:avLst>
          </a:prstGeom>
          <a:solidFill>
            <a:srgbClr val="D9F5E6"/>
          </a:solidFill>
          <a:ln w="38100">
            <a:solidFill>
              <a:srgbClr val="2E9E5B"/>
            </a:solidFill>
            <a:prstDash val="solid"/>
          </a:ln>
          <a:effectLst>
            <a:outerShdw sx="100000" sy="100000" kx="0" ky="0" algn="bl" rotWithShape="0" blurRad="76200" dist="25400" dir="5400000">
              <a:srgbClr val="2B2250">
                <a:alpha val="15000"/>
              </a:srgbClr>
            </a:outerShdw>
          </a:effectLst>
        </p:spPr>
      </p:sp>
      <p:sp>
        <p:nvSpPr>
          <p:cNvPr id="10" name="Dot 430"/>
          <p:cNvSpPr/>
          <p:nvPr/>
        </p:nvSpPr>
        <p:spPr>
          <a:xfrm>
            <a:off x="594360" y="3145536"/>
            <a:ext cx="457200" cy="457200"/>
          </a:xfrm>
          <a:prstGeom prst="ellipse">
            <a:avLst/>
          </a:prstGeom>
          <a:solidFill>
            <a:srgbClr val="2E9E5B"/>
          </a:solidFill>
          <a:ln w="12700">
            <a:solidFill>
              <a:srgbClr val="FFFFFF"/>
            </a:solidFill>
            <a:prstDash val="solid"/>
          </a:ln>
        </p:spPr>
      </p:sp>
      <p:sp>
        <p:nvSpPr>
          <p:cNvPr id="11" name="Text 431"/>
          <p:cNvSpPr txBox="1"/>
          <p:nvPr/>
        </p:nvSpPr>
        <p:spPr>
          <a:xfrm>
            <a:off x="594360" y="314553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432"/>
          <p:cNvSpPr txBox="1"/>
          <p:nvPr/>
        </p:nvSpPr>
        <p:spPr>
          <a:xfrm>
            <a:off x="1188720" y="3017520"/>
            <a:ext cx="7406640" cy="713232"/>
          </a:xfrm>
          <a:prstGeom prst="rect">
            <a:avLst/>
          </a:prstGeom>
          <a:noFill/>
          <a:ln/>
        </p:spPr>
        <p:txBody>
          <a:bodyPr wrap="square" lIns="0" tIns="0" rIns="0" bIns="0" rtlCol="0" anchor="ctr"/>
          <a:lstStyle/>
          <a:p>
            <a:pPr indent="0" marL="0">
              <a:buNone/>
            </a:pPr>
            <a:r>
              <a:rPr lang="en-US" sz="2200" b="1" dirty="0">
                <a:solidFill>
                  <a:srgbClr val="2B2250"/>
                </a:solidFill>
                <a:latin typeface="Calibri" pitchFamily="34" charset="0"/>
                <a:ea typeface="Calibri" pitchFamily="34" charset="-122"/>
                <a:cs typeface="Calibri" pitchFamily="34" charset="-120"/>
              </a:rPr>
              <a:t>A collection of web pages under one name</a:t>
            </a:r>
            <a:endParaRPr lang="en-US" sz="2200" dirty="0"/>
          </a:p>
        </p:txBody>
      </p:sp>
      <p:sp>
        <p:nvSpPr>
          <p:cNvPr id="13" name="Card 433"/>
          <p:cNvSpPr/>
          <p:nvPr/>
        </p:nvSpPr>
        <p:spPr>
          <a:xfrm>
            <a:off x="457200" y="3840480"/>
            <a:ext cx="8229600" cy="713232"/>
          </a:xfrm>
          <a:prstGeom prst="roundRect">
            <a:avLst>
              <a:gd name="adj" fmla="val 15385"/>
            </a:avLst>
          </a:prstGeom>
          <a:solidFill>
            <a:srgbClr val="FFFFFF"/>
          </a:solidFill>
          <a:ln w="19050">
            <a:solidFill>
              <a:srgbClr val="DDDAEA"/>
            </a:solidFill>
            <a:prstDash val="solid"/>
          </a:ln>
          <a:effectLst>
            <a:outerShdw sx="100000" sy="100000" kx="0" ky="0" algn="bl" rotWithShape="0" blurRad="76200" dist="25400" dir="5400000">
              <a:srgbClr val="2B2250">
                <a:alpha val="15000"/>
              </a:srgbClr>
            </a:outerShdw>
          </a:effectLst>
        </p:spPr>
      </p:sp>
      <p:sp>
        <p:nvSpPr>
          <p:cNvPr id="14" name="Dot 434"/>
          <p:cNvSpPr/>
          <p:nvPr/>
        </p:nvSpPr>
        <p:spPr>
          <a:xfrm>
            <a:off x="594360" y="3968496"/>
            <a:ext cx="457200" cy="457200"/>
          </a:xfrm>
          <a:prstGeom prst="ellipse">
            <a:avLst/>
          </a:prstGeom>
          <a:solidFill>
            <a:srgbClr val="CFCBE0"/>
          </a:solidFill>
          <a:ln w="12700">
            <a:solidFill>
              <a:srgbClr val="FFFFFF"/>
            </a:solidFill>
            <a:prstDash val="solid"/>
          </a:ln>
        </p:spPr>
      </p:sp>
      <p:sp>
        <p:nvSpPr>
          <p:cNvPr id="15" name="Text 435"/>
          <p:cNvSpPr txBox="1"/>
          <p:nvPr/>
        </p:nvSpPr>
        <p:spPr>
          <a:xfrm>
            <a:off x="594360" y="39684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6" name="Text 436"/>
          <p:cNvSpPr txBox="1"/>
          <p:nvPr/>
        </p:nvSpPr>
        <p:spPr>
          <a:xfrm>
            <a:off x="1188720" y="3840480"/>
            <a:ext cx="7406640" cy="713232"/>
          </a:xfrm>
          <a:prstGeom prst="rect">
            <a:avLst/>
          </a:prstGeom>
          <a:noFill/>
          <a:ln/>
        </p:spPr>
        <p:txBody>
          <a:bodyPr wrap="square" lIns="0" tIns="0" rIns="0" bIns="0" rtlCol="0" anchor="ctr"/>
          <a:lstStyle/>
          <a:p>
            <a:pPr indent="0" marL="0">
              <a:buNone/>
            </a:pPr>
            <a:r>
              <a:rPr lang="en-US" sz="2200" dirty="0">
                <a:solidFill>
                  <a:srgbClr val="8A86A3"/>
                </a:solidFill>
                <a:latin typeface="Calibri" pitchFamily="34" charset="0"/>
                <a:ea typeface="Calibri" pitchFamily="34" charset="-122"/>
                <a:cs typeface="Calibri" pitchFamily="34" charset="-120"/>
              </a:rPr>
              <a:t>A type of router</a:t>
            </a:r>
            <a:endParaRPr lang="en-US" sz="2200" dirty="0"/>
          </a:p>
        </p:txBody>
      </p:sp>
      <p:sp>
        <p:nvSpPr>
          <p:cNvPr id="17" name="Text 437"/>
          <p:cNvSpPr txBox="1"/>
          <p:nvPr/>
        </p:nvSpPr>
        <p:spPr>
          <a:xfrm>
            <a:off x="457200" y="4572000"/>
            <a:ext cx="8229600" cy="457200"/>
          </a:xfrm>
          <a:prstGeom prst="rect">
            <a:avLst/>
          </a:prstGeom>
          <a:noFill/>
          <a:ln/>
        </p:spPr>
        <p:txBody>
          <a:bodyPr wrap="square" lIns="0" tIns="0" rIns="0" bIns="0" rtlCol="0" anchor="t"/>
          <a:lstStyle/>
          <a:p>
            <a:pPr algn="ctr" indent="0" marL="0">
              <a:buNone/>
            </a:pPr>
            <a:r>
              <a:rPr lang="en-US" sz="2000" b="1" dirty="0">
                <a:solidFill>
                  <a:srgbClr val="2E9E5B"/>
                </a:solidFill>
                <a:latin typeface="Calibri" pitchFamily="34" charset="0"/>
                <a:ea typeface="Calibri" pitchFamily="34" charset="-122"/>
                <a:cs typeface="Calibri" pitchFamily="34" charset="-120"/>
              </a:rPr>
              <a:t>A web page is one page. A website has many!</a:t>
            </a:r>
            <a:endParaRPr lang="en-US"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Accent 438"/>
          <p:cNvSpPr/>
          <p:nvPr/>
        </p:nvSpPr>
        <p:spPr>
          <a:xfrm>
            <a:off x="0" y="274320"/>
            <a:ext cx="164592" cy="685800"/>
          </a:xfrm>
          <a:prstGeom prst="rect">
            <a:avLst/>
          </a:prstGeom>
          <a:solidFill>
            <a:srgbClr val="4DA3E0"/>
          </a:solidFill>
          <a:ln w="12700">
            <a:solidFill>
              <a:srgbClr val="4DA3E0"/>
            </a:solidFill>
            <a:prstDash val="solid"/>
          </a:ln>
        </p:spPr>
      </p:sp>
      <p:sp>
        <p:nvSpPr>
          <p:cNvPr id="3" name="Text 439"/>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Think · Pair · Share</a:t>
            </a:r>
            <a:endParaRPr lang="en-US" sz="3000" dirty="0"/>
          </a:p>
        </p:txBody>
      </p:sp>
      <p:sp>
        <p:nvSpPr>
          <p:cNvPr id="4" name="Card 440"/>
          <p:cNvSpPr/>
          <p:nvPr/>
        </p:nvSpPr>
        <p:spPr>
          <a:xfrm>
            <a:off x="822960" y="1280160"/>
            <a:ext cx="7498080" cy="2194560"/>
          </a:xfrm>
          <a:prstGeom prst="roundRect">
            <a:avLst>
              <a:gd name="adj" fmla="val 5000"/>
            </a:avLst>
          </a:prstGeom>
          <a:solidFill>
            <a:srgbClr val="FFFFFF"/>
          </a:solidFill>
          <a:ln/>
          <a:effectLst>
            <a:outerShdw sx="100000" sy="100000" kx="0" ky="0" algn="bl" rotWithShape="0" blurRad="76200" dist="25400" dir="5400000">
              <a:srgbClr val="2B2250">
                <a:alpha val="15000"/>
              </a:srgbClr>
            </a:outerShdw>
          </a:effectLst>
        </p:spPr>
      </p:sp>
      <p:sp>
        <p:nvSpPr>
          <p:cNvPr id="5" name="Text 441"/>
          <p:cNvSpPr txBox="1"/>
          <p:nvPr/>
        </p:nvSpPr>
        <p:spPr>
          <a:xfrm>
            <a:off x="1188720" y="1371600"/>
            <a:ext cx="6766560" cy="2011680"/>
          </a:xfrm>
          <a:prstGeom prst="rect">
            <a:avLst/>
          </a:prstGeom>
          <a:noFill/>
          <a:ln/>
        </p:spPr>
        <p:txBody>
          <a:bodyPr wrap="square" lIns="0" tIns="0" rIns="0" bIns="0" rtlCol="0" anchor="ctr"/>
          <a:lstStyle/>
          <a:p>
            <a:pPr algn="ctr" indent="0" marL="0">
              <a:buNone/>
            </a:pPr>
            <a:r>
              <a:rPr lang="en-US" sz="2600" b="1" dirty="0">
                <a:solidFill>
                  <a:schemeClr val="tx1"/>
                </a:solidFill>
                <a:latin typeface="Calibri" pitchFamily="34" charset="0"/>
                <a:ea typeface="Calibri" pitchFamily="34" charset="-122"/>
                <a:cs typeface="Calibri" pitchFamily="34" charset="-120"/>
              </a:rPr>
              <a:t>Complete the sentence: “The World Wide Web is part of the ______ and contains ______.”</a:t>
            </a:r>
            <a:endParaRPr lang="en-US" sz="2600" dirty="0"/>
          </a:p>
        </p:txBody>
      </p:sp>
      <p:pic>
        <p:nvPicPr>
          <p:cNvPr id="6" name="Icon 442" descr="FaUserFriends">    </p:cNvPr>
          <p:cNvPicPr>
            <a:picLocks noChangeAspect="1"/>
          </p:cNvPicPr>
          <p:nvPr/>
        </p:nvPicPr>
        <p:blipFill>
          <a:blip r:embed="rId1"/>
          <a:stretch>
            <a:fillRect/>
          </a:stretch>
        </p:blipFill>
        <p:spPr>
          <a:xfrm>
            <a:off x="2468880" y="3749040"/>
            <a:ext cx="731520" cy="731520"/>
          </a:xfrm>
          <a:prstGeom prst="rect">
            <a:avLst/>
          </a:prstGeom>
        </p:spPr>
      </p:pic>
      <p:pic>
        <p:nvPicPr>
          <p:cNvPr id="7" name="Icon 443" descr="FaCommentDots">    </p:cNvPr>
          <p:cNvPicPr>
            <a:picLocks noChangeAspect="1"/>
          </p:cNvPicPr>
          <p:nvPr/>
        </p:nvPicPr>
        <p:blipFill>
          <a:blip r:embed="rId2"/>
          <a:stretch>
            <a:fillRect/>
          </a:stretch>
        </p:blipFill>
        <p:spPr>
          <a:xfrm>
            <a:off x="4206240" y="3749040"/>
            <a:ext cx="731520" cy="731520"/>
          </a:xfrm>
          <a:prstGeom prst="rect">
            <a:avLst/>
          </a:prstGeom>
        </p:spPr>
      </p:pic>
      <p:pic>
        <p:nvPicPr>
          <p:cNvPr id="8" name="Icon 444" descr="FaHandsHelping">    </p:cNvPr>
          <p:cNvPicPr>
            <a:picLocks noChangeAspect="1"/>
          </p:cNvPicPr>
          <p:nvPr/>
        </p:nvPicPr>
        <p:blipFill>
          <a:blip r:embed="rId3"/>
          <a:stretch>
            <a:fillRect/>
          </a:stretch>
        </p:blipFill>
        <p:spPr>
          <a:xfrm>
            <a:off x="5943600" y="3749040"/>
            <a:ext cx="731520" cy="731520"/>
          </a:xfrm>
          <a:prstGeom prst="rect">
            <a:avLst/>
          </a:prstGeom>
        </p:spPr>
      </p:pic>
      <p:sp>
        <p:nvSpPr>
          <p:cNvPr id="9" name="Text 445"/>
          <p:cNvSpPr txBox="1"/>
          <p:nvPr/>
        </p:nvSpPr>
        <p:spPr>
          <a:xfrm>
            <a:off x="2286000" y="4526280"/>
            <a:ext cx="1097280" cy="36576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Think</a:t>
            </a:r>
            <a:endParaRPr lang="en-US" sz="1600" dirty="0"/>
          </a:p>
        </p:txBody>
      </p:sp>
      <p:sp>
        <p:nvSpPr>
          <p:cNvPr id="10" name="Text 446"/>
          <p:cNvSpPr txBox="1"/>
          <p:nvPr/>
        </p:nvSpPr>
        <p:spPr>
          <a:xfrm>
            <a:off x="4023360" y="4526280"/>
            <a:ext cx="1097280" cy="36576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Pair</a:t>
            </a:r>
            <a:endParaRPr lang="en-US" sz="1600" dirty="0"/>
          </a:p>
        </p:txBody>
      </p:sp>
      <p:sp>
        <p:nvSpPr>
          <p:cNvPr id="11" name="Text 447"/>
          <p:cNvSpPr txBox="1"/>
          <p:nvPr/>
        </p:nvSpPr>
        <p:spPr>
          <a:xfrm>
            <a:off x="5760720" y="4526280"/>
            <a:ext cx="1097280" cy="36576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Share</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Accent 448"/>
          <p:cNvSpPr/>
          <p:nvPr/>
        </p:nvSpPr>
        <p:spPr>
          <a:xfrm>
            <a:off x="0" y="0"/>
            <a:ext cx="457200" cy="5143500"/>
          </a:xfrm>
          <a:prstGeom prst="rect">
            <a:avLst/>
          </a:prstGeom>
          <a:solidFill>
            <a:srgbClr val="6C63FF"/>
          </a:solidFill>
          <a:ln w="12700">
            <a:solidFill>
              <a:srgbClr val="6C63FF"/>
            </a:solidFill>
            <a:prstDash val="solid"/>
          </a:ln>
        </p:spPr>
      </p:sp>
      <p:sp>
        <p:nvSpPr>
          <p:cNvPr id="3" name="Text 449"/>
          <p:cNvSpPr txBox="1"/>
          <p:nvPr/>
        </p:nvSpPr>
        <p:spPr>
          <a:xfrm>
            <a:off x="914400" y="822960"/>
            <a:ext cx="5486400" cy="457200"/>
          </a:xfrm>
          <a:prstGeom prst="rect">
            <a:avLst/>
          </a:prstGeom>
          <a:noFill/>
          <a:ln/>
        </p:spPr>
        <p:txBody>
          <a:bodyPr wrap="square" lIns="0" tIns="0" rIns="0" bIns="0" rtlCol="0" anchor="t"/>
          <a:lstStyle/>
          <a:p>
            <a:pPr indent="0" marL="0">
              <a:buNone/>
            </a:pPr>
            <a:r>
              <a:rPr lang="en-US" sz="2000" b="1" spc="400" kern="0" dirty="0">
                <a:solidFill>
                  <a:srgbClr val="FFD23F"/>
                </a:solidFill>
                <a:latin typeface="Calibri" pitchFamily="34" charset="0"/>
                <a:ea typeface="Calibri" pitchFamily="34" charset="-122"/>
                <a:cs typeface="Calibri" pitchFamily="34" charset="-120"/>
              </a:rPr>
              <a:t>LESSON 3</a:t>
            </a:r>
            <a:endParaRPr lang="en-US" sz="2000" dirty="0"/>
          </a:p>
        </p:txBody>
      </p:sp>
      <p:sp>
        <p:nvSpPr>
          <p:cNvPr id="4" name="Text 450"/>
          <p:cNvSpPr txBox="1"/>
          <p:nvPr/>
        </p:nvSpPr>
        <p:spPr>
          <a:xfrm>
            <a:off x="914400" y="1371600"/>
            <a:ext cx="5760720" cy="173736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Sharing information</a:t>
            </a:r>
            <a:endParaRPr lang="en-US" sz="3800" dirty="0"/>
          </a:p>
        </p:txBody>
      </p:sp>
      <p:sp>
        <p:nvSpPr>
          <p:cNvPr id="5" name="Text 451"/>
          <p:cNvSpPr txBox="1"/>
          <p:nvPr/>
        </p:nvSpPr>
        <p:spPr>
          <a:xfrm>
            <a:off x="914400" y="3383280"/>
            <a:ext cx="5760720" cy="1005840"/>
          </a:xfrm>
          <a:prstGeom prst="rect">
            <a:avLst/>
          </a:prstGeom>
          <a:noFill/>
          <a:ln/>
        </p:spPr>
        <p:txBody>
          <a:bodyPr wrap="square" lIns="0" tIns="0" rIns="0" bIns="0" rtlCol="0" anchor="t"/>
          <a:lstStyle/>
          <a:p>
            <a:pPr indent="0" marL="0">
              <a:buNone/>
            </a:pPr>
            <a:r>
              <a:rPr lang="en-US" sz="2000" i="1" dirty="0">
                <a:solidFill>
                  <a:srgbClr val="D9D4F5"/>
                </a:solidFill>
                <a:latin typeface="Calibri" pitchFamily="34" charset="0"/>
                <a:ea typeface="Calibri" pitchFamily="34" charset="-122"/>
                <a:cs typeface="Calibri" pitchFamily="34" charset="-120"/>
              </a:rPr>
              <a:t>What can we share on the web, and where does it live?</a:t>
            </a:r>
            <a:endParaRPr lang="en-US" sz="2000" dirty="0"/>
          </a:p>
        </p:txBody>
      </p:sp>
      <p:sp>
        <p:nvSpPr>
          <p:cNvPr id="6" name="Blob 452"/>
          <p:cNvSpPr/>
          <p:nvPr/>
        </p:nvSpPr>
        <p:spPr>
          <a:xfrm>
            <a:off x="6766560" y="1188720"/>
            <a:ext cx="2011680" cy="2011680"/>
          </a:xfrm>
          <a:prstGeom prst="ellipse">
            <a:avLst/>
          </a:prstGeom>
          <a:solidFill>
            <a:srgbClr val="6C63FF"/>
          </a:solidFill>
          <a:ln w="12700">
            <a:solidFill>
              <a:srgbClr val="6C63FF"/>
            </a:solidFill>
            <a:prstDash val="solid"/>
          </a:ln>
        </p:spPr>
      </p:sp>
      <p:pic>
        <p:nvPicPr>
          <p:cNvPr id="7" name="Icon 453" descr="FaShareAlt">    </p:cNvPr>
          <p:cNvPicPr>
            <a:picLocks noChangeAspect="1"/>
          </p:cNvPicPr>
          <p:nvPr/>
        </p:nvPicPr>
        <p:blipFill>
          <a:blip r:embed="rId1"/>
          <a:stretch>
            <a:fillRect/>
          </a:stretch>
        </p:blipFill>
        <p:spPr>
          <a:xfrm>
            <a:off x="7269480" y="1691640"/>
            <a:ext cx="1005840" cy="100584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Accent 454"/>
          <p:cNvSpPr/>
          <p:nvPr/>
        </p:nvSpPr>
        <p:spPr>
          <a:xfrm>
            <a:off x="0" y="274320"/>
            <a:ext cx="164592" cy="685800"/>
          </a:xfrm>
          <a:prstGeom prst="rect">
            <a:avLst/>
          </a:prstGeom>
          <a:solidFill>
            <a:srgbClr val="6C63FF"/>
          </a:solidFill>
          <a:ln w="12700">
            <a:solidFill>
              <a:srgbClr val="6C63FF"/>
            </a:solidFill>
            <a:prstDash val="solid"/>
          </a:ln>
        </p:spPr>
      </p:sp>
      <p:sp>
        <p:nvSpPr>
          <p:cNvPr id="3" name="Text 455"/>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Today I can…</a:t>
            </a:r>
            <a:endParaRPr lang="en-US" sz="3000" dirty="0"/>
          </a:p>
        </p:txBody>
      </p:sp>
      <p:sp>
        <p:nvSpPr>
          <p:cNvPr id="4" name="Card 456"/>
          <p:cNvSpPr/>
          <p:nvPr/>
        </p:nvSpPr>
        <p:spPr>
          <a:xfrm>
            <a:off x="457200" y="1234440"/>
            <a:ext cx="8229600" cy="914400"/>
          </a:xfrm>
          <a:prstGeom prst="roundRect">
            <a:avLst>
              <a:gd name="adj" fmla="val 12000"/>
            </a:avLst>
          </a:prstGeom>
          <a:solidFill>
            <a:srgbClr val="FFFFFF"/>
          </a:solidFill>
          <a:ln/>
          <a:effectLst>
            <a:outerShdw sx="100000" sy="100000" kx="0" ky="0" algn="bl" rotWithShape="0" blurRad="76200" dist="25400" dir="5400000">
              <a:srgbClr val="2B2250">
                <a:alpha val="15000"/>
              </a:srgbClr>
            </a:outerShdw>
          </a:effectLst>
        </p:spPr>
      </p:sp>
      <p:sp>
        <p:nvSpPr>
          <p:cNvPr id="5" name="Dot 457"/>
          <p:cNvSpPr/>
          <p:nvPr/>
        </p:nvSpPr>
        <p:spPr>
          <a:xfrm>
            <a:off x="640080" y="1389888"/>
            <a:ext cx="603504" cy="603504"/>
          </a:xfrm>
          <a:prstGeom prst="ellipse">
            <a:avLst/>
          </a:prstGeom>
          <a:solidFill>
            <a:srgbClr val="FF9A3D"/>
          </a:solidFill>
          <a:ln w="12700">
            <a:solidFill>
              <a:srgbClr val="FFFFFF"/>
            </a:solidFill>
            <a:prstDash val="solid"/>
          </a:ln>
        </p:spPr>
      </p:sp>
      <p:pic>
        <p:nvPicPr>
          <p:cNvPr id="6" name="Icon 458" descr="FaPhotoVideo">    </p:cNvPr>
          <p:cNvPicPr>
            <a:picLocks noChangeAspect="1"/>
          </p:cNvPicPr>
          <p:nvPr/>
        </p:nvPicPr>
        <p:blipFill>
          <a:blip r:embed="rId1"/>
          <a:stretch>
            <a:fillRect/>
          </a:stretch>
        </p:blipFill>
        <p:spPr>
          <a:xfrm>
            <a:off x="786384" y="1536192"/>
            <a:ext cx="310896" cy="310896"/>
          </a:xfrm>
          <a:prstGeom prst="rect">
            <a:avLst/>
          </a:prstGeom>
        </p:spPr>
      </p:pic>
      <p:sp>
        <p:nvSpPr>
          <p:cNvPr id="7" name="Text 459"/>
          <p:cNvSpPr txBox="1"/>
          <p:nvPr/>
        </p:nvSpPr>
        <p:spPr>
          <a:xfrm>
            <a:off x="1463040" y="1234440"/>
            <a:ext cx="7040880" cy="91440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I can explain what types of media can be shared on the web</a:t>
            </a:r>
            <a:endParaRPr lang="en-US" sz="2000" dirty="0"/>
          </a:p>
        </p:txBody>
      </p:sp>
      <p:sp>
        <p:nvSpPr>
          <p:cNvPr id="8" name="Card 460"/>
          <p:cNvSpPr/>
          <p:nvPr/>
        </p:nvSpPr>
        <p:spPr>
          <a:xfrm>
            <a:off x="457200" y="2286000"/>
            <a:ext cx="8229600" cy="914400"/>
          </a:xfrm>
          <a:prstGeom prst="roundRect">
            <a:avLst>
              <a:gd name="adj" fmla="val 12000"/>
            </a:avLst>
          </a:prstGeom>
          <a:solidFill>
            <a:srgbClr val="FFFFFF"/>
          </a:solidFill>
          <a:ln/>
          <a:effectLst>
            <a:outerShdw sx="100000" sy="100000" kx="0" ky="0" algn="bl" rotWithShape="0" blurRad="76200" dist="25400" dir="5400000">
              <a:srgbClr val="2B2250">
                <a:alpha val="15000"/>
              </a:srgbClr>
            </a:outerShdw>
          </a:effectLst>
        </p:spPr>
      </p:sp>
      <p:sp>
        <p:nvSpPr>
          <p:cNvPr id="9" name="Dot 461"/>
          <p:cNvSpPr/>
          <p:nvPr/>
        </p:nvSpPr>
        <p:spPr>
          <a:xfrm>
            <a:off x="640080" y="2441448"/>
            <a:ext cx="603504" cy="603504"/>
          </a:xfrm>
          <a:prstGeom prst="ellipse">
            <a:avLst/>
          </a:prstGeom>
          <a:solidFill>
            <a:srgbClr val="FF5C8A"/>
          </a:solidFill>
          <a:ln w="12700">
            <a:solidFill>
              <a:srgbClr val="FFFFFF"/>
            </a:solidFill>
            <a:prstDash val="solid"/>
          </a:ln>
        </p:spPr>
      </p:sp>
      <p:pic>
        <p:nvPicPr>
          <p:cNvPr id="10" name="Icon 462" descr="FaServer">    </p:cNvPr>
          <p:cNvPicPr>
            <a:picLocks noChangeAspect="1"/>
          </p:cNvPicPr>
          <p:nvPr/>
        </p:nvPicPr>
        <p:blipFill>
          <a:blip r:embed="rId2"/>
          <a:stretch>
            <a:fillRect/>
          </a:stretch>
        </p:blipFill>
        <p:spPr>
          <a:xfrm>
            <a:off x="786384" y="2587752"/>
            <a:ext cx="310896" cy="310896"/>
          </a:xfrm>
          <a:prstGeom prst="rect">
            <a:avLst/>
          </a:prstGeom>
        </p:spPr>
      </p:pic>
      <p:sp>
        <p:nvSpPr>
          <p:cNvPr id="11" name="Text 463"/>
          <p:cNvSpPr txBox="1"/>
          <p:nvPr/>
        </p:nvSpPr>
        <p:spPr>
          <a:xfrm>
            <a:off x="1463040" y="2286000"/>
            <a:ext cx="7040880" cy="91440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I can say where websites are stored</a:t>
            </a:r>
            <a:endParaRPr lang="en-US" sz="2000" dirty="0"/>
          </a:p>
        </p:txBody>
      </p:sp>
      <p:sp>
        <p:nvSpPr>
          <p:cNvPr id="12" name="Card 464"/>
          <p:cNvSpPr/>
          <p:nvPr/>
        </p:nvSpPr>
        <p:spPr>
          <a:xfrm>
            <a:off x="457200" y="3337560"/>
            <a:ext cx="8229600" cy="914400"/>
          </a:xfrm>
          <a:prstGeom prst="roundRect">
            <a:avLst>
              <a:gd name="adj" fmla="val 12000"/>
            </a:avLst>
          </a:prstGeom>
          <a:solidFill>
            <a:srgbClr val="FFFFFF"/>
          </a:solidFill>
          <a:ln/>
          <a:effectLst>
            <a:outerShdw sx="100000" sy="100000" kx="0" ky="0" algn="bl" rotWithShape="0" blurRad="76200" dist="25400" dir="5400000">
              <a:srgbClr val="2B2250">
                <a:alpha val="15000"/>
              </a:srgbClr>
            </a:outerShdw>
          </a:effectLst>
        </p:spPr>
      </p:sp>
      <p:sp>
        <p:nvSpPr>
          <p:cNvPr id="13" name="Dot 465"/>
          <p:cNvSpPr/>
          <p:nvPr/>
        </p:nvSpPr>
        <p:spPr>
          <a:xfrm>
            <a:off x="640080" y="3493008"/>
            <a:ext cx="603504" cy="603504"/>
          </a:xfrm>
          <a:prstGeom prst="ellipse">
            <a:avLst/>
          </a:prstGeom>
          <a:solidFill>
            <a:srgbClr val="4DA3E0"/>
          </a:solidFill>
          <a:ln w="12700">
            <a:solidFill>
              <a:srgbClr val="FFFFFF"/>
            </a:solidFill>
            <a:prstDash val="solid"/>
          </a:ln>
        </p:spPr>
      </p:sp>
      <p:pic>
        <p:nvPicPr>
          <p:cNvPr id="14" name="Icon 466" descr="FaLaptop">    </p:cNvPr>
          <p:cNvPicPr>
            <a:picLocks noChangeAspect="1"/>
          </p:cNvPicPr>
          <p:nvPr/>
        </p:nvPicPr>
        <p:blipFill>
          <a:blip r:embed="rId3"/>
          <a:stretch>
            <a:fillRect/>
          </a:stretch>
        </p:blipFill>
        <p:spPr>
          <a:xfrm>
            <a:off x="786384" y="3639312"/>
            <a:ext cx="310896" cy="310896"/>
          </a:xfrm>
          <a:prstGeom prst="rect">
            <a:avLst/>
          </a:prstGeom>
        </p:spPr>
      </p:pic>
      <p:sp>
        <p:nvSpPr>
          <p:cNvPr id="15" name="Text 467"/>
          <p:cNvSpPr txBox="1"/>
          <p:nvPr/>
        </p:nvSpPr>
        <p:spPr>
          <a:xfrm>
            <a:off x="1463040" y="3337560"/>
            <a:ext cx="7040880" cy="91440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I can describe how to get to websites</a:t>
            </a:r>
            <a:endParaRPr lang="en-US" sz="2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Accent 468"/>
          <p:cNvSpPr/>
          <p:nvPr/>
        </p:nvSpPr>
        <p:spPr>
          <a:xfrm>
            <a:off x="0" y="274320"/>
            <a:ext cx="164592" cy="685800"/>
          </a:xfrm>
          <a:prstGeom prst="rect">
            <a:avLst/>
          </a:prstGeom>
          <a:solidFill>
            <a:srgbClr val="6C63FF"/>
          </a:solidFill>
          <a:ln w="12700">
            <a:solidFill>
              <a:srgbClr val="6C63FF"/>
            </a:solidFill>
            <a:prstDash val="solid"/>
          </a:ln>
        </p:spPr>
      </p:sp>
      <p:sp>
        <p:nvSpPr>
          <p:cNvPr id="3" name="Text 469"/>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Key words</a:t>
            </a:r>
            <a:endParaRPr lang="en-US" sz="3000" dirty="0"/>
          </a:p>
        </p:txBody>
      </p:sp>
      <p:sp>
        <p:nvSpPr>
          <p:cNvPr id="4" name="Card 470"/>
          <p:cNvSpPr/>
          <p:nvPr/>
        </p:nvSpPr>
        <p:spPr>
          <a:xfrm>
            <a:off x="457200" y="1188720"/>
            <a:ext cx="4114800" cy="1783080"/>
          </a:xfrm>
          <a:prstGeom prst="roundRect">
            <a:avLst>
              <a:gd name="adj" fmla="val 6154"/>
            </a:avLst>
          </a:prstGeom>
          <a:solidFill>
            <a:srgbClr val="FFFFFF"/>
          </a:solidFill>
          <a:ln/>
          <a:effectLst>
            <a:outerShdw sx="100000" sy="100000" kx="0" ky="0" algn="bl" rotWithShape="0" blurRad="76200" dist="25400" dir="5400000">
              <a:srgbClr val="2B2250">
                <a:alpha val="15000"/>
              </a:srgbClr>
            </a:outerShdw>
          </a:effectLst>
        </p:spPr>
      </p:sp>
      <p:sp>
        <p:nvSpPr>
          <p:cNvPr id="5" name="Dot 471"/>
          <p:cNvSpPr/>
          <p:nvPr/>
        </p:nvSpPr>
        <p:spPr>
          <a:xfrm>
            <a:off x="640080" y="1371600"/>
            <a:ext cx="731520" cy="731520"/>
          </a:xfrm>
          <a:prstGeom prst="ellipse">
            <a:avLst/>
          </a:prstGeom>
          <a:solidFill>
            <a:srgbClr val="FF9A3D"/>
          </a:solidFill>
          <a:ln w="12700">
            <a:solidFill>
              <a:srgbClr val="FFFFFF"/>
            </a:solidFill>
            <a:prstDash val="solid"/>
          </a:ln>
        </p:spPr>
      </p:sp>
      <p:pic>
        <p:nvPicPr>
          <p:cNvPr id="6" name="Icon 472" descr="FaLink">    </p:cNvPr>
          <p:cNvPicPr>
            <a:picLocks noChangeAspect="1"/>
          </p:cNvPicPr>
          <p:nvPr/>
        </p:nvPicPr>
        <p:blipFill>
          <a:blip r:embed="rId1"/>
          <a:stretch>
            <a:fillRect/>
          </a:stretch>
        </p:blipFill>
        <p:spPr>
          <a:xfrm>
            <a:off x="813816" y="1545336"/>
            <a:ext cx="384048" cy="384048"/>
          </a:xfrm>
          <a:prstGeom prst="rect">
            <a:avLst/>
          </a:prstGeom>
        </p:spPr>
      </p:pic>
      <p:sp>
        <p:nvSpPr>
          <p:cNvPr id="7" name="Text 473"/>
          <p:cNvSpPr txBox="1"/>
          <p:nvPr/>
        </p:nvSpPr>
        <p:spPr>
          <a:xfrm>
            <a:off x="1554480" y="1325880"/>
            <a:ext cx="2926080" cy="457200"/>
          </a:xfrm>
          <a:prstGeom prst="rect">
            <a:avLst/>
          </a:prstGeom>
          <a:noFill/>
          <a:ln/>
        </p:spPr>
        <p:txBody>
          <a:bodyPr wrap="square" lIns="0" tIns="0" rIns="0" bIns="0" rtlCol="0" anchor="t"/>
          <a:lstStyle/>
          <a:p>
            <a:pPr indent="0" marL="0">
              <a:buNone/>
            </a:pPr>
            <a:r>
              <a:rPr lang="en-US" sz="2400" b="1" dirty="0">
                <a:solidFill>
                  <a:srgbClr val="FF9A3D"/>
                </a:solidFill>
                <a:latin typeface="Calibri" pitchFamily="34" charset="0"/>
                <a:ea typeface="Calibri" pitchFamily="34" charset="-122"/>
                <a:cs typeface="Calibri" pitchFamily="34" charset="-120"/>
              </a:rPr>
              <a:t>Web address</a:t>
            </a:r>
            <a:endParaRPr lang="en-US" sz="2400" dirty="0"/>
          </a:p>
        </p:txBody>
      </p:sp>
      <p:sp>
        <p:nvSpPr>
          <p:cNvPr id="8" name="Text 474"/>
          <p:cNvSpPr txBox="1"/>
          <p:nvPr/>
        </p:nvSpPr>
        <p:spPr>
          <a:xfrm>
            <a:off x="1554480" y="1828800"/>
            <a:ext cx="2926080" cy="105156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The name you type to find a website</a:t>
            </a:r>
            <a:endParaRPr lang="en-US" sz="1800" dirty="0"/>
          </a:p>
        </p:txBody>
      </p:sp>
      <p:sp>
        <p:nvSpPr>
          <p:cNvPr id="9" name="Card 475"/>
          <p:cNvSpPr/>
          <p:nvPr/>
        </p:nvSpPr>
        <p:spPr>
          <a:xfrm>
            <a:off x="4663440" y="1188720"/>
            <a:ext cx="4114800" cy="1783080"/>
          </a:xfrm>
          <a:prstGeom prst="roundRect">
            <a:avLst>
              <a:gd name="adj" fmla="val 6154"/>
            </a:avLst>
          </a:prstGeom>
          <a:solidFill>
            <a:srgbClr val="FFFFFF"/>
          </a:solidFill>
          <a:ln/>
          <a:effectLst>
            <a:outerShdw sx="100000" sy="100000" kx="0" ky="0" algn="bl" rotWithShape="0" blurRad="76200" dist="25400" dir="5400000">
              <a:srgbClr val="2B2250">
                <a:alpha val="15000"/>
              </a:srgbClr>
            </a:outerShdw>
          </a:effectLst>
        </p:spPr>
      </p:sp>
      <p:sp>
        <p:nvSpPr>
          <p:cNvPr id="10" name="Dot 476"/>
          <p:cNvSpPr/>
          <p:nvPr/>
        </p:nvSpPr>
        <p:spPr>
          <a:xfrm>
            <a:off x="4846320" y="1371600"/>
            <a:ext cx="731520" cy="731520"/>
          </a:xfrm>
          <a:prstGeom prst="ellipse">
            <a:avLst/>
          </a:prstGeom>
          <a:solidFill>
            <a:srgbClr val="FF5C8A"/>
          </a:solidFill>
          <a:ln w="12700">
            <a:solidFill>
              <a:srgbClr val="FFFFFF"/>
            </a:solidFill>
            <a:prstDash val="solid"/>
          </a:ln>
        </p:spPr>
      </p:sp>
      <p:pic>
        <p:nvPicPr>
          <p:cNvPr id="11" name="Icon 477" descr="FaWindowMaximize">    </p:cNvPr>
          <p:cNvPicPr>
            <a:picLocks noChangeAspect="1"/>
          </p:cNvPicPr>
          <p:nvPr/>
        </p:nvPicPr>
        <p:blipFill>
          <a:blip r:embed="rId2"/>
          <a:stretch>
            <a:fillRect/>
          </a:stretch>
        </p:blipFill>
        <p:spPr>
          <a:xfrm>
            <a:off x="5020056" y="1545336"/>
            <a:ext cx="384048" cy="384048"/>
          </a:xfrm>
          <a:prstGeom prst="rect">
            <a:avLst/>
          </a:prstGeom>
        </p:spPr>
      </p:pic>
      <p:sp>
        <p:nvSpPr>
          <p:cNvPr id="12" name="Text 478"/>
          <p:cNvSpPr txBox="1"/>
          <p:nvPr/>
        </p:nvSpPr>
        <p:spPr>
          <a:xfrm>
            <a:off x="5760720" y="1325880"/>
            <a:ext cx="2926080" cy="457200"/>
          </a:xfrm>
          <a:prstGeom prst="rect">
            <a:avLst/>
          </a:prstGeom>
          <a:noFill/>
          <a:ln/>
        </p:spPr>
        <p:txBody>
          <a:bodyPr wrap="square" lIns="0" tIns="0" rIns="0" bIns="0" rtlCol="0" anchor="t"/>
          <a:lstStyle/>
          <a:p>
            <a:pPr indent="0" marL="0">
              <a:buNone/>
            </a:pPr>
            <a:r>
              <a:rPr lang="en-US" sz="2400" b="1" dirty="0">
                <a:solidFill>
                  <a:srgbClr val="FF5C8A"/>
                </a:solidFill>
                <a:latin typeface="Calibri" pitchFamily="34" charset="0"/>
                <a:ea typeface="Calibri" pitchFamily="34" charset="-122"/>
                <a:cs typeface="Calibri" pitchFamily="34" charset="-120"/>
              </a:rPr>
              <a:t>Web browser</a:t>
            </a:r>
            <a:endParaRPr lang="en-US" sz="2400" dirty="0"/>
          </a:p>
        </p:txBody>
      </p:sp>
      <p:sp>
        <p:nvSpPr>
          <p:cNvPr id="13" name="Text 479"/>
          <p:cNvSpPr txBox="1"/>
          <p:nvPr/>
        </p:nvSpPr>
        <p:spPr>
          <a:xfrm>
            <a:off x="5760720" y="1828800"/>
            <a:ext cx="2926080" cy="105156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A program for looking at websites, like Chrome</a:t>
            </a:r>
            <a:endParaRPr lang="en-US" sz="1800" dirty="0"/>
          </a:p>
        </p:txBody>
      </p:sp>
      <p:sp>
        <p:nvSpPr>
          <p:cNvPr id="14" name="Card 480"/>
          <p:cNvSpPr/>
          <p:nvPr/>
        </p:nvSpPr>
        <p:spPr>
          <a:xfrm>
            <a:off x="457200" y="3108960"/>
            <a:ext cx="4114800" cy="1783080"/>
          </a:xfrm>
          <a:prstGeom prst="roundRect">
            <a:avLst>
              <a:gd name="adj" fmla="val 6154"/>
            </a:avLst>
          </a:prstGeom>
          <a:solidFill>
            <a:srgbClr val="FFFFFF"/>
          </a:solidFill>
          <a:ln/>
          <a:effectLst>
            <a:outerShdw sx="100000" sy="100000" kx="0" ky="0" algn="bl" rotWithShape="0" blurRad="76200" dist="25400" dir="5400000">
              <a:srgbClr val="2B2250">
                <a:alpha val="15000"/>
              </a:srgbClr>
            </a:outerShdw>
          </a:effectLst>
        </p:spPr>
      </p:sp>
      <p:sp>
        <p:nvSpPr>
          <p:cNvPr id="15" name="Dot 481"/>
          <p:cNvSpPr/>
          <p:nvPr/>
        </p:nvSpPr>
        <p:spPr>
          <a:xfrm>
            <a:off x="640080" y="3291840"/>
            <a:ext cx="731520" cy="731520"/>
          </a:xfrm>
          <a:prstGeom prst="ellipse">
            <a:avLst/>
          </a:prstGeom>
          <a:solidFill>
            <a:srgbClr val="4DA3E0"/>
          </a:solidFill>
          <a:ln w="12700">
            <a:solidFill>
              <a:srgbClr val="FFFFFF"/>
            </a:solidFill>
            <a:prstDash val="solid"/>
          </a:ln>
        </p:spPr>
      </p:sp>
      <p:pic>
        <p:nvPicPr>
          <p:cNvPr id="16" name="Icon 482" descr="FaRoute">    </p:cNvPr>
          <p:cNvPicPr>
            <a:picLocks noChangeAspect="1"/>
          </p:cNvPicPr>
          <p:nvPr/>
        </p:nvPicPr>
        <p:blipFill>
          <a:blip r:embed="rId3"/>
          <a:stretch>
            <a:fillRect/>
          </a:stretch>
        </p:blipFill>
        <p:spPr>
          <a:xfrm>
            <a:off x="813816" y="3465576"/>
            <a:ext cx="384048" cy="384048"/>
          </a:xfrm>
          <a:prstGeom prst="rect">
            <a:avLst/>
          </a:prstGeom>
        </p:spPr>
      </p:pic>
      <p:sp>
        <p:nvSpPr>
          <p:cNvPr id="17" name="Text 483"/>
          <p:cNvSpPr txBox="1"/>
          <p:nvPr/>
        </p:nvSpPr>
        <p:spPr>
          <a:xfrm>
            <a:off x="1554480" y="3246120"/>
            <a:ext cx="2926080" cy="457200"/>
          </a:xfrm>
          <a:prstGeom prst="rect">
            <a:avLst/>
          </a:prstGeom>
          <a:noFill/>
          <a:ln/>
        </p:spPr>
        <p:txBody>
          <a:bodyPr wrap="square" lIns="0" tIns="0" rIns="0" bIns="0" rtlCol="0" anchor="t"/>
          <a:lstStyle/>
          <a:p>
            <a:pPr indent="0" marL="0">
              <a:buNone/>
            </a:pPr>
            <a:r>
              <a:rPr lang="en-US" sz="2400" b="1" dirty="0">
                <a:solidFill>
                  <a:srgbClr val="4DA3E0"/>
                </a:solidFill>
                <a:latin typeface="Calibri" pitchFamily="34" charset="0"/>
                <a:ea typeface="Calibri" pitchFamily="34" charset="-122"/>
                <a:cs typeface="Calibri" pitchFamily="34" charset="-120"/>
              </a:rPr>
              <a:t>Routing</a:t>
            </a:r>
            <a:endParaRPr lang="en-US" sz="2400" dirty="0"/>
          </a:p>
        </p:txBody>
      </p:sp>
      <p:sp>
        <p:nvSpPr>
          <p:cNvPr id="18" name="Text 484"/>
          <p:cNvSpPr txBox="1"/>
          <p:nvPr/>
        </p:nvSpPr>
        <p:spPr>
          <a:xfrm>
            <a:off x="1554480" y="3749040"/>
            <a:ext cx="2926080" cy="105156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Finding a path for information to travel</a:t>
            </a:r>
            <a:endParaRPr lang="en-US" sz="1800" dirty="0"/>
          </a:p>
        </p:txBody>
      </p:sp>
      <p:sp>
        <p:nvSpPr>
          <p:cNvPr id="19" name="Card 485"/>
          <p:cNvSpPr/>
          <p:nvPr/>
        </p:nvSpPr>
        <p:spPr>
          <a:xfrm>
            <a:off x="4663440" y="3108960"/>
            <a:ext cx="4114800" cy="1783080"/>
          </a:xfrm>
          <a:prstGeom prst="roundRect">
            <a:avLst>
              <a:gd name="adj" fmla="val 6154"/>
            </a:avLst>
          </a:prstGeom>
          <a:solidFill>
            <a:srgbClr val="FFFFFF"/>
          </a:solidFill>
          <a:ln/>
          <a:effectLst>
            <a:outerShdw sx="100000" sy="100000" kx="0" ky="0" algn="bl" rotWithShape="0" blurRad="76200" dist="25400" dir="5400000">
              <a:srgbClr val="2B2250">
                <a:alpha val="15000"/>
              </a:srgbClr>
            </a:outerShdw>
          </a:effectLst>
        </p:spPr>
      </p:sp>
      <p:sp>
        <p:nvSpPr>
          <p:cNvPr id="20" name="Dot 486"/>
          <p:cNvSpPr/>
          <p:nvPr/>
        </p:nvSpPr>
        <p:spPr>
          <a:xfrm>
            <a:off x="4846320" y="3291840"/>
            <a:ext cx="731520" cy="731520"/>
          </a:xfrm>
          <a:prstGeom prst="ellipse">
            <a:avLst/>
          </a:prstGeom>
          <a:solidFill>
            <a:srgbClr val="1FB89A"/>
          </a:solidFill>
          <a:ln w="12700">
            <a:solidFill>
              <a:srgbClr val="FFFFFF"/>
            </a:solidFill>
            <a:prstDash val="solid"/>
          </a:ln>
        </p:spPr>
      </p:sp>
      <p:pic>
        <p:nvPicPr>
          <p:cNvPr id="21" name="Icon 487" descr="FaFile">    </p:cNvPr>
          <p:cNvPicPr>
            <a:picLocks noChangeAspect="1"/>
          </p:cNvPicPr>
          <p:nvPr/>
        </p:nvPicPr>
        <p:blipFill>
          <a:blip r:embed="rId4"/>
          <a:stretch>
            <a:fillRect/>
          </a:stretch>
        </p:blipFill>
        <p:spPr>
          <a:xfrm>
            <a:off x="5020056" y="3465576"/>
            <a:ext cx="384048" cy="384048"/>
          </a:xfrm>
          <a:prstGeom prst="rect">
            <a:avLst/>
          </a:prstGeom>
        </p:spPr>
      </p:pic>
      <p:sp>
        <p:nvSpPr>
          <p:cNvPr id="22" name="Text 488"/>
          <p:cNvSpPr txBox="1"/>
          <p:nvPr/>
        </p:nvSpPr>
        <p:spPr>
          <a:xfrm>
            <a:off x="5760720" y="3246120"/>
            <a:ext cx="2926080" cy="457200"/>
          </a:xfrm>
          <a:prstGeom prst="rect">
            <a:avLst/>
          </a:prstGeom>
          <a:noFill/>
          <a:ln/>
        </p:spPr>
        <p:txBody>
          <a:bodyPr wrap="square" lIns="0" tIns="0" rIns="0" bIns="0" rtlCol="0" anchor="t"/>
          <a:lstStyle/>
          <a:p>
            <a:pPr indent="0" marL="0">
              <a:buNone/>
            </a:pPr>
            <a:r>
              <a:rPr lang="en-US" sz="2400" b="1" dirty="0">
                <a:solidFill>
                  <a:srgbClr val="1FB89A"/>
                </a:solidFill>
                <a:latin typeface="Calibri" pitchFamily="34" charset="0"/>
                <a:ea typeface="Calibri" pitchFamily="34" charset="-122"/>
                <a:cs typeface="Calibri" pitchFamily="34" charset="-120"/>
              </a:rPr>
              <a:t>Web page</a:t>
            </a:r>
            <a:endParaRPr lang="en-US" sz="2400" dirty="0"/>
          </a:p>
        </p:txBody>
      </p:sp>
      <p:sp>
        <p:nvSpPr>
          <p:cNvPr id="23" name="Text 489"/>
          <p:cNvSpPr txBox="1"/>
          <p:nvPr/>
        </p:nvSpPr>
        <p:spPr>
          <a:xfrm>
            <a:off x="5760720" y="3749040"/>
            <a:ext cx="2926080" cy="105156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A single page on the World Wide Web</a:t>
            </a:r>
            <a:endParaRPr lang="en-US"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Accent 490"/>
          <p:cNvSpPr/>
          <p:nvPr/>
        </p:nvSpPr>
        <p:spPr>
          <a:xfrm>
            <a:off x="0" y="274320"/>
            <a:ext cx="164592" cy="685800"/>
          </a:xfrm>
          <a:prstGeom prst="rect">
            <a:avLst/>
          </a:prstGeom>
          <a:solidFill>
            <a:srgbClr val="6C63FF"/>
          </a:solidFill>
          <a:ln w="12700">
            <a:solidFill>
              <a:srgbClr val="6C63FF"/>
            </a:solidFill>
            <a:prstDash val="solid"/>
          </a:ln>
        </p:spPr>
      </p:sp>
      <p:sp>
        <p:nvSpPr>
          <p:cNvPr id="3" name="Text 491"/>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Can we share it on the web?</a:t>
            </a:r>
            <a:endParaRPr lang="en-US" sz="3000" dirty="0"/>
          </a:p>
        </p:txBody>
      </p:sp>
      <p:sp>
        <p:nvSpPr>
          <p:cNvPr id="4" name="Card 492"/>
          <p:cNvSpPr/>
          <p:nvPr/>
        </p:nvSpPr>
        <p:spPr>
          <a:xfrm>
            <a:off x="457200" y="1188720"/>
            <a:ext cx="2560320" cy="1417320"/>
          </a:xfrm>
          <a:prstGeom prst="roundRect">
            <a:avLst>
              <a:gd name="adj" fmla="val 7742"/>
            </a:avLst>
          </a:prstGeom>
          <a:solidFill>
            <a:srgbClr val="FFFFFF"/>
          </a:solidFill>
          <a:ln/>
          <a:effectLst>
            <a:outerShdw sx="100000" sy="100000" kx="0" ky="0" algn="bl" rotWithShape="0" blurRad="76200" dist="25400" dir="5400000">
              <a:srgbClr val="2B2250">
                <a:alpha val="15000"/>
              </a:srgbClr>
            </a:outerShdw>
          </a:effectLst>
        </p:spPr>
      </p:sp>
      <p:pic>
        <p:nvPicPr>
          <p:cNvPr id="5" name="Icon 493" descr="FaCamera">    </p:cNvPr>
          <p:cNvPicPr>
            <a:picLocks noChangeAspect="1"/>
          </p:cNvPicPr>
          <p:nvPr/>
        </p:nvPicPr>
        <p:blipFill>
          <a:blip r:embed="rId1"/>
          <a:stretch>
            <a:fillRect/>
          </a:stretch>
        </p:blipFill>
        <p:spPr>
          <a:xfrm>
            <a:off x="685800" y="1417320"/>
            <a:ext cx="548640" cy="548640"/>
          </a:xfrm>
          <a:prstGeom prst="rect">
            <a:avLst/>
          </a:prstGeom>
        </p:spPr>
      </p:pic>
      <p:sp>
        <p:nvSpPr>
          <p:cNvPr id="6" name="Text 494"/>
          <p:cNvSpPr txBox="1"/>
          <p:nvPr/>
        </p:nvSpPr>
        <p:spPr>
          <a:xfrm>
            <a:off x="1371600" y="1280160"/>
            <a:ext cx="1554480" cy="82296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A photo of your pet</a:t>
            </a:r>
            <a:endParaRPr lang="en-US" sz="1800" dirty="0"/>
          </a:p>
        </p:txBody>
      </p:sp>
      <p:sp>
        <p:nvSpPr>
          <p:cNvPr id="7" name="Card 495"/>
          <p:cNvSpPr/>
          <p:nvPr/>
        </p:nvSpPr>
        <p:spPr>
          <a:xfrm>
            <a:off x="3291840" y="1188720"/>
            <a:ext cx="2560320" cy="1417320"/>
          </a:xfrm>
          <a:prstGeom prst="roundRect">
            <a:avLst>
              <a:gd name="adj" fmla="val 7742"/>
            </a:avLst>
          </a:prstGeom>
          <a:solidFill>
            <a:srgbClr val="FFFFFF"/>
          </a:solidFill>
          <a:ln/>
          <a:effectLst>
            <a:outerShdw sx="100000" sy="100000" kx="0" ky="0" algn="bl" rotWithShape="0" blurRad="76200" dist="25400" dir="5400000">
              <a:srgbClr val="2B2250">
                <a:alpha val="15000"/>
              </a:srgbClr>
            </a:outerShdw>
          </a:effectLst>
        </p:spPr>
      </p:sp>
      <p:pic>
        <p:nvPicPr>
          <p:cNvPr id="8" name="Icon 496" descr="FaHamburger">    </p:cNvPr>
          <p:cNvPicPr>
            <a:picLocks noChangeAspect="1"/>
          </p:cNvPicPr>
          <p:nvPr/>
        </p:nvPicPr>
        <p:blipFill>
          <a:blip r:embed="rId2"/>
          <a:stretch>
            <a:fillRect/>
          </a:stretch>
        </p:blipFill>
        <p:spPr>
          <a:xfrm>
            <a:off x="3520440" y="1417320"/>
            <a:ext cx="548640" cy="548640"/>
          </a:xfrm>
          <a:prstGeom prst="rect">
            <a:avLst/>
          </a:prstGeom>
        </p:spPr>
      </p:pic>
      <p:sp>
        <p:nvSpPr>
          <p:cNvPr id="9" name="Text 497"/>
          <p:cNvSpPr txBox="1"/>
          <p:nvPr/>
        </p:nvSpPr>
        <p:spPr>
          <a:xfrm>
            <a:off x="4206240" y="1280160"/>
            <a:ext cx="1554480" cy="82296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A real sandwich</a:t>
            </a:r>
            <a:endParaRPr lang="en-US" sz="1800" dirty="0"/>
          </a:p>
        </p:txBody>
      </p:sp>
      <p:sp>
        <p:nvSpPr>
          <p:cNvPr id="10" name="Card 498"/>
          <p:cNvSpPr/>
          <p:nvPr/>
        </p:nvSpPr>
        <p:spPr>
          <a:xfrm>
            <a:off x="6126480" y="1188720"/>
            <a:ext cx="2560320" cy="1417320"/>
          </a:xfrm>
          <a:prstGeom prst="roundRect">
            <a:avLst>
              <a:gd name="adj" fmla="val 7742"/>
            </a:avLst>
          </a:prstGeom>
          <a:solidFill>
            <a:srgbClr val="FFFFFF"/>
          </a:solidFill>
          <a:ln/>
          <a:effectLst>
            <a:outerShdw sx="100000" sy="100000" kx="0" ky="0" algn="bl" rotWithShape="0" blurRad="76200" dist="25400" dir="5400000">
              <a:srgbClr val="2B2250">
                <a:alpha val="15000"/>
              </a:srgbClr>
            </a:outerShdw>
          </a:effectLst>
        </p:spPr>
      </p:sp>
      <p:pic>
        <p:nvPicPr>
          <p:cNvPr id="11" name="Icon 499" descr="FaMusic">    </p:cNvPr>
          <p:cNvPicPr>
            <a:picLocks noChangeAspect="1"/>
          </p:cNvPicPr>
          <p:nvPr/>
        </p:nvPicPr>
        <p:blipFill>
          <a:blip r:embed="rId3"/>
          <a:stretch>
            <a:fillRect/>
          </a:stretch>
        </p:blipFill>
        <p:spPr>
          <a:xfrm>
            <a:off x="6355080" y="1417320"/>
            <a:ext cx="548640" cy="548640"/>
          </a:xfrm>
          <a:prstGeom prst="rect">
            <a:avLst/>
          </a:prstGeom>
        </p:spPr>
      </p:pic>
      <p:sp>
        <p:nvSpPr>
          <p:cNvPr id="12" name="Text 500"/>
          <p:cNvSpPr txBox="1"/>
          <p:nvPr/>
        </p:nvSpPr>
        <p:spPr>
          <a:xfrm>
            <a:off x="7040880" y="1280160"/>
            <a:ext cx="1554480" cy="82296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A song</a:t>
            </a:r>
            <a:endParaRPr lang="en-US" sz="1800" dirty="0"/>
          </a:p>
        </p:txBody>
      </p:sp>
      <p:sp>
        <p:nvSpPr>
          <p:cNvPr id="13" name="Card 501"/>
          <p:cNvSpPr/>
          <p:nvPr/>
        </p:nvSpPr>
        <p:spPr>
          <a:xfrm>
            <a:off x="457200" y="2743200"/>
            <a:ext cx="2560320" cy="1417320"/>
          </a:xfrm>
          <a:prstGeom prst="roundRect">
            <a:avLst>
              <a:gd name="adj" fmla="val 7742"/>
            </a:avLst>
          </a:prstGeom>
          <a:solidFill>
            <a:srgbClr val="FFFFFF"/>
          </a:solidFill>
          <a:ln/>
          <a:effectLst>
            <a:outerShdw sx="100000" sy="100000" kx="0" ky="0" algn="bl" rotWithShape="0" blurRad="76200" dist="25400" dir="5400000">
              <a:srgbClr val="2B2250">
                <a:alpha val="15000"/>
              </a:srgbClr>
            </a:outerShdw>
          </a:effectLst>
        </p:spPr>
      </p:sp>
      <p:pic>
        <p:nvPicPr>
          <p:cNvPr id="14" name="Icon 502" descr="FaDog">    </p:cNvPr>
          <p:cNvPicPr>
            <a:picLocks noChangeAspect="1"/>
          </p:cNvPicPr>
          <p:nvPr/>
        </p:nvPicPr>
        <p:blipFill>
          <a:blip r:embed="rId4"/>
          <a:stretch>
            <a:fillRect/>
          </a:stretch>
        </p:blipFill>
        <p:spPr>
          <a:xfrm>
            <a:off x="685800" y="2971800"/>
            <a:ext cx="548640" cy="548640"/>
          </a:xfrm>
          <a:prstGeom prst="rect">
            <a:avLst/>
          </a:prstGeom>
        </p:spPr>
      </p:pic>
      <p:sp>
        <p:nvSpPr>
          <p:cNvPr id="15" name="Text 503"/>
          <p:cNvSpPr txBox="1"/>
          <p:nvPr/>
        </p:nvSpPr>
        <p:spPr>
          <a:xfrm>
            <a:off x="1371600" y="2834640"/>
            <a:ext cx="1554480" cy="82296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A real dog</a:t>
            </a:r>
            <a:endParaRPr lang="en-US" sz="1800" dirty="0"/>
          </a:p>
        </p:txBody>
      </p:sp>
      <p:sp>
        <p:nvSpPr>
          <p:cNvPr id="16" name="Card 504"/>
          <p:cNvSpPr/>
          <p:nvPr/>
        </p:nvSpPr>
        <p:spPr>
          <a:xfrm>
            <a:off x="3291840" y="2743200"/>
            <a:ext cx="2560320" cy="1417320"/>
          </a:xfrm>
          <a:prstGeom prst="roundRect">
            <a:avLst>
              <a:gd name="adj" fmla="val 7742"/>
            </a:avLst>
          </a:prstGeom>
          <a:solidFill>
            <a:srgbClr val="FFFFFF"/>
          </a:solidFill>
          <a:ln/>
          <a:effectLst>
            <a:outerShdw sx="100000" sy="100000" kx="0" ky="0" algn="bl" rotWithShape="0" blurRad="76200" dist="25400" dir="5400000">
              <a:srgbClr val="2B2250">
                <a:alpha val="15000"/>
              </a:srgbClr>
            </a:outerShdw>
          </a:effectLst>
        </p:spPr>
      </p:sp>
      <p:pic>
        <p:nvPicPr>
          <p:cNvPr id="17" name="Icon 505" descr="FaVideo">    </p:cNvPr>
          <p:cNvPicPr>
            <a:picLocks noChangeAspect="1"/>
          </p:cNvPicPr>
          <p:nvPr/>
        </p:nvPicPr>
        <p:blipFill>
          <a:blip r:embed="rId5"/>
          <a:stretch>
            <a:fillRect/>
          </a:stretch>
        </p:blipFill>
        <p:spPr>
          <a:xfrm>
            <a:off x="3520440" y="2971800"/>
            <a:ext cx="548640" cy="548640"/>
          </a:xfrm>
          <a:prstGeom prst="rect">
            <a:avLst/>
          </a:prstGeom>
        </p:spPr>
      </p:pic>
      <p:sp>
        <p:nvSpPr>
          <p:cNvPr id="18" name="Text 506"/>
          <p:cNvSpPr txBox="1"/>
          <p:nvPr/>
        </p:nvSpPr>
        <p:spPr>
          <a:xfrm>
            <a:off x="4206240" y="2834640"/>
            <a:ext cx="1554480" cy="82296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A video clip</a:t>
            </a:r>
            <a:endParaRPr lang="en-US" sz="1800" dirty="0"/>
          </a:p>
        </p:txBody>
      </p:sp>
      <p:sp>
        <p:nvSpPr>
          <p:cNvPr id="19" name="Card 507"/>
          <p:cNvSpPr/>
          <p:nvPr/>
        </p:nvSpPr>
        <p:spPr>
          <a:xfrm>
            <a:off x="6126480" y="2743200"/>
            <a:ext cx="2560320" cy="1417320"/>
          </a:xfrm>
          <a:prstGeom prst="roundRect">
            <a:avLst>
              <a:gd name="adj" fmla="val 7742"/>
            </a:avLst>
          </a:prstGeom>
          <a:solidFill>
            <a:srgbClr val="FFFFFF"/>
          </a:solidFill>
          <a:ln/>
          <a:effectLst>
            <a:outerShdw sx="100000" sy="100000" kx="0" ky="0" algn="bl" rotWithShape="0" blurRad="76200" dist="25400" dir="5400000">
              <a:srgbClr val="2B2250">
                <a:alpha val="15000"/>
              </a:srgbClr>
            </a:outerShdw>
          </a:effectLst>
        </p:spPr>
      </p:sp>
      <p:pic>
        <p:nvPicPr>
          <p:cNvPr id="20" name="Icon 508" descr="FaBook">    </p:cNvPr>
          <p:cNvPicPr>
            <a:picLocks noChangeAspect="1"/>
          </p:cNvPicPr>
          <p:nvPr/>
        </p:nvPicPr>
        <p:blipFill>
          <a:blip r:embed="rId6"/>
          <a:stretch>
            <a:fillRect/>
          </a:stretch>
        </p:blipFill>
        <p:spPr>
          <a:xfrm>
            <a:off x="6355080" y="2971800"/>
            <a:ext cx="548640" cy="548640"/>
          </a:xfrm>
          <a:prstGeom prst="rect">
            <a:avLst/>
          </a:prstGeom>
        </p:spPr>
      </p:pic>
      <p:sp>
        <p:nvSpPr>
          <p:cNvPr id="21" name="Text 509"/>
          <p:cNvSpPr txBox="1"/>
          <p:nvPr/>
        </p:nvSpPr>
        <p:spPr>
          <a:xfrm>
            <a:off x="7040880" y="2834640"/>
            <a:ext cx="1554480" cy="82296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A paper book (an e-book CAN be shared!)</a:t>
            </a:r>
            <a:endParaRPr lang="en-US" sz="1800" dirty="0"/>
          </a:p>
        </p:txBody>
      </p:sp>
      <p:sp>
        <p:nvSpPr>
          <p:cNvPr id="22" name="Text 510"/>
          <p:cNvSpPr txBox="1"/>
          <p:nvPr/>
        </p:nvSpPr>
        <p:spPr>
          <a:xfrm>
            <a:off x="457200" y="4480560"/>
            <a:ext cx="8229600" cy="457200"/>
          </a:xfrm>
          <a:prstGeom prst="rect">
            <a:avLst/>
          </a:prstGeom>
          <a:noFill/>
          <a:ln/>
        </p:spPr>
        <p:txBody>
          <a:bodyPr wrap="square" lIns="0" tIns="0" rIns="0" bIns="0" rtlCol="0" anchor="t"/>
          <a:lstStyle/>
          <a:p>
            <a:pPr algn="ctr" indent="0" marL="0">
              <a:buNone/>
            </a:pPr>
            <a:r>
              <a:rPr lang="en-US" sz="2000" b="1" dirty="0">
                <a:solidFill>
                  <a:srgbClr val="6C63FF"/>
                </a:solidFill>
                <a:latin typeface="Calibri" pitchFamily="34" charset="0"/>
                <a:ea typeface="Calibri" pitchFamily="34" charset="-122"/>
                <a:cs typeface="Calibri" pitchFamily="34" charset="-120"/>
              </a:rPr>
              <a:t>Decide: YES ✔ or NO ✖?</a:t>
            </a:r>
            <a:endParaRPr lang="en-US" sz="2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Accent 511"/>
          <p:cNvSpPr/>
          <p:nvPr/>
        </p:nvSpPr>
        <p:spPr>
          <a:xfrm>
            <a:off x="0" y="274320"/>
            <a:ext cx="164592" cy="685800"/>
          </a:xfrm>
          <a:prstGeom prst="rect">
            <a:avLst/>
          </a:prstGeom>
          <a:solidFill>
            <a:srgbClr val="2E9E5B"/>
          </a:solidFill>
          <a:ln w="12700">
            <a:solidFill>
              <a:srgbClr val="2E9E5B"/>
            </a:solidFill>
            <a:prstDash val="solid"/>
          </a:ln>
        </p:spPr>
      </p:sp>
      <p:sp>
        <p:nvSpPr>
          <p:cNvPr id="3" name="Text 51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 Can we share it on the web? — answers</a:t>
            </a:r>
            <a:endParaRPr lang="en-US" sz="3000" dirty="0"/>
          </a:p>
        </p:txBody>
      </p:sp>
      <p:sp>
        <p:nvSpPr>
          <p:cNvPr id="4" name="Card 513"/>
          <p:cNvSpPr/>
          <p:nvPr/>
        </p:nvSpPr>
        <p:spPr>
          <a:xfrm>
            <a:off x="457200" y="1188720"/>
            <a:ext cx="2560320" cy="1417320"/>
          </a:xfrm>
          <a:prstGeom prst="roundRect">
            <a:avLst>
              <a:gd name="adj" fmla="val 7742"/>
            </a:avLst>
          </a:prstGeom>
          <a:solidFill>
            <a:srgbClr val="D9F5E6"/>
          </a:solidFill>
          <a:ln w="31750">
            <a:solidFill>
              <a:srgbClr val="2E9E5B"/>
            </a:solidFill>
            <a:prstDash val="solid"/>
          </a:ln>
          <a:effectLst>
            <a:outerShdw sx="100000" sy="100000" kx="0" ky="0" algn="bl" rotWithShape="0" blurRad="76200" dist="25400" dir="5400000">
              <a:srgbClr val="2B2250">
                <a:alpha val="15000"/>
              </a:srgbClr>
            </a:outerShdw>
          </a:effectLst>
        </p:spPr>
      </p:sp>
      <p:pic>
        <p:nvPicPr>
          <p:cNvPr id="5" name="Icon 514" descr="FaCamera">    </p:cNvPr>
          <p:cNvPicPr>
            <a:picLocks noChangeAspect="1"/>
          </p:cNvPicPr>
          <p:nvPr/>
        </p:nvPicPr>
        <p:blipFill>
          <a:blip r:embed="rId1"/>
          <a:stretch>
            <a:fillRect/>
          </a:stretch>
        </p:blipFill>
        <p:spPr>
          <a:xfrm>
            <a:off x="685800" y="1417320"/>
            <a:ext cx="548640" cy="548640"/>
          </a:xfrm>
          <a:prstGeom prst="rect">
            <a:avLst/>
          </a:prstGeom>
        </p:spPr>
      </p:pic>
      <p:sp>
        <p:nvSpPr>
          <p:cNvPr id="6" name="Text 515"/>
          <p:cNvSpPr txBox="1"/>
          <p:nvPr/>
        </p:nvSpPr>
        <p:spPr>
          <a:xfrm>
            <a:off x="1371600" y="1280160"/>
            <a:ext cx="1554480" cy="82296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A photo of your pet</a:t>
            </a:r>
            <a:endParaRPr lang="en-US" sz="1800" dirty="0"/>
          </a:p>
        </p:txBody>
      </p:sp>
      <p:sp>
        <p:nvSpPr>
          <p:cNvPr id="7" name="Text 516"/>
          <p:cNvSpPr txBox="1"/>
          <p:nvPr/>
        </p:nvSpPr>
        <p:spPr>
          <a:xfrm>
            <a:off x="594360" y="2148840"/>
            <a:ext cx="2286000" cy="411480"/>
          </a:xfrm>
          <a:prstGeom prst="rect">
            <a:avLst/>
          </a:prstGeom>
          <a:noFill/>
          <a:ln/>
        </p:spPr>
        <p:txBody>
          <a:bodyPr wrap="square" lIns="0" tIns="0" rIns="0" bIns="0" rtlCol="0" anchor="t"/>
          <a:lstStyle/>
          <a:p>
            <a:pPr indent="0" marL="0">
              <a:buNone/>
            </a:pPr>
            <a:r>
              <a:rPr lang="en-US" sz="1600" b="1" dirty="0">
                <a:solidFill>
                  <a:srgbClr val="2E9E5B"/>
                </a:solidFill>
                <a:latin typeface="Calibri" pitchFamily="34" charset="0"/>
                <a:ea typeface="Calibri" pitchFamily="34" charset="-122"/>
                <a:cs typeface="Calibri" pitchFamily="34" charset="-120"/>
              </a:rPr>
              <a:t>YES ✔</a:t>
            </a:r>
            <a:endParaRPr lang="en-US" sz="1600" dirty="0"/>
          </a:p>
        </p:txBody>
      </p:sp>
      <p:sp>
        <p:nvSpPr>
          <p:cNvPr id="8" name="Card 517"/>
          <p:cNvSpPr/>
          <p:nvPr/>
        </p:nvSpPr>
        <p:spPr>
          <a:xfrm>
            <a:off x="3291840" y="1188720"/>
            <a:ext cx="2560320" cy="1417320"/>
          </a:xfrm>
          <a:prstGeom prst="roundRect">
            <a:avLst>
              <a:gd name="adj" fmla="val 7742"/>
            </a:avLst>
          </a:prstGeom>
          <a:solidFill>
            <a:srgbClr val="FFE3E8"/>
          </a:solidFill>
          <a:ln w="31750">
            <a:solidFill>
              <a:srgbClr val="D64545"/>
            </a:solidFill>
            <a:prstDash val="solid"/>
          </a:ln>
          <a:effectLst>
            <a:outerShdw sx="100000" sy="100000" kx="0" ky="0" algn="bl" rotWithShape="0" blurRad="76200" dist="25400" dir="5400000">
              <a:srgbClr val="2B2250">
                <a:alpha val="15000"/>
              </a:srgbClr>
            </a:outerShdw>
          </a:effectLst>
        </p:spPr>
      </p:sp>
      <p:pic>
        <p:nvPicPr>
          <p:cNvPr id="9" name="Icon 518" descr="FaHamburger">    </p:cNvPr>
          <p:cNvPicPr>
            <a:picLocks noChangeAspect="1"/>
          </p:cNvPicPr>
          <p:nvPr/>
        </p:nvPicPr>
        <p:blipFill>
          <a:blip r:embed="rId2"/>
          <a:stretch>
            <a:fillRect/>
          </a:stretch>
        </p:blipFill>
        <p:spPr>
          <a:xfrm>
            <a:off x="3520440" y="1417320"/>
            <a:ext cx="548640" cy="548640"/>
          </a:xfrm>
          <a:prstGeom prst="rect">
            <a:avLst/>
          </a:prstGeom>
        </p:spPr>
      </p:pic>
      <p:sp>
        <p:nvSpPr>
          <p:cNvPr id="10" name="Text 519"/>
          <p:cNvSpPr txBox="1"/>
          <p:nvPr/>
        </p:nvSpPr>
        <p:spPr>
          <a:xfrm>
            <a:off x="4206240" y="1280160"/>
            <a:ext cx="1554480" cy="82296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A real sandwich</a:t>
            </a:r>
            <a:endParaRPr lang="en-US" sz="1800" dirty="0"/>
          </a:p>
        </p:txBody>
      </p:sp>
      <p:sp>
        <p:nvSpPr>
          <p:cNvPr id="11" name="Text 520"/>
          <p:cNvSpPr txBox="1"/>
          <p:nvPr/>
        </p:nvSpPr>
        <p:spPr>
          <a:xfrm>
            <a:off x="3429000" y="2148840"/>
            <a:ext cx="2286000" cy="411480"/>
          </a:xfrm>
          <a:prstGeom prst="rect">
            <a:avLst/>
          </a:prstGeom>
          <a:noFill/>
          <a:ln/>
        </p:spPr>
        <p:txBody>
          <a:bodyPr wrap="square" lIns="0" tIns="0" rIns="0" bIns="0" rtlCol="0" anchor="t"/>
          <a:lstStyle/>
          <a:p>
            <a:pPr indent="0" marL="0">
              <a:buNone/>
            </a:pPr>
            <a:r>
              <a:rPr lang="en-US" sz="1600" b="1" dirty="0">
                <a:solidFill>
                  <a:srgbClr val="D64545"/>
                </a:solidFill>
                <a:latin typeface="Calibri" pitchFamily="34" charset="0"/>
                <a:ea typeface="Calibri" pitchFamily="34" charset="-122"/>
                <a:cs typeface="Calibri" pitchFamily="34" charset="-120"/>
              </a:rPr>
              <a:t>NO ✖</a:t>
            </a:r>
            <a:endParaRPr lang="en-US" sz="1600" dirty="0"/>
          </a:p>
        </p:txBody>
      </p:sp>
      <p:sp>
        <p:nvSpPr>
          <p:cNvPr id="12" name="Card 521"/>
          <p:cNvSpPr/>
          <p:nvPr/>
        </p:nvSpPr>
        <p:spPr>
          <a:xfrm>
            <a:off x="6126480" y="1188720"/>
            <a:ext cx="2560320" cy="1417320"/>
          </a:xfrm>
          <a:prstGeom prst="roundRect">
            <a:avLst>
              <a:gd name="adj" fmla="val 7742"/>
            </a:avLst>
          </a:prstGeom>
          <a:solidFill>
            <a:srgbClr val="D9F5E6"/>
          </a:solidFill>
          <a:ln w="31750">
            <a:solidFill>
              <a:srgbClr val="2E9E5B"/>
            </a:solidFill>
            <a:prstDash val="solid"/>
          </a:ln>
          <a:effectLst>
            <a:outerShdw sx="100000" sy="100000" kx="0" ky="0" algn="bl" rotWithShape="0" blurRad="76200" dist="25400" dir="5400000">
              <a:srgbClr val="2B2250">
                <a:alpha val="15000"/>
              </a:srgbClr>
            </a:outerShdw>
          </a:effectLst>
        </p:spPr>
      </p:sp>
      <p:pic>
        <p:nvPicPr>
          <p:cNvPr id="13" name="Icon 522" descr="FaMusic">    </p:cNvPr>
          <p:cNvPicPr>
            <a:picLocks noChangeAspect="1"/>
          </p:cNvPicPr>
          <p:nvPr/>
        </p:nvPicPr>
        <p:blipFill>
          <a:blip r:embed="rId3"/>
          <a:stretch>
            <a:fillRect/>
          </a:stretch>
        </p:blipFill>
        <p:spPr>
          <a:xfrm>
            <a:off x="6355080" y="1417320"/>
            <a:ext cx="548640" cy="548640"/>
          </a:xfrm>
          <a:prstGeom prst="rect">
            <a:avLst/>
          </a:prstGeom>
        </p:spPr>
      </p:pic>
      <p:sp>
        <p:nvSpPr>
          <p:cNvPr id="14" name="Text 523"/>
          <p:cNvSpPr txBox="1"/>
          <p:nvPr/>
        </p:nvSpPr>
        <p:spPr>
          <a:xfrm>
            <a:off x="7040880" y="1280160"/>
            <a:ext cx="1554480" cy="82296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A song</a:t>
            </a:r>
            <a:endParaRPr lang="en-US" sz="1800" dirty="0"/>
          </a:p>
        </p:txBody>
      </p:sp>
      <p:sp>
        <p:nvSpPr>
          <p:cNvPr id="15" name="Text 524"/>
          <p:cNvSpPr txBox="1"/>
          <p:nvPr/>
        </p:nvSpPr>
        <p:spPr>
          <a:xfrm>
            <a:off x="6263640" y="2148840"/>
            <a:ext cx="2286000" cy="411480"/>
          </a:xfrm>
          <a:prstGeom prst="rect">
            <a:avLst/>
          </a:prstGeom>
          <a:noFill/>
          <a:ln/>
        </p:spPr>
        <p:txBody>
          <a:bodyPr wrap="square" lIns="0" tIns="0" rIns="0" bIns="0" rtlCol="0" anchor="t"/>
          <a:lstStyle/>
          <a:p>
            <a:pPr indent="0" marL="0">
              <a:buNone/>
            </a:pPr>
            <a:r>
              <a:rPr lang="en-US" sz="1600" b="1" dirty="0">
                <a:solidFill>
                  <a:srgbClr val="2E9E5B"/>
                </a:solidFill>
                <a:latin typeface="Calibri" pitchFamily="34" charset="0"/>
                <a:ea typeface="Calibri" pitchFamily="34" charset="-122"/>
                <a:cs typeface="Calibri" pitchFamily="34" charset="-120"/>
              </a:rPr>
              <a:t>YES ✔</a:t>
            </a:r>
            <a:endParaRPr lang="en-US" sz="1600" dirty="0"/>
          </a:p>
        </p:txBody>
      </p:sp>
      <p:sp>
        <p:nvSpPr>
          <p:cNvPr id="16" name="Card 525"/>
          <p:cNvSpPr/>
          <p:nvPr/>
        </p:nvSpPr>
        <p:spPr>
          <a:xfrm>
            <a:off x="457200" y="2743200"/>
            <a:ext cx="2560320" cy="1417320"/>
          </a:xfrm>
          <a:prstGeom prst="roundRect">
            <a:avLst>
              <a:gd name="adj" fmla="val 7742"/>
            </a:avLst>
          </a:prstGeom>
          <a:solidFill>
            <a:srgbClr val="FFE3E8"/>
          </a:solidFill>
          <a:ln w="31750">
            <a:solidFill>
              <a:srgbClr val="D64545"/>
            </a:solidFill>
            <a:prstDash val="solid"/>
          </a:ln>
          <a:effectLst>
            <a:outerShdw sx="100000" sy="100000" kx="0" ky="0" algn="bl" rotWithShape="0" blurRad="76200" dist="25400" dir="5400000">
              <a:srgbClr val="2B2250">
                <a:alpha val="15000"/>
              </a:srgbClr>
            </a:outerShdw>
          </a:effectLst>
        </p:spPr>
      </p:sp>
      <p:pic>
        <p:nvPicPr>
          <p:cNvPr id="17" name="Icon 526" descr="FaDog">    </p:cNvPr>
          <p:cNvPicPr>
            <a:picLocks noChangeAspect="1"/>
          </p:cNvPicPr>
          <p:nvPr/>
        </p:nvPicPr>
        <p:blipFill>
          <a:blip r:embed="rId4"/>
          <a:stretch>
            <a:fillRect/>
          </a:stretch>
        </p:blipFill>
        <p:spPr>
          <a:xfrm>
            <a:off x="685800" y="2971800"/>
            <a:ext cx="548640" cy="548640"/>
          </a:xfrm>
          <a:prstGeom prst="rect">
            <a:avLst/>
          </a:prstGeom>
        </p:spPr>
      </p:pic>
      <p:sp>
        <p:nvSpPr>
          <p:cNvPr id="18" name="Text 527"/>
          <p:cNvSpPr txBox="1"/>
          <p:nvPr/>
        </p:nvSpPr>
        <p:spPr>
          <a:xfrm>
            <a:off x="1371600" y="2834640"/>
            <a:ext cx="1554480" cy="82296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A real dog</a:t>
            </a:r>
            <a:endParaRPr lang="en-US" sz="1800" dirty="0"/>
          </a:p>
        </p:txBody>
      </p:sp>
      <p:sp>
        <p:nvSpPr>
          <p:cNvPr id="19" name="Text 528"/>
          <p:cNvSpPr txBox="1"/>
          <p:nvPr/>
        </p:nvSpPr>
        <p:spPr>
          <a:xfrm>
            <a:off x="594360" y="3703320"/>
            <a:ext cx="2286000" cy="411480"/>
          </a:xfrm>
          <a:prstGeom prst="rect">
            <a:avLst/>
          </a:prstGeom>
          <a:noFill/>
          <a:ln/>
        </p:spPr>
        <p:txBody>
          <a:bodyPr wrap="square" lIns="0" tIns="0" rIns="0" bIns="0" rtlCol="0" anchor="t"/>
          <a:lstStyle/>
          <a:p>
            <a:pPr indent="0" marL="0">
              <a:buNone/>
            </a:pPr>
            <a:r>
              <a:rPr lang="en-US" sz="1600" b="1" dirty="0">
                <a:solidFill>
                  <a:srgbClr val="D64545"/>
                </a:solidFill>
                <a:latin typeface="Calibri" pitchFamily="34" charset="0"/>
                <a:ea typeface="Calibri" pitchFamily="34" charset="-122"/>
                <a:cs typeface="Calibri" pitchFamily="34" charset="-120"/>
              </a:rPr>
              <a:t>NO ✖</a:t>
            </a:r>
            <a:endParaRPr lang="en-US" sz="1600" dirty="0"/>
          </a:p>
        </p:txBody>
      </p:sp>
      <p:sp>
        <p:nvSpPr>
          <p:cNvPr id="20" name="Card 529"/>
          <p:cNvSpPr/>
          <p:nvPr/>
        </p:nvSpPr>
        <p:spPr>
          <a:xfrm>
            <a:off x="3291840" y="2743200"/>
            <a:ext cx="2560320" cy="1417320"/>
          </a:xfrm>
          <a:prstGeom prst="roundRect">
            <a:avLst>
              <a:gd name="adj" fmla="val 7742"/>
            </a:avLst>
          </a:prstGeom>
          <a:solidFill>
            <a:srgbClr val="D9F5E6"/>
          </a:solidFill>
          <a:ln w="31750">
            <a:solidFill>
              <a:srgbClr val="2E9E5B"/>
            </a:solidFill>
            <a:prstDash val="solid"/>
          </a:ln>
          <a:effectLst>
            <a:outerShdw sx="100000" sy="100000" kx="0" ky="0" algn="bl" rotWithShape="0" blurRad="76200" dist="25400" dir="5400000">
              <a:srgbClr val="2B2250">
                <a:alpha val="15000"/>
              </a:srgbClr>
            </a:outerShdw>
          </a:effectLst>
        </p:spPr>
      </p:sp>
      <p:pic>
        <p:nvPicPr>
          <p:cNvPr id="21" name="Icon 530" descr="FaVideo">    </p:cNvPr>
          <p:cNvPicPr>
            <a:picLocks noChangeAspect="1"/>
          </p:cNvPicPr>
          <p:nvPr/>
        </p:nvPicPr>
        <p:blipFill>
          <a:blip r:embed="rId5"/>
          <a:stretch>
            <a:fillRect/>
          </a:stretch>
        </p:blipFill>
        <p:spPr>
          <a:xfrm>
            <a:off x="3520440" y="2971800"/>
            <a:ext cx="548640" cy="548640"/>
          </a:xfrm>
          <a:prstGeom prst="rect">
            <a:avLst/>
          </a:prstGeom>
        </p:spPr>
      </p:pic>
      <p:sp>
        <p:nvSpPr>
          <p:cNvPr id="22" name="Text 531"/>
          <p:cNvSpPr txBox="1"/>
          <p:nvPr/>
        </p:nvSpPr>
        <p:spPr>
          <a:xfrm>
            <a:off x="4206240" y="2834640"/>
            <a:ext cx="1554480" cy="82296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A video clip</a:t>
            </a:r>
            <a:endParaRPr lang="en-US" sz="1800" dirty="0"/>
          </a:p>
        </p:txBody>
      </p:sp>
      <p:sp>
        <p:nvSpPr>
          <p:cNvPr id="23" name="Text 532"/>
          <p:cNvSpPr txBox="1"/>
          <p:nvPr/>
        </p:nvSpPr>
        <p:spPr>
          <a:xfrm>
            <a:off x="3429000" y="3703320"/>
            <a:ext cx="2286000" cy="411480"/>
          </a:xfrm>
          <a:prstGeom prst="rect">
            <a:avLst/>
          </a:prstGeom>
          <a:noFill/>
          <a:ln/>
        </p:spPr>
        <p:txBody>
          <a:bodyPr wrap="square" lIns="0" tIns="0" rIns="0" bIns="0" rtlCol="0" anchor="t"/>
          <a:lstStyle/>
          <a:p>
            <a:pPr indent="0" marL="0">
              <a:buNone/>
            </a:pPr>
            <a:r>
              <a:rPr lang="en-US" sz="1600" b="1" dirty="0">
                <a:solidFill>
                  <a:srgbClr val="2E9E5B"/>
                </a:solidFill>
                <a:latin typeface="Calibri" pitchFamily="34" charset="0"/>
                <a:ea typeface="Calibri" pitchFamily="34" charset="-122"/>
                <a:cs typeface="Calibri" pitchFamily="34" charset="-120"/>
              </a:rPr>
              <a:t>YES ✔</a:t>
            </a:r>
            <a:endParaRPr lang="en-US" sz="1600" dirty="0"/>
          </a:p>
        </p:txBody>
      </p:sp>
      <p:sp>
        <p:nvSpPr>
          <p:cNvPr id="24" name="Card 533"/>
          <p:cNvSpPr/>
          <p:nvPr/>
        </p:nvSpPr>
        <p:spPr>
          <a:xfrm>
            <a:off x="6126480" y="2743200"/>
            <a:ext cx="2560320" cy="1417320"/>
          </a:xfrm>
          <a:prstGeom prst="roundRect">
            <a:avLst>
              <a:gd name="adj" fmla="val 7742"/>
            </a:avLst>
          </a:prstGeom>
          <a:solidFill>
            <a:srgbClr val="FFE3E8"/>
          </a:solidFill>
          <a:ln w="31750">
            <a:solidFill>
              <a:srgbClr val="D64545"/>
            </a:solidFill>
            <a:prstDash val="solid"/>
          </a:ln>
          <a:effectLst>
            <a:outerShdw sx="100000" sy="100000" kx="0" ky="0" algn="bl" rotWithShape="0" blurRad="76200" dist="25400" dir="5400000">
              <a:srgbClr val="2B2250">
                <a:alpha val="15000"/>
              </a:srgbClr>
            </a:outerShdw>
          </a:effectLst>
        </p:spPr>
      </p:sp>
      <p:pic>
        <p:nvPicPr>
          <p:cNvPr id="25" name="Icon 534" descr="FaBook">    </p:cNvPr>
          <p:cNvPicPr>
            <a:picLocks noChangeAspect="1"/>
          </p:cNvPicPr>
          <p:nvPr/>
        </p:nvPicPr>
        <p:blipFill>
          <a:blip r:embed="rId6"/>
          <a:stretch>
            <a:fillRect/>
          </a:stretch>
        </p:blipFill>
        <p:spPr>
          <a:xfrm>
            <a:off x="6355080" y="2971800"/>
            <a:ext cx="548640" cy="548640"/>
          </a:xfrm>
          <a:prstGeom prst="rect">
            <a:avLst/>
          </a:prstGeom>
        </p:spPr>
      </p:pic>
      <p:sp>
        <p:nvSpPr>
          <p:cNvPr id="26" name="Text 535"/>
          <p:cNvSpPr txBox="1"/>
          <p:nvPr/>
        </p:nvSpPr>
        <p:spPr>
          <a:xfrm>
            <a:off x="7040880" y="2834640"/>
            <a:ext cx="1554480" cy="822960"/>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A paper book (an e-book CAN be shared!)</a:t>
            </a:r>
            <a:endParaRPr lang="en-US" sz="1800" dirty="0"/>
          </a:p>
        </p:txBody>
      </p:sp>
      <p:sp>
        <p:nvSpPr>
          <p:cNvPr id="27" name="Text 536"/>
          <p:cNvSpPr txBox="1"/>
          <p:nvPr/>
        </p:nvSpPr>
        <p:spPr>
          <a:xfrm>
            <a:off x="6263640" y="3703320"/>
            <a:ext cx="2286000" cy="411480"/>
          </a:xfrm>
          <a:prstGeom prst="rect">
            <a:avLst/>
          </a:prstGeom>
          <a:noFill/>
          <a:ln/>
        </p:spPr>
        <p:txBody>
          <a:bodyPr wrap="square" lIns="0" tIns="0" rIns="0" bIns="0" rtlCol="0" anchor="t"/>
          <a:lstStyle/>
          <a:p>
            <a:pPr indent="0" marL="0">
              <a:buNone/>
            </a:pPr>
            <a:r>
              <a:rPr lang="en-US" sz="1600" b="1" dirty="0">
                <a:solidFill>
                  <a:srgbClr val="D64545"/>
                </a:solidFill>
                <a:latin typeface="Calibri" pitchFamily="34" charset="0"/>
                <a:ea typeface="Calibri" pitchFamily="34" charset="-122"/>
                <a:cs typeface="Calibri" pitchFamily="34" charset="-120"/>
              </a:rPr>
              <a:t>NO ✖</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Accent 537"/>
          <p:cNvSpPr/>
          <p:nvPr/>
        </p:nvSpPr>
        <p:spPr>
          <a:xfrm>
            <a:off x="0" y="274320"/>
            <a:ext cx="164592" cy="685800"/>
          </a:xfrm>
          <a:prstGeom prst="rect">
            <a:avLst/>
          </a:prstGeom>
          <a:solidFill>
            <a:srgbClr val="6C63FF"/>
          </a:solidFill>
          <a:ln w="12700">
            <a:solidFill>
              <a:srgbClr val="6C63FF"/>
            </a:solidFill>
            <a:prstDash val="solid"/>
          </a:ln>
        </p:spPr>
      </p:sp>
      <p:sp>
        <p:nvSpPr>
          <p:cNvPr id="3" name="Text 538"/>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What’s in a name?</a:t>
            </a:r>
            <a:endParaRPr lang="en-US" sz="3000" dirty="0"/>
          </a:p>
        </p:txBody>
      </p:sp>
      <p:sp>
        <p:nvSpPr>
          <p:cNvPr id="4" name="Card 539"/>
          <p:cNvSpPr/>
          <p:nvPr/>
        </p:nvSpPr>
        <p:spPr>
          <a:xfrm>
            <a:off x="548640" y="1051560"/>
            <a:ext cx="5120640" cy="3639312"/>
          </a:xfrm>
          <a:prstGeom prst="roundRect">
            <a:avLst>
              <a:gd name="adj" fmla="val 3015"/>
            </a:avLst>
          </a:prstGeom>
          <a:solidFill>
            <a:srgbClr val="FFFFFF"/>
          </a:solidFill>
          <a:ln/>
          <a:effectLst>
            <a:outerShdw sx="100000" sy="100000" kx="0" ky="0" algn="bl" rotWithShape="0" blurRad="76200" dist="25400" dir="5400000">
              <a:srgbClr val="2B2250">
                <a:alpha val="15000"/>
              </a:srgbClr>
            </a:outerShdw>
          </a:effectLst>
        </p:spPr>
      </p:sp>
      <p:pic>
        <p:nvPicPr>
          <p:cNvPr id="5" name="Picture 540" descr="A web address split into www, the name and the place">    </p:cNvPr>
          <p:cNvPicPr>
            <a:picLocks noChangeAspect="1"/>
          </p:cNvPicPr>
          <p:nvPr/>
        </p:nvPicPr>
        <p:blipFill>
          <a:blip r:embed="rId1"/>
          <a:stretch>
            <a:fillRect/>
          </a:stretch>
        </p:blipFill>
        <p:spPr>
          <a:xfrm>
            <a:off x="640080" y="1143000"/>
            <a:ext cx="4937760" cy="3456432"/>
          </a:xfrm>
          <a:prstGeom prst="rect">
            <a:avLst/>
          </a:prstGeom>
        </p:spPr>
      </p:pic>
      <p:sp>
        <p:nvSpPr>
          <p:cNvPr id="6" name="Text 541"/>
          <p:cNvSpPr txBox="1"/>
          <p:nvPr/>
        </p:nvSpPr>
        <p:spPr>
          <a:xfrm>
            <a:off x="5897880" y="1234440"/>
            <a:ext cx="2834640" cy="3566160"/>
          </a:xfrm>
          <a:prstGeom prst="rect">
            <a:avLst/>
          </a:prstGeom>
          <a:noFill/>
          <a:ln/>
        </p:spPr>
        <p:txBody>
          <a:bodyPr wrap="square" lIns="0" tIns="0" rIns="0" bIns="0" rtlCol="0" anchor="t"/>
          <a:lstStyle/>
          <a:p>
            <a:pPr indent="0" marL="0">
              <a:buNone/>
            </a:pPr>
            <a:r>
              <a:rPr lang="en-US" sz="2000" dirty="0">
                <a:solidFill>
                  <a:schemeClr val="tx1"/>
                </a:solidFill>
                <a:latin typeface="Calibri" pitchFamily="34" charset="0"/>
                <a:ea typeface="Calibri" pitchFamily="34" charset="-122"/>
                <a:cs typeface="Calibri" pitchFamily="34" charset="-120"/>
              </a:rPr>
              <a:t>www = World Wide Web. The middle is the name of the site or group. The end shows the place or type: .com, .edu, .co.uk, .fr</a:t>
            </a:r>
            <a:endParaRPr lang="en-US" sz="2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Accent 542"/>
          <p:cNvSpPr/>
          <p:nvPr/>
        </p:nvSpPr>
        <p:spPr>
          <a:xfrm>
            <a:off x="0" y="274320"/>
            <a:ext cx="164592" cy="685800"/>
          </a:xfrm>
          <a:prstGeom prst="rect">
            <a:avLst/>
          </a:prstGeom>
          <a:solidFill>
            <a:srgbClr val="6C63FF"/>
          </a:solidFill>
          <a:ln w="12700">
            <a:solidFill>
              <a:srgbClr val="6C63FF"/>
            </a:solidFill>
            <a:prstDash val="solid"/>
          </a:ln>
        </p:spPr>
      </p:sp>
      <p:sp>
        <p:nvSpPr>
          <p:cNvPr id="3" name="Text 543"/>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Web address endings</a:t>
            </a:r>
            <a:endParaRPr lang="en-US" sz="3000" dirty="0"/>
          </a:p>
        </p:txBody>
      </p:sp>
      <p:sp>
        <p:nvSpPr>
          <p:cNvPr id="4" name="Card 544"/>
          <p:cNvSpPr/>
          <p:nvPr/>
        </p:nvSpPr>
        <p:spPr>
          <a:xfrm>
            <a:off x="457200" y="1188720"/>
            <a:ext cx="4114800" cy="1737360"/>
          </a:xfrm>
          <a:prstGeom prst="roundRect">
            <a:avLst>
              <a:gd name="adj" fmla="val 6316"/>
            </a:avLst>
          </a:prstGeom>
          <a:solidFill>
            <a:srgbClr val="FFFFFF"/>
          </a:solidFill>
          <a:ln/>
          <a:effectLst>
            <a:outerShdw sx="100000" sy="100000" kx="0" ky="0" algn="bl" rotWithShape="0" blurRad="76200" dist="25400" dir="5400000">
              <a:srgbClr val="2B2250">
                <a:alpha val="15000"/>
              </a:srgbClr>
            </a:outerShdw>
          </a:effectLst>
        </p:spPr>
      </p:sp>
      <p:sp>
        <p:nvSpPr>
          <p:cNvPr id="5" name="Dot 545"/>
          <p:cNvSpPr/>
          <p:nvPr/>
        </p:nvSpPr>
        <p:spPr>
          <a:xfrm>
            <a:off x="640080" y="1371600"/>
            <a:ext cx="640080" cy="640080"/>
          </a:xfrm>
          <a:prstGeom prst="ellipse">
            <a:avLst/>
          </a:prstGeom>
          <a:solidFill>
            <a:srgbClr val="FF9A3D"/>
          </a:solidFill>
          <a:ln w="12700">
            <a:solidFill>
              <a:srgbClr val="FFFFFF"/>
            </a:solidFill>
            <a:prstDash val="solid"/>
          </a:ln>
        </p:spPr>
      </p:sp>
      <p:pic>
        <p:nvPicPr>
          <p:cNvPr id="6" name="Icon 546" descr="FaPoundSign">    </p:cNvPr>
          <p:cNvPicPr>
            <a:picLocks noChangeAspect="1"/>
          </p:cNvPicPr>
          <p:nvPr/>
        </p:nvPicPr>
        <p:blipFill>
          <a:blip r:embed="rId1"/>
          <a:stretch>
            <a:fillRect/>
          </a:stretch>
        </p:blipFill>
        <p:spPr>
          <a:xfrm>
            <a:off x="795528" y="1527048"/>
            <a:ext cx="329184" cy="329184"/>
          </a:xfrm>
          <a:prstGeom prst="rect">
            <a:avLst/>
          </a:prstGeom>
        </p:spPr>
      </p:pic>
      <p:sp>
        <p:nvSpPr>
          <p:cNvPr id="7" name="Text 547"/>
          <p:cNvSpPr txBox="1"/>
          <p:nvPr/>
        </p:nvSpPr>
        <p:spPr>
          <a:xfrm>
            <a:off x="1417320" y="1325880"/>
            <a:ext cx="3017520" cy="457200"/>
          </a:xfrm>
          <a:prstGeom prst="rect">
            <a:avLst/>
          </a:prstGeom>
          <a:noFill/>
          <a:ln/>
        </p:spPr>
        <p:txBody>
          <a:bodyPr wrap="square" lIns="0" tIns="0" rIns="0" bIns="0" rtlCol="0" anchor="t"/>
          <a:lstStyle/>
          <a:p>
            <a:pPr indent="0" marL="0">
              <a:buNone/>
            </a:pPr>
            <a:r>
              <a:rPr lang="en-US" sz="2200" b="1" dirty="0">
                <a:solidFill>
                  <a:srgbClr val="FF9A3D"/>
                </a:solidFill>
                <a:latin typeface="Calibri" pitchFamily="34" charset="0"/>
                <a:ea typeface="Calibri" pitchFamily="34" charset="-122"/>
                <a:cs typeface="Calibri" pitchFamily="34" charset="-120"/>
              </a:rPr>
              <a:t>.co.uk</a:t>
            </a:r>
            <a:endParaRPr lang="en-US" sz="2200" dirty="0"/>
          </a:p>
        </p:txBody>
      </p:sp>
      <p:sp>
        <p:nvSpPr>
          <p:cNvPr id="8" name="Text 548"/>
          <p:cNvSpPr txBox="1"/>
          <p:nvPr/>
        </p:nvSpPr>
        <p:spPr>
          <a:xfrm>
            <a:off x="1417320" y="1783080"/>
            <a:ext cx="3017520" cy="109728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A website from the United Kingdom</a:t>
            </a:r>
            <a:endParaRPr lang="en-US" sz="1800" dirty="0"/>
          </a:p>
        </p:txBody>
      </p:sp>
      <p:sp>
        <p:nvSpPr>
          <p:cNvPr id="9" name="Card 549"/>
          <p:cNvSpPr/>
          <p:nvPr/>
        </p:nvSpPr>
        <p:spPr>
          <a:xfrm>
            <a:off x="4709160" y="1188720"/>
            <a:ext cx="4114800" cy="1737360"/>
          </a:xfrm>
          <a:prstGeom prst="roundRect">
            <a:avLst>
              <a:gd name="adj" fmla="val 6316"/>
            </a:avLst>
          </a:prstGeom>
          <a:solidFill>
            <a:srgbClr val="FFFFFF"/>
          </a:solidFill>
          <a:ln/>
          <a:effectLst>
            <a:outerShdw sx="100000" sy="100000" kx="0" ky="0" algn="bl" rotWithShape="0" blurRad="76200" dist="25400" dir="5400000">
              <a:srgbClr val="2B2250">
                <a:alpha val="15000"/>
              </a:srgbClr>
            </a:outerShdw>
          </a:effectLst>
        </p:spPr>
      </p:sp>
      <p:sp>
        <p:nvSpPr>
          <p:cNvPr id="10" name="Dot 550"/>
          <p:cNvSpPr/>
          <p:nvPr/>
        </p:nvSpPr>
        <p:spPr>
          <a:xfrm>
            <a:off x="4892040" y="1371600"/>
            <a:ext cx="640080" cy="640080"/>
          </a:xfrm>
          <a:prstGeom prst="ellipse">
            <a:avLst/>
          </a:prstGeom>
          <a:solidFill>
            <a:srgbClr val="FF5C8A"/>
          </a:solidFill>
          <a:ln w="12700">
            <a:solidFill>
              <a:srgbClr val="FFFFFF"/>
            </a:solidFill>
            <a:prstDash val="solid"/>
          </a:ln>
        </p:spPr>
      </p:sp>
      <p:pic>
        <p:nvPicPr>
          <p:cNvPr id="11" name="Icon 551" descr="FaEuroSign">    </p:cNvPr>
          <p:cNvPicPr>
            <a:picLocks noChangeAspect="1"/>
          </p:cNvPicPr>
          <p:nvPr/>
        </p:nvPicPr>
        <p:blipFill>
          <a:blip r:embed="rId2"/>
          <a:stretch>
            <a:fillRect/>
          </a:stretch>
        </p:blipFill>
        <p:spPr>
          <a:xfrm>
            <a:off x="5047488" y="1527048"/>
            <a:ext cx="329184" cy="329184"/>
          </a:xfrm>
          <a:prstGeom prst="rect">
            <a:avLst/>
          </a:prstGeom>
        </p:spPr>
      </p:pic>
      <p:sp>
        <p:nvSpPr>
          <p:cNvPr id="12" name="Text 552"/>
          <p:cNvSpPr txBox="1"/>
          <p:nvPr/>
        </p:nvSpPr>
        <p:spPr>
          <a:xfrm>
            <a:off x="5669280" y="1325880"/>
            <a:ext cx="3017520" cy="457200"/>
          </a:xfrm>
          <a:prstGeom prst="rect">
            <a:avLst/>
          </a:prstGeom>
          <a:noFill/>
          <a:ln/>
        </p:spPr>
        <p:txBody>
          <a:bodyPr wrap="square" lIns="0" tIns="0" rIns="0" bIns="0" rtlCol="0" anchor="t"/>
          <a:lstStyle/>
          <a:p>
            <a:pPr indent="0" marL="0">
              <a:buNone/>
            </a:pPr>
            <a:r>
              <a:rPr lang="en-US" sz="2200" b="1" dirty="0">
                <a:solidFill>
                  <a:srgbClr val="FF5C8A"/>
                </a:solidFill>
                <a:latin typeface="Calibri" pitchFamily="34" charset="0"/>
                <a:ea typeface="Calibri" pitchFamily="34" charset="-122"/>
                <a:cs typeface="Calibri" pitchFamily="34" charset="-120"/>
              </a:rPr>
              <a:t>.fr</a:t>
            </a:r>
            <a:endParaRPr lang="en-US" sz="2200" dirty="0"/>
          </a:p>
        </p:txBody>
      </p:sp>
      <p:sp>
        <p:nvSpPr>
          <p:cNvPr id="13" name="Text 553"/>
          <p:cNvSpPr txBox="1"/>
          <p:nvPr/>
        </p:nvSpPr>
        <p:spPr>
          <a:xfrm>
            <a:off x="5669280" y="1783080"/>
            <a:ext cx="3017520" cy="109728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A website from France</a:t>
            </a:r>
            <a:endParaRPr lang="en-US" sz="1800" dirty="0"/>
          </a:p>
        </p:txBody>
      </p:sp>
      <p:sp>
        <p:nvSpPr>
          <p:cNvPr id="14" name="Card 554"/>
          <p:cNvSpPr/>
          <p:nvPr/>
        </p:nvSpPr>
        <p:spPr>
          <a:xfrm>
            <a:off x="457200" y="3063240"/>
            <a:ext cx="4114800" cy="1737360"/>
          </a:xfrm>
          <a:prstGeom prst="roundRect">
            <a:avLst>
              <a:gd name="adj" fmla="val 6316"/>
            </a:avLst>
          </a:prstGeom>
          <a:solidFill>
            <a:srgbClr val="FFFFFF"/>
          </a:solidFill>
          <a:ln/>
          <a:effectLst>
            <a:outerShdw sx="100000" sy="100000" kx="0" ky="0" algn="bl" rotWithShape="0" blurRad="76200" dist="25400" dir="5400000">
              <a:srgbClr val="2B2250">
                <a:alpha val="15000"/>
              </a:srgbClr>
            </a:outerShdw>
          </a:effectLst>
        </p:spPr>
      </p:sp>
      <p:sp>
        <p:nvSpPr>
          <p:cNvPr id="15" name="Dot 555"/>
          <p:cNvSpPr/>
          <p:nvPr/>
        </p:nvSpPr>
        <p:spPr>
          <a:xfrm>
            <a:off x="640080" y="3246120"/>
            <a:ext cx="640080" cy="640080"/>
          </a:xfrm>
          <a:prstGeom prst="ellipse">
            <a:avLst/>
          </a:prstGeom>
          <a:solidFill>
            <a:srgbClr val="4DA3E0"/>
          </a:solidFill>
          <a:ln w="12700">
            <a:solidFill>
              <a:srgbClr val="FFFFFF"/>
            </a:solidFill>
            <a:prstDash val="solid"/>
          </a:ln>
        </p:spPr>
      </p:sp>
      <p:pic>
        <p:nvPicPr>
          <p:cNvPr id="16" name="Icon 556" descr="FaUniversity">    </p:cNvPr>
          <p:cNvPicPr>
            <a:picLocks noChangeAspect="1"/>
          </p:cNvPicPr>
          <p:nvPr/>
        </p:nvPicPr>
        <p:blipFill>
          <a:blip r:embed="rId3"/>
          <a:stretch>
            <a:fillRect/>
          </a:stretch>
        </p:blipFill>
        <p:spPr>
          <a:xfrm>
            <a:off x="795528" y="3401568"/>
            <a:ext cx="329184" cy="329184"/>
          </a:xfrm>
          <a:prstGeom prst="rect">
            <a:avLst/>
          </a:prstGeom>
        </p:spPr>
      </p:pic>
      <p:sp>
        <p:nvSpPr>
          <p:cNvPr id="17" name="Text 557"/>
          <p:cNvSpPr txBox="1"/>
          <p:nvPr/>
        </p:nvSpPr>
        <p:spPr>
          <a:xfrm>
            <a:off x="1417320" y="3200400"/>
            <a:ext cx="3017520" cy="457200"/>
          </a:xfrm>
          <a:prstGeom prst="rect">
            <a:avLst/>
          </a:prstGeom>
          <a:noFill/>
          <a:ln/>
        </p:spPr>
        <p:txBody>
          <a:bodyPr wrap="square" lIns="0" tIns="0" rIns="0" bIns="0" rtlCol="0" anchor="t"/>
          <a:lstStyle/>
          <a:p>
            <a:pPr indent="0" marL="0">
              <a:buNone/>
            </a:pPr>
            <a:r>
              <a:rPr lang="en-US" sz="2200" b="1" dirty="0">
                <a:solidFill>
                  <a:srgbClr val="4DA3E0"/>
                </a:solidFill>
                <a:latin typeface="Calibri" pitchFamily="34" charset="0"/>
                <a:ea typeface="Calibri" pitchFamily="34" charset="-122"/>
                <a:cs typeface="Calibri" pitchFamily="34" charset="-120"/>
              </a:rPr>
              <a:t>.edu</a:t>
            </a:r>
            <a:endParaRPr lang="en-US" sz="2200" dirty="0"/>
          </a:p>
        </p:txBody>
      </p:sp>
      <p:sp>
        <p:nvSpPr>
          <p:cNvPr id="18" name="Text 558"/>
          <p:cNvSpPr txBox="1"/>
          <p:nvPr/>
        </p:nvSpPr>
        <p:spPr>
          <a:xfrm>
            <a:off x="1417320" y="3657600"/>
            <a:ext cx="3017520" cy="109728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A school or college</a:t>
            </a:r>
            <a:endParaRPr lang="en-US" sz="1800" dirty="0"/>
          </a:p>
        </p:txBody>
      </p:sp>
      <p:sp>
        <p:nvSpPr>
          <p:cNvPr id="19" name="Card 559"/>
          <p:cNvSpPr/>
          <p:nvPr/>
        </p:nvSpPr>
        <p:spPr>
          <a:xfrm>
            <a:off x="4709160" y="3063240"/>
            <a:ext cx="4114800" cy="1737360"/>
          </a:xfrm>
          <a:prstGeom prst="roundRect">
            <a:avLst>
              <a:gd name="adj" fmla="val 6316"/>
            </a:avLst>
          </a:prstGeom>
          <a:solidFill>
            <a:srgbClr val="FFFFFF"/>
          </a:solidFill>
          <a:ln/>
          <a:effectLst>
            <a:outerShdw sx="100000" sy="100000" kx="0" ky="0" algn="bl" rotWithShape="0" blurRad="76200" dist="25400" dir="5400000">
              <a:srgbClr val="2B2250">
                <a:alpha val="15000"/>
              </a:srgbClr>
            </a:outerShdw>
          </a:effectLst>
        </p:spPr>
      </p:sp>
      <p:sp>
        <p:nvSpPr>
          <p:cNvPr id="20" name="Dot 560"/>
          <p:cNvSpPr/>
          <p:nvPr/>
        </p:nvSpPr>
        <p:spPr>
          <a:xfrm>
            <a:off x="4892040" y="3246120"/>
            <a:ext cx="640080" cy="640080"/>
          </a:xfrm>
          <a:prstGeom prst="ellipse">
            <a:avLst/>
          </a:prstGeom>
          <a:solidFill>
            <a:srgbClr val="1FB89A"/>
          </a:solidFill>
          <a:ln w="12700">
            <a:solidFill>
              <a:srgbClr val="FFFFFF"/>
            </a:solidFill>
            <a:prstDash val="solid"/>
          </a:ln>
        </p:spPr>
      </p:sp>
      <p:pic>
        <p:nvPicPr>
          <p:cNvPr id="21" name="Icon 561" descr="FaBuilding">    </p:cNvPr>
          <p:cNvPicPr>
            <a:picLocks noChangeAspect="1"/>
          </p:cNvPicPr>
          <p:nvPr/>
        </p:nvPicPr>
        <p:blipFill>
          <a:blip r:embed="rId4"/>
          <a:stretch>
            <a:fillRect/>
          </a:stretch>
        </p:blipFill>
        <p:spPr>
          <a:xfrm>
            <a:off x="5047488" y="3401568"/>
            <a:ext cx="329184" cy="329184"/>
          </a:xfrm>
          <a:prstGeom prst="rect">
            <a:avLst/>
          </a:prstGeom>
        </p:spPr>
      </p:pic>
      <p:sp>
        <p:nvSpPr>
          <p:cNvPr id="22" name="Text 562"/>
          <p:cNvSpPr txBox="1"/>
          <p:nvPr/>
        </p:nvSpPr>
        <p:spPr>
          <a:xfrm>
            <a:off x="5669280" y="3200400"/>
            <a:ext cx="3017520" cy="457200"/>
          </a:xfrm>
          <a:prstGeom prst="rect">
            <a:avLst/>
          </a:prstGeom>
          <a:noFill/>
          <a:ln/>
        </p:spPr>
        <p:txBody>
          <a:bodyPr wrap="square" lIns="0" tIns="0" rIns="0" bIns="0" rtlCol="0" anchor="t"/>
          <a:lstStyle/>
          <a:p>
            <a:pPr indent="0" marL="0">
              <a:buNone/>
            </a:pPr>
            <a:r>
              <a:rPr lang="en-US" sz="2200" b="1" dirty="0">
                <a:solidFill>
                  <a:srgbClr val="1FB89A"/>
                </a:solidFill>
                <a:latin typeface="Calibri" pitchFamily="34" charset="0"/>
                <a:ea typeface="Calibri" pitchFamily="34" charset="-122"/>
                <a:cs typeface="Calibri" pitchFamily="34" charset="-120"/>
              </a:rPr>
              <a:t>.com</a:t>
            </a:r>
            <a:endParaRPr lang="en-US" sz="2200" dirty="0"/>
          </a:p>
        </p:txBody>
      </p:sp>
      <p:sp>
        <p:nvSpPr>
          <p:cNvPr id="23" name="Text 563"/>
          <p:cNvSpPr txBox="1"/>
          <p:nvPr/>
        </p:nvSpPr>
        <p:spPr>
          <a:xfrm>
            <a:off x="5669280" y="3657600"/>
            <a:ext cx="3017520" cy="109728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Often a company</a:t>
            </a:r>
            <a:endParaRPr lang="en-US" sz="1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Accent 564"/>
          <p:cNvSpPr/>
          <p:nvPr/>
        </p:nvSpPr>
        <p:spPr>
          <a:xfrm>
            <a:off x="0" y="274320"/>
            <a:ext cx="164592" cy="685800"/>
          </a:xfrm>
          <a:prstGeom prst="rect">
            <a:avLst/>
          </a:prstGeom>
          <a:solidFill>
            <a:srgbClr val="6C63FF"/>
          </a:solidFill>
          <a:ln w="12700">
            <a:solidFill>
              <a:srgbClr val="6C63FF"/>
            </a:solidFill>
            <a:prstDash val="solid"/>
          </a:ln>
        </p:spPr>
      </p:sp>
      <p:sp>
        <p:nvSpPr>
          <p:cNvPr id="3" name="Text 565"/>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Where do websites live?</a:t>
            </a:r>
            <a:endParaRPr lang="en-US" sz="3000" dirty="0"/>
          </a:p>
        </p:txBody>
      </p:sp>
      <p:sp>
        <p:nvSpPr>
          <p:cNvPr id="4" name="Card 566"/>
          <p:cNvSpPr/>
          <p:nvPr/>
        </p:nvSpPr>
        <p:spPr>
          <a:xfrm>
            <a:off x="548640" y="1051560"/>
            <a:ext cx="5120640" cy="3639312"/>
          </a:xfrm>
          <a:prstGeom prst="roundRect">
            <a:avLst>
              <a:gd name="adj" fmla="val 3015"/>
            </a:avLst>
          </a:prstGeom>
          <a:solidFill>
            <a:srgbClr val="FFFFFF"/>
          </a:solidFill>
          <a:ln/>
          <a:effectLst>
            <a:outerShdw sx="100000" sy="100000" kx="0" ky="0" algn="bl" rotWithShape="0" blurRad="76200" dist="25400" dir="5400000">
              <a:srgbClr val="2B2250">
                <a:alpha val="15000"/>
              </a:srgbClr>
            </a:outerShdw>
          </a:effectLst>
        </p:spPr>
      </p:sp>
      <p:pic>
        <p:nvPicPr>
          <p:cNvPr id="5" name="Picture 567" descr="Data centre racks and a globe">    </p:cNvPr>
          <p:cNvPicPr>
            <a:picLocks noChangeAspect="1"/>
          </p:cNvPicPr>
          <p:nvPr/>
        </p:nvPicPr>
        <p:blipFill>
          <a:blip r:embed="rId1"/>
          <a:stretch>
            <a:fillRect/>
          </a:stretch>
        </p:blipFill>
        <p:spPr>
          <a:xfrm>
            <a:off x="640080" y="1143000"/>
            <a:ext cx="4937760" cy="3456432"/>
          </a:xfrm>
          <a:prstGeom prst="rect">
            <a:avLst/>
          </a:prstGeom>
        </p:spPr>
      </p:pic>
      <p:sp>
        <p:nvSpPr>
          <p:cNvPr id="6" name="Text 568"/>
          <p:cNvSpPr txBox="1"/>
          <p:nvPr/>
        </p:nvSpPr>
        <p:spPr>
          <a:xfrm>
            <a:off x="5897880" y="1234440"/>
            <a:ext cx="2834640" cy="3566160"/>
          </a:xfrm>
          <a:prstGeom prst="rect">
            <a:avLst/>
          </a:prstGeom>
          <a:noFill/>
          <a:ln/>
        </p:spPr>
        <p:txBody>
          <a:bodyPr wrap="square" lIns="0" tIns="0" rIns="0" bIns="0" rtlCol="0" anchor="t"/>
          <a:lstStyle/>
          <a:p>
            <a:pPr indent="0" marL="0">
              <a:buNone/>
            </a:pPr>
            <a:r>
              <a:rPr lang="en-US" sz="2000" dirty="0">
                <a:solidFill>
                  <a:schemeClr val="tx1"/>
                </a:solidFill>
                <a:latin typeface="Calibri" pitchFamily="34" charset="0"/>
                <a:ea typeface="Calibri" pitchFamily="34" charset="-122"/>
                <a:cs typeface="Calibri" pitchFamily="34" charset="-120"/>
              </a:rPr>
              <a:t>Websites are stored in big data centres. They are all around the world. Some belong to Google, Amazon, Apple and Microsoft.</a:t>
            </a:r>
            <a:endParaRPr lang="en-US" sz="2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Accent 569"/>
          <p:cNvSpPr/>
          <p:nvPr/>
        </p:nvSpPr>
        <p:spPr>
          <a:xfrm>
            <a:off x="0" y="274320"/>
            <a:ext cx="164592" cy="685800"/>
          </a:xfrm>
          <a:prstGeom prst="rect">
            <a:avLst/>
          </a:prstGeom>
          <a:solidFill>
            <a:srgbClr val="6C63FF"/>
          </a:solidFill>
          <a:ln w="12700">
            <a:solidFill>
              <a:srgbClr val="6C63FF"/>
            </a:solidFill>
            <a:prstDash val="solid"/>
          </a:ln>
        </p:spPr>
      </p:sp>
      <p:sp>
        <p:nvSpPr>
          <p:cNvPr id="3" name="Text 57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Devices that reach the web</a:t>
            </a:r>
            <a:endParaRPr lang="en-US" sz="3000" dirty="0"/>
          </a:p>
        </p:txBody>
      </p:sp>
      <p:sp>
        <p:nvSpPr>
          <p:cNvPr id="4" name="Card 571"/>
          <p:cNvSpPr/>
          <p:nvPr/>
        </p:nvSpPr>
        <p:spPr>
          <a:xfrm>
            <a:off x="548640" y="1051560"/>
            <a:ext cx="5120640" cy="3639312"/>
          </a:xfrm>
          <a:prstGeom prst="roundRect">
            <a:avLst>
              <a:gd name="adj" fmla="val 3015"/>
            </a:avLst>
          </a:prstGeom>
          <a:solidFill>
            <a:srgbClr val="FFFFFF"/>
          </a:solidFill>
          <a:ln/>
          <a:effectLst>
            <a:outerShdw sx="100000" sy="100000" kx="0" ky="0" algn="bl" rotWithShape="0" blurRad="76200" dist="25400" dir="5400000">
              <a:srgbClr val="2B2250">
                <a:alpha val="15000"/>
              </a:srgbClr>
            </a:outerShdw>
          </a:effectLst>
        </p:spPr>
      </p:sp>
      <p:pic>
        <p:nvPicPr>
          <p:cNvPr id="5" name="Picture 572" descr="Laptop, tablet, phone, console, smart TV and speaker">    </p:cNvPr>
          <p:cNvPicPr>
            <a:picLocks noChangeAspect="1"/>
          </p:cNvPicPr>
          <p:nvPr/>
        </p:nvPicPr>
        <p:blipFill>
          <a:blip r:embed="rId1"/>
          <a:stretch>
            <a:fillRect/>
          </a:stretch>
        </p:blipFill>
        <p:spPr>
          <a:xfrm>
            <a:off x="640080" y="1143000"/>
            <a:ext cx="4937760" cy="3456432"/>
          </a:xfrm>
          <a:prstGeom prst="rect">
            <a:avLst/>
          </a:prstGeom>
        </p:spPr>
      </p:pic>
      <p:sp>
        <p:nvSpPr>
          <p:cNvPr id="6" name="Text 573"/>
          <p:cNvSpPr txBox="1"/>
          <p:nvPr/>
        </p:nvSpPr>
        <p:spPr>
          <a:xfrm>
            <a:off x="5897880" y="1234440"/>
            <a:ext cx="2834640" cy="3566160"/>
          </a:xfrm>
          <a:prstGeom prst="rect">
            <a:avLst/>
          </a:prstGeom>
          <a:noFill/>
          <a:ln/>
        </p:spPr>
        <p:txBody>
          <a:bodyPr wrap="square" lIns="0" tIns="0" rIns="0" bIns="0" rtlCol="0" anchor="t"/>
          <a:lstStyle/>
          <a:p>
            <a:pPr indent="0" marL="0">
              <a:buNone/>
            </a:pPr>
            <a:r>
              <a:rPr lang="en-US" sz="2000" dirty="0">
                <a:solidFill>
                  <a:schemeClr val="tx1"/>
                </a:solidFill>
                <a:latin typeface="Calibri" pitchFamily="34" charset="0"/>
                <a:ea typeface="Calibri" pitchFamily="34" charset="-122"/>
                <a:cs typeface="Calibri" pitchFamily="34" charset="-120"/>
              </a:rPr>
              <a:t>Lots of devices can connect to the web. What do they ALL need? A web browser!</a:t>
            </a:r>
            <a:endParaRPr lang="en-US"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Accent 574"/>
          <p:cNvSpPr/>
          <p:nvPr/>
        </p:nvSpPr>
        <p:spPr>
          <a:xfrm>
            <a:off x="0" y="274320"/>
            <a:ext cx="164592" cy="685800"/>
          </a:xfrm>
          <a:prstGeom prst="rect">
            <a:avLst/>
          </a:prstGeom>
          <a:solidFill>
            <a:srgbClr val="6C63FF"/>
          </a:solidFill>
          <a:ln w="12700">
            <a:solidFill>
              <a:srgbClr val="6C63FF"/>
            </a:solidFill>
            <a:prstDash val="solid"/>
          </a:ln>
        </p:spPr>
      </p:sp>
      <p:sp>
        <p:nvSpPr>
          <p:cNvPr id="3" name="Text 575"/>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Parts of a web browser</a:t>
            </a:r>
            <a:endParaRPr lang="en-US" sz="3000" dirty="0"/>
          </a:p>
        </p:txBody>
      </p:sp>
      <p:sp>
        <p:nvSpPr>
          <p:cNvPr id="4" name="Card 576"/>
          <p:cNvSpPr/>
          <p:nvPr/>
        </p:nvSpPr>
        <p:spPr>
          <a:xfrm>
            <a:off x="548640" y="1051560"/>
            <a:ext cx="5120640" cy="3639312"/>
          </a:xfrm>
          <a:prstGeom prst="roundRect">
            <a:avLst>
              <a:gd name="adj" fmla="val 3015"/>
            </a:avLst>
          </a:prstGeom>
          <a:solidFill>
            <a:srgbClr val="FFFFFF"/>
          </a:solidFill>
          <a:ln/>
          <a:effectLst>
            <a:outerShdw sx="100000" sy="100000" kx="0" ky="0" algn="bl" rotWithShape="0" blurRad="76200" dist="25400" dir="5400000">
              <a:srgbClr val="2B2250">
                <a:alpha val="15000"/>
              </a:srgbClr>
            </a:outerShdw>
          </a:effectLst>
        </p:spPr>
      </p:sp>
      <p:pic>
        <p:nvPicPr>
          <p:cNvPr id="5" name="Picture 577" descr="Browser with numbered parts">    </p:cNvPr>
          <p:cNvPicPr>
            <a:picLocks noChangeAspect="1"/>
          </p:cNvPicPr>
          <p:nvPr/>
        </p:nvPicPr>
        <p:blipFill>
          <a:blip r:embed="rId1"/>
          <a:stretch>
            <a:fillRect/>
          </a:stretch>
        </p:blipFill>
        <p:spPr>
          <a:xfrm>
            <a:off x="640080" y="1143000"/>
            <a:ext cx="4937760" cy="3456432"/>
          </a:xfrm>
          <a:prstGeom prst="rect">
            <a:avLst/>
          </a:prstGeom>
        </p:spPr>
      </p:pic>
      <p:sp>
        <p:nvSpPr>
          <p:cNvPr id="6" name="Text 578"/>
          <p:cNvSpPr txBox="1"/>
          <p:nvPr/>
        </p:nvSpPr>
        <p:spPr>
          <a:xfrm>
            <a:off x="5897880" y="1234440"/>
            <a:ext cx="2834640" cy="3566160"/>
          </a:xfrm>
          <a:prstGeom prst="rect">
            <a:avLst/>
          </a:prstGeom>
          <a:noFill/>
          <a:ln/>
        </p:spPr>
        <p:txBody>
          <a:bodyPr wrap="square" lIns="0" tIns="0" rIns="0" bIns="0" rtlCol="0" anchor="t"/>
          <a:lstStyle/>
          <a:p>
            <a:pPr indent="0" marL="0">
              <a:buNone/>
            </a:pPr>
            <a:r>
              <a:rPr lang="en-US" sz="2000" dirty="0">
                <a:solidFill>
                  <a:schemeClr val="tx1"/>
                </a:solidFill>
                <a:latin typeface="Calibri" pitchFamily="34" charset="0"/>
                <a:ea typeface="Calibri" pitchFamily="34" charset="-122"/>
                <a:cs typeface="Calibri" pitchFamily="34" charset="-120"/>
              </a:rPr>
              <a:t>1 Back and forward</a:t>
            </a:r>
            <a:endParaRPr lang="en-US" sz="2000" dirty="0"/>
          </a:p>
          <a:p>
            <a:pPr indent="0" marL="0">
              <a:buNone/>
            </a:pPr>
            <a:r>
              <a:rPr lang="en-US" sz="2000" dirty="0">
                <a:solidFill>
                  <a:schemeClr val="tx1"/>
                </a:solidFill>
                <a:latin typeface="Calibri" pitchFamily="34" charset="0"/>
                <a:ea typeface="Calibri" pitchFamily="34" charset="-122"/>
                <a:cs typeface="Calibri" pitchFamily="34" charset="-120"/>
              </a:rPr>
              <a:t>2 Refresh</a:t>
            </a:r>
            <a:endParaRPr lang="en-US" sz="2000" dirty="0"/>
          </a:p>
          <a:p>
            <a:pPr indent="0" marL="0">
              <a:buNone/>
            </a:pPr>
            <a:r>
              <a:rPr lang="en-US" sz="2000" dirty="0">
                <a:solidFill>
                  <a:schemeClr val="tx1"/>
                </a:solidFill>
                <a:latin typeface="Calibri" pitchFamily="34" charset="0"/>
                <a:ea typeface="Calibri" pitchFamily="34" charset="-122"/>
                <a:cs typeface="Calibri" pitchFamily="34" charset="-120"/>
              </a:rPr>
              <a:t>3 Address bar</a:t>
            </a:r>
            <a:endParaRPr lang="en-US" sz="2000" dirty="0"/>
          </a:p>
          <a:p>
            <a:pPr indent="0" marL="0">
              <a:buNone/>
            </a:pPr>
            <a:r>
              <a:rPr lang="en-US" sz="2000" dirty="0">
                <a:solidFill>
                  <a:schemeClr val="tx1"/>
                </a:solidFill>
                <a:latin typeface="Calibri" pitchFamily="34" charset="0"/>
                <a:ea typeface="Calibri" pitchFamily="34" charset="-122"/>
                <a:cs typeface="Calibri" pitchFamily="34" charset="-120"/>
              </a:rPr>
              <a:t>4 Tabs</a:t>
            </a:r>
            <a:endParaRPr lang="en-US" sz="2000" dirty="0"/>
          </a:p>
          <a:p>
            <a:pPr indent="0" marL="0">
              <a:buNone/>
            </a:pPr>
            <a:r>
              <a:rPr lang="en-US" sz="2000" dirty="0">
                <a:solidFill>
                  <a:schemeClr val="tx1"/>
                </a:solidFill>
                <a:latin typeface="Calibri" pitchFamily="34" charset="0"/>
                <a:ea typeface="Calibri" pitchFamily="34" charset="-122"/>
                <a:cs typeface="Calibri" pitchFamily="34" charset="-120"/>
              </a:rPr>
              <a:t>5 Main view</a:t>
            </a:r>
            <a:endParaRPr lang="en-US" sz="2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Accent 579"/>
          <p:cNvSpPr/>
          <p:nvPr/>
        </p:nvSpPr>
        <p:spPr>
          <a:xfrm>
            <a:off x="0" y="274320"/>
            <a:ext cx="164592" cy="685800"/>
          </a:xfrm>
          <a:prstGeom prst="rect">
            <a:avLst/>
          </a:prstGeom>
          <a:solidFill>
            <a:srgbClr val="6C63FF"/>
          </a:solidFill>
          <a:ln w="12700">
            <a:solidFill>
              <a:srgbClr val="6C63FF"/>
            </a:solidFill>
            <a:prstDash val="solid"/>
          </a:ln>
        </p:spPr>
      </p:sp>
      <p:sp>
        <p:nvSpPr>
          <p:cNvPr id="3" name="Text 58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Quick quiz</a:t>
            </a:r>
            <a:endParaRPr lang="en-US" sz="3000" dirty="0"/>
          </a:p>
        </p:txBody>
      </p:sp>
      <p:sp>
        <p:nvSpPr>
          <p:cNvPr id="4" name="Text 581"/>
          <p:cNvSpPr txBox="1"/>
          <p:nvPr/>
        </p:nvSpPr>
        <p:spPr>
          <a:xfrm>
            <a:off x="457200" y="1051560"/>
            <a:ext cx="8229600" cy="914400"/>
          </a:xfrm>
          <a:prstGeom prst="rect">
            <a:avLst/>
          </a:prstGeom>
          <a:noFill/>
          <a:ln/>
        </p:spPr>
        <p:txBody>
          <a:bodyPr wrap="square" lIns="0" tIns="0" rIns="0" bIns="0" rtlCol="0" anchor="ctr"/>
          <a:lstStyle/>
          <a:p>
            <a:pPr indent="0" marL="0">
              <a:buNone/>
            </a:pPr>
            <a:r>
              <a:rPr lang="en-US" sz="2600" b="1" dirty="0">
                <a:solidFill>
                  <a:schemeClr val="tx1"/>
                </a:solidFill>
                <a:latin typeface="Calibri" pitchFamily="34" charset="0"/>
                <a:ea typeface="Calibri" pitchFamily="34" charset="-122"/>
                <a:cs typeface="Calibri" pitchFamily="34" charset="-120"/>
              </a:rPr>
              <a:t>Which of these is a web browser?</a:t>
            </a:r>
            <a:endParaRPr lang="en-US" sz="2600" dirty="0"/>
          </a:p>
        </p:txBody>
      </p:sp>
      <p:sp>
        <p:nvSpPr>
          <p:cNvPr id="5" name="Card 582"/>
          <p:cNvSpPr/>
          <p:nvPr/>
        </p:nvSpPr>
        <p:spPr>
          <a:xfrm>
            <a:off x="457200" y="219456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6" name="Dot 583"/>
          <p:cNvSpPr/>
          <p:nvPr/>
        </p:nvSpPr>
        <p:spPr>
          <a:xfrm>
            <a:off x="594360" y="2322576"/>
            <a:ext cx="457200" cy="457200"/>
          </a:xfrm>
          <a:prstGeom prst="ellipse">
            <a:avLst/>
          </a:prstGeom>
          <a:solidFill>
            <a:srgbClr val="6C63FF"/>
          </a:solidFill>
          <a:ln w="12700">
            <a:solidFill>
              <a:srgbClr val="FFFFFF"/>
            </a:solidFill>
            <a:prstDash val="solid"/>
          </a:ln>
        </p:spPr>
      </p:sp>
      <p:sp>
        <p:nvSpPr>
          <p:cNvPr id="7" name="Text 584"/>
          <p:cNvSpPr txBox="1"/>
          <p:nvPr/>
        </p:nvSpPr>
        <p:spPr>
          <a:xfrm>
            <a:off x="594360" y="2322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8" name="Text 585"/>
          <p:cNvSpPr txBox="1"/>
          <p:nvPr/>
        </p:nvSpPr>
        <p:spPr>
          <a:xfrm>
            <a:off x="1188720" y="219456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Facebook</a:t>
            </a:r>
            <a:endParaRPr lang="en-US" sz="2200" dirty="0"/>
          </a:p>
        </p:txBody>
      </p:sp>
      <p:sp>
        <p:nvSpPr>
          <p:cNvPr id="9" name="Card 586"/>
          <p:cNvSpPr/>
          <p:nvPr/>
        </p:nvSpPr>
        <p:spPr>
          <a:xfrm>
            <a:off x="457200" y="301752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10" name="Dot 587"/>
          <p:cNvSpPr/>
          <p:nvPr/>
        </p:nvSpPr>
        <p:spPr>
          <a:xfrm>
            <a:off x="594360" y="3145536"/>
            <a:ext cx="457200" cy="457200"/>
          </a:xfrm>
          <a:prstGeom prst="ellipse">
            <a:avLst/>
          </a:prstGeom>
          <a:solidFill>
            <a:srgbClr val="6C63FF"/>
          </a:solidFill>
          <a:ln w="12700">
            <a:solidFill>
              <a:srgbClr val="FFFFFF"/>
            </a:solidFill>
            <a:prstDash val="solid"/>
          </a:ln>
        </p:spPr>
      </p:sp>
      <p:sp>
        <p:nvSpPr>
          <p:cNvPr id="11" name="Text 588"/>
          <p:cNvSpPr txBox="1"/>
          <p:nvPr/>
        </p:nvSpPr>
        <p:spPr>
          <a:xfrm>
            <a:off x="594360" y="314553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589"/>
          <p:cNvSpPr txBox="1"/>
          <p:nvPr/>
        </p:nvSpPr>
        <p:spPr>
          <a:xfrm>
            <a:off x="1188720" y="301752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Google</a:t>
            </a:r>
            <a:endParaRPr lang="en-US" sz="2200" dirty="0"/>
          </a:p>
        </p:txBody>
      </p:sp>
      <p:sp>
        <p:nvSpPr>
          <p:cNvPr id="13" name="Card 590"/>
          <p:cNvSpPr/>
          <p:nvPr/>
        </p:nvSpPr>
        <p:spPr>
          <a:xfrm>
            <a:off x="457200" y="384048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14" name="Dot 591"/>
          <p:cNvSpPr/>
          <p:nvPr/>
        </p:nvSpPr>
        <p:spPr>
          <a:xfrm>
            <a:off x="594360" y="3968496"/>
            <a:ext cx="457200" cy="457200"/>
          </a:xfrm>
          <a:prstGeom prst="ellipse">
            <a:avLst/>
          </a:prstGeom>
          <a:solidFill>
            <a:srgbClr val="6C63FF"/>
          </a:solidFill>
          <a:ln w="12700">
            <a:solidFill>
              <a:srgbClr val="FFFFFF"/>
            </a:solidFill>
            <a:prstDash val="solid"/>
          </a:ln>
        </p:spPr>
      </p:sp>
      <p:sp>
        <p:nvSpPr>
          <p:cNvPr id="15" name="Text 592"/>
          <p:cNvSpPr txBox="1"/>
          <p:nvPr/>
        </p:nvSpPr>
        <p:spPr>
          <a:xfrm>
            <a:off x="594360" y="39684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6" name="Text 593"/>
          <p:cNvSpPr txBox="1"/>
          <p:nvPr/>
        </p:nvSpPr>
        <p:spPr>
          <a:xfrm>
            <a:off x="1188720" y="384048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Chrome</a:t>
            </a:r>
            <a:endParaRPr lang="en-US" sz="2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Accent 594"/>
          <p:cNvSpPr/>
          <p:nvPr/>
        </p:nvSpPr>
        <p:spPr>
          <a:xfrm>
            <a:off x="0" y="274320"/>
            <a:ext cx="164592" cy="685800"/>
          </a:xfrm>
          <a:prstGeom prst="rect">
            <a:avLst/>
          </a:prstGeom>
          <a:solidFill>
            <a:srgbClr val="2E9E5B"/>
          </a:solidFill>
          <a:ln w="12700">
            <a:solidFill>
              <a:srgbClr val="2E9E5B"/>
            </a:solidFill>
            <a:prstDash val="solid"/>
          </a:ln>
        </p:spPr>
      </p:sp>
      <p:sp>
        <p:nvSpPr>
          <p:cNvPr id="3" name="Text 595"/>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 The answer</a:t>
            </a:r>
            <a:endParaRPr lang="en-US" sz="3000" dirty="0"/>
          </a:p>
        </p:txBody>
      </p:sp>
      <p:sp>
        <p:nvSpPr>
          <p:cNvPr id="4" name="Text 596"/>
          <p:cNvSpPr txBox="1"/>
          <p:nvPr/>
        </p:nvSpPr>
        <p:spPr>
          <a:xfrm>
            <a:off x="457200" y="1051560"/>
            <a:ext cx="8229600" cy="914400"/>
          </a:xfrm>
          <a:prstGeom prst="rect">
            <a:avLst/>
          </a:prstGeom>
          <a:noFill/>
          <a:ln/>
        </p:spPr>
        <p:txBody>
          <a:bodyPr wrap="square" lIns="0" tIns="0" rIns="0" bIns="0" rtlCol="0" anchor="ctr"/>
          <a:lstStyle/>
          <a:p>
            <a:pPr indent="0" marL="0">
              <a:buNone/>
            </a:pPr>
            <a:r>
              <a:rPr lang="en-US" sz="2600" b="1" dirty="0">
                <a:solidFill>
                  <a:schemeClr val="tx1"/>
                </a:solidFill>
                <a:latin typeface="Calibri" pitchFamily="34" charset="0"/>
                <a:ea typeface="Calibri" pitchFamily="34" charset="-122"/>
                <a:cs typeface="Calibri" pitchFamily="34" charset="-120"/>
              </a:rPr>
              <a:t>Which of these is a web browser?</a:t>
            </a:r>
            <a:endParaRPr lang="en-US" sz="2600" dirty="0"/>
          </a:p>
        </p:txBody>
      </p:sp>
      <p:sp>
        <p:nvSpPr>
          <p:cNvPr id="5" name="Card 597"/>
          <p:cNvSpPr/>
          <p:nvPr/>
        </p:nvSpPr>
        <p:spPr>
          <a:xfrm>
            <a:off x="457200" y="2194560"/>
            <a:ext cx="8229600" cy="713232"/>
          </a:xfrm>
          <a:prstGeom prst="roundRect">
            <a:avLst>
              <a:gd name="adj" fmla="val 15385"/>
            </a:avLst>
          </a:prstGeom>
          <a:solidFill>
            <a:srgbClr val="FFFFFF"/>
          </a:solidFill>
          <a:ln w="19050">
            <a:solidFill>
              <a:srgbClr val="DDDAEA"/>
            </a:solidFill>
            <a:prstDash val="solid"/>
          </a:ln>
          <a:effectLst>
            <a:outerShdw sx="100000" sy="100000" kx="0" ky="0" algn="bl" rotWithShape="0" blurRad="76200" dist="25400" dir="5400000">
              <a:srgbClr val="2B2250">
                <a:alpha val="15000"/>
              </a:srgbClr>
            </a:outerShdw>
          </a:effectLst>
        </p:spPr>
      </p:sp>
      <p:sp>
        <p:nvSpPr>
          <p:cNvPr id="6" name="Dot 598"/>
          <p:cNvSpPr/>
          <p:nvPr/>
        </p:nvSpPr>
        <p:spPr>
          <a:xfrm>
            <a:off x="594360" y="2322576"/>
            <a:ext cx="457200" cy="457200"/>
          </a:xfrm>
          <a:prstGeom prst="ellipse">
            <a:avLst/>
          </a:prstGeom>
          <a:solidFill>
            <a:srgbClr val="CFCBE0"/>
          </a:solidFill>
          <a:ln w="12700">
            <a:solidFill>
              <a:srgbClr val="FFFFFF"/>
            </a:solidFill>
            <a:prstDash val="solid"/>
          </a:ln>
        </p:spPr>
      </p:sp>
      <p:sp>
        <p:nvSpPr>
          <p:cNvPr id="7" name="Text 599"/>
          <p:cNvSpPr txBox="1"/>
          <p:nvPr/>
        </p:nvSpPr>
        <p:spPr>
          <a:xfrm>
            <a:off x="594360" y="2322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8" name="Text 600"/>
          <p:cNvSpPr txBox="1"/>
          <p:nvPr/>
        </p:nvSpPr>
        <p:spPr>
          <a:xfrm>
            <a:off x="1188720" y="2194560"/>
            <a:ext cx="7406640" cy="713232"/>
          </a:xfrm>
          <a:prstGeom prst="rect">
            <a:avLst/>
          </a:prstGeom>
          <a:noFill/>
          <a:ln/>
        </p:spPr>
        <p:txBody>
          <a:bodyPr wrap="square" lIns="0" tIns="0" rIns="0" bIns="0" rtlCol="0" anchor="ctr"/>
          <a:lstStyle/>
          <a:p>
            <a:pPr indent="0" marL="0">
              <a:buNone/>
            </a:pPr>
            <a:r>
              <a:rPr lang="en-US" sz="2200" dirty="0">
                <a:solidFill>
                  <a:srgbClr val="8A86A3"/>
                </a:solidFill>
                <a:latin typeface="Calibri" pitchFamily="34" charset="0"/>
                <a:ea typeface="Calibri" pitchFamily="34" charset="-122"/>
                <a:cs typeface="Calibri" pitchFamily="34" charset="-120"/>
              </a:rPr>
              <a:t>Facebook</a:t>
            </a:r>
            <a:endParaRPr lang="en-US" sz="2200" dirty="0"/>
          </a:p>
        </p:txBody>
      </p:sp>
      <p:sp>
        <p:nvSpPr>
          <p:cNvPr id="9" name="Card 601"/>
          <p:cNvSpPr/>
          <p:nvPr/>
        </p:nvSpPr>
        <p:spPr>
          <a:xfrm>
            <a:off x="457200" y="3017520"/>
            <a:ext cx="8229600" cy="713232"/>
          </a:xfrm>
          <a:prstGeom prst="roundRect">
            <a:avLst>
              <a:gd name="adj" fmla="val 15385"/>
            </a:avLst>
          </a:prstGeom>
          <a:solidFill>
            <a:srgbClr val="FFFFFF"/>
          </a:solidFill>
          <a:ln w="19050">
            <a:solidFill>
              <a:srgbClr val="DDDAEA"/>
            </a:solidFill>
            <a:prstDash val="solid"/>
          </a:ln>
          <a:effectLst>
            <a:outerShdw sx="100000" sy="100000" kx="0" ky="0" algn="bl" rotWithShape="0" blurRad="76200" dist="25400" dir="5400000">
              <a:srgbClr val="2B2250">
                <a:alpha val="15000"/>
              </a:srgbClr>
            </a:outerShdw>
          </a:effectLst>
        </p:spPr>
      </p:sp>
      <p:sp>
        <p:nvSpPr>
          <p:cNvPr id="10" name="Dot 602"/>
          <p:cNvSpPr/>
          <p:nvPr/>
        </p:nvSpPr>
        <p:spPr>
          <a:xfrm>
            <a:off x="594360" y="3145536"/>
            <a:ext cx="457200" cy="457200"/>
          </a:xfrm>
          <a:prstGeom prst="ellipse">
            <a:avLst/>
          </a:prstGeom>
          <a:solidFill>
            <a:srgbClr val="CFCBE0"/>
          </a:solidFill>
          <a:ln w="12700">
            <a:solidFill>
              <a:srgbClr val="FFFFFF"/>
            </a:solidFill>
            <a:prstDash val="solid"/>
          </a:ln>
        </p:spPr>
      </p:sp>
      <p:sp>
        <p:nvSpPr>
          <p:cNvPr id="11" name="Text 603"/>
          <p:cNvSpPr txBox="1"/>
          <p:nvPr/>
        </p:nvSpPr>
        <p:spPr>
          <a:xfrm>
            <a:off x="594360" y="314553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604"/>
          <p:cNvSpPr txBox="1"/>
          <p:nvPr/>
        </p:nvSpPr>
        <p:spPr>
          <a:xfrm>
            <a:off x="1188720" y="3017520"/>
            <a:ext cx="7406640" cy="713232"/>
          </a:xfrm>
          <a:prstGeom prst="rect">
            <a:avLst/>
          </a:prstGeom>
          <a:noFill/>
          <a:ln/>
        </p:spPr>
        <p:txBody>
          <a:bodyPr wrap="square" lIns="0" tIns="0" rIns="0" bIns="0" rtlCol="0" anchor="ctr"/>
          <a:lstStyle/>
          <a:p>
            <a:pPr indent="0" marL="0">
              <a:buNone/>
            </a:pPr>
            <a:r>
              <a:rPr lang="en-US" sz="2200" dirty="0">
                <a:solidFill>
                  <a:srgbClr val="8A86A3"/>
                </a:solidFill>
                <a:latin typeface="Calibri" pitchFamily="34" charset="0"/>
                <a:ea typeface="Calibri" pitchFamily="34" charset="-122"/>
                <a:cs typeface="Calibri" pitchFamily="34" charset="-120"/>
              </a:rPr>
              <a:t>Google</a:t>
            </a:r>
            <a:endParaRPr lang="en-US" sz="2200" dirty="0"/>
          </a:p>
        </p:txBody>
      </p:sp>
      <p:sp>
        <p:nvSpPr>
          <p:cNvPr id="13" name="Card 605"/>
          <p:cNvSpPr/>
          <p:nvPr/>
        </p:nvSpPr>
        <p:spPr>
          <a:xfrm>
            <a:off x="457200" y="3840480"/>
            <a:ext cx="8229600" cy="713232"/>
          </a:xfrm>
          <a:prstGeom prst="roundRect">
            <a:avLst>
              <a:gd name="adj" fmla="val 15385"/>
            </a:avLst>
          </a:prstGeom>
          <a:solidFill>
            <a:srgbClr val="D9F5E6"/>
          </a:solidFill>
          <a:ln w="38100">
            <a:solidFill>
              <a:srgbClr val="2E9E5B"/>
            </a:solidFill>
            <a:prstDash val="solid"/>
          </a:ln>
          <a:effectLst>
            <a:outerShdw sx="100000" sy="100000" kx="0" ky="0" algn="bl" rotWithShape="0" blurRad="76200" dist="25400" dir="5400000">
              <a:srgbClr val="2B2250">
                <a:alpha val="15000"/>
              </a:srgbClr>
            </a:outerShdw>
          </a:effectLst>
        </p:spPr>
      </p:sp>
      <p:sp>
        <p:nvSpPr>
          <p:cNvPr id="14" name="Dot 606"/>
          <p:cNvSpPr/>
          <p:nvPr/>
        </p:nvSpPr>
        <p:spPr>
          <a:xfrm>
            <a:off x="594360" y="3968496"/>
            <a:ext cx="457200" cy="457200"/>
          </a:xfrm>
          <a:prstGeom prst="ellipse">
            <a:avLst/>
          </a:prstGeom>
          <a:solidFill>
            <a:srgbClr val="2E9E5B"/>
          </a:solidFill>
          <a:ln w="12700">
            <a:solidFill>
              <a:srgbClr val="FFFFFF"/>
            </a:solidFill>
            <a:prstDash val="solid"/>
          </a:ln>
        </p:spPr>
      </p:sp>
      <p:sp>
        <p:nvSpPr>
          <p:cNvPr id="15" name="Text 607"/>
          <p:cNvSpPr txBox="1"/>
          <p:nvPr/>
        </p:nvSpPr>
        <p:spPr>
          <a:xfrm>
            <a:off x="594360" y="39684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6" name="Text 608"/>
          <p:cNvSpPr txBox="1"/>
          <p:nvPr/>
        </p:nvSpPr>
        <p:spPr>
          <a:xfrm>
            <a:off x="1188720" y="3840480"/>
            <a:ext cx="7406640" cy="713232"/>
          </a:xfrm>
          <a:prstGeom prst="rect">
            <a:avLst/>
          </a:prstGeom>
          <a:noFill/>
          <a:ln/>
        </p:spPr>
        <p:txBody>
          <a:bodyPr wrap="square" lIns="0" tIns="0" rIns="0" bIns="0" rtlCol="0" anchor="ctr"/>
          <a:lstStyle/>
          <a:p>
            <a:pPr indent="0" marL="0">
              <a:buNone/>
            </a:pPr>
            <a:r>
              <a:rPr lang="en-US" sz="2200" b="1" dirty="0">
                <a:solidFill>
                  <a:srgbClr val="2B2250"/>
                </a:solidFill>
                <a:latin typeface="Calibri" pitchFamily="34" charset="0"/>
                <a:ea typeface="Calibri" pitchFamily="34" charset="-122"/>
                <a:cs typeface="Calibri" pitchFamily="34" charset="-120"/>
              </a:rPr>
              <a:t>Chrome</a:t>
            </a:r>
            <a:endParaRPr lang="en-US" sz="2200" dirty="0"/>
          </a:p>
        </p:txBody>
      </p:sp>
      <p:sp>
        <p:nvSpPr>
          <p:cNvPr id="17" name="Text 609"/>
          <p:cNvSpPr txBox="1"/>
          <p:nvPr/>
        </p:nvSpPr>
        <p:spPr>
          <a:xfrm>
            <a:off x="457200" y="4572000"/>
            <a:ext cx="8229600" cy="457200"/>
          </a:xfrm>
          <a:prstGeom prst="rect">
            <a:avLst/>
          </a:prstGeom>
          <a:noFill/>
          <a:ln/>
        </p:spPr>
        <p:txBody>
          <a:bodyPr wrap="square" lIns="0" tIns="0" rIns="0" bIns="0" rtlCol="0" anchor="t"/>
          <a:lstStyle/>
          <a:p>
            <a:pPr algn="ctr" indent="0" marL="0">
              <a:buNone/>
            </a:pPr>
            <a:r>
              <a:rPr lang="en-US" sz="2000" b="1" dirty="0">
                <a:solidFill>
                  <a:srgbClr val="2E9E5B"/>
                </a:solidFill>
                <a:latin typeface="Calibri" pitchFamily="34" charset="0"/>
                <a:ea typeface="Calibri" pitchFamily="34" charset="-122"/>
                <a:cs typeface="Calibri" pitchFamily="34" charset="-120"/>
              </a:rPr>
              <a:t>Chrome is a browser. Google is a search engine.</a:t>
            </a:r>
            <a:endParaRPr lang="en-US" sz="2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Accent 610"/>
          <p:cNvSpPr/>
          <p:nvPr/>
        </p:nvSpPr>
        <p:spPr>
          <a:xfrm>
            <a:off x="0" y="274320"/>
            <a:ext cx="164592" cy="685800"/>
          </a:xfrm>
          <a:prstGeom prst="rect">
            <a:avLst/>
          </a:prstGeom>
          <a:solidFill>
            <a:srgbClr val="6C63FF"/>
          </a:solidFill>
          <a:ln w="12700">
            <a:solidFill>
              <a:srgbClr val="6C63FF"/>
            </a:solidFill>
            <a:prstDash val="solid"/>
          </a:ln>
        </p:spPr>
      </p:sp>
      <p:sp>
        <p:nvSpPr>
          <p:cNvPr id="3" name="Text 611"/>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Quick quiz</a:t>
            </a:r>
            <a:endParaRPr lang="en-US" sz="3000" dirty="0"/>
          </a:p>
        </p:txBody>
      </p:sp>
      <p:sp>
        <p:nvSpPr>
          <p:cNvPr id="4" name="Text 612"/>
          <p:cNvSpPr txBox="1"/>
          <p:nvPr/>
        </p:nvSpPr>
        <p:spPr>
          <a:xfrm>
            <a:off x="457200" y="1051560"/>
            <a:ext cx="8229600" cy="914400"/>
          </a:xfrm>
          <a:prstGeom prst="rect">
            <a:avLst/>
          </a:prstGeom>
          <a:noFill/>
          <a:ln/>
        </p:spPr>
        <p:txBody>
          <a:bodyPr wrap="square" lIns="0" tIns="0" rIns="0" bIns="0" rtlCol="0" anchor="ctr"/>
          <a:lstStyle/>
          <a:p>
            <a:pPr indent="0" marL="0">
              <a:buNone/>
            </a:pPr>
            <a:r>
              <a:rPr lang="en-US" sz="2600" b="1" dirty="0">
                <a:solidFill>
                  <a:schemeClr val="tx1"/>
                </a:solidFill>
                <a:latin typeface="Calibri" pitchFamily="34" charset="0"/>
                <a:ea typeface="Calibri" pitchFamily="34" charset="-122"/>
                <a:cs typeface="Calibri" pitchFamily="34" charset="-120"/>
              </a:rPr>
              <a:t>What is a router?</a:t>
            </a:r>
            <a:endParaRPr lang="en-US" sz="2600" dirty="0"/>
          </a:p>
        </p:txBody>
      </p:sp>
      <p:sp>
        <p:nvSpPr>
          <p:cNvPr id="5" name="Card 613"/>
          <p:cNvSpPr/>
          <p:nvPr/>
        </p:nvSpPr>
        <p:spPr>
          <a:xfrm>
            <a:off x="457200" y="219456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6" name="Dot 614"/>
          <p:cNvSpPr/>
          <p:nvPr/>
        </p:nvSpPr>
        <p:spPr>
          <a:xfrm>
            <a:off x="594360" y="2322576"/>
            <a:ext cx="457200" cy="457200"/>
          </a:xfrm>
          <a:prstGeom prst="ellipse">
            <a:avLst/>
          </a:prstGeom>
          <a:solidFill>
            <a:srgbClr val="6C63FF"/>
          </a:solidFill>
          <a:ln w="12700">
            <a:solidFill>
              <a:srgbClr val="FFFFFF"/>
            </a:solidFill>
            <a:prstDash val="solid"/>
          </a:ln>
        </p:spPr>
      </p:sp>
      <p:sp>
        <p:nvSpPr>
          <p:cNvPr id="7" name="Text 615"/>
          <p:cNvSpPr txBox="1"/>
          <p:nvPr/>
        </p:nvSpPr>
        <p:spPr>
          <a:xfrm>
            <a:off x="594360" y="2322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8" name="Text 616"/>
          <p:cNvSpPr txBox="1"/>
          <p:nvPr/>
        </p:nvSpPr>
        <p:spPr>
          <a:xfrm>
            <a:off x="1188720" y="219456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A device that directs information around the internet</a:t>
            </a:r>
            <a:endParaRPr lang="en-US" sz="2200" dirty="0"/>
          </a:p>
        </p:txBody>
      </p:sp>
      <p:sp>
        <p:nvSpPr>
          <p:cNvPr id="9" name="Card 617"/>
          <p:cNvSpPr/>
          <p:nvPr/>
        </p:nvSpPr>
        <p:spPr>
          <a:xfrm>
            <a:off x="457200" y="301752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10" name="Dot 618"/>
          <p:cNvSpPr/>
          <p:nvPr/>
        </p:nvSpPr>
        <p:spPr>
          <a:xfrm>
            <a:off x="594360" y="3145536"/>
            <a:ext cx="457200" cy="457200"/>
          </a:xfrm>
          <a:prstGeom prst="ellipse">
            <a:avLst/>
          </a:prstGeom>
          <a:solidFill>
            <a:srgbClr val="6C63FF"/>
          </a:solidFill>
          <a:ln w="12700">
            <a:solidFill>
              <a:srgbClr val="FFFFFF"/>
            </a:solidFill>
            <a:prstDash val="solid"/>
          </a:ln>
        </p:spPr>
      </p:sp>
      <p:sp>
        <p:nvSpPr>
          <p:cNvPr id="11" name="Text 619"/>
          <p:cNvSpPr txBox="1"/>
          <p:nvPr/>
        </p:nvSpPr>
        <p:spPr>
          <a:xfrm>
            <a:off x="594360" y="314553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620"/>
          <p:cNvSpPr txBox="1"/>
          <p:nvPr/>
        </p:nvSpPr>
        <p:spPr>
          <a:xfrm>
            <a:off x="1188720" y="301752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A place where websites are stored</a:t>
            </a:r>
            <a:endParaRPr lang="en-US" sz="2200" dirty="0"/>
          </a:p>
        </p:txBody>
      </p:sp>
      <p:sp>
        <p:nvSpPr>
          <p:cNvPr id="13" name="Card 621"/>
          <p:cNvSpPr/>
          <p:nvPr/>
        </p:nvSpPr>
        <p:spPr>
          <a:xfrm>
            <a:off x="457200" y="384048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14" name="Dot 622"/>
          <p:cNvSpPr/>
          <p:nvPr/>
        </p:nvSpPr>
        <p:spPr>
          <a:xfrm>
            <a:off x="594360" y="3968496"/>
            <a:ext cx="457200" cy="457200"/>
          </a:xfrm>
          <a:prstGeom prst="ellipse">
            <a:avLst/>
          </a:prstGeom>
          <a:solidFill>
            <a:srgbClr val="6C63FF"/>
          </a:solidFill>
          <a:ln w="12700">
            <a:solidFill>
              <a:srgbClr val="FFFFFF"/>
            </a:solidFill>
            <a:prstDash val="solid"/>
          </a:ln>
        </p:spPr>
      </p:sp>
      <p:sp>
        <p:nvSpPr>
          <p:cNvPr id="15" name="Text 623"/>
          <p:cNvSpPr txBox="1"/>
          <p:nvPr/>
        </p:nvSpPr>
        <p:spPr>
          <a:xfrm>
            <a:off x="594360" y="39684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6" name="Text 624"/>
          <p:cNvSpPr txBox="1"/>
          <p:nvPr/>
        </p:nvSpPr>
        <p:spPr>
          <a:xfrm>
            <a:off x="1188720" y="384048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A device used for viewing websites</a:t>
            </a:r>
            <a:endParaRPr lang="en-US" sz="2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Accent 625"/>
          <p:cNvSpPr/>
          <p:nvPr/>
        </p:nvSpPr>
        <p:spPr>
          <a:xfrm>
            <a:off x="0" y="274320"/>
            <a:ext cx="164592" cy="685800"/>
          </a:xfrm>
          <a:prstGeom prst="rect">
            <a:avLst/>
          </a:prstGeom>
          <a:solidFill>
            <a:srgbClr val="2E9E5B"/>
          </a:solidFill>
          <a:ln w="12700">
            <a:solidFill>
              <a:srgbClr val="2E9E5B"/>
            </a:solidFill>
            <a:prstDash val="solid"/>
          </a:ln>
        </p:spPr>
      </p:sp>
      <p:sp>
        <p:nvSpPr>
          <p:cNvPr id="3" name="Text 626"/>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 The answer</a:t>
            </a:r>
            <a:endParaRPr lang="en-US" sz="3000" dirty="0"/>
          </a:p>
        </p:txBody>
      </p:sp>
      <p:sp>
        <p:nvSpPr>
          <p:cNvPr id="4" name="Text 627"/>
          <p:cNvSpPr txBox="1"/>
          <p:nvPr/>
        </p:nvSpPr>
        <p:spPr>
          <a:xfrm>
            <a:off x="457200" y="1051560"/>
            <a:ext cx="8229600" cy="914400"/>
          </a:xfrm>
          <a:prstGeom prst="rect">
            <a:avLst/>
          </a:prstGeom>
          <a:noFill/>
          <a:ln/>
        </p:spPr>
        <p:txBody>
          <a:bodyPr wrap="square" lIns="0" tIns="0" rIns="0" bIns="0" rtlCol="0" anchor="ctr"/>
          <a:lstStyle/>
          <a:p>
            <a:pPr indent="0" marL="0">
              <a:buNone/>
            </a:pPr>
            <a:r>
              <a:rPr lang="en-US" sz="2600" b="1" dirty="0">
                <a:solidFill>
                  <a:schemeClr val="tx1"/>
                </a:solidFill>
                <a:latin typeface="Calibri" pitchFamily="34" charset="0"/>
                <a:ea typeface="Calibri" pitchFamily="34" charset="-122"/>
                <a:cs typeface="Calibri" pitchFamily="34" charset="-120"/>
              </a:rPr>
              <a:t>What is a router?</a:t>
            </a:r>
            <a:endParaRPr lang="en-US" sz="2600" dirty="0"/>
          </a:p>
        </p:txBody>
      </p:sp>
      <p:sp>
        <p:nvSpPr>
          <p:cNvPr id="5" name="Card 628"/>
          <p:cNvSpPr/>
          <p:nvPr/>
        </p:nvSpPr>
        <p:spPr>
          <a:xfrm>
            <a:off x="457200" y="2194560"/>
            <a:ext cx="8229600" cy="713232"/>
          </a:xfrm>
          <a:prstGeom prst="roundRect">
            <a:avLst>
              <a:gd name="adj" fmla="val 15385"/>
            </a:avLst>
          </a:prstGeom>
          <a:solidFill>
            <a:srgbClr val="D9F5E6"/>
          </a:solidFill>
          <a:ln w="38100">
            <a:solidFill>
              <a:srgbClr val="2E9E5B"/>
            </a:solidFill>
            <a:prstDash val="solid"/>
          </a:ln>
          <a:effectLst>
            <a:outerShdw sx="100000" sy="100000" kx="0" ky="0" algn="bl" rotWithShape="0" blurRad="76200" dist="25400" dir="5400000">
              <a:srgbClr val="2B2250">
                <a:alpha val="15000"/>
              </a:srgbClr>
            </a:outerShdw>
          </a:effectLst>
        </p:spPr>
      </p:sp>
      <p:sp>
        <p:nvSpPr>
          <p:cNvPr id="6" name="Dot 629"/>
          <p:cNvSpPr/>
          <p:nvPr/>
        </p:nvSpPr>
        <p:spPr>
          <a:xfrm>
            <a:off x="594360" y="2322576"/>
            <a:ext cx="457200" cy="457200"/>
          </a:xfrm>
          <a:prstGeom prst="ellipse">
            <a:avLst/>
          </a:prstGeom>
          <a:solidFill>
            <a:srgbClr val="2E9E5B"/>
          </a:solidFill>
          <a:ln w="12700">
            <a:solidFill>
              <a:srgbClr val="FFFFFF"/>
            </a:solidFill>
            <a:prstDash val="solid"/>
          </a:ln>
        </p:spPr>
      </p:sp>
      <p:sp>
        <p:nvSpPr>
          <p:cNvPr id="7" name="Text 630"/>
          <p:cNvSpPr txBox="1"/>
          <p:nvPr/>
        </p:nvSpPr>
        <p:spPr>
          <a:xfrm>
            <a:off x="594360" y="2322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8" name="Text 631"/>
          <p:cNvSpPr txBox="1"/>
          <p:nvPr/>
        </p:nvSpPr>
        <p:spPr>
          <a:xfrm>
            <a:off x="1188720" y="2194560"/>
            <a:ext cx="7406640" cy="713232"/>
          </a:xfrm>
          <a:prstGeom prst="rect">
            <a:avLst/>
          </a:prstGeom>
          <a:noFill/>
          <a:ln/>
        </p:spPr>
        <p:txBody>
          <a:bodyPr wrap="square" lIns="0" tIns="0" rIns="0" bIns="0" rtlCol="0" anchor="ctr"/>
          <a:lstStyle/>
          <a:p>
            <a:pPr indent="0" marL="0">
              <a:buNone/>
            </a:pPr>
            <a:r>
              <a:rPr lang="en-US" sz="2200" b="1" dirty="0">
                <a:solidFill>
                  <a:srgbClr val="2B2250"/>
                </a:solidFill>
                <a:latin typeface="Calibri" pitchFamily="34" charset="0"/>
                <a:ea typeface="Calibri" pitchFamily="34" charset="-122"/>
                <a:cs typeface="Calibri" pitchFamily="34" charset="-120"/>
              </a:rPr>
              <a:t>A device that directs information around the internet</a:t>
            </a:r>
            <a:endParaRPr lang="en-US" sz="2200" dirty="0"/>
          </a:p>
        </p:txBody>
      </p:sp>
      <p:sp>
        <p:nvSpPr>
          <p:cNvPr id="9" name="Card 632"/>
          <p:cNvSpPr/>
          <p:nvPr/>
        </p:nvSpPr>
        <p:spPr>
          <a:xfrm>
            <a:off x="457200" y="3017520"/>
            <a:ext cx="8229600" cy="713232"/>
          </a:xfrm>
          <a:prstGeom prst="roundRect">
            <a:avLst>
              <a:gd name="adj" fmla="val 15385"/>
            </a:avLst>
          </a:prstGeom>
          <a:solidFill>
            <a:srgbClr val="FFFFFF"/>
          </a:solidFill>
          <a:ln w="19050">
            <a:solidFill>
              <a:srgbClr val="DDDAEA"/>
            </a:solidFill>
            <a:prstDash val="solid"/>
          </a:ln>
          <a:effectLst>
            <a:outerShdw sx="100000" sy="100000" kx="0" ky="0" algn="bl" rotWithShape="0" blurRad="76200" dist="25400" dir="5400000">
              <a:srgbClr val="2B2250">
                <a:alpha val="15000"/>
              </a:srgbClr>
            </a:outerShdw>
          </a:effectLst>
        </p:spPr>
      </p:sp>
      <p:sp>
        <p:nvSpPr>
          <p:cNvPr id="10" name="Dot 633"/>
          <p:cNvSpPr/>
          <p:nvPr/>
        </p:nvSpPr>
        <p:spPr>
          <a:xfrm>
            <a:off x="594360" y="3145536"/>
            <a:ext cx="457200" cy="457200"/>
          </a:xfrm>
          <a:prstGeom prst="ellipse">
            <a:avLst/>
          </a:prstGeom>
          <a:solidFill>
            <a:srgbClr val="CFCBE0"/>
          </a:solidFill>
          <a:ln w="12700">
            <a:solidFill>
              <a:srgbClr val="FFFFFF"/>
            </a:solidFill>
            <a:prstDash val="solid"/>
          </a:ln>
        </p:spPr>
      </p:sp>
      <p:sp>
        <p:nvSpPr>
          <p:cNvPr id="11" name="Text 634"/>
          <p:cNvSpPr txBox="1"/>
          <p:nvPr/>
        </p:nvSpPr>
        <p:spPr>
          <a:xfrm>
            <a:off x="594360" y="314553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635"/>
          <p:cNvSpPr txBox="1"/>
          <p:nvPr/>
        </p:nvSpPr>
        <p:spPr>
          <a:xfrm>
            <a:off x="1188720" y="3017520"/>
            <a:ext cx="7406640" cy="713232"/>
          </a:xfrm>
          <a:prstGeom prst="rect">
            <a:avLst/>
          </a:prstGeom>
          <a:noFill/>
          <a:ln/>
        </p:spPr>
        <p:txBody>
          <a:bodyPr wrap="square" lIns="0" tIns="0" rIns="0" bIns="0" rtlCol="0" anchor="ctr"/>
          <a:lstStyle/>
          <a:p>
            <a:pPr indent="0" marL="0">
              <a:buNone/>
            </a:pPr>
            <a:r>
              <a:rPr lang="en-US" sz="2200" dirty="0">
                <a:solidFill>
                  <a:srgbClr val="8A86A3"/>
                </a:solidFill>
                <a:latin typeface="Calibri" pitchFamily="34" charset="0"/>
                <a:ea typeface="Calibri" pitchFamily="34" charset="-122"/>
                <a:cs typeface="Calibri" pitchFamily="34" charset="-120"/>
              </a:rPr>
              <a:t>A place where websites are stored</a:t>
            </a:r>
            <a:endParaRPr lang="en-US" sz="2200" dirty="0"/>
          </a:p>
        </p:txBody>
      </p:sp>
      <p:sp>
        <p:nvSpPr>
          <p:cNvPr id="13" name="Card 636"/>
          <p:cNvSpPr/>
          <p:nvPr/>
        </p:nvSpPr>
        <p:spPr>
          <a:xfrm>
            <a:off x="457200" y="3840480"/>
            <a:ext cx="8229600" cy="713232"/>
          </a:xfrm>
          <a:prstGeom prst="roundRect">
            <a:avLst>
              <a:gd name="adj" fmla="val 15385"/>
            </a:avLst>
          </a:prstGeom>
          <a:solidFill>
            <a:srgbClr val="FFFFFF"/>
          </a:solidFill>
          <a:ln w="19050">
            <a:solidFill>
              <a:srgbClr val="DDDAEA"/>
            </a:solidFill>
            <a:prstDash val="solid"/>
          </a:ln>
          <a:effectLst>
            <a:outerShdw sx="100000" sy="100000" kx="0" ky="0" algn="bl" rotWithShape="0" blurRad="76200" dist="25400" dir="5400000">
              <a:srgbClr val="2B2250">
                <a:alpha val="15000"/>
              </a:srgbClr>
            </a:outerShdw>
          </a:effectLst>
        </p:spPr>
      </p:sp>
      <p:sp>
        <p:nvSpPr>
          <p:cNvPr id="14" name="Dot 637"/>
          <p:cNvSpPr/>
          <p:nvPr/>
        </p:nvSpPr>
        <p:spPr>
          <a:xfrm>
            <a:off x="594360" y="3968496"/>
            <a:ext cx="457200" cy="457200"/>
          </a:xfrm>
          <a:prstGeom prst="ellipse">
            <a:avLst/>
          </a:prstGeom>
          <a:solidFill>
            <a:srgbClr val="CFCBE0"/>
          </a:solidFill>
          <a:ln w="12700">
            <a:solidFill>
              <a:srgbClr val="FFFFFF"/>
            </a:solidFill>
            <a:prstDash val="solid"/>
          </a:ln>
        </p:spPr>
      </p:sp>
      <p:sp>
        <p:nvSpPr>
          <p:cNvPr id="15" name="Text 638"/>
          <p:cNvSpPr txBox="1"/>
          <p:nvPr/>
        </p:nvSpPr>
        <p:spPr>
          <a:xfrm>
            <a:off x="594360" y="39684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6" name="Text 639"/>
          <p:cNvSpPr txBox="1"/>
          <p:nvPr/>
        </p:nvSpPr>
        <p:spPr>
          <a:xfrm>
            <a:off x="1188720" y="3840480"/>
            <a:ext cx="7406640" cy="713232"/>
          </a:xfrm>
          <a:prstGeom prst="rect">
            <a:avLst/>
          </a:prstGeom>
          <a:noFill/>
          <a:ln/>
        </p:spPr>
        <p:txBody>
          <a:bodyPr wrap="square" lIns="0" tIns="0" rIns="0" bIns="0" rtlCol="0" anchor="ctr"/>
          <a:lstStyle/>
          <a:p>
            <a:pPr indent="0" marL="0">
              <a:buNone/>
            </a:pPr>
            <a:r>
              <a:rPr lang="en-US" sz="2200" dirty="0">
                <a:solidFill>
                  <a:srgbClr val="8A86A3"/>
                </a:solidFill>
                <a:latin typeface="Calibri" pitchFamily="34" charset="0"/>
                <a:ea typeface="Calibri" pitchFamily="34" charset="-122"/>
                <a:cs typeface="Calibri" pitchFamily="34" charset="-120"/>
              </a:rPr>
              <a:t>A device used for viewing websites</a:t>
            </a:r>
            <a:endParaRPr lang="en-US" sz="2200" dirty="0"/>
          </a:p>
        </p:txBody>
      </p:sp>
      <p:sp>
        <p:nvSpPr>
          <p:cNvPr id="17" name="Text 640"/>
          <p:cNvSpPr txBox="1"/>
          <p:nvPr/>
        </p:nvSpPr>
        <p:spPr>
          <a:xfrm>
            <a:off x="457200" y="4572000"/>
            <a:ext cx="8229600" cy="457200"/>
          </a:xfrm>
          <a:prstGeom prst="rect">
            <a:avLst/>
          </a:prstGeom>
          <a:noFill/>
          <a:ln/>
        </p:spPr>
        <p:txBody>
          <a:bodyPr wrap="square" lIns="0" tIns="0" rIns="0" bIns="0" rtlCol="0" anchor="t"/>
          <a:lstStyle/>
          <a:p>
            <a:pPr algn="ctr" indent="0" marL="0">
              <a:buNone/>
            </a:pPr>
            <a:r>
              <a:rPr lang="en-US" sz="2000" b="1" dirty="0">
                <a:solidFill>
                  <a:srgbClr val="2E9E5B"/>
                </a:solidFill>
                <a:latin typeface="Calibri" pitchFamily="34" charset="0"/>
                <a:ea typeface="Calibri" pitchFamily="34" charset="-122"/>
                <a:cs typeface="Calibri" pitchFamily="34" charset="-120"/>
              </a:rPr>
              <a:t>Routers direct information around the internet.</a:t>
            </a:r>
            <a:endParaRPr lang="en-US" sz="2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Accent 641"/>
          <p:cNvSpPr/>
          <p:nvPr/>
        </p:nvSpPr>
        <p:spPr>
          <a:xfrm>
            <a:off x="0" y="0"/>
            <a:ext cx="457200" cy="5143500"/>
          </a:xfrm>
          <a:prstGeom prst="rect">
            <a:avLst/>
          </a:prstGeom>
          <a:solidFill>
            <a:srgbClr val="FF9A3D"/>
          </a:solidFill>
          <a:ln w="12700">
            <a:solidFill>
              <a:srgbClr val="FF9A3D"/>
            </a:solidFill>
            <a:prstDash val="solid"/>
          </a:ln>
        </p:spPr>
      </p:sp>
      <p:sp>
        <p:nvSpPr>
          <p:cNvPr id="3" name="Text 642"/>
          <p:cNvSpPr txBox="1"/>
          <p:nvPr/>
        </p:nvSpPr>
        <p:spPr>
          <a:xfrm>
            <a:off x="914400" y="822960"/>
            <a:ext cx="5486400" cy="457200"/>
          </a:xfrm>
          <a:prstGeom prst="rect">
            <a:avLst/>
          </a:prstGeom>
          <a:noFill/>
          <a:ln/>
        </p:spPr>
        <p:txBody>
          <a:bodyPr wrap="square" lIns="0" tIns="0" rIns="0" bIns="0" rtlCol="0" anchor="t"/>
          <a:lstStyle/>
          <a:p>
            <a:pPr indent="0" marL="0">
              <a:buNone/>
            </a:pPr>
            <a:r>
              <a:rPr lang="en-US" sz="2000" b="1" spc="400" kern="0" dirty="0">
                <a:solidFill>
                  <a:srgbClr val="FFD23F"/>
                </a:solidFill>
                <a:latin typeface="Calibri" pitchFamily="34" charset="0"/>
                <a:ea typeface="Calibri" pitchFamily="34" charset="-122"/>
                <a:cs typeface="Calibri" pitchFamily="34" charset="-120"/>
              </a:rPr>
              <a:t>LESSON 4</a:t>
            </a:r>
            <a:endParaRPr lang="en-US" sz="2000" dirty="0"/>
          </a:p>
        </p:txBody>
      </p:sp>
      <p:sp>
        <p:nvSpPr>
          <p:cNvPr id="4" name="Text 643"/>
          <p:cNvSpPr txBox="1"/>
          <p:nvPr/>
        </p:nvSpPr>
        <p:spPr>
          <a:xfrm>
            <a:off x="914400" y="1371600"/>
            <a:ext cx="5760720" cy="173736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What is a website?</a:t>
            </a:r>
            <a:endParaRPr lang="en-US" sz="3800" dirty="0"/>
          </a:p>
        </p:txBody>
      </p:sp>
      <p:sp>
        <p:nvSpPr>
          <p:cNvPr id="5" name="Text 644"/>
          <p:cNvSpPr txBox="1"/>
          <p:nvPr/>
        </p:nvSpPr>
        <p:spPr>
          <a:xfrm>
            <a:off x="914400" y="3383280"/>
            <a:ext cx="5760720" cy="1005840"/>
          </a:xfrm>
          <a:prstGeom prst="rect">
            <a:avLst/>
          </a:prstGeom>
          <a:noFill/>
          <a:ln/>
        </p:spPr>
        <p:txBody>
          <a:bodyPr wrap="square" lIns="0" tIns="0" rIns="0" bIns="0" rtlCol="0" anchor="t"/>
          <a:lstStyle/>
          <a:p>
            <a:pPr indent="0" marL="0">
              <a:buNone/>
            </a:pPr>
            <a:r>
              <a:rPr lang="en-US" sz="2000" i="1" dirty="0">
                <a:solidFill>
                  <a:srgbClr val="D9D4F5"/>
                </a:solidFill>
                <a:latin typeface="Calibri" pitchFamily="34" charset="0"/>
                <a:ea typeface="Calibri" pitchFamily="34" charset="-122"/>
                <a:cs typeface="Calibri" pitchFamily="34" charset="-120"/>
              </a:rPr>
              <a:t>What is on a website, and can I add my own content?</a:t>
            </a:r>
            <a:endParaRPr lang="en-US" sz="2000" dirty="0"/>
          </a:p>
        </p:txBody>
      </p:sp>
      <p:sp>
        <p:nvSpPr>
          <p:cNvPr id="6" name="Blob 645"/>
          <p:cNvSpPr/>
          <p:nvPr/>
        </p:nvSpPr>
        <p:spPr>
          <a:xfrm>
            <a:off x="6766560" y="1188720"/>
            <a:ext cx="2011680" cy="2011680"/>
          </a:xfrm>
          <a:prstGeom prst="ellipse">
            <a:avLst/>
          </a:prstGeom>
          <a:solidFill>
            <a:srgbClr val="FF9A3D"/>
          </a:solidFill>
          <a:ln w="12700">
            <a:solidFill>
              <a:srgbClr val="FF9A3D"/>
            </a:solidFill>
            <a:prstDash val="solid"/>
          </a:ln>
        </p:spPr>
      </p:sp>
      <p:pic>
        <p:nvPicPr>
          <p:cNvPr id="7" name="Icon 646" descr="FaDesktop">    </p:cNvPr>
          <p:cNvPicPr>
            <a:picLocks noChangeAspect="1"/>
          </p:cNvPicPr>
          <p:nvPr/>
        </p:nvPicPr>
        <p:blipFill>
          <a:blip r:embed="rId1"/>
          <a:stretch>
            <a:fillRect/>
          </a:stretch>
        </p:blipFill>
        <p:spPr>
          <a:xfrm>
            <a:off x="7269480" y="1691640"/>
            <a:ext cx="1005840" cy="100584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Accent 647"/>
          <p:cNvSpPr/>
          <p:nvPr/>
        </p:nvSpPr>
        <p:spPr>
          <a:xfrm>
            <a:off x="0" y="274320"/>
            <a:ext cx="164592" cy="685800"/>
          </a:xfrm>
          <a:prstGeom prst="rect">
            <a:avLst/>
          </a:prstGeom>
          <a:solidFill>
            <a:srgbClr val="FF9A3D"/>
          </a:solidFill>
          <a:ln w="12700">
            <a:solidFill>
              <a:srgbClr val="FF9A3D"/>
            </a:solidFill>
            <a:prstDash val="solid"/>
          </a:ln>
        </p:spPr>
      </p:sp>
      <p:sp>
        <p:nvSpPr>
          <p:cNvPr id="3" name="Text 648"/>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Today I can…</a:t>
            </a:r>
            <a:endParaRPr lang="en-US" sz="3000" dirty="0"/>
          </a:p>
        </p:txBody>
      </p:sp>
      <p:sp>
        <p:nvSpPr>
          <p:cNvPr id="4" name="Card 649"/>
          <p:cNvSpPr/>
          <p:nvPr/>
        </p:nvSpPr>
        <p:spPr>
          <a:xfrm>
            <a:off x="457200" y="1234440"/>
            <a:ext cx="8229600" cy="914400"/>
          </a:xfrm>
          <a:prstGeom prst="roundRect">
            <a:avLst>
              <a:gd name="adj" fmla="val 12000"/>
            </a:avLst>
          </a:prstGeom>
          <a:solidFill>
            <a:srgbClr val="FFFFFF"/>
          </a:solidFill>
          <a:ln/>
          <a:effectLst>
            <a:outerShdw sx="100000" sy="100000" kx="0" ky="0" algn="bl" rotWithShape="0" blurRad="76200" dist="25400" dir="5400000">
              <a:srgbClr val="2B2250">
                <a:alpha val="15000"/>
              </a:srgbClr>
            </a:outerShdw>
          </a:effectLst>
        </p:spPr>
      </p:sp>
      <p:sp>
        <p:nvSpPr>
          <p:cNvPr id="5" name="Dot 650"/>
          <p:cNvSpPr/>
          <p:nvPr/>
        </p:nvSpPr>
        <p:spPr>
          <a:xfrm>
            <a:off x="640080" y="1389888"/>
            <a:ext cx="603504" cy="603504"/>
          </a:xfrm>
          <a:prstGeom prst="ellipse">
            <a:avLst/>
          </a:prstGeom>
          <a:solidFill>
            <a:srgbClr val="FF9A3D"/>
          </a:solidFill>
          <a:ln w="12700">
            <a:solidFill>
              <a:srgbClr val="FFFFFF"/>
            </a:solidFill>
            <a:prstDash val="solid"/>
          </a:ln>
        </p:spPr>
      </p:sp>
      <p:pic>
        <p:nvPicPr>
          <p:cNvPr id="6" name="Icon 651" descr="FaPhotoVideo">    </p:cNvPr>
          <p:cNvPicPr>
            <a:picLocks noChangeAspect="1"/>
          </p:cNvPicPr>
          <p:nvPr/>
        </p:nvPicPr>
        <p:blipFill>
          <a:blip r:embed="rId1"/>
          <a:stretch>
            <a:fillRect/>
          </a:stretch>
        </p:blipFill>
        <p:spPr>
          <a:xfrm>
            <a:off x="786384" y="1536192"/>
            <a:ext cx="310896" cy="310896"/>
          </a:xfrm>
          <a:prstGeom prst="rect">
            <a:avLst/>
          </a:prstGeom>
        </p:spPr>
      </p:pic>
      <p:sp>
        <p:nvSpPr>
          <p:cNvPr id="7" name="Text 652"/>
          <p:cNvSpPr txBox="1"/>
          <p:nvPr/>
        </p:nvSpPr>
        <p:spPr>
          <a:xfrm>
            <a:off x="1463040" y="1234440"/>
            <a:ext cx="7040880" cy="91440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I can explain what media can be found on websites</a:t>
            </a:r>
            <a:endParaRPr lang="en-US" sz="2000" dirty="0"/>
          </a:p>
        </p:txBody>
      </p:sp>
      <p:sp>
        <p:nvSpPr>
          <p:cNvPr id="8" name="Card 653"/>
          <p:cNvSpPr/>
          <p:nvPr/>
        </p:nvSpPr>
        <p:spPr>
          <a:xfrm>
            <a:off x="457200" y="2286000"/>
            <a:ext cx="8229600" cy="914400"/>
          </a:xfrm>
          <a:prstGeom prst="roundRect">
            <a:avLst>
              <a:gd name="adj" fmla="val 12000"/>
            </a:avLst>
          </a:prstGeom>
          <a:solidFill>
            <a:srgbClr val="FFFFFF"/>
          </a:solidFill>
          <a:ln/>
          <a:effectLst>
            <a:outerShdw sx="100000" sy="100000" kx="0" ky="0" algn="bl" rotWithShape="0" blurRad="76200" dist="25400" dir="5400000">
              <a:srgbClr val="2B2250">
                <a:alpha val="15000"/>
              </a:srgbClr>
            </a:outerShdw>
          </a:effectLst>
        </p:spPr>
      </p:sp>
      <p:sp>
        <p:nvSpPr>
          <p:cNvPr id="9" name="Dot 654"/>
          <p:cNvSpPr/>
          <p:nvPr/>
        </p:nvSpPr>
        <p:spPr>
          <a:xfrm>
            <a:off x="640080" y="2441448"/>
            <a:ext cx="603504" cy="603504"/>
          </a:xfrm>
          <a:prstGeom prst="ellipse">
            <a:avLst/>
          </a:prstGeom>
          <a:solidFill>
            <a:srgbClr val="FF5C8A"/>
          </a:solidFill>
          <a:ln w="12700">
            <a:solidFill>
              <a:srgbClr val="FFFFFF"/>
            </a:solidFill>
            <a:prstDash val="solid"/>
          </a:ln>
        </p:spPr>
      </p:sp>
      <p:pic>
        <p:nvPicPr>
          <p:cNvPr id="10" name="Icon 655" descr="FaPlusCircle">    </p:cNvPr>
          <p:cNvPicPr>
            <a:picLocks noChangeAspect="1"/>
          </p:cNvPicPr>
          <p:nvPr/>
        </p:nvPicPr>
        <p:blipFill>
          <a:blip r:embed="rId2"/>
          <a:stretch>
            <a:fillRect/>
          </a:stretch>
        </p:blipFill>
        <p:spPr>
          <a:xfrm>
            <a:off x="786384" y="2587752"/>
            <a:ext cx="310896" cy="310896"/>
          </a:xfrm>
          <a:prstGeom prst="rect">
            <a:avLst/>
          </a:prstGeom>
        </p:spPr>
      </p:pic>
      <p:sp>
        <p:nvSpPr>
          <p:cNvPr id="11" name="Text 656"/>
          <p:cNvSpPr txBox="1"/>
          <p:nvPr/>
        </p:nvSpPr>
        <p:spPr>
          <a:xfrm>
            <a:off x="1463040" y="2286000"/>
            <a:ext cx="7040880" cy="91440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I can recognise that I can add content to the web</a:t>
            </a:r>
            <a:endParaRPr lang="en-US" sz="2000" dirty="0"/>
          </a:p>
        </p:txBody>
      </p:sp>
      <p:sp>
        <p:nvSpPr>
          <p:cNvPr id="12" name="Card 657"/>
          <p:cNvSpPr/>
          <p:nvPr/>
        </p:nvSpPr>
        <p:spPr>
          <a:xfrm>
            <a:off x="457200" y="3337560"/>
            <a:ext cx="8229600" cy="914400"/>
          </a:xfrm>
          <a:prstGeom prst="roundRect">
            <a:avLst>
              <a:gd name="adj" fmla="val 12000"/>
            </a:avLst>
          </a:prstGeom>
          <a:solidFill>
            <a:srgbClr val="FFFFFF"/>
          </a:solidFill>
          <a:ln/>
          <a:effectLst>
            <a:outerShdw sx="100000" sy="100000" kx="0" ky="0" algn="bl" rotWithShape="0" blurRad="76200" dist="25400" dir="5400000">
              <a:srgbClr val="2B2250">
                <a:alpha val="15000"/>
              </a:srgbClr>
            </a:outerShdw>
          </a:effectLst>
        </p:spPr>
      </p:sp>
      <p:sp>
        <p:nvSpPr>
          <p:cNvPr id="13" name="Dot 658"/>
          <p:cNvSpPr/>
          <p:nvPr/>
        </p:nvSpPr>
        <p:spPr>
          <a:xfrm>
            <a:off x="640080" y="3493008"/>
            <a:ext cx="603504" cy="603504"/>
          </a:xfrm>
          <a:prstGeom prst="ellipse">
            <a:avLst/>
          </a:prstGeom>
          <a:solidFill>
            <a:srgbClr val="4DA3E0"/>
          </a:solidFill>
          <a:ln w="12700">
            <a:solidFill>
              <a:srgbClr val="FFFFFF"/>
            </a:solidFill>
            <a:prstDash val="solid"/>
          </a:ln>
        </p:spPr>
      </p:sp>
      <p:pic>
        <p:nvPicPr>
          <p:cNvPr id="14" name="Icon 659" descr="FaMusic">    </p:cNvPr>
          <p:cNvPicPr>
            <a:picLocks noChangeAspect="1"/>
          </p:cNvPicPr>
          <p:nvPr/>
        </p:nvPicPr>
        <p:blipFill>
          <a:blip r:embed="rId3"/>
          <a:stretch>
            <a:fillRect/>
          </a:stretch>
        </p:blipFill>
        <p:spPr>
          <a:xfrm>
            <a:off x="786384" y="3639312"/>
            <a:ext cx="310896" cy="310896"/>
          </a:xfrm>
          <a:prstGeom prst="rect">
            <a:avLst/>
          </a:prstGeom>
        </p:spPr>
      </p:pic>
      <p:sp>
        <p:nvSpPr>
          <p:cNvPr id="15" name="Text 660"/>
          <p:cNvSpPr txBox="1"/>
          <p:nvPr/>
        </p:nvSpPr>
        <p:spPr>
          <a:xfrm>
            <a:off x="1463040" y="3337560"/>
            <a:ext cx="7040880" cy="91440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I can use a web service to create my own content</a:t>
            </a:r>
            <a:endParaRPr lang="en-US" sz="2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Accent 661"/>
          <p:cNvSpPr/>
          <p:nvPr/>
        </p:nvSpPr>
        <p:spPr>
          <a:xfrm>
            <a:off x="0" y="274320"/>
            <a:ext cx="164592" cy="685800"/>
          </a:xfrm>
          <a:prstGeom prst="rect">
            <a:avLst/>
          </a:prstGeom>
          <a:solidFill>
            <a:srgbClr val="FF9A3D"/>
          </a:solidFill>
          <a:ln w="12700">
            <a:solidFill>
              <a:srgbClr val="FF9A3D"/>
            </a:solidFill>
            <a:prstDash val="solid"/>
          </a:ln>
        </p:spPr>
      </p:sp>
      <p:sp>
        <p:nvSpPr>
          <p:cNvPr id="3" name="Text 66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Key words</a:t>
            </a:r>
            <a:endParaRPr lang="en-US" sz="3000" dirty="0"/>
          </a:p>
        </p:txBody>
      </p:sp>
      <p:sp>
        <p:nvSpPr>
          <p:cNvPr id="4" name="Card 663"/>
          <p:cNvSpPr/>
          <p:nvPr/>
        </p:nvSpPr>
        <p:spPr>
          <a:xfrm>
            <a:off x="457200" y="1188720"/>
            <a:ext cx="4114800" cy="1783080"/>
          </a:xfrm>
          <a:prstGeom prst="roundRect">
            <a:avLst>
              <a:gd name="adj" fmla="val 6154"/>
            </a:avLst>
          </a:prstGeom>
          <a:solidFill>
            <a:srgbClr val="FFFFFF"/>
          </a:solidFill>
          <a:ln/>
          <a:effectLst>
            <a:outerShdw sx="100000" sy="100000" kx="0" ky="0" algn="bl" rotWithShape="0" blurRad="76200" dist="25400" dir="5400000">
              <a:srgbClr val="2B2250">
                <a:alpha val="15000"/>
              </a:srgbClr>
            </a:outerShdw>
          </a:effectLst>
        </p:spPr>
      </p:sp>
      <p:sp>
        <p:nvSpPr>
          <p:cNvPr id="5" name="Dot 664"/>
          <p:cNvSpPr/>
          <p:nvPr/>
        </p:nvSpPr>
        <p:spPr>
          <a:xfrm>
            <a:off x="640080" y="1371600"/>
            <a:ext cx="731520" cy="731520"/>
          </a:xfrm>
          <a:prstGeom prst="ellipse">
            <a:avLst/>
          </a:prstGeom>
          <a:solidFill>
            <a:srgbClr val="FF9A3D"/>
          </a:solidFill>
          <a:ln w="12700">
            <a:solidFill>
              <a:srgbClr val="FFFFFF"/>
            </a:solidFill>
            <a:prstDash val="solid"/>
          </a:ln>
        </p:spPr>
      </p:sp>
      <p:pic>
        <p:nvPicPr>
          <p:cNvPr id="6" name="Icon 665" descr="FaPhotoVideo">    </p:cNvPr>
          <p:cNvPicPr>
            <a:picLocks noChangeAspect="1"/>
          </p:cNvPicPr>
          <p:nvPr/>
        </p:nvPicPr>
        <p:blipFill>
          <a:blip r:embed="rId1"/>
          <a:stretch>
            <a:fillRect/>
          </a:stretch>
        </p:blipFill>
        <p:spPr>
          <a:xfrm>
            <a:off x="813816" y="1545336"/>
            <a:ext cx="384048" cy="384048"/>
          </a:xfrm>
          <a:prstGeom prst="rect">
            <a:avLst/>
          </a:prstGeom>
        </p:spPr>
      </p:pic>
      <p:sp>
        <p:nvSpPr>
          <p:cNvPr id="7" name="Text 666"/>
          <p:cNvSpPr txBox="1"/>
          <p:nvPr/>
        </p:nvSpPr>
        <p:spPr>
          <a:xfrm>
            <a:off x="1554480" y="1325880"/>
            <a:ext cx="2926080" cy="457200"/>
          </a:xfrm>
          <a:prstGeom prst="rect">
            <a:avLst/>
          </a:prstGeom>
          <a:noFill/>
          <a:ln/>
        </p:spPr>
        <p:txBody>
          <a:bodyPr wrap="square" lIns="0" tIns="0" rIns="0" bIns="0" rtlCol="0" anchor="t"/>
          <a:lstStyle/>
          <a:p>
            <a:pPr indent="0" marL="0">
              <a:buNone/>
            </a:pPr>
            <a:r>
              <a:rPr lang="en-US" sz="2400" b="1" dirty="0">
                <a:solidFill>
                  <a:srgbClr val="FF9A3D"/>
                </a:solidFill>
                <a:latin typeface="Calibri" pitchFamily="34" charset="0"/>
                <a:ea typeface="Calibri" pitchFamily="34" charset="-122"/>
                <a:cs typeface="Calibri" pitchFamily="34" charset="-120"/>
              </a:rPr>
              <a:t>Content</a:t>
            </a:r>
            <a:endParaRPr lang="en-US" sz="2400" dirty="0"/>
          </a:p>
        </p:txBody>
      </p:sp>
      <p:sp>
        <p:nvSpPr>
          <p:cNvPr id="8" name="Text 667"/>
          <p:cNvSpPr txBox="1"/>
          <p:nvPr/>
        </p:nvSpPr>
        <p:spPr>
          <a:xfrm>
            <a:off x="1554480" y="1828800"/>
            <a:ext cx="2926080" cy="105156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Things on a website: text, pictures, videos, sounds</a:t>
            </a:r>
            <a:endParaRPr lang="en-US" sz="1800" dirty="0"/>
          </a:p>
        </p:txBody>
      </p:sp>
      <p:sp>
        <p:nvSpPr>
          <p:cNvPr id="9" name="Card 668"/>
          <p:cNvSpPr/>
          <p:nvPr/>
        </p:nvSpPr>
        <p:spPr>
          <a:xfrm>
            <a:off x="4663440" y="1188720"/>
            <a:ext cx="4114800" cy="1783080"/>
          </a:xfrm>
          <a:prstGeom prst="roundRect">
            <a:avLst>
              <a:gd name="adj" fmla="val 6154"/>
            </a:avLst>
          </a:prstGeom>
          <a:solidFill>
            <a:srgbClr val="FFFFFF"/>
          </a:solidFill>
          <a:ln/>
          <a:effectLst>
            <a:outerShdw sx="100000" sy="100000" kx="0" ky="0" algn="bl" rotWithShape="0" blurRad="76200" dist="25400" dir="5400000">
              <a:srgbClr val="2B2250">
                <a:alpha val="15000"/>
              </a:srgbClr>
            </a:outerShdw>
          </a:effectLst>
        </p:spPr>
      </p:sp>
      <p:sp>
        <p:nvSpPr>
          <p:cNvPr id="10" name="Dot 669"/>
          <p:cNvSpPr/>
          <p:nvPr/>
        </p:nvSpPr>
        <p:spPr>
          <a:xfrm>
            <a:off x="4846320" y="1371600"/>
            <a:ext cx="731520" cy="731520"/>
          </a:xfrm>
          <a:prstGeom prst="ellipse">
            <a:avLst/>
          </a:prstGeom>
          <a:solidFill>
            <a:srgbClr val="FF5C8A"/>
          </a:solidFill>
          <a:ln w="12700">
            <a:solidFill>
              <a:srgbClr val="FFFFFF"/>
            </a:solidFill>
            <a:prstDash val="solid"/>
          </a:ln>
        </p:spPr>
      </p:sp>
      <p:pic>
        <p:nvPicPr>
          <p:cNvPr id="11" name="Icon 670" descr="FaLink">    </p:cNvPr>
          <p:cNvPicPr>
            <a:picLocks noChangeAspect="1"/>
          </p:cNvPicPr>
          <p:nvPr/>
        </p:nvPicPr>
        <p:blipFill>
          <a:blip r:embed="rId2"/>
          <a:stretch>
            <a:fillRect/>
          </a:stretch>
        </p:blipFill>
        <p:spPr>
          <a:xfrm>
            <a:off x="5020056" y="1545336"/>
            <a:ext cx="384048" cy="384048"/>
          </a:xfrm>
          <a:prstGeom prst="rect">
            <a:avLst/>
          </a:prstGeom>
        </p:spPr>
      </p:pic>
      <p:sp>
        <p:nvSpPr>
          <p:cNvPr id="12" name="Text 671"/>
          <p:cNvSpPr txBox="1"/>
          <p:nvPr/>
        </p:nvSpPr>
        <p:spPr>
          <a:xfrm>
            <a:off x="5760720" y="1325880"/>
            <a:ext cx="2926080" cy="457200"/>
          </a:xfrm>
          <a:prstGeom prst="rect">
            <a:avLst/>
          </a:prstGeom>
          <a:noFill/>
          <a:ln/>
        </p:spPr>
        <p:txBody>
          <a:bodyPr wrap="square" lIns="0" tIns="0" rIns="0" bIns="0" rtlCol="0" anchor="t"/>
          <a:lstStyle/>
          <a:p>
            <a:pPr indent="0" marL="0">
              <a:buNone/>
            </a:pPr>
            <a:r>
              <a:rPr lang="en-US" sz="2400" b="1" dirty="0">
                <a:solidFill>
                  <a:srgbClr val="FF5C8A"/>
                </a:solidFill>
                <a:latin typeface="Calibri" pitchFamily="34" charset="0"/>
                <a:ea typeface="Calibri" pitchFamily="34" charset="-122"/>
                <a:cs typeface="Calibri" pitchFamily="34" charset="-120"/>
              </a:rPr>
              <a:t>Links</a:t>
            </a:r>
            <a:endParaRPr lang="en-US" sz="2400" dirty="0"/>
          </a:p>
        </p:txBody>
      </p:sp>
      <p:sp>
        <p:nvSpPr>
          <p:cNvPr id="13" name="Text 672"/>
          <p:cNvSpPr txBox="1"/>
          <p:nvPr/>
        </p:nvSpPr>
        <p:spPr>
          <a:xfrm>
            <a:off x="5760720" y="1828800"/>
            <a:ext cx="2926080" cy="105156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Click them to go to another page or website</a:t>
            </a:r>
            <a:endParaRPr lang="en-US" sz="1800" dirty="0"/>
          </a:p>
        </p:txBody>
      </p:sp>
      <p:sp>
        <p:nvSpPr>
          <p:cNvPr id="14" name="Card 673"/>
          <p:cNvSpPr/>
          <p:nvPr/>
        </p:nvSpPr>
        <p:spPr>
          <a:xfrm>
            <a:off x="457200" y="3108960"/>
            <a:ext cx="4114800" cy="1783080"/>
          </a:xfrm>
          <a:prstGeom prst="roundRect">
            <a:avLst>
              <a:gd name="adj" fmla="val 6154"/>
            </a:avLst>
          </a:prstGeom>
          <a:solidFill>
            <a:srgbClr val="FFFFFF"/>
          </a:solidFill>
          <a:ln/>
          <a:effectLst>
            <a:outerShdw sx="100000" sy="100000" kx="0" ky="0" algn="bl" rotWithShape="0" blurRad="76200" dist="25400" dir="5400000">
              <a:srgbClr val="2B2250">
                <a:alpha val="15000"/>
              </a:srgbClr>
            </a:outerShdw>
          </a:effectLst>
        </p:spPr>
      </p:sp>
      <p:sp>
        <p:nvSpPr>
          <p:cNvPr id="15" name="Dot 674"/>
          <p:cNvSpPr/>
          <p:nvPr/>
        </p:nvSpPr>
        <p:spPr>
          <a:xfrm>
            <a:off x="640080" y="3291840"/>
            <a:ext cx="731520" cy="731520"/>
          </a:xfrm>
          <a:prstGeom prst="ellipse">
            <a:avLst/>
          </a:prstGeom>
          <a:solidFill>
            <a:srgbClr val="4DA3E0"/>
          </a:solidFill>
          <a:ln w="12700">
            <a:solidFill>
              <a:srgbClr val="FFFFFF"/>
            </a:solidFill>
            <a:prstDash val="solid"/>
          </a:ln>
        </p:spPr>
      </p:sp>
      <p:pic>
        <p:nvPicPr>
          <p:cNvPr id="16" name="Icon 675" descr="FaFileAlt">    </p:cNvPr>
          <p:cNvPicPr>
            <a:picLocks noChangeAspect="1"/>
          </p:cNvPicPr>
          <p:nvPr/>
        </p:nvPicPr>
        <p:blipFill>
          <a:blip r:embed="rId3"/>
          <a:stretch>
            <a:fillRect/>
          </a:stretch>
        </p:blipFill>
        <p:spPr>
          <a:xfrm>
            <a:off x="813816" y="3465576"/>
            <a:ext cx="384048" cy="384048"/>
          </a:xfrm>
          <a:prstGeom prst="rect">
            <a:avLst/>
          </a:prstGeom>
        </p:spPr>
      </p:pic>
      <p:sp>
        <p:nvSpPr>
          <p:cNvPr id="17" name="Text 676"/>
          <p:cNvSpPr txBox="1"/>
          <p:nvPr/>
        </p:nvSpPr>
        <p:spPr>
          <a:xfrm>
            <a:off x="1554480" y="3246120"/>
            <a:ext cx="2926080" cy="457200"/>
          </a:xfrm>
          <a:prstGeom prst="rect">
            <a:avLst/>
          </a:prstGeom>
          <a:noFill/>
          <a:ln/>
        </p:spPr>
        <p:txBody>
          <a:bodyPr wrap="square" lIns="0" tIns="0" rIns="0" bIns="0" rtlCol="0" anchor="t"/>
          <a:lstStyle/>
          <a:p>
            <a:pPr indent="0" marL="0">
              <a:buNone/>
            </a:pPr>
            <a:r>
              <a:rPr lang="en-US" sz="2400" b="1" dirty="0">
                <a:solidFill>
                  <a:srgbClr val="4DA3E0"/>
                </a:solidFill>
                <a:latin typeface="Calibri" pitchFamily="34" charset="0"/>
                <a:ea typeface="Calibri" pitchFamily="34" charset="-122"/>
                <a:cs typeface="Calibri" pitchFamily="34" charset="-120"/>
              </a:rPr>
              <a:t>Files</a:t>
            </a:r>
            <a:endParaRPr lang="en-US" sz="2400" dirty="0"/>
          </a:p>
        </p:txBody>
      </p:sp>
      <p:sp>
        <p:nvSpPr>
          <p:cNvPr id="18" name="Text 677"/>
          <p:cNvSpPr txBox="1"/>
          <p:nvPr/>
        </p:nvSpPr>
        <p:spPr>
          <a:xfrm>
            <a:off x="1554480" y="3749040"/>
            <a:ext cx="2926080" cy="105156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Things like documents, pictures or music you can save</a:t>
            </a:r>
            <a:endParaRPr lang="en-US" sz="1800" dirty="0"/>
          </a:p>
        </p:txBody>
      </p:sp>
      <p:sp>
        <p:nvSpPr>
          <p:cNvPr id="19" name="Card 678"/>
          <p:cNvSpPr/>
          <p:nvPr/>
        </p:nvSpPr>
        <p:spPr>
          <a:xfrm>
            <a:off x="4663440" y="3108960"/>
            <a:ext cx="4114800" cy="1783080"/>
          </a:xfrm>
          <a:prstGeom prst="roundRect">
            <a:avLst>
              <a:gd name="adj" fmla="val 6154"/>
            </a:avLst>
          </a:prstGeom>
          <a:solidFill>
            <a:srgbClr val="FFFFFF"/>
          </a:solidFill>
          <a:ln/>
          <a:effectLst>
            <a:outerShdw sx="100000" sy="100000" kx="0" ky="0" algn="bl" rotWithShape="0" blurRad="76200" dist="25400" dir="5400000">
              <a:srgbClr val="2B2250">
                <a:alpha val="15000"/>
              </a:srgbClr>
            </a:outerShdw>
          </a:effectLst>
        </p:spPr>
      </p:sp>
      <p:sp>
        <p:nvSpPr>
          <p:cNvPr id="20" name="Dot 679"/>
          <p:cNvSpPr/>
          <p:nvPr/>
        </p:nvSpPr>
        <p:spPr>
          <a:xfrm>
            <a:off x="4846320" y="3291840"/>
            <a:ext cx="731520" cy="731520"/>
          </a:xfrm>
          <a:prstGeom prst="ellipse">
            <a:avLst/>
          </a:prstGeom>
          <a:solidFill>
            <a:srgbClr val="1FB89A"/>
          </a:solidFill>
          <a:ln w="12700">
            <a:solidFill>
              <a:srgbClr val="FFFFFF"/>
            </a:solidFill>
            <a:prstDash val="solid"/>
          </a:ln>
        </p:spPr>
      </p:sp>
      <p:pic>
        <p:nvPicPr>
          <p:cNvPr id="21" name="Icon 680" descr="FaGlobe">    </p:cNvPr>
          <p:cNvPicPr>
            <a:picLocks noChangeAspect="1"/>
          </p:cNvPicPr>
          <p:nvPr/>
        </p:nvPicPr>
        <p:blipFill>
          <a:blip r:embed="rId4"/>
          <a:stretch>
            <a:fillRect/>
          </a:stretch>
        </p:blipFill>
        <p:spPr>
          <a:xfrm>
            <a:off x="5020056" y="3465576"/>
            <a:ext cx="384048" cy="384048"/>
          </a:xfrm>
          <a:prstGeom prst="rect">
            <a:avLst/>
          </a:prstGeom>
        </p:spPr>
      </p:pic>
      <p:sp>
        <p:nvSpPr>
          <p:cNvPr id="22" name="Text 681"/>
          <p:cNvSpPr txBox="1"/>
          <p:nvPr/>
        </p:nvSpPr>
        <p:spPr>
          <a:xfrm>
            <a:off x="5760720" y="3246120"/>
            <a:ext cx="2926080" cy="457200"/>
          </a:xfrm>
          <a:prstGeom prst="rect">
            <a:avLst/>
          </a:prstGeom>
          <a:noFill/>
          <a:ln/>
        </p:spPr>
        <p:txBody>
          <a:bodyPr wrap="square" lIns="0" tIns="0" rIns="0" bIns="0" rtlCol="0" anchor="t"/>
          <a:lstStyle/>
          <a:p>
            <a:pPr indent="0" marL="0">
              <a:buNone/>
            </a:pPr>
            <a:r>
              <a:rPr lang="en-US" sz="2400" b="1" dirty="0">
                <a:solidFill>
                  <a:srgbClr val="1FB89A"/>
                </a:solidFill>
                <a:latin typeface="Calibri" pitchFamily="34" charset="0"/>
                <a:ea typeface="Calibri" pitchFamily="34" charset="-122"/>
                <a:cs typeface="Calibri" pitchFamily="34" charset="-120"/>
              </a:rPr>
              <a:t>World Wide Web</a:t>
            </a:r>
            <a:endParaRPr lang="en-US" sz="2400" dirty="0"/>
          </a:p>
        </p:txBody>
      </p:sp>
      <p:sp>
        <p:nvSpPr>
          <p:cNvPr id="23" name="Text 682"/>
          <p:cNvSpPr txBox="1"/>
          <p:nvPr/>
        </p:nvSpPr>
        <p:spPr>
          <a:xfrm>
            <a:off x="5760720" y="3749040"/>
            <a:ext cx="2926080" cy="105156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All the websites and web pages connected on the internet</a:t>
            </a:r>
            <a:endParaRPr lang="en-US" sz="1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Accent 683"/>
          <p:cNvSpPr/>
          <p:nvPr/>
        </p:nvSpPr>
        <p:spPr>
          <a:xfrm>
            <a:off x="0" y="274320"/>
            <a:ext cx="164592" cy="685800"/>
          </a:xfrm>
          <a:prstGeom prst="rect">
            <a:avLst/>
          </a:prstGeom>
          <a:solidFill>
            <a:srgbClr val="FF9A3D"/>
          </a:solidFill>
          <a:ln w="12700">
            <a:solidFill>
              <a:srgbClr val="FF9A3D"/>
            </a:solidFill>
            <a:prstDash val="solid"/>
          </a:ln>
        </p:spPr>
      </p:sp>
      <p:sp>
        <p:nvSpPr>
          <p:cNvPr id="3" name="Text 684"/>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The features of a website</a:t>
            </a:r>
            <a:endParaRPr lang="en-US" sz="3000" dirty="0"/>
          </a:p>
        </p:txBody>
      </p:sp>
      <p:sp>
        <p:nvSpPr>
          <p:cNvPr id="4" name="Card 685"/>
          <p:cNvSpPr/>
          <p:nvPr/>
        </p:nvSpPr>
        <p:spPr>
          <a:xfrm>
            <a:off x="548640" y="1051560"/>
            <a:ext cx="5120640" cy="3639312"/>
          </a:xfrm>
          <a:prstGeom prst="roundRect">
            <a:avLst>
              <a:gd name="adj" fmla="val 3015"/>
            </a:avLst>
          </a:prstGeom>
          <a:solidFill>
            <a:srgbClr val="FFFFFF"/>
          </a:solidFill>
          <a:ln/>
          <a:effectLst>
            <a:outerShdw sx="100000" sy="100000" kx="0" ky="0" algn="bl" rotWithShape="0" blurRad="76200" dist="25400" dir="5400000">
              <a:srgbClr val="2B2250">
                <a:alpha val="15000"/>
              </a:srgbClr>
            </a:outerShdw>
          </a:effectLst>
        </p:spPr>
      </p:sp>
      <p:pic>
        <p:nvPicPr>
          <p:cNvPr id="5" name="Picture 686" descr="A website with numbered features">    </p:cNvPr>
          <p:cNvPicPr>
            <a:picLocks noChangeAspect="1"/>
          </p:cNvPicPr>
          <p:nvPr/>
        </p:nvPicPr>
        <p:blipFill>
          <a:blip r:embed="rId1"/>
          <a:stretch>
            <a:fillRect/>
          </a:stretch>
        </p:blipFill>
        <p:spPr>
          <a:xfrm>
            <a:off x="640080" y="1143000"/>
            <a:ext cx="4937760" cy="3456432"/>
          </a:xfrm>
          <a:prstGeom prst="rect">
            <a:avLst/>
          </a:prstGeom>
        </p:spPr>
      </p:pic>
      <p:sp>
        <p:nvSpPr>
          <p:cNvPr id="6" name="Text 687"/>
          <p:cNvSpPr txBox="1"/>
          <p:nvPr/>
        </p:nvSpPr>
        <p:spPr>
          <a:xfrm>
            <a:off x="5897880" y="1234440"/>
            <a:ext cx="2834640" cy="3566160"/>
          </a:xfrm>
          <a:prstGeom prst="rect">
            <a:avLst/>
          </a:prstGeom>
          <a:noFill/>
          <a:ln/>
        </p:spPr>
        <p:txBody>
          <a:bodyPr wrap="square" lIns="0" tIns="0" rIns="0" bIns="0" rtlCol="0" anchor="t"/>
          <a:lstStyle/>
          <a:p>
            <a:pPr indent="0" marL="0">
              <a:buNone/>
            </a:pPr>
            <a:r>
              <a:rPr lang="en-US" sz="2000" dirty="0">
                <a:solidFill>
                  <a:schemeClr val="tx1"/>
                </a:solidFill>
                <a:latin typeface="Calibri" pitchFamily="34" charset="0"/>
                <a:ea typeface="Calibri" pitchFamily="34" charset="-122"/>
                <a:cs typeface="Calibri" pitchFamily="34" charset="-120"/>
              </a:rPr>
              <a:t>1 Logo or title</a:t>
            </a:r>
            <a:endParaRPr lang="en-US" sz="2000" dirty="0"/>
          </a:p>
          <a:p>
            <a:pPr indent="0" marL="0">
              <a:buNone/>
            </a:pPr>
            <a:r>
              <a:rPr lang="en-US" sz="2000" dirty="0">
                <a:solidFill>
                  <a:schemeClr val="tx1"/>
                </a:solidFill>
                <a:latin typeface="Calibri" pitchFamily="34" charset="0"/>
                <a:ea typeface="Calibri" pitchFamily="34" charset="-122"/>
                <a:cs typeface="Calibri" pitchFamily="34" charset="-120"/>
              </a:rPr>
              <a:t>2 A video</a:t>
            </a:r>
            <a:endParaRPr lang="en-US" sz="2000" dirty="0"/>
          </a:p>
          <a:p>
            <a:pPr indent="0" marL="0">
              <a:buNone/>
            </a:pPr>
            <a:r>
              <a:rPr lang="en-US" sz="2000" dirty="0">
                <a:solidFill>
                  <a:schemeClr val="tx1"/>
                </a:solidFill>
                <a:latin typeface="Calibri" pitchFamily="34" charset="0"/>
                <a:ea typeface="Calibri" pitchFamily="34" charset="-122"/>
                <a:cs typeface="Calibri" pitchFamily="34" charset="-120"/>
              </a:rPr>
              <a:t>3 A picture</a:t>
            </a:r>
            <a:endParaRPr lang="en-US" sz="2000" dirty="0"/>
          </a:p>
          <a:p>
            <a:pPr indent="0" marL="0">
              <a:buNone/>
            </a:pPr>
            <a:r>
              <a:rPr lang="en-US" sz="2000" dirty="0">
                <a:solidFill>
                  <a:schemeClr val="tx1"/>
                </a:solidFill>
                <a:latin typeface="Calibri" pitchFamily="34" charset="0"/>
                <a:ea typeface="Calibri" pitchFamily="34" charset="-122"/>
                <a:cs typeface="Calibri" pitchFamily="34" charset="-120"/>
              </a:rPr>
              <a:t>4 Text</a:t>
            </a:r>
            <a:endParaRPr lang="en-US" sz="2000" dirty="0"/>
          </a:p>
          <a:p>
            <a:pPr indent="0" marL="0">
              <a:buNone/>
            </a:pPr>
            <a:r>
              <a:rPr lang="en-US" sz="2000" dirty="0">
                <a:solidFill>
                  <a:schemeClr val="tx1"/>
                </a:solidFill>
                <a:latin typeface="Calibri" pitchFamily="34" charset="0"/>
                <a:ea typeface="Calibri" pitchFamily="34" charset="-122"/>
                <a:cs typeface="Calibri" pitchFamily="34" charset="-120"/>
              </a:rPr>
              <a:t>5 Links to other pages</a:t>
            </a:r>
            <a:endParaRPr lang="en-US" sz="2000" dirty="0"/>
          </a:p>
          <a:p>
            <a:pPr indent="0" marL="0">
              <a:buNone/>
            </a:pPr>
            <a:r>
              <a:rPr lang="en-US" sz="2000" dirty="0">
                <a:solidFill>
                  <a:schemeClr val="tx1"/>
                </a:solidFill>
                <a:latin typeface="Calibri" pitchFamily="34" charset="0"/>
                <a:ea typeface="Calibri" pitchFamily="34" charset="-122"/>
                <a:cs typeface="Calibri" pitchFamily="34" charset="-120"/>
              </a:rPr>
              <a:t>6 More links</a:t>
            </a:r>
            <a:endParaRPr lang="en-US" sz="2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Accent 688"/>
          <p:cNvSpPr/>
          <p:nvPr/>
        </p:nvSpPr>
        <p:spPr>
          <a:xfrm>
            <a:off x="0" y="274320"/>
            <a:ext cx="164592" cy="685800"/>
          </a:xfrm>
          <a:prstGeom prst="rect">
            <a:avLst/>
          </a:prstGeom>
          <a:solidFill>
            <a:srgbClr val="FF9A3D"/>
          </a:solidFill>
          <a:ln w="12700">
            <a:solidFill>
              <a:srgbClr val="FF9A3D"/>
            </a:solidFill>
            <a:prstDash val="solid"/>
          </a:ln>
        </p:spPr>
      </p:sp>
      <p:sp>
        <p:nvSpPr>
          <p:cNvPr id="3" name="Text 689"/>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Activity: Be a website detective</a:t>
            </a:r>
            <a:endParaRPr lang="en-US" sz="3000" dirty="0"/>
          </a:p>
        </p:txBody>
      </p:sp>
      <p:sp>
        <p:nvSpPr>
          <p:cNvPr id="4" name="Tag 690"/>
          <p:cNvSpPr/>
          <p:nvPr/>
        </p:nvSpPr>
        <p:spPr>
          <a:xfrm>
            <a:off x="7223760" y="384048"/>
            <a:ext cx="1463040" cy="457200"/>
          </a:xfrm>
          <a:prstGeom prst="roundRect">
            <a:avLst>
              <a:gd name="adj" fmla="val 50000"/>
            </a:avLst>
          </a:prstGeom>
          <a:solidFill>
            <a:srgbClr val="FF9A3D"/>
          </a:solidFill>
          <a:ln w="12700">
            <a:solidFill>
              <a:srgbClr val="FF9A3D"/>
            </a:solidFill>
            <a:prstDash val="solid"/>
          </a:ln>
        </p:spPr>
      </p:sp>
      <p:sp>
        <p:nvSpPr>
          <p:cNvPr id="5" name="Text 691"/>
          <p:cNvSpPr txBox="1"/>
          <p:nvPr/>
        </p:nvSpPr>
        <p:spPr>
          <a:xfrm>
            <a:off x="7223760" y="384048"/>
            <a:ext cx="14630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ACTIVITY</a:t>
            </a:r>
            <a:endParaRPr lang="en-US" sz="1600" dirty="0"/>
          </a:p>
        </p:txBody>
      </p:sp>
      <p:sp>
        <p:nvSpPr>
          <p:cNvPr id="6" name="Card 692"/>
          <p:cNvSpPr/>
          <p:nvPr/>
        </p:nvSpPr>
        <p:spPr>
          <a:xfrm>
            <a:off x="457200" y="1188720"/>
            <a:ext cx="8229600" cy="781812"/>
          </a:xfrm>
          <a:prstGeom prst="roundRect">
            <a:avLst>
              <a:gd name="adj" fmla="val 14035"/>
            </a:avLst>
          </a:prstGeom>
          <a:solidFill>
            <a:srgbClr val="FFFFFF"/>
          </a:solidFill>
          <a:ln/>
          <a:effectLst>
            <a:outerShdw sx="100000" sy="100000" kx="0" ky="0" algn="bl" rotWithShape="0" blurRad="76200" dist="25400" dir="5400000">
              <a:srgbClr val="2B2250">
                <a:alpha val="15000"/>
              </a:srgbClr>
            </a:outerShdw>
          </a:effectLst>
        </p:spPr>
      </p:sp>
      <p:sp>
        <p:nvSpPr>
          <p:cNvPr id="7" name="Dot 693"/>
          <p:cNvSpPr/>
          <p:nvPr/>
        </p:nvSpPr>
        <p:spPr>
          <a:xfrm>
            <a:off x="594360" y="1351026"/>
            <a:ext cx="457200" cy="457200"/>
          </a:xfrm>
          <a:prstGeom prst="ellipse">
            <a:avLst/>
          </a:prstGeom>
          <a:solidFill>
            <a:srgbClr val="FF9A3D"/>
          </a:solidFill>
          <a:ln w="12700">
            <a:solidFill>
              <a:srgbClr val="FFFFFF"/>
            </a:solidFill>
            <a:prstDash val="solid"/>
          </a:ln>
        </p:spPr>
      </p:sp>
      <p:sp>
        <p:nvSpPr>
          <p:cNvPr id="8" name="Text 694"/>
          <p:cNvSpPr txBox="1"/>
          <p:nvPr/>
        </p:nvSpPr>
        <p:spPr>
          <a:xfrm>
            <a:off x="594360" y="135102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Text 695"/>
          <p:cNvSpPr txBox="1"/>
          <p:nvPr/>
        </p:nvSpPr>
        <p:spPr>
          <a:xfrm>
            <a:off x="1188720" y="1188720"/>
            <a:ext cx="7315200" cy="781812"/>
          </a:xfrm>
          <a:prstGeom prst="rect">
            <a:avLst/>
          </a:prstGeom>
          <a:noFill/>
          <a:ln/>
        </p:spPr>
        <p:txBody>
          <a:bodyPr wrap="square" lIns="0" tIns="0" rIns="0" bIns="0" rtlCol="0" anchor="ctr"/>
          <a:lstStyle/>
          <a:p>
            <a:pPr indent="0" marL="0">
              <a:buNone/>
            </a:pPr>
            <a:r>
              <a:rPr lang="en-US" sz="1900" dirty="0">
                <a:solidFill>
                  <a:schemeClr val="tx1"/>
                </a:solidFill>
                <a:latin typeface="Calibri" pitchFamily="34" charset="0"/>
                <a:ea typeface="Calibri" pitchFamily="34" charset="-122"/>
                <a:cs typeface="Calibri" pitchFamily="34" charset="-120"/>
              </a:rPr>
              <a:t>Open the website your teacher chooses.</a:t>
            </a:r>
            <a:endParaRPr lang="en-US" sz="1900" dirty="0"/>
          </a:p>
        </p:txBody>
      </p:sp>
      <p:sp>
        <p:nvSpPr>
          <p:cNvPr id="10" name="Card 696"/>
          <p:cNvSpPr/>
          <p:nvPr/>
        </p:nvSpPr>
        <p:spPr>
          <a:xfrm>
            <a:off x="457200" y="2080260"/>
            <a:ext cx="8229600" cy="781812"/>
          </a:xfrm>
          <a:prstGeom prst="roundRect">
            <a:avLst>
              <a:gd name="adj" fmla="val 14035"/>
            </a:avLst>
          </a:prstGeom>
          <a:solidFill>
            <a:srgbClr val="FFFFFF"/>
          </a:solidFill>
          <a:ln/>
          <a:effectLst>
            <a:outerShdw sx="100000" sy="100000" kx="0" ky="0" algn="bl" rotWithShape="0" blurRad="76200" dist="25400" dir="5400000">
              <a:srgbClr val="2B2250">
                <a:alpha val="15000"/>
              </a:srgbClr>
            </a:outerShdw>
          </a:effectLst>
        </p:spPr>
      </p:sp>
      <p:sp>
        <p:nvSpPr>
          <p:cNvPr id="11" name="Dot 697"/>
          <p:cNvSpPr/>
          <p:nvPr/>
        </p:nvSpPr>
        <p:spPr>
          <a:xfrm>
            <a:off x="594360" y="2242566"/>
            <a:ext cx="457200" cy="457200"/>
          </a:xfrm>
          <a:prstGeom prst="ellipse">
            <a:avLst/>
          </a:prstGeom>
          <a:solidFill>
            <a:srgbClr val="FF9A3D"/>
          </a:solidFill>
          <a:ln w="12700">
            <a:solidFill>
              <a:srgbClr val="FFFFFF"/>
            </a:solidFill>
            <a:prstDash val="solid"/>
          </a:ln>
        </p:spPr>
      </p:sp>
      <p:sp>
        <p:nvSpPr>
          <p:cNvPr id="12" name="Text 698"/>
          <p:cNvSpPr txBox="1"/>
          <p:nvPr/>
        </p:nvSpPr>
        <p:spPr>
          <a:xfrm>
            <a:off x="594360" y="224256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699"/>
          <p:cNvSpPr txBox="1"/>
          <p:nvPr/>
        </p:nvSpPr>
        <p:spPr>
          <a:xfrm>
            <a:off x="1188720" y="2080260"/>
            <a:ext cx="7315200" cy="781812"/>
          </a:xfrm>
          <a:prstGeom prst="rect">
            <a:avLst/>
          </a:prstGeom>
          <a:noFill/>
          <a:ln/>
        </p:spPr>
        <p:txBody>
          <a:bodyPr wrap="square" lIns="0" tIns="0" rIns="0" bIns="0" rtlCol="0" anchor="ctr"/>
          <a:lstStyle/>
          <a:p>
            <a:pPr indent="0" marL="0">
              <a:buNone/>
            </a:pPr>
            <a:r>
              <a:rPr lang="en-US" sz="1900" dirty="0">
                <a:solidFill>
                  <a:schemeClr val="tx1"/>
                </a:solidFill>
                <a:latin typeface="Calibri" pitchFamily="34" charset="0"/>
                <a:ea typeface="Calibri" pitchFamily="34" charset="-122"/>
                <a:cs typeface="Calibri" pitchFamily="34" charset="-120"/>
              </a:rPr>
              <a:t>Find: a logo, a link, a video, a picture and some text.</a:t>
            </a:r>
            <a:endParaRPr lang="en-US" sz="1900" dirty="0"/>
          </a:p>
        </p:txBody>
      </p:sp>
      <p:sp>
        <p:nvSpPr>
          <p:cNvPr id="14" name="Card 700"/>
          <p:cNvSpPr/>
          <p:nvPr/>
        </p:nvSpPr>
        <p:spPr>
          <a:xfrm>
            <a:off x="457200" y="2971800"/>
            <a:ext cx="8229600" cy="781812"/>
          </a:xfrm>
          <a:prstGeom prst="roundRect">
            <a:avLst>
              <a:gd name="adj" fmla="val 14035"/>
            </a:avLst>
          </a:prstGeom>
          <a:solidFill>
            <a:srgbClr val="FFFFFF"/>
          </a:solidFill>
          <a:ln/>
          <a:effectLst>
            <a:outerShdw sx="100000" sy="100000" kx="0" ky="0" algn="bl" rotWithShape="0" blurRad="76200" dist="25400" dir="5400000">
              <a:srgbClr val="2B2250">
                <a:alpha val="15000"/>
              </a:srgbClr>
            </a:outerShdw>
          </a:effectLst>
        </p:spPr>
      </p:sp>
      <p:sp>
        <p:nvSpPr>
          <p:cNvPr id="15" name="Dot 701"/>
          <p:cNvSpPr/>
          <p:nvPr/>
        </p:nvSpPr>
        <p:spPr>
          <a:xfrm>
            <a:off x="594360" y="3134106"/>
            <a:ext cx="457200" cy="457200"/>
          </a:xfrm>
          <a:prstGeom prst="ellipse">
            <a:avLst/>
          </a:prstGeom>
          <a:solidFill>
            <a:srgbClr val="FF9A3D"/>
          </a:solidFill>
          <a:ln w="12700">
            <a:solidFill>
              <a:srgbClr val="FFFFFF"/>
            </a:solidFill>
            <a:prstDash val="solid"/>
          </a:ln>
        </p:spPr>
      </p:sp>
      <p:sp>
        <p:nvSpPr>
          <p:cNvPr id="16" name="Text 702"/>
          <p:cNvSpPr txBox="1"/>
          <p:nvPr/>
        </p:nvSpPr>
        <p:spPr>
          <a:xfrm>
            <a:off x="594360" y="313410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703"/>
          <p:cNvSpPr txBox="1"/>
          <p:nvPr/>
        </p:nvSpPr>
        <p:spPr>
          <a:xfrm>
            <a:off x="1188720" y="2971800"/>
            <a:ext cx="7315200" cy="781812"/>
          </a:xfrm>
          <a:prstGeom prst="rect">
            <a:avLst/>
          </a:prstGeom>
          <a:noFill/>
          <a:ln/>
        </p:spPr>
        <p:txBody>
          <a:bodyPr wrap="square" lIns="0" tIns="0" rIns="0" bIns="0" rtlCol="0" anchor="ctr"/>
          <a:lstStyle/>
          <a:p>
            <a:pPr indent="0" marL="0">
              <a:buNone/>
            </a:pPr>
            <a:r>
              <a:rPr lang="en-US" sz="1900" dirty="0">
                <a:solidFill>
                  <a:schemeClr val="tx1"/>
                </a:solidFill>
                <a:latin typeface="Calibri" pitchFamily="34" charset="0"/>
                <a:ea typeface="Calibri" pitchFamily="34" charset="-122"/>
                <a:cs typeface="Calibri" pitchFamily="34" charset="-120"/>
              </a:rPr>
              <a:t>Write the 5 things on your sheet.</a:t>
            </a:r>
            <a:endParaRPr lang="en-US" sz="1900" dirty="0"/>
          </a:p>
        </p:txBody>
      </p:sp>
      <p:sp>
        <p:nvSpPr>
          <p:cNvPr id="18" name="Card 704"/>
          <p:cNvSpPr/>
          <p:nvPr/>
        </p:nvSpPr>
        <p:spPr>
          <a:xfrm>
            <a:off x="457200" y="3863340"/>
            <a:ext cx="8229600" cy="781812"/>
          </a:xfrm>
          <a:prstGeom prst="roundRect">
            <a:avLst>
              <a:gd name="adj" fmla="val 14035"/>
            </a:avLst>
          </a:prstGeom>
          <a:solidFill>
            <a:srgbClr val="FFFFFF"/>
          </a:solidFill>
          <a:ln/>
          <a:effectLst>
            <a:outerShdw sx="100000" sy="100000" kx="0" ky="0" algn="bl" rotWithShape="0" blurRad="76200" dist="25400" dir="5400000">
              <a:srgbClr val="2B2250">
                <a:alpha val="15000"/>
              </a:srgbClr>
            </a:outerShdw>
          </a:effectLst>
        </p:spPr>
      </p:sp>
      <p:sp>
        <p:nvSpPr>
          <p:cNvPr id="19" name="Dot 705"/>
          <p:cNvSpPr/>
          <p:nvPr/>
        </p:nvSpPr>
        <p:spPr>
          <a:xfrm>
            <a:off x="594360" y="4025646"/>
            <a:ext cx="457200" cy="457200"/>
          </a:xfrm>
          <a:prstGeom prst="ellipse">
            <a:avLst/>
          </a:prstGeom>
          <a:solidFill>
            <a:srgbClr val="FF9A3D"/>
          </a:solidFill>
          <a:ln w="12700">
            <a:solidFill>
              <a:srgbClr val="FFFFFF"/>
            </a:solidFill>
            <a:prstDash val="solid"/>
          </a:ln>
        </p:spPr>
      </p:sp>
      <p:sp>
        <p:nvSpPr>
          <p:cNvPr id="20" name="Text 706"/>
          <p:cNvSpPr txBox="1"/>
          <p:nvPr/>
        </p:nvSpPr>
        <p:spPr>
          <a:xfrm>
            <a:off x="594360" y="402564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1" name="Text 707"/>
          <p:cNvSpPr txBox="1"/>
          <p:nvPr/>
        </p:nvSpPr>
        <p:spPr>
          <a:xfrm>
            <a:off x="1188720" y="3863340"/>
            <a:ext cx="7315200" cy="781812"/>
          </a:xfrm>
          <a:prstGeom prst="rect">
            <a:avLst/>
          </a:prstGeom>
          <a:noFill/>
          <a:ln/>
        </p:spPr>
        <p:txBody>
          <a:bodyPr wrap="square" lIns="0" tIns="0" rIns="0" bIns="0" rtlCol="0" anchor="ctr"/>
          <a:lstStyle/>
          <a:p>
            <a:pPr indent="0" marL="0">
              <a:buNone/>
            </a:pPr>
            <a:r>
              <a:rPr lang="en-US" sz="1900" dirty="0">
                <a:solidFill>
                  <a:schemeClr val="tx1"/>
                </a:solidFill>
                <a:latin typeface="Calibri" pitchFamily="34" charset="0"/>
                <a:ea typeface="Calibri" pitchFamily="34" charset="-122"/>
                <a:cs typeface="Calibri" pitchFamily="34" charset="-120"/>
              </a:rPr>
              <a:t>Count how many links you can find!</a:t>
            </a:r>
            <a:endParaRPr lang="en-US" sz="1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Accent 708"/>
          <p:cNvSpPr/>
          <p:nvPr/>
        </p:nvSpPr>
        <p:spPr>
          <a:xfrm>
            <a:off x="0" y="274320"/>
            <a:ext cx="164592" cy="685800"/>
          </a:xfrm>
          <a:prstGeom prst="rect">
            <a:avLst/>
          </a:prstGeom>
          <a:solidFill>
            <a:srgbClr val="FF9A3D"/>
          </a:solidFill>
          <a:ln w="12700">
            <a:solidFill>
              <a:srgbClr val="FF9A3D"/>
            </a:solidFill>
            <a:prstDash val="solid"/>
          </a:ln>
        </p:spPr>
      </p:sp>
      <p:sp>
        <p:nvSpPr>
          <p:cNvPr id="3" name="Text 709"/>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Anyone can add content!</a:t>
            </a:r>
            <a:endParaRPr lang="en-US" sz="3000" dirty="0"/>
          </a:p>
        </p:txBody>
      </p:sp>
      <p:sp>
        <p:nvSpPr>
          <p:cNvPr id="4" name="Card 710"/>
          <p:cNvSpPr/>
          <p:nvPr/>
        </p:nvSpPr>
        <p:spPr>
          <a:xfrm>
            <a:off x="457200" y="1188720"/>
            <a:ext cx="4114800" cy="1828800"/>
          </a:xfrm>
          <a:prstGeom prst="roundRect">
            <a:avLst>
              <a:gd name="adj" fmla="val 6000"/>
            </a:avLst>
          </a:prstGeom>
          <a:solidFill>
            <a:srgbClr val="FFFFFF"/>
          </a:solidFill>
          <a:ln/>
          <a:effectLst>
            <a:outerShdw sx="100000" sy="100000" kx="0" ky="0" algn="bl" rotWithShape="0" blurRad="76200" dist="25400" dir="5400000">
              <a:srgbClr val="2B2250">
                <a:alpha val="15000"/>
              </a:srgbClr>
            </a:outerShdw>
          </a:effectLst>
        </p:spPr>
      </p:sp>
      <p:sp>
        <p:nvSpPr>
          <p:cNvPr id="5" name="Dot 711"/>
          <p:cNvSpPr/>
          <p:nvPr/>
        </p:nvSpPr>
        <p:spPr>
          <a:xfrm>
            <a:off x="640080" y="1371600"/>
            <a:ext cx="640080" cy="640080"/>
          </a:xfrm>
          <a:prstGeom prst="ellipse">
            <a:avLst/>
          </a:prstGeom>
          <a:solidFill>
            <a:srgbClr val="FF9A3D"/>
          </a:solidFill>
          <a:ln w="12700">
            <a:solidFill>
              <a:srgbClr val="FFFFFF"/>
            </a:solidFill>
            <a:prstDash val="solid"/>
          </a:ln>
        </p:spPr>
      </p:sp>
      <p:pic>
        <p:nvPicPr>
          <p:cNvPr id="6" name="Icon 712" descr="FaThumbsUp">    </p:cNvPr>
          <p:cNvPicPr>
            <a:picLocks noChangeAspect="1"/>
          </p:cNvPicPr>
          <p:nvPr/>
        </p:nvPicPr>
        <p:blipFill>
          <a:blip r:embed="rId1"/>
          <a:stretch>
            <a:fillRect/>
          </a:stretch>
        </p:blipFill>
        <p:spPr>
          <a:xfrm>
            <a:off x="795528" y="1527048"/>
            <a:ext cx="329184" cy="329184"/>
          </a:xfrm>
          <a:prstGeom prst="rect">
            <a:avLst/>
          </a:prstGeom>
        </p:spPr>
      </p:pic>
      <p:sp>
        <p:nvSpPr>
          <p:cNvPr id="7" name="Text 713"/>
          <p:cNvSpPr txBox="1"/>
          <p:nvPr/>
        </p:nvSpPr>
        <p:spPr>
          <a:xfrm>
            <a:off x="1417320" y="1325880"/>
            <a:ext cx="3017520" cy="457200"/>
          </a:xfrm>
          <a:prstGeom prst="rect">
            <a:avLst/>
          </a:prstGeom>
          <a:noFill/>
          <a:ln/>
        </p:spPr>
        <p:txBody>
          <a:bodyPr wrap="square" lIns="0" tIns="0" rIns="0" bIns="0" rtlCol="0" anchor="t"/>
          <a:lstStyle/>
          <a:p>
            <a:pPr indent="0" marL="0">
              <a:buNone/>
            </a:pPr>
            <a:r>
              <a:rPr lang="en-US" sz="2200" b="1" dirty="0">
                <a:solidFill>
                  <a:srgbClr val="FF9A3D"/>
                </a:solidFill>
                <a:latin typeface="Calibri" pitchFamily="34" charset="0"/>
                <a:ea typeface="Calibri" pitchFamily="34" charset="-122"/>
                <a:cs typeface="Calibri" pitchFamily="34" charset="-120"/>
              </a:rPr>
              <a:t>Good things</a:t>
            </a:r>
            <a:endParaRPr lang="en-US" sz="2200" dirty="0"/>
          </a:p>
        </p:txBody>
      </p:sp>
      <p:sp>
        <p:nvSpPr>
          <p:cNvPr id="8" name="Text 714"/>
          <p:cNvSpPr txBox="1"/>
          <p:nvPr/>
        </p:nvSpPr>
        <p:spPr>
          <a:xfrm>
            <a:off x="1417320" y="1783080"/>
            <a:ext cx="3017520" cy="118872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Easy to add content · Shares knowledge · The web is for everyone</a:t>
            </a:r>
            <a:endParaRPr lang="en-US" sz="1800" dirty="0"/>
          </a:p>
        </p:txBody>
      </p:sp>
      <p:sp>
        <p:nvSpPr>
          <p:cNvPr id="9" name="Card 715"/>
          <p:cNvSpPr/>
          <p:nvPr/>
        </p:nvSpPr>
        <p:spPr>
          <a:xfrm>
            <a:off x="4709160" y="1188720"/>
            <a:ext cx="4114800" cy="1828800"/>
          </a:xfrm>
          <a:prstGeom prst="roundRect">
            <a:avLst>
              <a:gd name="adj" fmla="val 6000"/>
            </a:avLst>
          </a:prstGeom>
          <a:solidFill>
            <a:srgbClr val="FFFFFF"/>
          </a:solidFill>
          <a:ln/>
          <a:effectLst>
            <a:outerShdw sx="100000" sy="100000" kx="0" ky="0" algn="bl" rotWithShape="0" blurRad="76200" dist="25400" dir="5400000">
              <a:srgbClr val="2B2250">
                <a:alpha val="15000"/>
              </a:srgbClr>
            </a:outerShdw>
          </a:effectLst>
        </p:spPr>
      </p:sp>
      <p:sp>
        <p:nvSpPr>
          <p:cNvPr id="10" name="Dot 716"/>
          <p:cNvSpPr/>
          <p:nvPr/>
        </p:nvSpPr>
        <p:spPr>
          <a:xfrm>
            <a:off x="4892040" y="1371600"/>
            <a:ext cx="640080" cy="640080"/>
          </a:xfrm>
          <a:prstGeom prst="ellipse">
            <a:avLst/>
          </a:prstGeom>
          <a:solidFill>
            <a:srgbClr val="FF5C8A"/>
          </a:solidFill>
          <a:ln w="12700">
            <a:solidFill>
              <a:srgbClr val="FFFFFF"/>
            </a:solidFill>
            <a:prstDash val="solid"/>
          </a:ln>
        </p:spPr>
      </p:sp>
      <p:pic>
        <p:nvPicPr>
          <p:cNvPr id="11" name="Icon 717" descr="FaThumbsDown">    </p:cNvPr>
          <p:cNvPicPr>
            <a:picLocks noChangeAspect="1"/>
          </p:cNvPicPr>
          <p:nvPr/>
        </p:nvPicPr>
        <p:blipFill>
          <a:blip r:embed="rId2"/>
          <a:stretch>
            <a:fillRect/>
          </a:stretch>
        </p:blipFill>
        <p:spPr>
          <a:xfrm>
            <a:off x="5047488" y="1527048"/>
            <a:ext cx="329184" cy="329184"/>
          </a:xfrm>
          <a:prstGeom prst="rect">
            <a:avLst/>
          </a:prstGeom>
        </p:spPr>
      </p:pic>
      <p:sp>
        <p:nvSpPr>
          <p:cNvPr id="12" name="Text 718"/>
          <p:cNvSpPr txBox="1"/>
          <p:nvPr/>
        </p:nvSpPr>
        <p:spPr>
          <a:xfrm>
            <a:off x="5669280" y="1325880"/>
            <a:ext cx="3017520" cy="457200"/>
          </a:xfrm>
          <a:prstGeom prst="rect">
            <a:avLst/>
          </a:prstGeom>
          <a:noFill/>
          <a:ln/>
        </p:spPr>
        <p:txBody>
          <a:bodyPr wrap="square" lIns="0" tIns="0" rIns="0" bIns="0" rtlCol="0" anchor="t"/>
          <a:lstStyle/>
          <a:p>
            <a:pPr indent="0" marL="0">
              <a:buNone/>
            </a:pPr>
            <a:r>
              <a:rPr lang="en-US" sz="2200" b="1" dirty="0">
                <a:solidFill>
                  <a:srgbClr val="FF5C8A"/>
                </a:solidFill>
                <a:latin typeface="Calibri" pitchFamily="34" charset="0"/>
                <a:ea typeface="Calibri" pitchFamily="34" charset="-122"/>
                <a:cs typeface="Calibri" pitchFamily="34" charset="-120"/>
              </a:rPr>
              <a:t>Not so good</a:t>
            </a:r>
            <a:endParaRPr lang="en-US" sz="2200" dirty="0"/>
          </a:p>
        </p:txBody>
      </p:sp>
      <p:sp>
        <p:nvSpPr>
          <p:cNvPr id="13" name="Text 719"/>
          <p:cNvSpPr txBox="1"/>
          <p:nvPr/>
        </p:nvSpPr>
        <p:spPr>
          <a:xfrm>
            <a:off x="5669280" y="1783080"/>
            <a:ext cx="3017520" cy="118872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Not everything is true · Quality is different · Anyone can post</a:t>
            </a:r>
            <a:endParaRPr lang="en-US" sz="1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Accent 720"/>
          <p:cNvSpPr/>
          <p:nvPr/>
        </p:nvSpPr>
        <p:spPr>
          <a:xfrm>
            <a:off x="0" y="274320"/>
            <a:ext cx="164592" cy="685800"/>
          </a:xfrm>
          <a:prstGeom prst="rect">
            <a:avLst/>
          </a:prstGeom>
          <a:solidFill>
            <a:srgbClr val="FF9A3D"/>
          </a:solidFill>
          <a:ln w="12700">
            <a:solidFill>
              <a:srgbClr val="FF9A3D"/>
            </a:solidFill>
            <a:prstDash val="solid"/>
          </a:ln>
        </p:spPr>
      </p:sp>
      <p:sp>
        <p:nvSpPr>
          <p:cNvPr id="3" name="Text 721"/>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Make your own web content</a:t>
            </a:r>
            <a:endParaRPr lang="en-US" sz="3000" dirty="0"/>
          </a:p>
        </p:txBody>
      </p:sp>
      <p:sp>
        <p:nvSpPr>
          <p:cNvPr id="4" name="Card 722"/>
          <p:cNvSpPr/>
          <p:nvPr/>
        </p:nvSpPr>
        <p:spPr>
          <a:xfrm>
            <a:off x="548640" y="1051560"/>
            <a:ext cx="5120640" cy="3639312"/>
          </a:xfrm>
          <a:prstGeom prst="roundRect">
            <a:avLst>
              <a:gd name="adj" fmla="val 3015"/>
            </a:avLst>
          </a:prstGeom>
          <a:solidFill>
            <a:srgbClr val="FFFFFF"/>
          </a:solidFill>
          <a:ln/>
          <a:effectLst>
            <a:outerShdw sx="100000" sy="100000" kx="0" ky="0" algn="bl" rotWithShape="0" blurRad="76200" dist="25400" dir="5400000">
              <a:srgbClr val="2B2250">
                <a:alpha val="15000"/>
              </a:srgbClr>
            </a:outerShdw>
          </a:effectLst>
        </p:spPr>
      </p:sp>
      <p:pic>
        <p:nvPicPr>
          <p:cNvPr id="5" name="Picture 723" descr="A colourful music grid website">    </p:cNvPr>
          <p:cNvPicPr>
            <a:picLocks noChangeAspect="1"/>
          </p:cNvPicPr>
          <p:nvPr/>
        </p:nvPicPr>
        <p:blipFill>
          <a:blip r:embed="rId1"/>
          <a:stretch>
            <a:fillRect/>
          </a:stretch>
        </p:blipFill>
        <p:spPr>
          <a:xfrm>
            <a:off x="640080" y="1143000"/>
            <a:ext cx="4937760" cy="3456432"/>
          </a:xfrm>
          <a:prstGeom prst="rect">
            <a:avLst/>
          </a:prstGeom>
        </p:spPr>
      </p:pic>
      <p:sp>
        <p:nvSpPr>
          <p:cNvPr id="6" name="Text 724"/>
          <p:cNvSpPr txBox="1"/>
          <p:nvPr/>
        </p:nvSpPr>
        <p:spPr>
          <a:xfrm>
            <a:off x="5897880" y="1234440"/>
            <a:ext cx="2834640" cy="3566160"/>
          </a:xfrm>
          <a:prstGeom prst="rect">
            <a:avLst/>
          </a:prstGeom>
          <a:noFill/>
          <a:ln/>
        </p:spPr>
        <p:txBody>
          <a:bodyPr wrap="square" lIns="0" tIns="0" rIns="0" bIns="0" rtlCol="0" anchor="t"/>
          <a:lstStyle/>
          <a:p>
            <a:pPr indent="0" marL="0">
              <a:buNone/>
            </a:pPr>
            <a:r>
              <a:rPr lang="en-US" sz="2000" dirty="0">
                <a:solidFill>
                  <a:schemeClr val="tx1"/>
                </a:solidFill>
                <a:latin typeface="Calibri" pitchFamily="34" charset="0"/>
                <a:ea typeface="Calibri" pitchFamily="34" charset="-122"/>
                <a:cs typeface="Calibri" pitchFamily="34" charset="-120"/>
              </a:rPr>
              <a:t>Web tools let YOU create. Try Chrome Music Lab: open Kandinsky, draw and listen!</a:t>
            </a:r>
            <a:endParaRPr lang="en-US" sz="2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Accent 725"/>
          <p:cNvSpPr/>
          <p:nvPr/>
        </p:nvSpPr>
        <p:spPr>
          <a:xfrm>
            <a:off x="0" y="274320"/>
            <a:ext cx="164592" cy="685800"/>
          </a:xfrm>
          <a:prstGeom prst="rect">
            <a:avLst/>
          </a:prstGeom>
          <a:solidFill>
            <a:srgbClr val="FF9A3D"/>
          </a:solidFill>
          <a:ln w="12700">
            <a:solidFill>
              <a:srgbClr val="FF9A3D"/>
            </a:solidFill>
            <a:prstDash val="solid"/>
          </a:ln>
        </p:spPr>
      </p:sp>
      <p:sp>
        <p:nvSpPr>
          <p:cNvPr id="3" name="Text 726"/>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Activity: Create on the web</a:t>
            </a:r>
            <a:endParaRPr lang="en-US" sz="3000" dirty="0"/>
          </a:p>
        </p:txBody>
      </p:sp>
      <p:sp>
        <p:nvSpPr>
          <p:cNvPr id="4" name="Tag 727"/>
          <p:cNvSpPr/>
          <p:nvPr/>
        </p:nvSpPr>
        <p:spPr>
          <a:xfrm>
            <a:off x="7223760" y="384048"/>
            <a:ext cx="1463040" cy="457200"/>
          </a:xfrm>
          <a:prstGeom prst="roundRect">
            <a:avLst>
              <a:gd name="adj" fmla="val 50000"/>
            </a:avLst>
          </a:prstGeom>
          <a:solidFill>
            <a:srgbClr val="FF9A3D"/>
          </a:solidFill>
          <a:ln w="12700">
            <a:solidFill>
              <a:srgbClr val="FF9A3D"/>
            </a:solidFill>
            <a:prstDash val="solid"/>
          </a:ln>
        </p:spPr>
      </p:sp>
      <p:sp>
        <p:nvSpPr>
          <p:cNvPr id="5" name="Text 728"/>
          <p:cNvSpPr txBox="1"/>
          <p:nvPr/>
        </p:nvSpPr>
        <p:spPr>
          <a:xfrm>
            <a:off x="7223760" y="384048"/>
            <a:ext cx="14630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ACTIVITY</a:t>
            </a:r>
            <a:endParaRPr lang="en-US" sz="1600" dirty="0"/>
          </a:p>
        </p:txBody>
      </p:sp>
      <p:sp>
        <p:nvSpPr>
          <p:cNvPr id="6" name="Card 729"/>
          <p:cNvSpPr/>
          <p:nvPr/>
        </p:nvSpPr>
        <p:spPr>
          <a:xfrm>
            <a:off x="457200" y="1188720"/>
            <a:ext cx="4114800" cy="781812"/>
          </a:xfrm>
          <a:prstGeom prst="roundRect">
            <a:avLst>
              <a:gd name="adj" fmla="val 14035"/>
            </a:avLst>
          </a:prstGeom>
          <a:solidFill>
            <a:srgbClr val="FFFFFF"/>
          </a:solidFill>
          <a:ln/>
          <a:effectLst>
            <a:outerShdw sx="100000" sy="100000" kx="0" ky="0" algn="bl" rotWithShape="0" blurRad="76200" dist="25400" dir="5400000">
              <a:srgbClr val="2B2250">
                <a:alpha val="15000"/>
              </a:srgbClr>
            </a:outerShdw>
          </a:effectLst>
        </p:spPr>
      </p:sp>
      <p:sp>
        <p:nvSpPr>
          <p:cNvPr id="7" name="Dot 730"/>
          <p:cNvSpPr/>
          <p:nvPr/>
        </p:nvSpPr>
        <p:spPr>
          <a:xfrm>
            <a:off x="594360" y="1351026"/>
            <a:ext cx="457200" cy="457200"/>
          </a:xfrm>
          <a:prstGeom prst="ellipse">
            <a:avLst/>
          </a:prstGeom>
          <a:solidFill>
            <a:srgbClr val="FF9A3D"/>
          </a:solidFill>
          <a:ln w="12700">
            <a:solidFill>
              <a:srgbClr val="FFFFFF"/>
            </a:solidFill>
            <a:prstDash val="solid"/>
          </a:ln>
        </p:spPr>
      </p:sp>
      <p:sp>
        <p:nvSpPr>
          <p:cNvPr id="8" name="Text 731"/>
          <p:cNvSpPr txBox="1"/>
          <p:nvPr/>
        </p:nvSpPr>
        <p:spPr>
          <a:xfrm>
            <a:off x="594360" y="135102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Text 732"/>
          <p:cNvSpPr txBox="1"/>
          <p:nvPr/>
        </p:nvSpPr>
        <p:spPr>
          <a:xfrm>
            <a:off x="1188720" y="1188720"/>
            <a:ext cx="3200400" cy="781812"/>
          </a:xfrm>
          <a:prstGeom prst="rect">
            <a:avLst/>
          </a:prstGeom>
          <a:noFill/>
          <a:ln/>
        </p:spPr>
        <p:txBody>
          <a:bodyPr wrap="square" lIns="0" tIns="0" rIns="0" bIns="0" rtlCol="0" anchor="ctr"/>
          <a:lstStyle/>
          <a:p>
            <a:pPr indent="0" marL="0">
              <a:buNone/>
            </a:pPr>
            <a:r>
              <a:rPr lang="en-US" sz="1700" dirty="0">
                <a:solidFill>
                  <a:schemeClr val="tx1"/>
                </a:solidFill>
                <a:latin typeface="Calibri" pitchFamily="34" charset="0"/>
                <a:ea typeface="Calibri" pitchFamily="34" charset="-122"/>
                <a:cs typeface="Calibri" pitchFamily="34" charset="-120"/>
              </a:rPr>
              <a:t>Go to Chrome Music Lab.</a:t>
            </a:r>
            <a:endParaRPr lang="en-US" sz="1700" dirty="0"/>
          </a:p>
        </p:txBody>
      </p:sp>
      <p:sp>
        <p:nvSpPr>
          <p:cNvPr id="10" name="Card 733"/>
          <p:cNvSpPr/>
          <p:nvPr/>
        </p:nvSpPr>
        <p:spPr>
          <a:xfrm>
            <a:off x="457200" y="2080260"/>
            <a:ext cx="4114800" cy="781812"/>
          </a:xfrm>
          <a:prstGeom prst="roundRect">
            <a:avLst>
              <a:gd name="adj" fmla="val 14035"/>
            </a:avLst>
          </a:prstGeom>
          <a:solidFill>
            <a:srgbClr val="FFFFFF"/>
          </a:solidFill>
          <a:ln/>
          <a:effectLst>
            <a:outerShdw sx="100000" sy="100000" kx="0" ky="0" algn="bl" rotWithShape="0" blurRad="76200" dist="25400" dir="5400000">
              <a:srgbClr val="2B2250">
                <a:alpha val="15000"/>
              </a:srgbClr>
            </a:outerShdw>
          </a:effectLst>
        </p:spPr>
      </p:sp>
      <p:sp>
        <p:nvSpPr>
          <p:cNvPr id="11" name="Dot 734"/>
          <p:cNvSpPr/>
          <p:nvPr/>
        </p:nvSpPr>
        <p:spPr>
          <a:xfrm>
            <a:off x="594360" y="2242566"/>
            <a:ext cx="457200" cy="457200"/>
          </a:xfrm>
          <a:prstGeom prst="ellipse">
            <a:avLst/>
          </a:prstGeom>
          <a:solidFill>
            <a:srgbClr val="FF9A3D"/>
          </a:solidFill>
          <a:ln w="12700">
            <a:solidFill>
              <a:srgbClr val="FFFFFF"/>
            </a:solidFill>
            <a:prstDash val="solid"/>
          </a:ln>
        </p:spPr>
      </p:sp>
      <p:sp>
        <p:nvSpPr>
          <p:cNvPr id="12" name="Text 735"/>
          <p:cNvSpPr txBox="1"/>
          <p:nvPr/>
        </p:nvSpPr>
        <p:spPr>
          <a:xfrm>
            <a:off x="594360" y="224256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736"/>
          <p:cNvSpPr txBox="1"/>
          <p:nvPr/>
        </p:nvSpPr>
        <p:spPr>
          <a:xfrm>
            <a:off x="1188720" y="2080260"/>
            <a:ext cx="3200400" cy="781812"/>
          </a:xfrm>
          <a:prstGeom prst="rect">
            <a:avLst/>
          </a:prstGeom>
          <a:noFill/>
          <a:ln/>
        </p:spPr>
        <p:txBody>
          <a:bodyPr wrap="square" lIns="0" tIns="0" rIns="0" bIns="0" rtlCol="0" anchor="ctr"/>
          <a:lstStyle/>
          <a:p>
            <a:pPr indent="0" marL="0">
              <a:buNone/>
            </a:pPr>
            <a:r>
              <a:rPr lang="en-US" sz="1700" dirty="0">
                <a:solidFill>
                  <a:schemeClr val="tx1"/>
                </a:solidFill>
                <a:latin typeface="Calibri" pitchFamily="34" charset="0"/>
                <a:ea typeface="Calibri" pitchFamily="34" charset="-122"/>
                <a:cs typeface="Calibri" pitchFamily="34" charset="-120"/>
              </a:rPr>
              <a:t>Open Kandinsky and draw lines and shapes.</a:t>
            </a:r>
            <a:endParaRPr lang="en-US" sz="1700" dirty="0"/>
          </a:p>
        </p:txBody>
      </p:sp>
      <p:sp>
        <p:nvSpPr>
          <p:cNvPr id="14" name="Card 737"/>
          <p:cNvSpPr/>
          <p:nvPr/>
        </p:nvSpPr>
        <p:spPr>
          <a:xfrm>
            <a:off x="457200" y="2971800"/>
            <a:ext cx="4114800" cy="781812"/>
          </a:xfrm>
          <a:prstGeom prst="roundRect">
            <a:avLst>
              <a:gd name="adj" fmla="val 14035"/>
            </a:avLst>
          </a:prstGeom>
          <a:solidFill>
            <a:srgbClr val="FFFFFF"/>
          </a:solidFill>
          <a:ln/>
          <a:effectLst>
            <a:outerShdw sx="100000" sy="100000" kx="0" ky="0" algn="bl" rotWithShape="0" blurRad="76200" dist="25400" dir="5400000">
              <a:srgbClr val="2B2250">
                <a:alpha val="15000"/>
              </a:srgbClr>
            </a:outerShdw>
          </a:effectLst>
        </p:spPr>
      </p:sp>
      <p:sp>
        <p:nvSpPr>
          <p:cNvPr id="15" name="Dot 738"/>
          <p:cNvSpPr/>
          <p:nvPr/>
        </p:nvSpPr>
        <p:spPr>
          <a:xfrm>
            <a:off x="594360" y="3134106"/>
            <a:ext cx="457200" cy="457200"/>
          </a:xfrm>
          <a:prstGeom prst="ellipse">
            <a:avLst/>
          </a:prstGeom>
          <a:solidFill>
            <a:srgbClr val="FF9A3D"/>
          </a:solidFill>
          <a:ln w="12700">
            <a:solidFill>
              <a:srgbClr val="FFFFFF"/>
            </a:solidFill>
            <a:prstDash val="solid"/>
          </a:ln>
        </p:spPr>
      </p:sp>
      <p:sp>
        <p:nvSpPr>
          <p:cNvPr id="16" name="Text 739"/>
          <p:cNvSpPr txBox="1"/>
          <p:nvPr/>
        </p:nvSpPr>
        <p:spPr>
          <a:xfrm>
            <a:off x="594360" y="313410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740"/>
          <p:cNvSpPr txBox="1"/>
          <p:nvPr/>
        </p:nvSpPr>
        <p:spPr>
          <a:xfrm>
            <a:off x="1188720" y="2971800"/>
            <a:ext cx="3200400" cy="781812"/>
          </a:xfrm>
          <a:prstGeom prst="rect">
            <a:avLst/>
          </a:prstGeom>
          <a:noFill/>
          <a:ln/>
        </p:spPr>
        <p:txBody>
          <a:bodyPr wrap="square" lIns="0" tIns="0" rIns="0" bIns="0" rtlCol="0" anchor="ctr"/>
          <a:lstStyle/>
          <a:p>
            <a:pPr indent="0" marL="0">
              <a:buNone/>
            </a:pPr>
            <a:r>
              <a:rPr lang="en-US" sz="1700" dirty="0">
                <a:solidFill>
                  <a:schemeClr val="tx1"/>
                </a:solidFill>
                <a:latin typeface="Calibri" pitchFamily="34" charset="0"/>
                <a:ea typeface="Calibri" pitchFamily="34" charset="-122"/>
                <a:cs typeface="Calibri" pitchFamily="34" charset="-120"/>
              </a:rPr>
              <a:t>Listen to the sounds you make!</a:t>
            </a:r>
            <a:endParaRPr lang="en-US" sz="1700" dirty="0"/>
          </a:p>
        </p:txBody>
      </p:sp>
      <p:sp>
        <p:nvSpPr>
          <p:cNvPr id="18" name="Card 741"/>
          <p:cNvSpPr/>
          <p:nvPr/>
        </p:nvSpPr>
        <p:spPr>
          <a:xfrm>
            <a:off x="457200" y="3863340"/>
            <a:ext cx="4114800" cy="781812"/>
          </a:xfrm>
          <a:prstGeom prst="roundRect">
            <a:avLst>
              <a:gd name="adj" fmla="val 14035"/>
            </a:avLst>
          </a:prstGeom>
          <a:solidFill>
            <a:srgbClr val="FFFFFF"/>
          </a:solidFill>
          <a:ln/>
          <a:effectLst>
            <a:outerShdw sx="100000" sy="100000" kx="0" ky="0" algn="bl" rotWithShape="0" blurRad="76200" dist="25400" dir="5400000">
              <a:srgbClr val="2B2250">
                <a:alpha val="15000"/>
              </a:srgbClr>
            </a:outerShdw>
          </a:effectLst>
        </p:spPr>
      </p:sp>
      <p:sp>
        <p:nvSpPr>
          <p:cNvPr id="19" name="Dot 742"/>
          <p:cNvSpPr/>
          <p:nvPr/>
        </p:nvSpPr>
        <p:spPr>
          <a:xfrm>
            <a:off x="594360" y="4025646"/>
            <a:ext cx="457200" cy="457200"/>
          </a:xfrm>
          <a:prstGeom prst="ellipse">
            <a:avLst/>
          </a:prstGeom>
          <a:solidFill>
            <a:srgbClr val="FF9A3D"/>
          </a:solidFill>
          <a:ln w="12700">
            <a:solidFill>
              <a:srgbClr val="FFFFFF"/>
            </a:solidFill>
            <a:prstDash val="solid"/>
          </a:ln>
        </p:spPr>
      </p:sp>
      <p:sp>
        <p:nvSpPr>
          <p:cNvPr id="20" name="Text 743"/>
          <p:cNvSpPr txBox="1"/>
          <p:nvPr/>
        </p:nvSpPr>
        <p:spPr>
          <a:xfrm>
            <a:off x="594360" y="402564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1" name="Text 744"/>
          <p:cNvSpPr txBox="1"/>
          <p:nvPr/>
        </p:nvSpPr>
        <p:spPr>
          <a:xfrm>
            <a:off x="1188720" y="3863340"/>
            <a:ext cx="3200400" cy="781812"/>
          </a:xfrm>
          <a:prstGeom prst="rect">
            <a:avLst/>
          </a:prstGeom>
          <a:noFill/>
          <a:ln/>
        </p:spPr>
        <p:txBody>
          <a:bodyPr wrap="square" lIns="0" tIns="0" rIns="0" bIns="0" rtlCol="0" anchor="ctr"/>
          <a:lstStyle/>
          <a:p>
            <a:pPr indent="0" marL="0">
              <a:buNone/>
            </a:pPr>
            <a:r>
              <a:rPr lang="en-US" sz="1700" dirty="0">
                <a:solidFill>
                  <a:schemeClr val="tx1"/>
                </a:solidFill>
                <a:latin typeface="Calibri" pitchFamily="34" charset="0"/>
                <a:ea typeface="Calibri" pitchFamily="34" charset="-122"/>
                <a:cs typeface="Calibri" pitchFamily="34" charset="-120"/>
              </a:rPr>
              <a:t>Tell a partner: what did you create?</a:t>
            </a:r>
            <a:endParaRPr lang="en-US" sz="1700" dirty="0"/>
          </a:p>
        </p:txBody>
      </p:sp>
      <p:sp>
        <p:nvSpPr>
          <p:cNvPr id="22" name="Card 745"/>
          <p:cNvSpPr/>
          <p:nvPr/>
        </p:nvSpPr>
        <p:spPr>
          <a:xfrm>
            <a:off x="4617720" y="1097280"/>
            <a:ext cx="4206240" cy="2999232"/>
          </a:xfrm>
          <a:prstGeom prst="roundRect">
            <a:avLst>
              <a:gd name="adj" fmla="val 3659"/>
            </a:avLst>
          </a:prstGeom>
          <a:solidFill>
            <a:srgbClr val="FFFFFF"/>
          </a:solidFill>
          <a:ln/>
          <a:effectLst>
            <a:outerShdw sx="100000" sy="100000" kx="0" ky="0" algn="bl" rotWithShape="0" blurRad="76200" dist="25400" dir="5400000">
              <a:srgbClr val="2B2250">
                <a:alpha val="15000"/>
              </a:srgbClr>
            </a:outerShdw>
          </a:effectLst>
        </p:spPr>
      </p:sp>
      <p:pic>
        <p:nvPicPr>
          <p:cNvPr id="23" name="Picture 746" descr="Activity picture">    </p:cNvPr>
          <p:cNvPicPr>
            <a:picLocks noChangeAspect="1"/>
          </p:cNvPicPr>
          <p:nvPr/>
        </p:nvPicPr>
        <p:blipFill>
          <a:blip r:embed="rId1"/>
          <a:stretch>
            <a:fillRect/>
          </a:stretch>
        </p:blipFill>
        <p:spPr>
          <a:xfrm>
            <a:off x="4709160" y="1188720"/>
            <a:ext cx="4023360" cy="2816352"/>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Accent 747"/>
          <p:cNvSpPr/>
          <p:nvPr/>
        </p:nvSpPr>
        <p:spPr>
          <a:xfrm>
            <a:off x="0" y="274320"/>
            <a:ext cx="164592" cy="685800"/>
          </a:xfrm>
          <a:prstGeom prst="rect">
            <a:avLst/>
          </a:prstGeom>
          <a:solidFill>
            <a:srgbClr val="FF9A3D"/>
          </a:solidFill>
          <a:ln w="12700">
            <a:solidFill>
              <a:srgbClr val="FF9A3D"/>
            </a:solidFill>
            <a:prstDash val="solid"/>
          </a:ln>
        </p:spPr>
      </p:sp>
      <p:sp>
        <p:nvSpPr>
          <p:cNvPr id="3" name="Text 748"/>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Quick quiz</a:t>
            </a:r>
            <a:endParaRPr lang="en-US" sz="3000" dirty="0"/>
          </a:p>
        </p:txBody>
      </p:sp>
      <p:sp>
        <p:nvSpPr>
          <p:cNvPr id="4" name="Text 749"/>
          <p:cNvSpPr txBox="1"/>
          <p:nvPr/>
        </p:nvSpPr>
        <p:spPr>
          <a:xfrm>
            <a:off x="457200" y="1051560"/>
            <a:ext cx="8229600" cy="914400"/>
          </a:xfrm>
          <a:prstGeom prst="rect">
            <a:avLst/>
          </a:prstGeom>
          <a:noFill/>
          <a:ln/>
        </p:spPr>
        <p:txBody>
          <a:bodyPr wrap="square" lIns="0" tIns="0" rIns="0" bIns="0" rtlCol="0" anchor="ctr"/>
          <a:lstStyle/>
          <a:p>
            <a:pPr indent="0" marL="0">
              <a:buNone/>
            </a:pPr>
            <a:r>
              <a:rPr lang="en-US" sz="2600" b="1" dirty="0">
                <a:solidFill>
                  <a:schemeClr val="tx1"/>
                </a:solidFill>
                <a:latin typeface="Calibri" pitchFamily="34" charset="0"/>
                <a:ea typeface="Calibri" pitchFamily="34" charset="-122"/>
                <a:cs typeface="Calibri" pitchFamily="34" charset="-120"/>
              </a:rPr>
              <a:t>Which can you ADD yourself on a website like Scratch?</a:t>
            </a:r>
            <a:endParaRPr lang="en-US" sz="2600" dirty="0"/>
          </a:p>
        </p:txBody>
      </p:sp>
      <p:sp>
        <p:nvSpPr>
          <p:cNvPr id="5" name="Card 750"/>
          <p:cNvSpPr/>
          <p:nvPr/>
        </p:nvSpPr>
        <p:spPr>
          <a:xfrm>
            <a:off x="457200" y="219456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6" name="Dot 751"/>
          <p:cNvSpPr/>
          <p:nvPr/>
        </p:nvSpPr>
        <p:spPr>
          <a:xfrm>
            <a:off x="594360" y="2322576"/>
            <a:ext cx="457200" cy="457200"/>
          </a:xfrm>
          <a:prstGeom prst="ellipse">
            <a:avLst/>
          </a:prstGeom>
          <a:solidFill>
            <a:srgbClr val="FF9A3D"/>
          </a:solidFill>
          <a:ln w="12700">
            <a:solidFill>
              <a:srgbClr val="FFFFFF"/>
            </a:solidFill>
            <a:prstDash val="solid"/>
          </a:ln>
        </p:spPr>
      </p:sp>
      <p:sp>
        <p:nvSpPr>
          <p:cNvPr id="7" name="Text 752"/>
          <p:cNvSpPr txBox="1"/>
          <p:nvPr/>
        </p:nvSpPr>
        <p:spPr>
          <a:xfrm>
            <a:off x="594360" y="2322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8" name="Text 753"/>
          <p:cNvSpPr txBox="1"/>
          <p:nvPr/>
        </p:nvSpPr>
        <p:spPr>
          <a:xfrm>
            <a:off x="1188720" y="219456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Comments and projects</a:t>
            </a:r>
            <a:endParaRPr lang="en-US" sz="2200" dirty="0"/>
          </a:p>
        </p:txBody>
      </p:sp>
      <p:sp>
        <p:nvSpPr>
          <p:cNvPr id="9" name="Card 754"/>
          <p:cNvSpPr/>
          <p:nvPr/>
        </p:nvSpPr>
        <p:spPr>
          <a:xfrm>
            <a:off x="457200" y="301752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10" name="Dot 755"/>
          <p:cNvSpPr/>
          <p:nvPr/>
        </p:nvSpPr>
        <p:spPr>
          <a:xfrm>
            <a:off x="594360" y="3145536"/>
            <a:ext cx="457200" cy="457200"/>
          </a:xfrm>
          <a:prstGeom prst="ellipse">
            <a:avLst/>
          </a:prstGeom>
          <a:solidFill>
            <a:srgbClr val="FF9A3D"/>
          </a:solidFill>
          <a:ln w="12700">
            <a:solidFill>
              <a:srgbClr val="FFFFFF"/>
            </a:solidFill>
            <a:prstDash val="solid"/>
          </a:ln>
        </p:spPr>
      </p:sp>
      <p:sp>
        <p:nvSpPr>
          <p:cNvPr id="11" name="Text 756"/>
          <p:cNvSpPr txBox="1"/>
          <p:nvPr/>
        </p:nvSpPr>
        <p:spPr>
          <a:xfrm>
            <a:off x="594360" y="314553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757"/>
          <p:cNvSpPr txBox="1"/>
          <p:nvPr/>
        </p:nvSpPr>
        <p:spPr>
          <a:xfrm>
            <a:off x="1188720" y="301752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The website’s main menu</a:t>
            </a:r>
            <a:endParaRPr lang="en-US" sz="2200" dirty="0"/>
          </a:p>
        </p:txBody>
      </p:sp>
      <p:sp>
        <p:nvSpPr>
          <p:cNvPr id="13" name="Card 758"/>
          <p:cNvSpPr/>
          <p:nvPr/>
        </p:nvSpPr>
        <p:spPr>
          <a:xfrm>
            <a:off x="457200" y="384048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14" name="Dot 759"/>
          <p:cNvSpPr/>
          <p:nvPr/>
        </p:nvSpPr>
        <p:spPr>
          <a:xfrm>
            <a:off x="594360" y="3968496"/>
            <a:ext cx="457200" cy="457200"/>
          </a:xfrm>
          <a:prstGeom prst="ellipse">
            <a:avLst/>
          </a:prstGeom>
          <a:solidFill>
            <a:srgbClr val="FF9A3D"/>
          </a:solidFill>
          <a:ln w="12700">
            <a:solidFill>
              <a:srgbClr val="FFFFFF"/>
            </a:solidFill>
            <a:prstDash val="solid"/>
          </a:ln>
        </p:spPr>
      </p:sp>
      <p:sp>
        <p:nvSpPr>
          <p:cNvPr id="15" name="Text 760"/>
          <p:cNvSpPr txBox="1"/>
          <p:nvPr/>
        </p:nvSpPr>
        <p:spPr>
          <a:xfrm>
            <a:off x="594360" y="39684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6" name="Text 761"/>
          <p:cNvSpPr txBox="1"/>
          <p:nvPr/>
        </p:nvSpPr>
        <p:spPr>
          <a:xfrm>
            <a:off x="1188720" y="384048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The company logo</a:t>
            </a:r>
            <a:endParaRPr lang="en-US" sz="2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Accent 762"/>
          <p:cNvSpPr/>
          <p:nvPr/>
        </p:nvSpPr>
        <p:spPr>
          <a:xfrm>
            <a:off x="0" y="274320"/>
            <a:ext cx="164592" cy="685800"/>
          </a:xfrm>
          <a:prstGeom prst="rect">
            <a:avLst/>
          </a:prstGeom>
          <a:solidFill>
            <a:srgbClr val="2E9E5B"/>
          </a:solidFill>
          <a:ln w="12700">
            <a:solidFill>
              <a:srgbClr val="2E9E5B"/>
            </a:solidFill>
            <a:prstDash val="solid"/>
          </a:ln>
        </p:spPr>
      </p:sp>
      <p:sp>
        <p:nvSpPr>
          <p:cNvPr id="3" name="Text 763"/>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 The answer</a:t>
            </a:r>
            <a:endParaRPr lang="en-US" sz="3000" dirty="0"/>
          </a:p>
        </p:txBody>
      </p:sp>
      <p:sp>
        <p:nvSpPr>
          <p:cNvPr id="4" name="Text 764"/>
          <p:cNvSpPr txBox="1"/>
          <p:nvPr/>
        </p:nvSpPr>
        <p:spPr>
          <a:xfrm>
            <a:off x="457200" y="1051560"/>
            <a:ext cx="8229600" cy="914400"/>
          </a:xfrm>
          <a:prstGeom prst="rect">
            <a:avLst/>
          </a:prstGeom>
          <a:noFill/>
          <a:ln/>
        </p:spPr>
        <p:txBody>
          <a:bodyPr wrap="square" lIns="0" tIns="0" rIns="0" bIns="0" rtlCol="0" anchor="ctr"/>
          <a:lstStyle/>
          <a:p>
            <a:pPr indent="0" marL="0">
              <a:buNone/>
            </a:pPr>
            <a:r>
              <a:rPr lang="en-US" sz="2600" b="1" dirty="0">
                <a:solidFill>
                  <a:schemeClr val="tx1"/>
                </a:solidFill>
                <a:latin typeface="Calibri" pitchFamily="34" charset="0"/>
                <a:ea typeface="Calibri" pitchFamily="34" charset="-122"/>
                <a:cs typeface="Calibri" pitchFamily="34" charset="-120"/>
              </a:rPr>
              <a:t>Which can you ADD yourself on a website like Scratch?</a:t>
            </a:r>
            <a:endParaRPr lang="en-US" sz="2600" dirty="0"/>
          </a:p>
        </p:txBody>
      </p:sp>
      <p:sp>
        <p:nvSpPr>
          <p:cNvPr id="5" name="Card 765"/>
          <p:cNvSpPr/>
          <p:nvPr/>
        </p:nvSpPr>
        <p:spPr>
          <a:xfrm>
            <a:off x="457200" y="2194560"/>
            <a:ext cx="8229600" cy="713232"/>
          </a:xfrm>
          <a:prstGeom prst="roundRect">
            <a:avLst>
              <a:gd name="adj" fmla="val 15385"/>
            </a:avLst>
          </a:prstGeom>
          <a:solidFill>
            <a:srgbClr val="D9F5E6"/>
          </a:solidFill>
          <a:ln w="38100">
            <a:solidFill>
              <a:srgbClr val="2E9E5B"/>
            </a:solidFill>
            <a:prstDash val="solid"/>
          </a:ln>
          <a:effectLst>
            <a:outerShdw sx="100000" sy="100000" kx="0" ky="0" algn="bl" rotWithShape="0" blurRad="76200" dist="25400" dir="5400000">
              <a:srgbClr val="2B2250">
                <a:alpha val="15000"/>
              </a:srgbClr>
            </a:outerShdw>
          </a:effectLst>
        </p:spPr>
      </p:sp>
      <p:sp>
        <p:nvSpPr>
          <p:cNvPr id="6" name="Dot 766"/>
          <p:cNvSpPr/>
          <p:nvPr/>
        </p:nvSpPr>
        <p:spPr>
          <a:xfrm>
            <a:off x="594360" y="2322576"/>
            <a:ext cx="457200" cy="457200"/>
          </a:xfrm>
          <a:prstGeom prst="ellipse">
            <a:avLst/>
          </a:prstGeom>
          <a:solidFill>
            <a:srgbClr val="2E9E5B"/>
          </a:solidFill>
          <a:ln w="12700">
            <a:solidFill>
              <a:srgbClr val="FFFFFF"/>
            </a:solidFill>
            <a:prstDash val="solid"/>
          </a:ln>
        </p:spPr>
      </p:sp>
      <p:sp>
        <p:nvSpPr>
          <p:cNvPr id="7" name="Text 767"/>
          <p:cNvSpPr txBox="1"/>
          <p:nvPr/>
        </p:nvSpPr>
        <p:spPr>
          <a:xfrm>
            <a:off x="594360" y="2322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8" name="Text 768"/>
          <p:cNvSpPr txBox="1"/>
          <p:nvPr/>
        </p:nvSpPr>
        <p:spPr>
          <a:xfrm>
            <a:off x="1188720" y="2194560"/>
            <a:ext cx="7406640" cy="713232"/>
          </a:xfrm>
          <a:prstGeom prst="rect">
            <a:avLst/>
          </a:prstGeom>
          <a:noFill/>
          <a:ln/>
        </p:spPr>
        <p:txBody>
          <a:bodyPr wrap="square" lIns="0" tIns="0" rIns="0" bIns="0" rtlCol="0" anchor="ctr"/>
          <a:lstStyle/>
          <a:p>
            <a:pPr indent="0" marL="0">
              <a:buNone/>
            </a:pPr>
            <a:r>
              <a:rPr lang="en-US" sz="2200" b="1" dirty="0">
                <a:solidFill>
                  <a:srgbClr val="2B2250"/>
                </a:solidFill>
                <a:latin typeface="Calibri" pitchFamily="34" charset="0"/>
                <a:ea typeface="Calibri" pitchFamily="34" charset="-122"/>
                <a:cs typeface="Calibri" pitchFamily="34" charset="-120"/>
              </a:rPr>
              <a:t>Comments and projects</a:t>
            </a:r>
            <a:endParaRPr lang="en-US" sz="2200" dirty="0"/>
          </a:p>
        </p:txBody>
      </p:sp>
      <p:sp>
        <p:nvSpPr>
          <p:cNvPr id="9" name="Card 769"/>
          <p:cNvSpPr/>
          <p:nvPr/>
        </p:nvSpPr>
        <p:spPr>
          <a:xfrm>
            <a:off x="457200" y="3017520"/>
            <a:ext cx="8229600" cy="713232"/>
          </a:xfrm>
          <a:prstGeom prst="roundRect">
            <a:avLst>
              <a:gd name="adj" fmla="val 15385"/>
            </a:avLst>
          </a:prstGeom>
          <a:solidFill>
            <a:srgbClr val="FFFFFF"/>
          </a:solidFill>
          <a:ln w="19050">
            <a:solidFill>
              <a:srgbClr val="DDDAEA"/>
            </a:solidFill>
            <a:prstDash val="solid"/>
          </a:ln>
          <a:effectLst>
            <a:outerShdw sx="100000" sy="100000" kx="0" ky="0" algn="bl" rotWithShape="0" blurRad="76200" dist="25400" dir="5400000">
              <a:srgbClr val="2B2250">
                <a:alpha val="15000"/>
              </a:srgbClr>
            </a:outerShdw>
          </a:effectLst>
        </p:spPr>
      </p:sp>
      <p:sp>
        <p:nvSpPr>
          <p:cNvPr id="10" name="Dot 770"/>
          <p:cNvSpPr/>
          <p:nvPr/>
        </p:nvSpPr>
        <p:spPr>
          <a:xfrm>
            <a:off x="594360" y="3145536"/>
            <a:ext cx="457200" cy="457200"/>
          </a:xfrm>
          <a:prstGeom prst="ellipse">
            <a:avLst/>
          </a:prstGeom>
          <a:solidFill>
            <a:srgbClr val="CFCBE0"/>
          </a:solidFill>
          <a:ln w="12700">
            <a:solidFill>
              <a:srgbClr val="FFFFFF"/>
            </a:solidFill>
            <a:prstDash val="solid"/>
          </a:ln>
        </p:spPr>
      </p:sp>
      <p:sp>
        <p:nvSpPr>
          <p:cNvPr id="11" name="Text 771"/>
          <p:cNvSpPr txBox="1"/>
          <p:nvPr/>
        </p:nvSpPr>
        <p:spPr>
          <a:xfrm>
            <a:off x="594360" y="314553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772"/>
          <p:cNvSpPr txBox="1"/>
          <p:nvPr/>
        </p:nvSpPr>
        <p:spPr>
          <a:xfrm>
            <a:off x="1188720" y="3017520"/>
            <a:ext cx="7406640" cy="713232"/>
          </a:xfrm>
          <a:prstGeom prst="rect">
            <a:avLst/>
          </a:prstGeom>
          <a:noFill/>
          <a:ln/>
        </p:spPr>
        <p:txBody>
          <a:bodyPr wrap="square" lIns="0" tIns="0" rIns="0" bIns="0" rtlCol="0" anchor="ctr"/>
          <a:lstStyle/>
          <a:p>
            <a:pPr indent="0" marL="0">
              <a:buNone/>
            </a:pPr>
            <a:r>
              <a:rPr lang="en-US" sz="2200" dirty="0">
                <a:solidFill>
                  <a:srgbClr val="8A86A3"/>
                </a:solidFill>
                <a:latin typeface="Calibri" pitchFamily="34" charset="0"/>
                <a:ea typeface="Calibri" pitchFamily="34" charset="-122"/>
                <a:cs typeface="Calibri" pitchFamily="34" charset="-120"/>
              </a:rPr>
              <a:t>The website’s main menu</a:t>
            </a:r>
            <a:endParaRPr lang="en-US" sz="2200" dirty="0"/>
          </a:p>
        </p:txBody>
      </p:sp>
      <p:sp>
        <p:nvSpPr>
          <p:cNvPr id="13" name="Card 773"/>
          <p:cNvSpPr/>
          <p:nvPr/>
        </p:nvSpPr>
        <p:spPr>
          <a:xfrm>
            <a:off x="457200" y="3840480"/>
            <a:ext cx="8229600" cy="713232"/>
          </a:xfrm>
          <a:prstGeom prst="roundRect">
            <a:avLst>
              <a:gd name="adj" fmla="val 15385"/>
            </a:avLst>
          </a:prstGeom>
          <a:solidFill>
            <a:srgbClr val="FFFFFF"/>
          </a:solidFill>
          <a:ln w="19050">
            <a:solidFill>
              <a:srgbClr val="DDDAEA"/>
            </a:solidFill>
            <a:prstDash val="solid"/>
          </a:ln>
          <a:effectLst>
            <a:outerShdw sx="100000" sy="100000" kx="0" ky="0" algn="bl" rotWithShape="0" blurRad="76200" dist="25400" dir="5400000">
              <a:srgbClr val="2B2250">
                <a:alpha val="15000"/>
              </a:srgbClr>
            </a:outerShdw>
          </a:effectLst>
        </p:spPr>
      </p:sp>
      <p:sp>
        <p:nvSpPr>
          <p:cNvPr id="14" name="Dot 774"/>
          <p:cNvSpPr/>
          <p:nvPr/>
        </p:nvSpPr>
        <p:spPr>
          <a:xfrm>
            <a:off x="594360" y="3968496"/>
            <a:ext cx="457200" cy="457200"/>
          </a:xfrm>
          <a:prstGeom prst="ellipse">
            <a:avLst/>
          </a:prstGeom>
          <a:solidFill>
            <a:srgbClr val="CFCBE0"/>
          </a:solidFill>
          <a:ln w="12700">
            <a:solidFill>
              <a:srgbClr val="FFFFFF"/>
            </a:solidFill>
            <a:prstDash val="solid"/>
          </a:ln>
        </p:spPr>
      </p:sp>
      <p:sp>
        <p:nvSpPr>
          <p:cNvPr id="15" name="Text 775"/>
          <p:cNvSpPr txBox="1"/>
          <p:nvPr/>
        </p:nvSpPr>
        <p:spPr>
          <a:xfrm>
            <a:off x="594360" y="39684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6" name="Text 776"/>
          <p:cNvSpPr txBox="1"/>
          <p:nvPr/>
        </p:nvSpPr>
        <p:spPr>
          <a:xfrm>
            <a:off x="1188720" y="3840480"/>
            <a:ext cx="7406640" cy="713232"/>
          </a:xfrm>
          <a:prstGeom prst="rect">
            <a:avLst/>
          </a:prstGeom>
          <a:noFill/>
          <a:ln/>
        </p:spPr>
        <p:txBody>
          <a:bodyPr wrap="square" lIns="0" tIns="0" rIns="0" bIns="0" rtlCol="0" anchor="ctr"/>
          <a:lstStyle/>
          <a:p>
            <a:pPr indent="0" marL="0">
              <a:buNone/>
            </a:pPr>
            <a:r>
              <a:rPr lang="en-US" sz="2200" dirty="0">
                <a:solidFill>
                  <a:srgbClr val="8A86A3"/>
                </a:solidFill>
                <a:latin typeface="Calibri" pitchFamily="34" charset="0"/>
                <a:ea typeface="Calibri" pitchFamily="34" charset="-122"/>
                <a:cs typeface="Calibri" pitchFamily="34" charset="-120"/>
              </a:rPr>
              <a:t>The company logo</a:t>
            </a:r>
            <a:endParaRPr lang="en-US" sz="2200" dirty="0"/>
          </a:p>
        </p:txBody>
      </p:sp>
      <p:sp>
        <p:nvSpPr>
          <p:cNvPr id="17" name="Text 777"/>
          <p:cNvSpPr txBox="1"/>
          <p:nvPr/>
        </p:nvSpPr>
        <p:spPr>
          <a:xfrm>
            <a:off x="457200" y="4572000"/>
            <a:ext cx="8229600" cy="457200"/>
          </a:xfrm>
          <a:prstGeom prst="rect">
            <a:avLst/>
          </a:prstGeom>
          <a:noFill/>
          <a:ln/>
        </p:spPr>
        <p:txBody>
          <a:bodyPr wrap="square" lIns="0" tIns="0" rIns="0" bIns="0" rtlCol="0" anchor="t"/>
          <a:lstStyle/>
          <a:p>
            <a:pPr algn="ctr" indent="0" marL="0">
              <a:buNone/>
            </a:pPr>
            <a:r>
              <a:rPr lang="en-US" sz="2000" b="1" dirty="0">
                <a:solidFill>
                  <a:srgbClr val="2E9E5B"/>
                </a:solidFill>
                <a:latin typeface="Calibri" pitchFamily="34" charset="0"/>
                <a:ea typeface="Calibri" pitchFamily="34" charset="-122"/>
                <a:cs typeface="Calibri" pitchFamily="34" charset="-120"/>
              </a:rPr>
              <a:t>You can add comments and remix projects, but not edit the page.</a:t>
            </a:r>
            <a:endParaRPr lang="en-US" sz="2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Accent 778"/>
          <p:cNvSpPr/>
          <p:nvPr/>
        </p:nvSpPr>
        <p:spPr>
          <a:xfrm>
            <a:off x="0" y="274320"/>
            <a:ext cx="164592" cy="685800"/>
          </a:xfrm>
          <a:prstGeom prst="rect">
            <a:avLst/>
          </a:prstGeom>
          <a:solidFill>
            <a:srgbClr val="FF9A3D"/>
          </a:solidFill>
          <a:ln w="12700">
            <a:solidFill>
              <a:srgbClr val="FF9A3D"/>
            </a:solidFill>
            <a:prstDash val="solid"/>
          </a:ln>
        </p:spPr>
      </p:sp>
      <p:sp>
        <p:nvSpPr>
          <p:cNvPr id="3" name="Text 779"/>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Think · Pair · Share</a:t>
            </a:r>
            <a:endParaRPr lang="en-US" sz="3000" dirty="0"/>
          </a:p>
        </p:txBody>
      </p:sp>
      <p:sp>
        <p:nvSpPr>
          <p:cNvPr id="4" name="Card 780"/>
          <p:cNvSpPr/>
          <p:nvPr/>
        </p:nvSpPr>
        <p:spPr>
          <a:xfrm>
            <a:off x="822960" y="1280160"/>
            <a:ext cx="7498080" cy="2194560"/>
          </a:xfrm>
          <a:prstGeom prst="roundRect">
            <a:avLst>
              <a:gd name="adj" fmla="val 5000"/>
            </a:avLst>
          </a:prstGeom>
          <a:solidFill>
            <a:srgbClr val="FFFFFF"/>
          </a:solidFill>
          <a:ln/>
          <a:effectLst>
            <a:outerShdw sx="100000" sy="100000" kx="0" ky="0" algn="bl" rotWithShape="0" blurRad="76200" dist="25400" dir="5400000">
              <a:srgbClr val="2B2250">
                <a:alpha val="15000"/>
              </a:srgbClr>
            </a:outerShdw>
          </a:effectLst>
        </p:spPr>
      </p:sp>
      <p:sp>
        <p:nvSpPr>
          <p:cNvPr id="5" name="Text 781"/>
          <p:cNvSpPr txBox="1"/>
          <p:nvPr/>
        </p:nvSpPr>
        <p:spPr>
          <a:xfrm>
            <a:off x="1188720" y="1371600"/>
            <a:ext cx="6766560" cy="2011680"/>
          </a:xfrm>
          <a:prstGeom prst="rect">
            <a:avLst/>
          </a:prstGeom>
          <a:noFill/>
          <a:ln/>
        </p:spPr>
        <p:txBody>
          <a:bodyPr wrap="square" lIns="0" tIns="0" rIns="0" bIns="0" rtlCol="0" anchor="ctr"/>
          <a:lstStyle/>
          <a:p>
            <a:pPr algn="ctr" indent="0" marL="0">
              <a:buNone/>
            </a:pPr>
            <a:r>
              <a:rPr lang="en-US" sz="2600" b="1" dirty="0">
                <a:solidFill>
                  <a:schemeClr val="tx1"/>
                </a:solidFill>
                <a:latin typeface="Calibri" pitchFamily="34" charset="0"/>
                <a:ea typeface="Calibri" pitchFamily="34" charset="-122"/>
                <a:cs typeface="Calibri" pitchFamily="34" charset="-120"/>
              </a:rPr>
              <a:t>Who made the content on a Scratch project page? Which parts can YOU change?</a:t>
            </a:r>
            <a:endParaRPr lang="en-US" sz="2600" dirty="0"/>
          </a:p>
        </p:txBody>
      </p:sp>
      <p:pic>
        <p:nvPicPr>
          <p:cNvPr id="6" name="Icon 782" descr="FaUserFriends">    </p:cNvPr>
          <p:cNvPicPr>
            <a:picLocks noChangeAspect="1"/>
          </p:cNvPicPr>
          <p:nvPr/>
        </p:nvPicPr>
        <p:blipFill>
          <a:blip r:embed="rId1"/>
          <a:stretch>
            <a:fillRect/>
          </a:stretch>
        </p:blipFill>
        <p:spPr>
          <a:xfrm>
            <a:off x="2468880" y="3749040"/>
            <a:ext cx="731520" cy="731520"/>
          </a:xfrm>
          <a:prstGeom prst="rect">
            <a:avLst/>
          </a:prstGeom>
        </p:spPr>
      </p:pic>
      <p:pic>
        <p:nvPicPr>
          <p:cNvPr id="7" name="Icon 783" descr="FaCommentDots">    </p:cNvPr>
          <p:cNvPicPr>
            <a:picLocks noChangeAspect="1"/>
          </p:cNvPicPr>
          <p:nvPr/>
        </p:nvPicPr>
        <p:blipFill>
          <a:blip r:embed="rId2"/>
          <a:stretch>
            <a:fillRect/>
          </a:stretch>
        </p:blipFill>
        <p:spPr>
          <a:xfrm>
            <a:off x="4206240" y="3749040"/>
            <a:ext cx="731520" cy="731520"/>
          </a:xfrm>
          <a:prstGeom prst="rect">
            <a:avLst/>
          </a:prstGeom>
        </p:spPr>
      </p:pic>
      <p:pic>
        <p:nvPicPr>
          <p:cNvPr id="8" name="Icon 784" descr="FaHandsHelping">    </p:cNvPr>
          <p:cNvPicPr>
            <a:picLocks noChangeAspect="1"/>
          </p:cNvPicPr>
          <p:nvPr/>
        </p:nvPicPr>
        <p:blipFill>
          <a:blip r:embed="rId3"/>
          <a:stretch>
            <a:fillRect/>
          </a:stretch>
        </p:blipFill>
        <p:spPr>
          <a:xfrm>
            <a:off x="5943600" y="3749040"/>
            <a:ext cx="731520" cy="731520"/>
          </a:xfrm>
          <a:prstGeom prst="rect">
            <a:avLst/>
          </a:prstGeom>
        </p:spPr>
      </p:pic>
      <p:sp>
        <p:nvSpPr>
          <p:cNvPr id="9" name="Text 785"/>
          <p:cNvSpPr txBox="1"/>
          <p:nvPr/>
        </p:nvSpPr>
        <p:spPr>
          <a:xfrm>
            <a:off x="2286000" y="4526280"/>
            <a:ext cx="1097280" cy="36576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Think</a:t>
            </a:r>
            <a:endParaRPr lang="en-US" sz="1600" dirty="0"/>
          </a:p>
        </p:txBody>
      </p:sp>
      <p:sp>
        <p:nvSpPr>
          <p:cNvPr id="10" name="Text 786"/>
          <p:cNvSpPr txBox="1"/>
          <p:nvPr/>
        </p:nvSpPr>
        <p:spPr>
          <a:xfrm>
            <a:off x="4023360" y="4526280"/>
            <a:ext cx="1097280" cy="36576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Pair</a:t>
            </a:r>
            <a:endParaRPr lang="en-US" sz="1600" dirty="0"/>
          </a:p>
        </p:txBody>
      </p:sp>
      <p:sp>
        <p:nvSpPr>
          <p:cNvPr id="11" name="Text 787"/>
          <p:cNvSpPr txBox="1"/>
          <p:nvPr/>
        </p:nvSpPr>
        <p:spPr>
          <a:xfrm>
            <a:off x="5760720" y="4526280"/>
            <a:ext cx="1097280" cy="365760"/>
          </a:xfrm>
          <a:prstGeom prst="rect">
            <a:avLst/>
          </a:prstGeom>
          <a:noFill/>
          <a:ln/>
        </p:spPr>
        <p:txBody>
          <a:bodyPr wrap="square" lIns="0" tIns="0" rIns="0" bIns="0" rtlCol="0" anchor="t"/>
          <a:lstStyle/>
          <a:p>
            <a:pPr algn="ctr" indent="0" marL="0">
              <a:buNone/>
            </a:pPr>
            <a:r>
              <a:rPr lang="en-US" sz="1600" b="1" dirty="0">
                <a:solidFill>
                  <a:schemeClr val="tx1"/>
                </a:solidFill>
                <a:latin typeface="Calibri" pitchFamily="34" charset="0"/>
                <a:ea typeface="Calibri" pitchFamily="34" charset="-122"/>
                <a:cs typeface="Calibri" pitchFamily="34" charset="-120"/>
              </a:rPr>
              <a:t>Share</a:t>
            </a:r>
            <a:endParaRPr lang="en-US" sz="16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Accent 788"/>
          <p:cNvSpPr/>
          <p:nvPr/>
        </p:nvSpPr>
        <p:spPr>
          <a:xfrm>
            <a:off x="0" y="0"/>
            <a:ext cx="457200" cy="5143500"/>
          </a:xfrm>
          <a:prstGeom prst="rect">
            <a:avLst/>
          </a:prstGeom>
          <a:solidFill>
            <a:srgbClr val="FF5C8A"/>
          </a:solidFill>
          <a:ln w="12700">
            <a:solidFill>
              <a:srgbClr val="FF5C8A"/>
            </a:solidFill>
            <a:prstDash val="solid"/>
          </a:ln>
        </p:spPr>
      </p:sp>
      <p:sp>
        <p:nvSpPr>
          <p:cNvPr id="3" name="Text 789"/>
          <p:cNvSpPr txBox="1"/>
          <p:nvPr/>
        </p:nvSpPr>
        <p:spPr>
          <a:xfrm>
            <a:off x="914400" y="822960"/>
            <a:ext cx="5486400" cy="457200"/>
          </a:xfrm>
          <a:prstGeom prst="rect">
            <a:avLst/>
          </a:prstGeom>
          <a:noFill/>
          <a:ln/>
        </p:spPr>
        <p:txBody>
          <a:bodyPr wrap="square" lIns="0" tIns="0" rIns="0" bIns="0" rtlCol="0" anchor="t"/>
          <a:lstStyle/>
          <a:p>
            <a:pPr indent="0" marL="0">
              <a:buNone/>
            </a:pPr>
            <a:r>
              <a:rPr lang="en-US" sz="2000" b="1" spc="400" kern="0" dirty="0">
                <a:solidFill>
                  <a:srgbClr val="FFD23F"/>
                </a:solidFill>
                <a:latin typeface="Calibri" pitchFamily="34" charset="0"/>
                <a:ea typeface="Calibri" pitchFamily="34" charset="-122"/>
                <a:cs typeface="Calibri" pitchFamily="34" charset="-120"/>
              </a:rPr>
              <a:t>LESSON 5</a:t>
            </a:r>
            <a:endParaRPr lang="en-US" sz="2000" dirty="0"/>
          </a:p>
        </p:txBody>
      </p:sp>
      <p:sp>
        <p:nvSpPr>
          <p:cNvPr id="4" name="Text 790"/>
          <p:cNvSpPr txBox="1"/>
          <p:nvPr/>
        </p:nvSpPr>
        <p:spPr>
          <a:xfrm>
            <a:off x="914400" y="1371600"/>
            <a:ext cx="5760720" cy="173736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Who owns the web?</a:t>
            </a:r>
            <a:endParaRPr lang="en-US" sz="3800" dirty="0"/>
          </a:p>
        </p:txBody>
      </p:sp>
      <p:sp>
        <p:nvSpPr>
          <p:cNvPr id="5" name="Text 791"/>
          <p:cNvSpPr txBox="1"/>
          <p:nvPr/>
        </p:nvSpPr>
        <p:spPr>
          <a:xfrm>
            <a:off x="914400" y="3383280"/>
            <a:ext cx="5760720" cy="1005840"/>
          </a:xfrm>
          <a:prstGeom prst="rect">
            <a:avLst/>
          </a:prstGeom>
          <a:noFill/>
          <a:ln/>
        </p:spPr>
        <p:txBody>
          <a:bodyPr wrap="square" lIns="0" tIns="0" rIns="0" bIns="0" rtlCol="0" anchor="t"/>
          <a:lstStyle/>
          <a:p>
            <a:pPr indent="0" marL="0">
              <a:buNone/>
            </a:pPr>
            <a:r>
              <a:rPr lang="en-US" sz="2000" i="1" dirty="0">
                <a:solidFill>
                  <a:srgbClr val="D9D4F5"/>
                </a:solidFill>
                <a:latin typeface="Calibri" pitchFamily="34" charset="0"/>
                <a:ea typeface="Calibri" pitchFamily="34" charset="-122"/>
                <a:cs typeface="Calibri" pitchFamily="34" charset="-120"/>
              </a:rPr>
              <a:t>Who owns the pictures, videos and words on websites?</a:t>
            </a:r>
            <a:endParaRPr lang="en-US" sz="2000" dirty="0"/>
          </a:p>
        </p:txBody>
      </p:sp>
      <p:sp>
        <p:nvSpPr>
          <p:cNvPr id="6" name="Blob 792"/>
          <p:cNvSpPr/>
          <p:nvPr/>
        </p:nvSpPr>
        <p:spPr>
          <a:xfrm>
            <a:off x="6766560" y="1188720"/>
            <a:ext cx="2011680" cy="2011680"/>
          </a:xfrm>
          <a:prstGeom prst="ellipse">
            <a:avLst/>
          </a:prstGeom>
          <a:solidFill>
            <a:srgbClr val="FF5C8A"/>
          </a:solidFill>
          <a:ln w="12700">
            <a:solidFill>
              <a:srgbClr val="FF5C8A"/>
            </a:solidFill>
            <a:prstDash val="solid"/>
          </a:ln>
        </p:spPr>
      </p:sp>
      <p:pic>
        <p:nvPicPr>
          <p:cNvPr id="7" name="Icon 793" descr="FaCopyright">    </p:cNvPr>
          <p:cNvPicPr>
            <a:picLocks noChangeAspect="1"/>
          </p:cNvPicPr>
          <p:nvPr/>
        </p:nvPicPr>
        <p:blipFill>
          <a:blip r:embed="rId1"/>
          <a:stretch>
            <a:fillRect/>
          </a:stretch>
        </p:blipFill>
        <p:spPr>
          <a:xfrm>
            <a:off x="7269480" y="1691640"/>
            <a:ext cx="1005840" cy="100584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Accent 794"/>
          <p:cNvSpPr/>
          <p:nvPr/>
        </p:nvSpPr>
        <p:spPr>
          <a:xfrm>
            <a:off x="0" y="274320"/>
            <a:ext cx="164592" cy="685800"/>
          </a:xfrm>
          <a:prstGeom prst="rect">
            <a:avLst/>
          </a:prstGeom>
          <a:solidFill>
            <a:srgbClr val="FF5C8A"/>
          </a:solidFill>
          <a:ln w="12700">
            <a:solidFill>
              <a:srgbClr val="FF5C8A"/>
            </a:solidFill>
            <a:prstDash val="solid"/>
          </a:ln>
        </p:spPr>
      </p:sp>
      <p:sp>
        <p:nvSpPr>
          <p:cNvPr id="3" name="Text 795"/>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Today I can…</a:t>
            </a:r>
            <a:endParaRPr lang="en-US" sz="3000" dirty="0"/>
          </a:p>
        </p:txBody>
      </p:sp>
      <p:sp>
        <p:nvSpPr>
          <p:cNvPr id="4" name="Card 796"/>
          <p:cNvSpPr/>
          <p:nvPr/>
        </p:nvSpPr>
        <p:spPr>
          <a:xfrm>
            <a:off x="457200" y="1234440"/>
            <a:ext cx="8229600" cy="914400"/>
          </a:xfrm>
          <a:prstGeom prst="roundRect">
            <a:avLst>
              <a:gd name="adj" fmla="val 12000"/>
            </a:avLst>
          </a:prstGeom>
          <a:solidFill>
            <a:srgbClr val="FFFFFF"/>
          </a:solidFill>
          <a:ln/>
          <a:effectLst>
            <a:outerShdw sx="100000" sy="100000" kx="0" ky="0" algn="bl" rotWithShape="0" blurRad="76200" dist="25400" dir="5400000">
              <a:srgbClr val="2B2250">
                <a:alpha val="15000"/>
              </a:srgbClr>
            </a:outerShdw>
          </a:effectLst>
        </p:spPr>
      </p:sp>
      <p:sp>
        <p:nvSpPr>
          <p:cNvPr id="5" name="Dot 797"/>
          <p:cNvSpPr/>
          <p:nvPr/>
        </p:nvSpPr>
        <p:spPr>
          <a:xfrm>
            <a:off x="640080" y="1389888"/>
            <a:ext cx="603504" cy="603504"/>
          </a:xfrm>
          <a:prstGeom prst="ellipse">
            <a:avLst/>
          </a:prstGeom>
          <a:solidFill>
            <a:srgbClr val="FF9A3D"/>
          </a:solidFill>
          <a:ln w="12700">
            <a:solidFill>
              <a:srgbClr val="FFFFFF"/>
            </a:solidFill>
            <a:prstDash val="solid"/>
          </a:ln>
        </p:spPr>
      </p:sp>
      <p:pic>
        <p:nvPicPr>
          <p:cNvPr id="6" name="Icon 798" descr="FaUsers">    </p:cNvPr>
          <p:cNvPicPr>
            <a:picLocks noChangeAspect="1"/>
          </p:cNvPicPr>
          <p:nvPr/>
        </p:nvPicPr>
        <p:blipFill>
          <a:blip r:embed="rId1"/>
          <a:stretch>
            <a:fillRect/>
          </a:stretch>
        </p:blipFill>
        <p:spPr>
          <a:xfrm>
            <a:off x="786384" y="1536192"/>
            <a:ext cx="310896" cy="310896"/>
          </a:xfrm>
          <a:prstGeom prst="rect">
            <a:avLst/>
          </a:prstGeom>
        </p:spPr>
      </p:pic>
      <p:sp>
        <p:nvSpPr>
          <p:cNvPr id="7" name="Text 799"/>
          <p:cNvSpPr txBox="1"/>
          <p:nvPr/>
        </p:nvSpPr>
        <p:spPr>
          <a:xfrm>
            <a:off x="1463040" y="1234440"/>
            <a:ext cx="7040880" cy="91440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I can explain that websites and their content are made by people</a:t>
            </a:r>
            <a:endParaRPr lang="en-US" sz="2000" dirty="0"/>
          </a:p>
        </p:txBody>
      </p:sp>
      <p:sp>
        <p:nvSpPr>
          <p:cNvPr id="8" name="Card 800"/>
          <p:cNvSpPr/>
          <p:nvPr/>
        </p:nvSpPr>
        <p:spPr>
          <a:xfrm>
            <a:off x="457200" y="2286000"/>
            <a:ext cx="8229600" cy="914400"/>
          </a:xfrm>
          <a:prstGeom prst="roundRect">
            <a:avLst>
              <a:gd name="adj" fmla="val 12000"/>
            </a:avLst>
          </a:prstGeom>
          <a:solidFill>
            <a:srgbClr val="FFFFFF"/>
          </a:solidFill>
          <a:ln/>
          <a:effectLst>
            <a:outerShdw sx="100000" sy="100000" kx="0" ky="0" algn="bl" rotWithShape="0" blurRad="76200" dist="25400" dir="5400000">
              <a:srgbClr val="2B2250">
                <a:alpha val="15000"/>
              </a:srgbClr>
            </a:outerShdw>
          </a:effectLst>
        </p:spPr>
      </p:sp>
      <p:sp>
        <p:nvSpPr>
          <p:cNvPr id="9" name="Dot 801"/>
          <p:cNvSpPr/>
          <p:nvPr/>
        </p:nvSpPr>
        <p:spPr>
          <a:xfrm>
            <a:off x="640080" y="2441448"/>
            <a:ext cx="603504" cy="603504"/>
          </a:xfrm>
          <a:prstGeom prst="ellipse">
            <a:avLst/>
          </a:prstGeom>
          <a:solidFill>
            <a:srgbClr val="FF5C8A"/>
          </a:solidFill>
          <a:ln w="12700">
            <a:solidFill>
              <a:srgbClr val="FFFFFF"/>
            </a:solidFill>
            <a:prstDash val="solid"/>
          </a:ln>
        </p:spPr>
      </p:sp>
      <p:pic>
        <p:nvPicPr>
          <p:cNvPr id="10" name="Icon 802" descr="FaQuestion">    </p:cNvPr>
          <p:cNvPicPr>
            <a:picLocks noChangeAspect="1"/>
          </p:cNvPicPr>
          <p:nvPr/>
        </p:nvPicPr>
        <p:blipFill>
          <a:blip r:embed="rId2"/>
          <a:stretch>
            <a:fillRect/>
          </a:stretch>
        </p:blipFill>
        <p:spPr>
          <a:xfrm>
            <a:off x="786384" y="2587752"/>
            <a:ext cx="310896" cy="310896"/>
          </a:xfrm>
          <a:prstGeom prst="rect">
            <a:avLst/>
          </a:prstGeom>
        </p:spPr>
      </p:pic>
      <p:sp>
        <p:nvSpPr>
          <p:cNvPr id="11" name="Text 803"/>
          <p:cNvSpPr txBox="1"/>
          <p:nvPr/>
        </p:nvSpPr>
        <p:spPr>
          <a:xfrm>
            <a:off x="1463040" y="2286000"/>
            <a:ext cx="7040880" cy="91440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I can suggest who owns content on a website</a:t>
            </a:r>
            <a:endParaRPr lang="en-US" sz="2000" dirty="0"/>
          </a:p>
        </p:txBody>
      </p:sp>
      <p:sp>
        <p:nvSpPr>
          <p:cNvPr id="12" name="Card 804"/>
          <p:cNvSpPr/>
          <p:nvPr/>
        </p:nvSpPr>
        <p:spPr>
          <a:xfrm>
            <a:off x="457200" y="3337560"/>
            <a:ext cx="8229600" cy="914400"/>
          </a:xfrm>
          <a:prstGeom prst="roundRect">
            <a:avLst>
              <a:gd name="adj" fmla="val 12000"/>
            </a:avLst>
          </a:prstGeom>
          <a:solidFill>
            <a:srgbClr val="FFFFFF"/>
          </a:solidFill>
          <a:ln/>
          <a:effectLst>
            <a:outerShdw sx="100000" sy="100000" kx="0" ky="0" algn="bl" rotWithShape="0" blurRad="76200" dist="25400" dir="5400000">
              <a:srgbClr val="2B2250">
                <a:alpha val="15000"/>
              </a:srgbClr>
            </a:outerShdw>
          </a:effectLst>
        </p:spPr>
      </p:sp>
      <p:sp>
        <p:nvSpPr>
          <p:cNvPr id="13" name="Dot 805"/>
          <p:cNvSpPr/>
          <p:nvPr/>
        </p:nvSpPr>
        <p:spPr>
          <a:xfrm>
            <a:off x="640080" y="3493008"/>
            <a:ext cx="603504" cy="603504"/>
          </a:xfrm>
          <a:prstGeom prst="ellipse">
            <a:avLst/>
          </a:prstGeom>
          <a:solidFill>
            <a:srgbClr val="4DA3E0"/>
          </a:solidFill>
          <a:ln w="12700">
            <a:solidFill>
              <a:srgbClr val="FFFFFF"/>
            </a:solidFill>
            <a:prstDash val="solid"/>
          </a:ln>
        </p:spPr>
      </p:sp>
      <p:pic>
        <p:nvPicPr>
          <p:cNvPr id="14" name="Icon 806" descr="FaShieldAlt">    </p:cNvPr>
          <p:cNvPicPr>
            <a:picLocks noChangeAspect="1"/>
          </p:cNvPicPr>
          <p:nvPr/>
        </p:nvPicPr>
        <p:blipFill>
          <a:blip r:embed="rId3"/>
          <a:stretch>
            <a:fillRect/>
          </a:stretch>
        </p:blipFill>
        <p:spPr>
          <a:xfrm>
            <a:off x="786384" y="3639312"/>
            <a:ext cx="310896" cy="310896"/>
          </a:xfrm>
          <a:prstGeom prst="rect">
            <a:avLst/>
          </a:prstGeom>
        </p:spPr>
      </p:pic>
      <p:sp>
        <p:nvSpPr>
          <p:cNvPr id="15" name="Text 807"/>
          <p:cNvSpPr txBox="1"/>
          <p:nvPr/>
        </p:nvSpPr>
        <p:spPr>
          <a:xfrm>
            <a:off x="1463040" y="3337560"/>
            <a:ext cx="7040880" cy="91440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I can explain there are rules to protect content</a:t>
            </a:r>
            <a:endParaRPr lang="en-US" sz="2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Accent 808"/>
          <p:cNvSpPr/>
          <p:nvPr/>
        </p:nvSpPr>
        <p:spPr>
          <a:xfrm>
            <a:off x="0" y="274320"/>
            <a:ext cx="164592" cy="685800"/>
          </a:xfrm>
          <a:prstGeom prst="rect">
            <a:avLst/>
          </a:prstGeom>
          <a:solidFill>
            <a:srgbClr val="FF5C8A"/>
          </a:solidFill>
          <a:ln w="12700">
            <a:solidFill>
              <a:srgbClr val="FF5C8A"/>
            </a:solidFill>
            <a:prstDash val="solid"/>
          </a:ln>
        </p:spPr>
      </p:sp>
      <p:sp>
        <p:nvSpPr>
          <p:cNvPr id="3" name="Text 809"/>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Key words</a:t>
            </a:r>
            <a:endParaRPr lang="en-US" sz="3000" dirty="0"/>
          </a:p>
        </p:txBody>
      </p:sp>
      <p:sp>
        <p:nvSpPr>
          <p:cNvPr id="4" name="Card 810"/>
          <p:cNvSpPr/>
          <p:nvPr/>
        </p:nvSpPr>
        <p:spPr>
          <a:xfrm>
            <a:off x="457200" y="1188720"/>
            <a:ext cx="4114800" cy="1783080"/>
          </a:xfrm>
          <a:prstGeom prst="roundRect">
            <a:avLst>
              <a:gd name="adj" fmla="val 6154"/>
            </a:avLst>
          </a:prstGeom>
          <a:solidFill>
            <a:srgbClr val="FFFFFF"/>
          </a:solidFill>
          <a:ln/>
          <a:effectLst>
            <a:outerShdw sx="100000" sy="100000" kx="0" ky="0" algn="bl" rotWithShape="0" blurRad="76200" dist="25400" dir="5400000">
              <a:srgbClr val="2B2250">
                <a:alpha val="15000"/>
              </a:srgbClr>
            </a:outerShdw>
          </a:effectLst>
        </p:spPr>
      </p:sp>
      <p:sp>
        <p:nvSpPr>
          <p:cNvPr id="5" name="Dot 811"/>
          <p:cNvSpPr/>
          <p:nvPr/>
        </p:nvSpPr>
        <p:spPr>
          <a:xfrm>
            <a:off x="640080" y="1371600"/>
            <a:ext cx="731520" cy="731520"/>
          </a:xfrm>
          <a:prstGeom prst="ellipse">
            <a:avLst/>
          </a:prstGeom>
          <a:solidFill>
            <a:srgbClr val="FF9A3D"/>
          </a:solidFill>
          <a:ln w="12700">
            <a:solidFill>
              <a:srgbClr val="FFFFFF"/>
            </a:solidFill>
            <a:prstDash val="solid"/>
          </a:ln>
        </p:spPr>
      </p:sp>
      <p:pic>
        <p:nvPicPr>
          <p:cNvPr id="6" name="Icon 812" descr="FaUserCheck">    </p:cNvPr>
          <p:cNvPicPr>
            <a:picLocks noChangeAspect="1"/>
          </p:cNvPicPr>
          <p:nvPr/>
        </p:nvPicPr>
        <p:blipFill>
          <a:blip r:embed="rId1"/>
          <a:stretch>
            <a:fillRect/>
          </a:stretch>
        </p:blipFill>
        <p:spPr>
          <a:xfrm>
            <a:off x="813816" y="1545336"/>
            <a:ext cx="384048" cy="384048"/>
          </a:xfrm>
          <a:prstGeom prst="rect">
            <a:avLst/>
          </a:prstGeom>
        </p:spPr>
      </p:pic>
      <p:sp>
        <p:nvSpPr>
          <p:cNvPr id="7" name="Text 813"/>
          <p:cNvSpPr txBox="1"/>
          <p:nvPr/>
        </p:nvSpPr>
        <p:spPr>
          <a:xfrm>
            <a:off x="1554480" y="1325880"/>
            <a:ext cx="2926080" cy="457200"/>
          </a:xfrm>
          <a:prstGeom prst="rect">
            <a:avLst/>
          </a:prstGeom>
          <a:noFill/>
          <a:ln/>
        </p:spPr>
        <p:txBody>
          <a:bodyPr wrap="square" lIns="0" tIns="0" rIns="0" bIns="0" rtlCol="0" anchor="t"/>
          <a:lstStyle/>
          <a:p>
            <a:pPr indent="0" marL="0">
              <a:buNone/>
            </a:pPr>
            <a:r>
              <a:rPr lang="en-US" sz="2400" b="1" dirty="0">
                <a:solidFill>
                  <a:srgbClr val="FF9A3D"/>
                </a:solidFill>
                <a:latin typeface="Calibri" pitchFamily="34" charset="0"/>
                <a:ea typeface="Calibri" pitchFamily="34" charset="-122"/>
                <a:cs typeface="Calibri" pitchFamily="34" charset="-120"/>
              </a:rPr>
              <a:t>Ownership</a:t>
            </a:r>
            <a:endParaRPr lang="en-US" sz="2400" dirty="0"/>
          </a:p>
        </p:txBody>
      </p:sp>
      <p:sp>
        <p:nvSpPr>
          <p:cNvPr id="8" name="Text 814"/>
          <p:cNvSpPr txBox="1"/>
          <p:nvPr/>
        </p:nvSpPr>
        <p:spPr>
          <a:xfrm>
            <a:off x="1554480" y="1828800"/>
            <a:ext cx="2926080" cy="105156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Something belongs to someone</a:t>
            </a:r>
            <a:endParaRPr lang="en-US" sz="1800" dirty="0"/>
          </a:p>
        </p:txBody>
      </p:sp>
      <p:sp>
        <p:nvSpPr>
          <p:cNvPr id="9" name="Card 815"/>
          <p:cNvSpPr/>
          <p:nvPr/>
        </p:nvSpPr>
        <p:spPr>
          <a:xfrm>
            <a:off x="4663440" y="1188720"/>
            <a:ext cx="4114800" cy="1783080"/>
          </a:xfrm>
          <a:prstGeom prst="roundRect">
            <a:avLst>
              <a:gd name="adj" fmla="val 6154"/>
            </a:avLst>
          </a:prstGeom>
          <a:solidFill>
            <a:srgbClr val="FFFFFF"/>
          </a:solidFill>
          <a:ln/>
          <a:effectLst>
            <a:outerShdw sx="100000" sy="100000" kx="0" ky="0" algn="bl" rotWithShape="0" blurRad="76200" dist="25400" dir="5400000">
              <a:srgbClr val="2B2250">
                <a:alpha val="15000"/>
              </a:srgbClr>
            </a:outerShdw>
          </a:effectLst>
        </p:spPr>
      </p:sp>
      <p:sp>
        <p:nvSpPr>
          <p:cNvPr id="10" name="Dot 816"/>
          <p:cNvSpPr/>
          <p:nvPr/>
        </p:nvSpPr>
        <p:spPr>
          <a:xfrm>
            <a:off x="4846320" y="1371600"/>
            <a:ext cx="731520" cy="731520"/>
          </a:xfrm>
          <a:prstGeom prst="ellipse">
            <a:avLst/>
          </a:prstGeom>
          <a:solidFill>
            <a:srgbClr val="FF5C8A"/>
          </a:solidFill>
          <a:ln w="12700">
            <a:solidFill>
              <a:srgbClr val="FFFFFF"/>
            </a:solidFill>
            <a:prstDash val="solid"/>
          </a:ln>
        </p:spPr>
      </p:sp>
      <p:pic>
        <p:nvPicPr>
          <p:cNvPr id="11" name="Icon 817" descr="FaCheckCircle">    </p:cNvPr>
          <p:cNvPicPr>
            <a:picLocks noChangeAspect="1"/>
          </p:cNvPicPr>
          <p:nvPr/>
        </p:nvPicPr>
        <p:blipFill>
          <a:blip r:embed="rId2"/>
          <a:stretch>
            <a:fillRect/>
          </a:stretch>
        </p:blipFill>
        <p:spPr>
          <a:xfrm>
            <a:off x="5020056" y="1545336"/>
            <a:ext cx="384048" cy="384048"/>
          </a:xfrm>
          <a:prstGeom prst="rect">
            <a:avLst/>
          </a:prstGeom>
        </p:spPr>
      </p:pic>
      <p:sp>
        <p:nvSpPr>
          <p:cNvPr id="12" name="Text 818"/>
          <p:cNvSpPr txBox="1"/>
          <p:nvPr/>
        </p:nvSpPr>
        <p:spPr>
          <a:xfrm>
            <a:off x="5760720" y="1325880"/>
            <a:ext cx="2926080" cy="457200"/>
          </a:xfrm>
          <a:prstGeom prst="rect">
            <a:avLst/>
          </a:prstGeom>
          <a:noFill/>
          <a:ln/>
        </p:spPr>
        <p:txBody>
          <a:bodyPr wrap="square" lIns="0" tIns="0" rIns="0" bIns="0" rtlCol="0" anchor="t"/>
          <a:lstStyle/>
          <a:p>
            <a:pPr indent="0" marL="0">
              <a:buNone/>
            </a:pPr>
            <a:r>
              <a:rPr lang="en-US" sz="2400" b="1" dirty="0">
                <a:solidFill>
                  <a:srgbClr val="FF5C8A"/>
                </a:solidFill>
                <a:latin typeface="Calibri" pitchFamily="34" charset="0"/>
                <a:ea typeface="Calibri" pitchFamily="34" charset="-122"/>
                <a:cs typeface="Calibri" pitchFamily="34" charset="-120"/>
              </a:rPr>
              <a:t>Permission</a:t>
            </a:r>
            <a:endParaRPr lang="en-US" sz="2400" dirty="0"/>
          </a:p>
        </p:txBody>
      </p:sp>
      <p:sp>
        <p:nvSpPr>
          <p:cNvPr id="13" name="Text 819"/>
          <p:cNvSpPr txBox="1"/>
          <p:nvPr/>
        </p:nvSpPr>
        <p:spPr>
          <a:xfrm>
            <a:off x="5760720" y="1828800"/>
            <a:ext cx="2926080" cy="105156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Saying yes so someone can use your work</a:t>
            </a:r>
            <a:endParaRPr lang="en-US" sz="1800" dirty="0"/>
          </a:p>
        </p:txBody>
      </p:sp>
      <p:sp>
        <p:nvSpPr>
          <p:cNvPr id="14" name="Card 820"/>
          <p:cNvSpPr/>
          <p:nvPr/>
        </p:nvSpPr>
        <p:spPr>
          <a:xfrm>
            <a:off x="457200" y="3108960"/>
            <a:ext cx="4114800" cy="1783080"/>
          </a:xfrm>
          <a:prstGeom prst="roundRect">
            <a:avLst>
              <a:gd name="adj" fmla="val 6154"/>
            </a:avLst>
          </a:prstGeom>
          <a:solidFill>
            <a:srgbClr val="FFFFFF"/>
          </a:solidFill>
          <a:ln/>
          <a:effectLst>
            <a:outerShdw sx="100000" sy="100000" kx="0" ky="0" algn="bl" rotWithShape="0" blurRad="76200" dist="25400" dir="5400000">
              <a:srgbClr val="2B2250">
                <a:alpha val="15000"/>
              </a:srgbClr>
            </a:outerShdw>
          </a:effectLst>
        </p:spPr>
      </p:sp>
      <p:sp>
        <p:nvSpPr>
          <p:cNvPr id="15" name="Dot 821"/>
          <p:cNvSpPr/>
          <p:nvPr/>
        </p:nvSpPr>
        <p:spPr>
          <a:xfrm>
            <a:off x="640080" y="3291840"/>
            <a:ext cx="731520" cy="731520"/>
          </a:xfrm>
          <a:prstGeom prst="ellipse">
            <a:avLst/>
          </a:prstGeom>
          <a:solidFill>
            <a:srgbClr val="4DA3E0"/>
          </a:solidFill>
          <a:ln w="12700">
            <a:solidFill>
              <a:srgbClr val="FFFFFF"/>
            </a:solidFill>
            <a:prstDash val="solid"/>
          </a:ln>
        </p:spPr>
      </p:sp>
      <p:pic>
        <p:nvPicPr>
          <p:cNvPr id="16" name="Icon 822" descr="FaDownload">    </p:cNvPr>
          <p:cNvPicPr>
            <a:picLocks noChangeAspect="1"/>
          </p:cNvPicPr>
          <p:nvPr/>
        </p:nvPicPr>
        <p:blipFill>
          <a:blip r:embed="rId3"/>
          <a:stretch>
            <a:fillRect/>
          </a:stretch>
        </p:blipFill>
        <p:spPr>
          <a:xfrm>
            <a:off x="813816" y="3465576"/>
            <a:ext cx="384048" cy="384048"/>
          </a:xfrm>
          <a:prstGeom prst="rect">
            <a:avLst/>
          </a:prstGeom>
        </p:spPr>
      </p:pic>
      <p:sp>
        <p:nvSpPr>
          <p:cNvPr id="17" name="Text 823"/>
          <p:cNvSpPr txBox="1"/>
          <p:nvPr/>
        </p:nvSpPr>
        <p:spPr>
          <a:xfrm>
            <a:off x="1554480" y="3246120"/>
            <a:ext cx="2926080" cy="457200"/>
          </a:xfrm>
          <a:prstGeom prst="rect">
            <a:avLst/>
          </a:prstGeom>
          <a:noFill/>
          <a:ln/>
        </p:spPr>
        <p:txBody>
          <a:bodyPr wrap="square" lIns="0" tIns="0" rIns="0" bIns="0" rtlCol="0" anchor="t"/>
          <a:lstStyle/>
          <a:p>
            <a:pPr indent="0" marL="0">
              <a:buNone/>
            </a:pPr>
            <a:r>
              <a:rPr lang="en-US" sz="2400" b="1" dirty="0">
                <a:solidFill>
                  <a:srgbClr val="4DA3E0"/>
                </a:solidFill>
                <a:latin typeface="Calibri" pitchFamily="34" charset="0"/>
                <a:ea typeface="Calibri" pitchFamily="34" charset="-122"/>
                <a:cs typeface="Calibri" pitchFamily="34" charset="-120"/>
              </a:rPr>
              <a:t>Download</a:t>
            </a:r>
            <a:endParaRPr lang="en-US" sz="2400" dirty="0"/>
          </a:p>
        </p:txBody>
      </p:sp>
      <p:sp>
        <p:nvSpPr>
          <p:cNvPr id="18" name="Text 824"/>
          <p:cNvSpPr txBox="1"/>
          <p:nvPr/>
        </p:nvSpPr>
        <p:spPr>
          <a:xfrm>
            <a:off x="1554480" y="3749040"/>
            <a:ext cx="2926080" cy="105156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Save a file from the internet to your device</a:t>
            </a:r>
            <a:endParaRPr lang="en-US" sz="1800" dirty="0"/>
          </a:p>
        </p:txBody>
      </p:sp>
      <p:sp>
        <p:nvSpPr>
          <p:cNvPr id="19" name="Card 825"/>
          <p:cNvSpPr/>
          <p:nvPr/>
        </p:nvSpPr>
        <p:spPr>
          <a:xfrm>
            <a:off x="4663440" y="3108960"/>
            <a:ext cx="4114800" cy="1783080"/>
          </a:xfrm>
          <a:prstGeom prst="roundRect">
            <a:avLst>
              <a:gd name="adj" fmla="val 6154"/>
            </a:avLst>
          </a:prstGeom>
          <a:solidFill>
            <a:srgbClr val="FFFFFF"/>
          </a:solidFill>
          <a:ln/>
          <a:effectLst>
            <a:outerShdw sx="100000" sy="100000" kx="0" ky="0" algn="bl" rotWithShape="0" blurRad="76200" dist="25400" dir="5400000">
              <a:srgbClr val="2B2250">
                <a:alpha val="15000"/>
              </a:srgbClr>
            </a:outerShdw>
          </a:effectLst>
        </p:spPr>
      </p:sp>
      <p:sp>
        <p:nvSpPr>
          <p:cNvPr id="20" name="Dot 826"/>
          <p:cNvSpPr/>
          <p:nvPr/>
        </p:nvSpPr>
        <p:spPr>
          <a:xfrm>
            <a:off x="4846320" y="3291840"/>
            <a:ext cx="731520" cy="731520"/>
          </a:xfrm>
          <a:prstGeom prst="ellipse">
            <a:avLst/>
          </a:prstGeom>
          <a:solidFill>
            <a:srgbClr val="1FB89A"/>
          </a:solidFill>
          <a:ln w="12700">
            <a:solidFill>
              <a:srgbClr val="FFFFFF"/>
            </a:solidFill>
            <a:prstDash val="solid"/>
          </a:ln>
        </p:spPr>
      </p:sp>
      <p:pic>
        <p:nvPicPr>
          <p:cNvPr id="21" name="Icon 827" descr="FaShareAlt">    </p:cNvPr>
          <p:cNvPicPr>
            <a:picLocks noChangeAspect="1"/>
          </p:cNvPicPr>
          <p:nvPr/>
        </p:nvPicPr>
        <p:blipFill>
          <a:blip r:embed="rId4"/>
          <a:stretch>
            <a:fillRect/>
          </a:stretch>
        </p:blipFill>
        <p:spPr>
          <a:xfrm>
            <a:off x="5020056" y="3465576"/>
            <a:ext cx="384048" cy="384048"/>
          </a:xfrm>
          <a:prstGeom prst="rect">
            <a:avLst/>
          </a:prstGeom>
        </p:spPr>
      </p:pic>
      <p:sp>
        <p:nvSpPr>
          <p:cNvPr id="22" name="Text 828"/>
          <p:cNvSpPr txBox="1"/>
          <p:nvPr/>
        </p:nvSpPr>
        <p:spPr>
          <a:xfrm>
            <a:off x="5760720" y="3246120"/>
            <a:ext cx="2926080" cy="457200"/>
          </a:xfrm>
          <a:prstGeom prst="rect">
            <a:avLst/>
          </a:prstGeom>
          <a:noFill/>
          <a:ln/>
        </p:spPr>
        <p:txBody>
          <a:bodyPr wrap="square" lIns="0" tIns="0" rIns="0" bIns="0" rtlCol="0" anchor="t"/>
          <a:lstStyle/>
          <a:p>
            <a:pPr indent="0" marL="0">
              <a:buNone/>
            </a:pPr>
            <a:r>
              <a:rPr lang="en-US" sz="2400" b="1" dirty="0">
                <a:solidFill>
                  <a:srgbClr val="1FB89A"/>
                </a:solidFill>
                <a:latin typeface="Calibri" pitchFamily="34" charset="0"/>
                <a:ea typeface="Calibri" pitchFamily="34" charset="-122"/>
                <a:cs typeface="Calibri" pitchFamily="34" charset="-120"/>
              </a:rPr>
              <a:t>Sharing</a:t>
            </a:r>
            <a:endParaRPr lang="en-US" sz="2400" dirty="0"/>
          </a:p>
        </p:txBody>
      </p:sp>
      <p:sp>
        <p:nvSpPr>
          <p:cNvPr id="23" name="Text 829"/>
          <p:cNvSpPr txBox="1"/>
          <p:nvPr/>
        </p:nvSpPr>
        <p:spPr>
          <a:xfrm>
            <a:off x="5760720" y="3749040"/>
            <a:ext cx="2926080" cy="105156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Letting other people see or use something</a:t>
            </a:r>
            <a:endParaRPr lang="en-US" sz="1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Accent 830"/>
          <p:cNvSpPr/>
          <p:nvPr/>
        </p:nvSpPr>
        <p:spPr>
          <a:xfrm>
            <a:off x="0" y="274320"/>
            <a:ext cx="164592" cy="685800"/>
          </a:xfrm>
          <a:prstGeom prst="rect">
            <a:avLst/>
          </a:prstGeom>
          <a:solidFill>
            <a:srgbClr val="FF5C8A"/>
          </a:solidFill>
          <a:ln w="12700">
            <a:solidFill>
              <a:srgbClr val="FF5C8A"/>
            </a:solidFill>
            <a:prstDash val="solid"/>
          </a:ln>
        </p:spPr>
      </p:sp>
      <p:sp>
        <p:nvSpPr>
          <p:cNvPr id="3" name="Text 831"/>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Who made it?</a:t>
            </a:r>
            <a:endParaRPr lang="en-US" sz="3000" dirty="0"/>
          </a:p>
        </p:txBody>
      </p:sp>
      <p:sp>
        <p:nvSpPr>
          <p:cNvPr id="4" name="Card 832"/>
          <p:cNvSpPr/>
          <p:nvPr/>
        </p:nvSpPr>
        <p:spPr>
          <a:xfrm>
            <a:off x="548640" y="1051560"/>
            <a:ext cx="5120640" cy="3639312"/>
          </a:xfrm>
          <a:prstGeom prst="roundRect">
            <a:avLst>
              <a:gd name="adj" fmla="val 3015"/>
            </a:avLst>
          </a:prstGeom>
          <a:solidFill>
            <a:srgbClr val="FFFFFF"/>
          </a:solidFill>
          <a:ln/>
          <a:effectLst>
            <a:outerShdw sx="100000" sy="100000" kx="0" ky="0" algn="bl" rotWithShape="0" blurRad="76200" dist="25400" dir="5400000">
              <a:srgbClr val="2B2250">
                <a:alpha val="15000"/>
              </a:srgbClr>
            </a:outerShdw>
          </a:effectLst>
        </p:spPr>
      </p:sp>
      <p:pic>
        <p:nvPicPr>
          <p:cNvPr id="5" name="Picture 833" descr="Three owners: a YouTuber, a company and a community">    </p:cNvPr>
          <p:cNvPicPr>
            <a:picLocks noChangeAspect="1"/>
          </p:cNvPicPr>
          <p:nvPr/>
        </p:nvPicPr>
        <p:blipFill>
          <a:blip r:embed="rId1"/>
          <a:stretch>
            <a:fillRect/>
          </a:stretch>
        </p:blipFill>
        <p:spPr>
          <a:xfrm>
            <a:off x="640080" y="1143000"/>
            <a:ext cx="4937760" cy="3456432"/>
          </a:xfrm>
          <a:prstGeom prst="rect">
            <a:avLst/>
          </a:prstGeom>
        </p:spPr>
      </p:pic>
      <p:sp>
        <p:nvSpPr>
          <p:cNvPr id="6" name="Text 834"/>
          <p:cNvSpPr txBox="1"/>
          <p:nvPr/>
        </p:nvSpPr>
        <p:spPr>
          <a:xfrm>
            <a:off x="5897880" y="1234440"/>
            <a:ext cx="2834640" cy="3566160"/>
          </a:xfrm>
          <a:prstGeom prst="rect">
            <a:avLst/>
          </a:prstGeom>
          <a:noFill/>
          <a:ln/>
        </p:spPr>
        <p:txBody>
          <a:bodyPr wrap="square" lIns="0" tIns="0" rIns="0" bIns="0" rtlCol="0" anchor="t"/>
          <a:lstStyle/>
          <a:p>
            <a:pPr indent="0" marL="0">
              <a:buNone/>
            </a:pPr>
            <a:r>
              <a:rPr lang="en-US" sz="2000" dirty="0">
                <a:solidFill>
                  <a:schemeClr val="tx1"/>
                </a:solidFill>
                <a:latin typeface="Calibri" pitchFamily="34" charset="0"/>
                <a:ea typeface="Calibri" pitchFamily="34" charset="-122"/>
                <a:cs typeface="Calibri" pitchFamily="34" charset="-120"/>
              </a:rPr>
              <a:t>A person, a company or a community can all make content. They are the OWNERS.</a:t>
            </a:r>
            <a:endParaRPr lang="en-US" sz="2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Accent 835"/>
          <p:cNvSpPr/>
          <p:nvPr/>
        </p:nvSpPr>
        <p:spPr>
          <a:xfrm>
            <a:off x="0" y="274320"/>
            <a:ext cx="164592" cy="685800"/>
          </a:xfrm>
          <a:prstGeom prst="rect">
            <a:avLst/>
          </a:prstGeom>
          <a:solidFill>
            <a:srgbClr val="FF5C8A"/>
          </a:solidFill>
          <a:ln w="12700">
            <a:solidFill>
              <a:srgbClr val="FF5C8A"/>
            </a:solidFill>
            <a:prstDash val="solid"/>
          </a:ln>
        </p:spPr>
      </p:sp>
      <p:sp>
        <p:nvSpPr>
          <p:cNvPr id="3" name="Text 836"/>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Who does this belong to?</a:t>
            </a:r>
            <a:endParaRPr lang="en-US" sz="3000" dirty="0"/>
          </a:p>
        </p:txBody>
      </p:sp>
      <p:sp>
        <p:nvSpPr>
          <p:cNvPr id="4" name="Card 837"/>
          <p:cNvSpPr/>
          <p:nvPr/>
        </p:nvSpPr>
        <p:spPr>
          <a:xfrm>
            <a:off x="457200" y="1188720"/>
            <a:ext cx="2651760" cy="1828800"/>
          </a:xfrm>
          <a:prstGeom prst="roundRect">
            <a:avLst>
              <a:gd name="adj" fmla="val 6000"/>
            </a:avLst>
          </a:prstGeom>
          <a:solidFill>
            <a:srgbClr val="FFFFFF"/>
          </a:solidFill>
          <a:ln/>
          <a:effectLst>
            <a:outerShdw sx="100000" sy="100000" kx="0" ky="0" algn="bl" rotWithShape="0" blurRad="76200" dist="25400" dir="5400000">
              <a:srgbClr val="2B2250">
                <a:alpha val="15000"/>
              </a:srgbClr>
            </a:outerShdw>
          </a:effectLst>
        </p:spPr>
      </p:sp>
      <p:sp>
        <p:nvSpPr>
          <p:cNvPr id="5" name="Dot 838"/>
          <p:cNvSpPr/>
          <p:nvPr/>
        </p:nvSpPr>
        <p:spPr>
          <a:xfrm>
            <a:off x="640080" y="1371600"/>
            <a:ext cx="640080" cy="640080"/>
          </a:xfrm>
          <a:prstGeom prst="ellipse">
            <a:avLst/>
          </a:prstGeom>
          <a:solidFill>
            <a:srgbClr val="FF9A3D"/>
          </a:solidFill>
          <a:ln w="12700">
            <a:solidFill>
              <a:srgbClr val="FFFFFF"/>
            </a:solidFill>
            <a:prstDash val="solid"/>
          </a:ln>
        </p:spPr>
      </p:sp>
      <p:pic>
        <p:nvPicPr>
          <p:cNvPr id="6" name="Icon 839" descr="FaYoutube">    </p:cNvPr>
          <p:cNvPicPr>
            <a:picLocks noChangeAspect="1"/>
          </p:cNvPicPr>
          <p:nvPr/>
        </p:nvPicPr>
        <p:blipFill>
          <a:blip r:embed="rId1"/>
          <a:stretch>
            <a:fillRect/>
          </a:stretch>
        </p:blipFill>
        <p:spPr>
          <a:xfrm>
            <a:off x="795528" y="1527048"/>
            <a:ext cx="329184" cy="329184"/>
          </a:xfrm>
          <a:prstGeom prst="rect">
            <a:avLst/>
          </a:prstGeom>
        </p:spPr>
      </p:pic>
      <p:sp>
        <p:nvSpPr>
          <p:cNvPr id="7" name="Text 840"/>
          <p:cNvSpPr txBox="1"/>
          <p:nvPr/>
        </p:nvSpPr>
        <p:spPr>
          <a:xfrm>
            <a:off x="1417320" y="1325880"/>
            <a:ext cx="1554480" cy="457200"/>
          </a:xfrm>
          <a:prstGeom prst="rect">
            <a:avLst/>
          </a:prstGeom>
          <a:noFill/>
          <a:ln/>
        </p:spPr>
        <p:txBody>
          <a:bodyPr wrap="square" lIns="0" tIns="0" rIns="0" bIns="0" rtlCol="0" anchor="t"/>
          <a:lstStyle/>
          <a:p>
            <a:pPr indent="0" marL="0">
              <a:buNone/>
            </a:pPr>
            <a:r>
              <a:rPr lang="en-US" sz="2000" b="1" dirty="0">
                <a:solidFill>
                  <a:srgbClr val="FF9A3D"/>
                </a:solidFill>
                <a:latin typeface="Calibri" pitchFamily="34" charset="0"/>
                <a:ea typeface="Calibri" pitchFamily="34" charset="-122"/>
                <a:cs typeface="Calibri" pitchFamily="34" charset="-120"/>
              </a:rPr>
              <a:t>YouTube channel</a:t>
            </a:r>
            <a:endParaRPr lang="en-US" sz="2000" dirty="0"/>
          </a:p>
        </p:txBody>
      </p:sp>
      <p:sp>
        <p:nvSpPr>
          <p:cNvPr id="8" name="Text 841"/>
          <p:cNvSpPr txBox="1"/>
          <p:nvPr/>
        </p:nvSpPr>
        <p:spPr>
          <a:xfrm>
            <a:off x="640080" y="2103120"/>
            <a:ext cx="2286000" cy="868680"/>
          </a:xfrm>
          <a:prstGeom prst="rect">
            <a:avLst/>
          </a:prstGeom>
          <a:noFill/>
          <a:ln/>
        </p:spPr>
        <p:txBody>
          <a:bodyPr wrap="square" lIns="0" tIns="0" rIns="0" bIns="0" rtlCol="0" anchor="t"/>
          <a:lstStyle/>
          <a:p>
            <a:pPr indent="0" marL="0">
              <a:buNone/>
            </a:pPr>
            <a:r>
              <a:rPr lang="en-US" sz="1700" dirty="0">
                <a:solidFill>
                  <a:schemeClr val="tx1"/>
                </a:solidFill>
                <a:latin typeface="Calibri" pitchFamily="34" charset="0"/>
                <a:ea typeface="Calibri" pitchFamily="34" charset="-122"/>
                <a:cs typeface="Calibri" pitchFamily="34" charset="-120"/>
              </a:rPr>
              <a:t>View ✔  Download ✖  Use as mine ✖</a:t>
            </a:r>
            <a:endParaRPr lang="en-US" sz="1700" dirty="0"/>
          </a:p>
        </p:txBody>
      </p:sp>
      <p:sp>
        <p:nvSpPr>
          <p:cNvPr id="9" name="Card 842"/>
          <p:cNvSpPr/>
          <p:nvPr/>
        </p:nvSpPr>
        <p:spPr>
          <a:xfrm>
            <a:off x="3246120" y="1188720"/>
            <a:ext cx="2651760" cy="1828800"/>
          </a:xfrm>
          <a:prstGeom prst="roundRect">
            <a:avLst>
              <a:gd name="adj" fmla="val 6000"/>
            </a:avLst>
          </a:prstGeom>
          <a:solidFill>
            <a:srgbClr val="FFFFFF"/>
          </a:solidFill>
          <a:ln/>
          <a:effectLst>
            <a:outerShdw sx="100000" sy="100000" kx="0" ky="0" algn="bl" rotWithShape="0" blurRad="76200" dist="25400" dir="5400000">
              <a:srgbClr val="2B2250">
                <a:alpha val="15000"/>
              </a:srgbClr>
            </a:outerShdw>
          </a:effectLst>
        </p:spPr>
      </p:sp>
      <p:sp>
        <p:nvSpPr>
          <p:cNvPr id="10" name="Dot 843"/>
          <p:cNvSpPr/>
          <p:nvPr/>
        </p:nvSpPr>
        <p:spPr>
          <a:xfrm>
            <a:off x="3429000" y="1371600"/>
            <a:ext cx="640080" cy="640080"/>
          </a:xfrm>
          <a:prstGeom prst="ellipse">
            <a:avLst/>
          </a:prstGeom>
          <a:solidFill>
            <a:srgbClr val="FF5C8A"/>
          </a:solidFill>
          <a:ln w="12700">
            <a:solidFill>
              <a:srgbClr val="FFFFFF"/>
            </a:solidFill>
            <a:prstDash val="solid"/>
          </a:ln>
        </p:spPr>
      </p:sp>
      <p:pic>
        <p:nvPicPr>
          <p:cNvPr id="11" name="Icon 844" descr="FaPuzzlePiece">    </p:cNvPr>
          <p:cNvPicPr>
            <a:picLocks noChangeAspect="1"/>
          </p:cNvPicPr>
          <p:nvPr/>
        </p:nvPicPr>
        <p:blipFill>
          <a:blip r:embed="rId2"/>
          <a:stretch>
            <a:fillRect/>
          </a:stretch>
        </p:blipFill>
        <p:spPr>
          <a:xfrm>
            <a:off x="3584448" y="1527048"/>
            <a:ext cx="329184" cy="329184"/>
          </a:xfrm>
          <a:prstGeom prst="rect">
            <a:avLst/>
          </a:prstGeom>
        </p:spPr>
      </p:pic>
      <p:sp>
        <p:nvSpPr>
          <p:cNvPr id="12" name="Text 845"/>
          <p:cNvSpPr txBox="1"/>
          <p:nvPr/>
        </p:nvSpPr>
        <p:spPr>
          <a:xfrm>
            <a:off x="4206240" y="1325880"/>
            <a:ext cx="1554480" cy="457200"/>
          </a:xfrm>
          <a:prstGeom prst="rect">
            <a:avLst/>
          </a:prstGeom>
          <a:noFill/>
          <a:ln/>
        </p:spPr>
        <p:txBody>
          <a:bodyPr wrap="square" lIns="0" tIns="0" rIns="0" bIns="0" rtlCol="0" anchor="t"/>
          <a:lstStyle/>
          <a:p>
            <a:pPr indent="0" marL="0">
              <a:buNone/>
            </a:pPr>
            <a:r>
              <a:rPr lang="en-US" sz="2000" b="1" dirty="0">
                <a:solidFill>
                  <a:srgbClr val="FF5C8A"/>
                </a:solidFill>
                <a:latin typeface="Calibri" pitchFamily="34" charset="0"/>
                <a:ea typeface="Calibri" pitchFamily="34" charset="-122"/>
                <a:cs typeface="Calibri" pitchFamily="34" charset="-120"/>
              </a:rPr>
              <a:t>LEGO website</a:t>
            </a:r>
            <a:endParaRPr lang="en-US" sz="2000" dirty="0"/>
          </a:p>
        </p:txBody>
      </p:sp>
      <p:sp>
        <p:nvSpPr>
          <p:cNvPr id="13" name="Text 846"/>
          <p:cNvSpPr txBox="1"/>
          <p:nvPr/>
        </p:nvSpPr>
        <p:spPr>
          <a:xfrm>
            <a:off x="3429000" y="2103120"/>
            <a:ext cx="2286000" cy="868680"/>
          </a:xfrm>
          <a:prstGeom prst="rect">
            <a:avLst/>
          </a:prstGeom>
          <a:noFill/>
          <a:ln/>
        </p:spPr>
        <p:txBody>
          <a:bodyPr wrap="square" lIns="0" tIns="0" rIns="0" bIns="0" rtlCol="0" anchor="t"/>
          <a:lstStyle/>
          <a:p>
            <a:pPr indent="0" marL="0">
              <a:buNone/>
            </a:pPr>
            <a:r>
              <a:rPr lang="en-US" sz="1700" dirty="0">
                <a:solidFill>
                  <a:schemeClr val="tx1"/>
                </a:solidFill>
                <a:latin typeface="Calibri" pitchFamily="34" charset="0"/>
                <a:ea typeface="Calibri" pitchFamily="34" charset="-122"/>
                <a:cs typeface="Calibri" pitchFamily="34" charset="-120"/>
              </a:rPr>
              <a:t>View ✔  Download some ✔  Claim as mine ✖</a:t>
            </a:r>
            <a:endParaRPr lang="en-US" sz="1700" dirty="0"/>
          </a:p>
        </p:txBody>
      </p:sp>
      <p:sp>
        <p:nvSpPr>
          <p:cNvPr id="14" name="Card 847"/>
          <p:cNvSpPr/>
          <p:nvPr/>
        </p:nvSpPr>
        <p:spPr>
          <a:xfrm>
            <a:off x="6035040" y="1188720"/>
            <a:ext cx="2651760" cy="1828800"/>
          </a:xfrm>
          <a:prstGeom prst="roundRect">
            <a:avLst>
              <a:gd name="adj" fmla="val 6000"/>
            </a:avLst>
          </a:prstGeom>
          <a:solidFill>
            <a:srgbClr val="FFFFFF"/>
          </a:solidFill>
          <a:ln/>
          <a:effectLst>
            <a:outerShdw sx="100000" sy="100000" kx="0" ky="0" algn="bl" rotWithShape="0" blurRad="76200" dist="25400" dir="5400000">
              <a:srgbClr val="2B2250">
                <a:alpha val="15000"/>
              </a:srgbClr>
            </a:outerShdw>
          </a:effectLst>
        </p:spPr>
      </p:sp>
      <p:sp>
        <p:nvSpPr>
          <p:cNvPr id="15" name="Dot 848"/>
          <p:cNvSpPr/>
          <p:nvPr/>
        </p:nvSpPr>
        <p:spPr>
          <a:xfrm>
            <a:off x="6217920" y="1371600"/>
            <a:ext cx="640080" cy="640080"/>
          </a:xfrm>
          <a:prstGeom prst="ellipse">
            <a:avLst/>
          </a:prstGeom>
          <a:solidFill>
            <a:srgbClr val="4DA3E0"/>
          </a:solidFill>
          <a:ln w="12700">
            <a:solidFill>
              <a:srgbClr val="FFFFFF"/>
            </a:solidFill>
            <a:prstDash val="solid"/>
          </a:ln>
        </p:spPr>
      </p:sp>
      <p:pic>
        <p:nvPicPr>
          <p:cNvPr id="16" name="Icon 849" descr="FaUsers">    </p:cNvPr>
          <p:cNvPicPr>
            <a:picLocks noChangeAspect="1"/>
          </p:cNvPicPr>
          <p:nvPr/>
        </p:nvPicPr>
        <p:blipFill>
          <a:blip r:embed="rId3"/>
          <a:stretch>
            <a:fillRect/>
          </a:stretch>
        </p:blipFill>
        <p:spPr>
          <a:xfrm>
            <a:off x="6373368" y="1527048"/>
            <a:ext cx="329184" cy="329184"/>
          </a:xfrm>
          <a:prstGeom prst="rect">
            <a:avLst/>
          </a:prstGeom>
        </p:spPr>
      </p:pic>
      <p:sp>
        <p:nvSpPr>
          <p:cNvPr id="17" name="Text 850"/>
          <p:cNvSpPr txBox="1"/>
          <p:nvPr/>
        </p:nvSpPr>
        <p:spPr>
          <a:xfrm>
            <a:off x="6995160" y="1325880"/>
            <a:ext cx="1554480" cy="457200"/>
          </a:xfrm>
          <a:prstGeom prst="rect">
            <a:avLst/>
          </a:prstGeom>
          <a:noFill/>
          <a:ln/>
        </p:spPr>
        <p:txBody>
          <a:bodyPr wrap="square" lIns="0" tIns="0" rIns="0" bIns="0" rtlCol="0" anchor="t"/>
          <a:lstStyle/>
          <a:p>
            <a:pPr indent="0" marL="0">
              <a:buNone/>
            </a:pPr>
            <a:r>
              <a:rPr lang="en-US" sz="2000" b="1" dirty="0">
                <a:solidFill>
                  <a:srgbClr val="4DA3E0"/>
                </a:solidFill>
                <a:latin typeface="Calibri" pitchFamily="34" charset="0"/>
                <a:ea typeface="Calibri" pitchFamily="34" charset="-122"/>
                <a:cs typeface="Calibri" pitchFamily="34" charset="-120"/>
              </a:rPr>
              <a:t>Scratch</a:t>
            </a:r>
            <a:endParaRPr lang="en-US" sz="2000" dirty="0"/>
          </a:p>
        </p:txBody>
      </p:sp>
      <p:sp>
        <p:nvSpPr>
          <p:cNvPr id="18" name="Text 851"/>
          <p:cNvSpPr txBox="1"/>
          <p:nvPr/>
        </p:nvSpPr>
        <p:spPr>
          <a:xfrm>
            <a:off x="6217920" y="2103120"/>
            <a:ext cx="2286000" cy="868680"/>
          </a:xfrm>
          <a:prstGeom prst="rect">
            <a:avLst/>
          </a:prstGeom>
          <a:noFill/>
          <a:ln/>
        </p:spPr>
        <p:txBody>
          <a:bodyPr wrap="square" lIns="0" tIns="0" rIns="0" bIns="0" rtlCol="0" anchor="t"/>
          <a:lstStyle/>
          <a:p>
            <a:pPr indent="0" marL="0">
              <a:buNone/>
            </a:pPr>
            <a:r>
              <a:rPr lang="en-US" sz="1700" dirty="0">
                <a:solidFill>
                  <a:schemeClr val="tx1"/>
                </a:solidFill>
                <a:latin typeface="Calibri" pitchFamily="34" charset="0"/>
                <a:ea typeface="Calibri" pitchFamily="34" charset="-122"/>
                <a:cs typeface="Calibri" pitchFamily="34" charset="-120"/>
              </a:rPr>
              <a:t>View ✔  Download ✔  Remix ✔ (give credit!)</a:t>
            </a:r>
            <a:endParaRPr lang="en-US" sz="17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Accent 852"/>
          <p:cNvSpPr/>
          <p:nvPr/>
        </p:nvSpPr>
        <p:spPr>
          <a:xfrm>
            <a:off x="0" y="274320"/>
            <a:ext cx="164592" cy="685800"/>
          </a:xfrm>
          <a:prstGeom prst="rect">
            <a:avLst/>
          </a:prstGeom>
          <a:solidFill>
            <a:srgbClr val="FF5C8A"/>
          </a:solidFill>
          <a:ln w="12700">
            <a:solidFill>
              <a:srgbClr val="FF5C8A"/>
            </a:solidFill>
            <a:prstDash val="solid"/>
          </a:ln>
        </p:spPr>
      </p:sp>
      <p:sp>
        <p:nvSpPr>
          <p:cNvPr id="3" name="Text 853"/>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Sharing in real life</a:t>
            </a:r>
            <a:endParaRPr lang="en-US" sz="3000" dirty="0"/>
          </a:p>
        </p:txBody>
      </p:sp>
      <p:sp>
        <p:nvSpPr>
          <p:cNvPr id="4" name="Card 854"/>
          <p:cNvSpPr/>
          <p:nvPr/>
        </p:nvSpPr>
        <p:spPr>
          <a:xfrm>
            <a:off x="548640" y="1051560"/>
            <a:ext cx="5120640" cy="3639312"/>
          </a:xfrm>
          <a:prstGeom prst="roundRect">
            <a:avLst>
              <a:gd name="adj" fmla="val 3015"/>
            </a:avLst>
          </a:prstGeom>
          <a:solidFill>
            <a:srgbClr val="FFFFFF"/>
          </a:solidFill>
          <a:ln/>
          <a:effectLst>
            <a:outerShdw sx="100000" sy="100000" kx="0" ky="0" algn="bl" rotWithShape="0" blurRad="76200" dist="25400" dir="5400000">
              <a:srgbClr val="2B2250">
                <a:alpha val="15000"/>
              </a:srgbClr>
            </a:outerShdw>
          </a:effectLst>
        </p:spPr>
      </p:sp>
      <p:pic>
        <p:nvPicPr>
          <p:cNvPr id="5" name="Picture 855" descr="Money, class book, library book and playground">    </p:cNvPr>
          <p:cNvPicPr>
            <a:picLocks noChangeAspect="1"/>
          </p:cNvPicPr>
          <p:nvPr/>
        </p:nvPicPr>
        <p:blipFill>
          <a:blip r:embed="rId1"/>
          <a:stretch>
            <a:fillRect/>
          </a:stretch>
        </p:blipFill>
        <p:spPr>
          <a:xfrm>
            <a:off x="640080" y="1143000"/>
            <a:ext cx="4937760" cy="3456432"/>
          </a:xfrm>
          <a:prstGeom prst="rect">
            <a:avLst/>
          </a:prstGeom>
        </p:spPr>
      </p:pic>
      <p:sp>
        <p:nvSpPr>
          <p:cNvPr id="6" name="Text 856"/>
          <p:cNvSpPr txBox="1"/>
          <p:nvPr/>
        </p:nvSpPr>
        <p:spPr>
          <a:xfrm>
            <a:off x="5897880" y="1234440"/>
            <a:ext cx="2834640" cy="3566160"/>
          </a:xfrm>
          <a:prstGeom prst="rect">
            <a:avLst/>
          </a:prstGeom>
          <a:noFill/>
          <a:ln/>
        </p:spPr>
        <p:txBody>
          <a:bodyPr wrap="square" lIns="0" tIns="0" rIns="0" bIns="0" rtlCol="0" anchor="t"/>
          <a:lstStyle/>
          <a:p>
            <a:pPr indent="0" marL="0">
              <a:buNone/>
            </a:pPr>
            <a:r>
              <a:rPr lang="en-US" sz="2000" dirty="0">
                <a:solidFill>
                  <a:schemeClr val="tx1"/>
                </a:solidFill>
                <a:latin typeface="Calibri" pitchFamily="34" charset="0"/>
                <a:ea typeface="Calibri" pitchFamily="34" charset="-122"/>
                <a:cs typeface="Calibri" pitchFamily="34" charset="-120"/>
              </a:rPr>
              <a:t>Things in real life have owners too. Who owns each? Who can use it? How should we share it?</a:t>
            </a:r>
            <a:endParaRPr lang="en-US" sz="2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Accent 857"/>
          <p:cNvSpPr/>
          <p:nvPr/>
        </p:nvSpPr>
        <p:spPr>
          <a:xfrm>
            <a:off x="0" y="274320"/>
            <a:ext cx="164592" cy="685800"/>
          </a:xfrm>
          <a:prstGeom prst="rect">
            <a:avLst/>
          </a:prstGeom>
          <a:solidFill>
            <a:srgbClr val="FF5C8A"/>
          </a:solidFill>
          <a:ln w="12700">
            <a:solidFill>
              <a:srgbClr val="FF5C8A"/>
            </a:solidFill>
            <a:prstDash val="solid"/>
          </a:ln>
        </p:spPr>
      </p:sp>
      <p:sp>
        <p:nvSpPr>
          <p:cNvPr id="3" name="Text 858"/>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Activity: Sharing rules</a:t>
            </a:r>
            <a:endParaRPr lang="en-US" sz="3000" dirty="0"/>
          </a:p>
        </p:txBody>
      </p:sp>
      <p:sp>
        <p:nvSpPr>
          <p:cNvPr id="4" name="Tag 859"/>
          <p:cNvSpPr/>
          <p:nvPr/>
        </p:nvSpPr>
        <p:spPr>
          <a:xfrm>
            <a:off x="7223760" y="384048"/>
            <a:ext cx="1463040" cy="457200"/>
          </a:xfrm>
          <a:prstGeom prst="roundRect">
            <a:avLst>
              <a:gd name="adj" fmla="val 50000"/>
            </a:avLst>
          </a:prstGeom>
          <a:solidFill>
            <a:srgbClr val="FF9A3D"/>
          </a:solidFill>
          <a:ln w="12700">
            <a:solidFill>
              <a:srgbClr val="FF9A3D"/>
            </a:solidFill>
            <a:prstDash val="solid"/>
          </a:ln>
        </p:spPr>
      </p:sp>
      <p:sp>
        <p:nvSpPr>
          <p:cNvPr id="5" name="Text 860"/>
          <p:cNvSpPr txBox="1"/>
          <p:nvPr/>
        </p:nvSpPr>
        <p:spPr>
          <a:xfrm>
            <a:off x="7223760" y="384048"/>
            <a:ext cx="14630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ACTIVITY</a:t>
            </a:r>
            <a:endParaRPr lang="en-US" sz="1600" dirty="0"/>
          </a:p>
        </p:txBody>
      </p:sp>
      <p:sp>
        <p:nvSpPr>
          <p:cNvPr id="6" name="Card 861"/>
          <p:cNvSpPr/>
          <p:nvPr/>
        </p:nvSpPr>
        <p:spPr>
          <a:xfrm>
            <a:off x="457200" y="1188720"/>
            <a:ext cx="4114800" cy="781812"/>
          </a:xfrm>
          <a:prstGeom prst="roundRect">
            <a:avLst>
              <a:gd name="adj" fmla="val 14035"/>
            </a:avLst>
          </a:prstGeom>
          <a:solidFill>
            <a:srgbClr val="FFFFFF"/>
          </a:solidFill>
          <a:ln/>
          <a:effectLst>
            <a:outerShdw sx="100000" sy="100000" kx="0" ky="0" algn="bl" rotWithShape="0" blurRad="76200" dist="25400" dir="5400000">
              <a:srgbClr val="2B2250">
                <a:alpha val="15000"/>
              </a:srgbClr>
            </a:outerShdw>
          </a:effectLst>
        </p:spPr>
      </p:sp>
      <p:sp>
        <p:nvSpPr>
          <p:cNvPr id="7" name="Dot 862"/>
          <p:cNvSpPr/>
          <p:nvPr/>
        </p:nvSpPr>
        <p:spPr>
          <a:xfrm>
            <a:off x="594360" y="1351026"/>
            <a:ext cx="457200" cy="457200"/>
          </a:xfrm>
          <a:prstGeom prst="ellipse">
            <a:avLst/>
          </a:prstGeom>
          <a:solidFill>
            <a:srgbClr val="FF9A3D"/>
          </a:solidFill>
          <a:ln w="12700">
            <a:solidFill>
              <a:srgbClr val="FFFFFF"/>
            </a:solidFill>
            <a:prstDash val="solid"/>
          </a:ln>
        </p:spPr>
      </p:sp>
      <p:sp>
        <p:nvSpPr>
          <p:cNvPr id="8" name="Text 863"/>
          <p:cNvSpPr txBox="1"/>
          <p:nvPr/>
        </p:nvSpPr>
        <p:spPr>
          <a:xfrm>
            <a:off x="594360" y="135102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Text 864"/>
          <p:cNvSpPr txBox="1"/>
          <p:nvPr/>
        </p:nvSpPr>
        <p:spPr>
          <a:xfrm>
            <a:off x="1188720" y="1188720"/>
            <a:ext cx="3200400" cy="781812"/>
          </a:xfrm>
          <a:prstGeom prst="rect">
            <a:avLst/>
          </a:prstGeom>
          <a:noFill/>
          <a:ln/>
        </p:spPr>
        <p:txBody>
          <a:bodyPr wrap="square" lIns="0" tIns="0" rIns="0" bIns="0" rtlCol="0" anchor="ctr"/>
          <a:lstStyle/>
          <a:p>
            <a:pPr indent="0" marL="0">
              <a:buNone/>
            </a:pPr>
            <a:r>
              <a:rPr lang="en-US" sz="1700" dirty="0">
                <a:solidFill>
                  <a:schemeClr val="tx1"/>
                </a:solidFill>
                <a:latin typeface="Calibri" pitchFamily="34" charset="0"/>
                <a:ea typeface="Calibri" pitchFamily="34" charset="-122"/>
                <a:cs typeface="Calibri" pitchFamily="34" charset="-120"/>
              </a:rPr>
              <a:t>Pick one thing: your money, a classroom book, a library book or the playground.</a:t>
            </a:r>
            <a:endParaRPr lang="en-US" sz="1700" dirty="0"/>
          </a:p>
        </p:txBody>
      </p:sp>
      <p:sp>
        <p:nvSpPr>
          <p:cNvPr id="10" name="Card 865"/>
          <p:cNvSpPr/>
          <p:nvPr/>
        </p:nvSpPr>
        <p:spPr>
          <a:xfrm>
            <a:off x="457200" y="2080260"/>
            <a:ext cx="4114800" cy="781812"/>
          </a:xfrm>
          <a:prstGeom prst="roundRect">
            <a:avLst>
              <a:gd name="adj" fmla="val 14035"/>
            </a:avLst>
          </a:prstGeom>
          <a:solidFill>
            <a:srgbClr val="FFFFFF"/>
          </a:solidFill>
          <a:ln/>
          <a:effectLst>
            <a:outerShdw sx="100000" sy="100000" kx="0" ky="0" algn="bl" rotWithShape="0" blurRad="76200" dist="25400" dir="5400000">
              <a:srgbClr val="2B2250">
                <a:alpha val="15000"/>
              </a:srgbClr>
            </a:outerShdw>
          </a:effectLst>
        </p:spPr>
      </p:sp>
      <p:sp>
        <p:nvSpPr>
          <p:cNvPr id="11" name="Dot 866"/>
          <p:cNvSpPr/>
          <p:nvPr/>
        </p:nvSpPr>
        <p:spPr>
          <a:xfrm>
            <a:off x="594360" y="2242566"/>
            <a:ext cx="457200" cy="457200"/>
          </a:xfrm>
          <a:prstGeom prst="ellipse">
            <a:avLst/>
          </a:prstGeom>
          <a:solidFill>
            <a:srgbClr val="FF9A3D"/>
          </a:solidFill>
          <a:ln w="12700">
            <a:solidFill>
              <a:srgbClr val="FFFFFF"/>
            </a:solidFill>
            <a:prstDash val="solid"/>
          </a:ln>
        </p:spPr>
      </p:sp>
      <p:sp>
        <p:nvSpPr>
          <p:cNvPr id="12" name="Text 867"/>
          <p:cNvSpPr txBox="1"/>
          <p:nvPr/>
        </p:nvSpPr>
        <p:spPr>
          <a:xfrm>
            <a:off x="594360" y="224256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868"/>
          <p:cNvSpPr txBox="1"/>
          <p:nvPr/>
        </p:nvSpPr>
        <p:spPr>
          <a:xfrm>
            <a:off x="1188720" y="2080260"/>
            <a:ext cx="3200400" cy="781812"/>
          </a:xfrm>
          <a:prstGeom prst="rect">
            <a:avLst/>
          </a:prstGeom>
          <a:noFill/>
          <a:ln/>
        </p:spPr>
        <p:txBody>
          <a:bodyPr wrap="square" lIns="0" tIns="0" rIns="0" bIns="0" rtlCol="0" anchor="ctr"/>
          <a:lstStyle/>
          <a:p>
            <a:pPr indent="0" marL="0">
              <a:buNone/>
            </a:pPr>
            <a:r>
              <a:rPr lang="en-US" sz="1700" dirty="0">
                <a:solidFill>
                  <a:schemeClr val="tx1"/>
                </a:solidFill>
                <a:latin typeface="Calibri" pitchFamily="34" charset="0"/>
                <a:ea typeface="Calibri" pitchFamily="34" charset="-122"/>
                <a:cs typeface="Calibri" pitchFamily="34" charset="-120"/>
              </a:rPr>
              <a:t>Who owns it?</a:t>
            </a:r>
            <a:endParaRPr lang="en-US" sz="1700" dirty="0"/>
          </a:p>
        </p:txBody>
      </p:sp>
      <p:sp>
        <p:nvSpPr>
          <p:cNvPr id="14" name="Card 869"/>
          <p:cNvSpPr/>
          <p:nvPr/>
        </p:nvSpPr>
        <p:spPr>
          <a:xfrm>
            <a:off x="457200" y="2971800"/>
            <a:ext cx="4114800" cy="781812"/>
          </a:xfrm>
          <a:prstGeom prst="roundRect">
            <a:avLst>
              <a:gd name="adj" fmla="val 14035"/>
            </a:avLst>
          </a:prstGeom>
          <a:solidFill>
            <a:srgbClr val="FFFFFF"/>
          </a:solidFill>
          <a:ln/>
          <a:effectLst>
            <a:outerShdw sx="100000" sy="100000" kx="0" ky="0" algn="bl" rotWithShape="0" blurRad="76200" dist="25400" dir="5400000">
              <a:srgbClr val="2B2250">
                <a:alpha val="15000"/>
              </a:srgbClr>
            </a:outerShdw>
          </a:effectLst>
        </p:spPr>
      </p:sp>
      <p:sp>
        <p:nvSpPr>
          <p:cNvPr id="15" name="Dot 870"/>
          <p:cNvSpPr/>
          <p:nvPr/>
        </p:nvSpPr>
        <p:spPr>
          <a:xfrm>
            <a:off x="594360" y="3134106"/>
            <a:ext cx="457200" cy="457200"/>
          </a:xfrm>
          <a:prstGeom prst="ellipse">
            <a:avLst/>
          </a:prstGeom>
          <a:solidFill>
            <a:srgbClr val="FF9A3D"/>
          </a:solidFill>
          <a:ln w="12700">
            <a:solidFill>
              <a:srgbClr val="FFFFFF"/>
            </a:solidFill>
            <a:prstDash val="solid"/>
          </a:ln>
        </p:spPr>
      </p:sp>
      <p:sp>
        <p:nvSpPr>
          <p:cNvPr id="16" name="Text 871"/>
          <p:cNvSpPr txBox="1"/>
          <p:nvPr/>
        </p:nvSpPr>
        <p:spPr>
          <a:xfrm>
            <a:off x="594360" y="313410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872"/>
          <p:cNvSpPr txBox="1"/>
          <p:nvPr/>
        </p:nvSpPr>
        <p:spPr>
          <a:xfrm>
            <a:off x="1188720" y="2971800"/>
            <a:ext cx="3200400" cy="781812"/>
          </a:xfrm>
          <a:prstGeom prst="rect">
            <a:avLst/>
          </a:prstGeom>
          <a:noFill/>
          <a:ln/>
        </p:spPr>
        <p:txBody>
          <a:bodyPr wrap="square" lIns="0" tIns="0" rIns="0" bIns="0" rtlCol="0" anchor="ctr"/>
          <a:lstStyle/>
          <a:p>
            <a:pPr indent="0" marL="0">
              <a:buNone/>
            </a:pPr>
            <a:r>
              <a:rPr lang="en-US" sz="1700" dirty="0">
                <a:solidFill>
                  <a:schemeClr val="tx1"/>
                </a:solidFill>
                <a:latin typeface="Calibri" pitchFamily="34" charset="0"/>
                <a:ea typeface="Calibri" pitchFamily="34" charset="-122"/>
                <a:cs typeface="Calibri" pitchFamily="34" charset="-120"/>
              </a:rPr>
              <a:t>Who can use it?</a:t>
            </a:r>
            <a:endParaRPr lang="en-US" sz="1700" dirty="0"/>
          </a:p>
        </p:txBody>
      </p:sp>
      <p:sp>
        <p:nvSpPr>
          <p:cNvPr id="18" name="Card 873"/>
          <p:cNvSpPr/>
          <p:nvPr/>
        </p:nvSpPr>
        <p:spPr>
          <a:xfrm>
            <a:off x="457200" y="3863340"/>
            <a:ext cx="4114800" cy="781812"/>
          </a:xfrm>
          <a:prstGeom prst="roundRect">
            <a:avLst>
              <a:gd name="adj" fmla="val 14035"/>
            </a:avLst>
          </a:prstGeom>
          <a:solidFill>
            <a:srgbClr val="FFFFFF"/>
          </a:solidFill>
          <a:ln/>
          <a:effectLst>
            <a:outerShdw sx="100000" sy="100000" kx="0" ky="0" algn="bl" rotWithShape="0" blurRad="76200" dist="25400" dir="5400000">
              <a:srgbClr val="2B2250">
                <a:alpha val="15000"/>
              </a:srgbClr>
            </a:outerShdw>
          </a:effectLst>
        </p:spPr>
      </p:sp>
      <p:sp>
        <p:nvSpPr>
          <p:cNvPr id="19" name="Dot 874"/>
          <p:cNvSpPr/>
          <p:nvPr/>
        </p:nvSpPr>
        <p:spPr>
          <a:xfrm>
            <a:off x="594360" y="4025646"/>
            <a:ext cx="457200" cy="457200"/>
          </a:xfrm>
          <a:prstGeom prst="ellipse">
            <a:avLst/>
          </a:prstGeom>
          <a:solidFill>
            <a:srgbClr val="FF9A3D"/>
          </a:solidFill>
          <a:ln w="12700">
            <a:solidFill>
              <a:srgbClr val="FFFFFF"/>
            </a:solidFill>
            <a:prstDash val="solid"/>
          </a:ln>
        </p:spPr>
      </p:sp>
      <p:sp>
        <p:nvSpPr>
          <p:cNvPr id="20" name="Text 875"/>
          <p:cNvSpPr txBox="1"/>
          <p:nvPr/>
        </p:nvSpPr>
        <p:spPr>
          <a:xfrm>
            <a:off x="594360" y="402564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1" name="Text 876"/>
          <p:cNvSpPr txBox="1"/>
          <p:nvPr/>
        </p:nvSpPr>
        <p:spPr>
          <a:xfrm>
            <a:off x="1188720" y="3863340"/>
            <a:ext cx="3200400" cy="781812"/>
          </a:xfrm>
          <a:prstGeom prst="rect">
            <a:avLst/>
          </a:prstGeom>
          <a:noFill/>
          <a:ln/>
        </p:spPr>
        <p:txBody>
          <a:bodyPr wrap="square" lIns="0" tIns="0" rIns="0" bIns="0" rtlCol="0" anchor="ctr"/>
          <a:lstStyle/>
          <a:p>
            <a:pPr indent="0" marL="0">
              <a:buNone/>
            </a:pPr>
            <a:r>
              <a:rPr lang="en-US" sz="1700" dirty="0">
                <a:solidFill>
                  <a:schemeClr val="tx1"/>
                </a:solidFill>
                <a:latin typeface="Calibri" pitchFamily="34" charset="0"/>
                <a:ea typeface="Calibri" pitchFamily="34" charset="-122"/>
                <a:cs typeface="Calibri" pitchFamily="34" charset="-120"/>
              </a:rPr>
              <a:t>How should we share it fairly?</a:t>
            </a:r>
            <a:endParaRPr lang="en-US" sz="1700" dirty="0"/>
          </a:p>
        </p:txBody>
      </p:sp>
      <p:sp>
        <p:nvSpPr>
          <p:cNvPr id="22" name="Card 877"/>
          <p:cNvSpPr/>
          <p:nvPr/>
        </p:nvSpPr>
        <p:spPr>
          <a:xfrm>
            <a:off x="4617720" y="1097280"/>
            <a:ext cx="4206240" cy="2999232"/>
          </a:xfrm>
          <a:prstGeom prst="roundRect">
            <a:avLst>
              <a:gd name="adj" fmla="val 3659"/>
            </a:avLst>
          </a:prstGeom>
          <a:solidFill>
            <a:srgbClr val="FFFFFF"/>
          </a:solidFill>
          <a:ln/>
          <a:effectLst>
            <a:outerShdw sx="100000" sy="100000" kx="0" ky="0" algn="bl" rotWithShape="0" blurRad="76200" dist="25400" dir="5400000">
              <a:srgbClr val="2B2250">
                <a:alpha val="15000"/>
              </a:srgbClr>
            </a:outerShdw>
          </a:effectLst>
        </p:spPr>
      </p:sp>
      <p:pic>
        <p:nvPicPr>
          <p:cNvPr id="23" name="Picture 878" descr="Activity picture">    </p:cNvPr>
          <p:cNvPicPr>
            <a:picLocks noChangeAspect="1"/>
          </p:cNvPicPr>
          <p:nvPr/>
        </p:nvPicPr>
        <p:blipFill>
          <a:blip r:embed="rId1"/>
          <a:stretch>
            <a:fillRect/>
          </a:stretch>
        </p:blipFill>
        <p:spPr>
          <a:xfrm>
            <a:off x="4709160" y="1188720"/>
            <a:ext cx="4023360" cy="2816352"/>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Accent 879"/>
          <p:cNvSpPr/>
          <p:nvPr/>
        </p:nvSpPr>
        <p:spPr>
          <a:xfrm>
            <a:off x="0" y="274320"/>
            <a:ext cx="164592" cy="685800"/>
          </a:xfrm>
          <a:prstGeom prst="rect">
            <a:avLst/>
          </a:prstGeom>
          <a:solidFill>
            <a:srgbClr val="FF5C8A"/>
          </a:solidFill>
          <a:ln w="12700">
            <a:solidFill>
              <a:srgbClr val="FF5C8A"/>
            </a:solidFill>
            <a:prstDash val="solid"/>
          </a:ln>
        </p:spPr>
      </p:sp>
      <p:sp>
        <p:nvSpPr>
          <p:cNvPr id="3" name="Text 88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Clues to who owns a web page</a:t>
            </a:r>
            <a:endParaRPr lang="en-US" sz="3000" dirty="0"/>
          </a:p>
        </p:txBody>
      </p:sp>
      <p:sp>
        <p:nvSpPr>
          <p:cNvPr id="4" name="Card 881"/>
          <p:cNvSpPr/>
          <p:nvPr/>
        </p:nvSpPr>
        <p:spPr>
          <a:xfrm>
            <a:off x="457200" y="1188720"/>
            <a:ext cx="2651760" cy="1828800"/>
          </a:xfrm>
          <a:prstGeom prst="roundRect">
            <a:avLst>
              <a:gd name="adj" fmla="val 6000"/>
            </a:avLst>
          </a:prstGeom>
          <a:solidFill>
            <a:srgbClr val="FFFFFF"/>
          </a:solidFill>
          <a:ln/>
          <a:effectLst>
            <a:outerShdw sx="100000" sy="100000" kx="0" ky="0" algn="bl" rotWithShape="0" blurRad="76200" dist="25400" dir="5400000">
              <a:srgbClr val="2B2250">
                <a:alpha val="15000"/>
              </a:srgbClr>
            </a:outerShdw>
          </a:effectLst>
        </p:spPr>
      </p:sp>
      <p:sp>
        <p:nvSpPr>
          <p:cNvPr id="5" name="Dot 882"/>
          <p:cNvSpPr/>
          <p:nvPr/>
        </p:nvSpPr>
        <p:spPr>
          <a:xfrm>
            <a:off x="640080" y="1371600"/>
            <a:ext cx="640080" cy="640080"/>
          </a:xfrm>
          <a:prstGeom prst="ellipse">
            <a:avLst/>
          </a:prstGeom>
          <a:solidFill>
            <a:srgbClr val="FF9A3D"/>
          </a:solidFill>
          <a:ln w="12700">
            <a:solidFill>
              <a:srgbClr val="FFFFFF"/>
            </a:solidFill>
            <a:prstDash val="solid"/>
          </a:ln>
        </p:spPr>
      </p:sp>
      <p:pic>
        <p:nvPicPr>
          <p:cNvPr id="6" name="Icon 883" descr="FaPen">    </p:cNvPr>
          <p:cNvPicPr>
            <a:picLocks noChangeAspect="1"/>
          </p:cNvPicPr>
          <p:nvPr/>
        </p:nvPicPr>
        <p:blipFill>
          <a:blip r:embed="rId1"/>
          <a:stretch>
            <a:fillRect/>
          </a:stretch>
        </p:blipFill>
        <p:spPr>
          <a:xfrm>
            <a:off x="795528" y="1527048"/>
            <a:ext cx="329184" cy="329184"/>
          </a:xfrm>
          <a:prstGeom prst="rect">
            <a:avLst/>
          </a:prstGeom>
        </p:spPr>
      </p:pic>
      <p:sp>
        <p:nvSpPr>
          <p:cNvPr id="7" name="Text 884"/>
          <p:cNvSpPr txBox="1"/>
          <p:nvPr/>
        </p:nvSpPr>
        <p:spPr>
          <a:xfrm>
            <a:off x="1417320" y="1325880"/>
            <a:ext cx="1554480" cy="457200"/>
          </a:xfrm>
          <a:prstGeom prst="rect">
            <a:avLst/>
          </a:prstGeom>
          <a:noFill/>
          <a:ln/>
        </p:spPr>
        <p:txBody>
          <a:bodyPr wrap="square" lIns="0" tIns="0" rIns="0" bIns="0" rtlCol="0" anchor="t"/>
          <a:lstStyle/>
          <a:p>
            <a:pPr indent="0" marL="0">
              <a:buNone/>
            </a:pPr>
            <a:r>
              <a:rPr lang="en-US" sz="2000" b="1" dirty="0">
                <a:solidFill>
                  <a:srgbClr val="FF9A3D"/>
                </a:solidFill>
                <a:latin typeface="Calibri" pitchFamily="34" charset="0"/>
                <a:ea typeface="Calibri" pitchFamily="34" charset="-122"/>
                <a:cs typeface="Calibri" pitchFamily="34" charset="-120"/>
              </a:rPr>
              <a:t>Who wrote it?</a:t>
            </a:r>
            <a:endParaRPr lang="en-US" sz="2000" dirty="0"/>
          </a:p>
        </p:txBody>
      </p:sp>
      <p:sp>
        <p:nvSpPr>
          <p:cNvPr id="8" name="Text 885"/>
          <p:cNvSpPr txBox="1"/>
          <p:nvPr/>
        </p:nvSpPr>
        <p:spPr>
          <a:xfrm>
            <a:off x="640080" y="2103120"/>
            <a:ext cx="2286000" cy="868680"/>
          </a:xfrm>
          <a:prstGeom prst="rect">
            <a:avLst/>
          </a:prstGeom>
          <a:noFill/>
          <a:ln/>
        </p:spPr>
        <p:txBody>
          <a:bodyPr wrap="square" lIns="0" tIns="0" rIns="0" bIns="0" rtlCol="0" anchor="t"/>
          <a:lstStyle/>
          <a:p>
            <a:pPr indent="0" marL="0">
              <a:buNone/>
            </a:pPr>
            <a:r>
              <a:rPr lang="en-US" sz="1700" dirty="0">
                <a:solidFill>
                  <a:schemeClr val="tx1"/>
                </a:solidFill>
                <a:latin typeface="Calibri" pitchFamily="34" charset="0"/>
                <a:ea typeface="Calibri" pitchFamily="34" charset="-122"/>
                <a:cs typeface="Calibri" pitchFamily="34" charset="-120"/>
              </a:rPr>
              <a:t>Look under the title for the author’s name</a:t>
            </a:r>
            <a:endParaRPr lang="en-US" sz="1700" dirty="0"/>
          </a:p>
        </p:txBody>
      </p:sp>
      <p:sp>
        <p:nvSpPr>
          <p:cNvPr id="9" name="Card 886"/>
          <p:cNvSpPr/>
          <p:nvPr/>
        </p:nvSpPr>
        <p:spPr>
          <a:xfrm>
            <a:off x="3246120" y="1188720"/>
            <a:ext cx="2651760" cy="1828800"/>
          </a:xfrm>
          <a:prstGeom prst="roundRect">
            <a:avLst>
              <a:gd name="adj" fmla="val 6000"/>
            </a:avLst>
          </a:prstGeom>
          <a:solidFill>
            <a:srgbClr val="FFFFFF"/>
          </a:solidFill>
          <a:ln/>
          <a:effectLst>
            <a:outerShdw sx="100000" sy="100000" kx="0" ky="0" algn="bl" rotWithShape="0" blurRad="76200" dist="25400" dir="5400000">
              <a:srgbClr val="2B2250">
                <a:alpha val="15000"/>
              </a:srgbClr>
            </a:outerShdw>
          </a:effectLst>
        </p:spPr>
      </p:sp>
      <p:sp>
        <p:nvSpPr>
          <p:cNvPr id="10" name="Dot 887"/>
          <p:cNvSpPr/>
          <p:nvPr/>
        </p:nvSpPr>
        <p:spPr>
          <a:xfrm>
            <a:off x="3429000" y="1371600"/>
            <a:ext cx="640080" cy="640080"/>
          </a:xfrm>
          <a:prstGeom prst="ellipse">
            <a:avLst/>
          </a:prstGeom>
          <a:solidFill>
            <a:srgbClr val="FF5C8A"/>
          </a:solidFill>
          <a:ln w="12700">
            <a:solidFill>
              <a:srgbClr val="FFFFFF"/>
            </a:solidFill>
            <a:prstDash val="solid"/>
          </a:ln>
        </p:spPr>
      </p:sp>
      <p:pic>
        <p:nvPicPr>
          <p:cNvPr id="11" name="Icon 888" descr="FaCopyright">    </p:cNvPr>
          <p:cNvPicPr>
            <a:picLocks noChangeAspect="1"/>
          </p:cNvPicPr>
          <p:nvPr/>
        </p:nvPicPr>
        <p:blipFill>
          <a:blip r:embed="rId2"/>
          <a:stretch>
            <a:fillRect/>
          </a:stretch>
        </p:blipFill>
        <p:spPr>
          <a:xfrm>
            <a:off x="3584448" y="1527048"/>
            <a:ext cx="329184" cy="329184"/>
          </a:xfrm>
          <a:prstGeom prst="rect">
            <a:avLst/>
          </a:prstGeom>
        </p:spPr>
      </p:pic>
      <p:sp>
        <p:nvSpPr>
          <p:cNvPr id="12" name="Text 889"/>
          <p:cNvSpPr txBox="1"/>
          <p:nvPr/>
        </p:nvSpPr>
        <p:spPr>
          <a:xfrm>
            <a:off x="4206240" y="1325880"/>
            <a:ext cx="1554480" cy="457200"/>
          </a:xfrm>
          <a:prstGeom prst="rect">
            <a:avLst/>
          </a:prstGeom>
          <a:noFill/>
          <a:ln/>
        </p:spPr>
        <p:txBody>
          <a:bodyPr wrap="square" lIns="0" tIns="0" rIns="0" bIns="0" rtlCol="0" anchor="t"/>
          <a:lstStyle/>
          <a:p>
            <a:pPr indent="0" marL="0">
              <a:buNone/>
            </a:pPr>
            <a:r>
              <a:rPr lang="en-US" sz="2000" b="1" dirty="0">
                <a:solidFill>
                  <a:srgbClr val="FF5C8A"/>
                </a:solidFill>
                <a:latin typeface="Calibri" pitchFamily="34" charset="0"/>
                <a:ea typeface="Calibri" pitchFamily="34" charset="-122"/>
                <a:cs typeface="Calibri" pitchFamily="34" charset="-120"/>
              </a:rPr>
              <a:t>Copyright notice</a:t>
            </a:r>
            <a:endParaRPr lang="en-US" sz="2000" dirty="0"/>
          </a:p>
        </p:txBody>
      </p:sp>
      <p:sp>
        <p:nvSpPr>
          <p:cNvPr id="13" name="Text 890"/>
          <p:cNvSpPr txBox="1"/>
          <p:nvPr/>
        </p:nvSpPr>
        <p:spPr>
          <a:xfrm>
            <a:off x="3429000" y="2103120"/>
            <a:ext cx="2286000" cy="868680"/>
          </a:xfrm>
          <a:prstGeom prst="rect">
            <a:avLst/>
          </a:prstGeom>
          <a:noFill/>
          <a:ln/>
        </p:spPr>
        <p:txBody>
          <a:bodyPr wrap="square" lIns="0" tIns="0" rIns="0" bIns="0" rtlCol="0" anchor="t"/>
          <a:lstStyle/>
          <a:p>
            <a:pPr indent="0" marL="0">
              <a:buNone/>
            </a:pPr>
            <a:r>
              <a:rPr lang="en-US" sz="1700" dirty="0">
                <a:solidFill>
                  <a:schemeClr val="tx1"/>
                </a:solidFill>
                <a:latin typeface="Calibri" pitchFamily="34" charset="0"/>
                <a:ea typeface="Calibri" pitchFamily="34" charset="-122"/>
                <a:cs typeface="Calibri" pitchFamily="34" charset="-120"/>
              </a:rPr>
              <a:t>Look at the bottom of the page for who owns it</a:t>
            </a:r>
            <a:endParaRPr lang="en-US" sz="1700" dirty="0"/>
          </a:p>
        </p:txBody>
      </p:sp>
      <p:sp>
        <p:nvSpPr>
          <p:cNvPr id="14" name="Card 891"/>
          <p:cNvSpPr/>
          <p:nvPr/>
        </p:nvSpPr>
        <p:spPr>
          <a:xfrm>
            <a:off x="6035040" y="1188720"/>
            <a:ext cx="2651760" cy="1828800"/>
          </a:xfrm>
          <a:prstGeom prst="roundRect">
            <a:avLst>
              <a:gd name="adj" fmla="val 6000"/>
            </a:avLst>
          </a:prstGeom>
          <a:solidFill>
            <a:srgbClr val="FFFFFF"/>
          </a:solidFill>
          <a:ln/>
          <a:effectLst>
            <a:outerShdw sx="100000" sy="100000" kx="0" ky="0" algn="bl" rotWithShape="0" blurRad="76200" dist="25400" dir="5400000">
              <a:srgbClr val="2B2250">
                <a:alpha val="15000"/>
              </a:srgbClr>
            </a:outerShdw>
          </a:effectLst>
        </p:spPr>
      </p:sp>
      <p:sp>
        <p:nvSpPr>
          <p:cNvPr id="15" name="Dot 892"/>
          <p:cNvSpPr/>
          <p:nvPr/>
        </p:nvSpPr>
        <p:spPr>
          <a:xfrm>
            <a:off x="6217920" y="1371600"/>
            <a:ext cx="640080" cy="640080"/>
          </a:xfrm>
          <a:prstGeom prst="ellipse">
            <a:avLst/>
          </a:prstGeom>
          <a:solidFill>
            <a:srgbClr val="4DA3E0"/>
          </a:solidFill>
          <a:ln w="12700">
            <a:solidFill>
              <a:srgbClr val="FFFFFF"/>
            </a:solidFill>
            <a:prstDash val="solid"/>
          </a:ln>
        </p:spPr>
      </p:sp>
      <p:pic>
        <p:nvPicPr>
          <p:cNvPr id="16" name="Icon 893" descr="FaImage">    </p:cNvPr>
          <p:cNvPicPr>
            <a:picLocks noChangeAspect="1"/>
          </p:cNvPicPr>
          <p:nvPr/>
        </p:nvPicPr>
        <p:blipFill>
          <a:blip r:embed="rId3"/>
          <a:stretch>
            <a:fillRect/>
          </a:stretch>
        </p:blipFill>
        <p:spPr>
          <a:xfrm>
            <a:off x="6373368" y="1527048"/>
            <a:ext cx="329184" cy="329184"/>
          </a:xfrm>
          <a:prstGeom prst="rect">
            <a:avLst/>
          </a:prstGeom>
        </p:spPr>
      </p:pic>
      <p:sp>
        <p:nvSpPr>
          <p:cNvPr id="17" name="Text 894"/>
          <p:cNvSpPr txBox="1"/>
          <p:nvPr/>
        </p:nvSpPr>
        <p:spPr>
          <a:xfrm>
            <a:off x="6995160" y="1325880"/>
            <a:ext cx="1554480" cy="457200"/>
          </a:xfrm>
          <a:prstGeom prst="rect">
            <a:avLst/>
          </a:prstGeom>
          <a:noFill/>
          <a:ln/>
        </p:spPr>
        <p:txBody>
          <a:bodyPr wrap="square" lIns="0" tIns="0" rIns="0" bIns="0" rtlCol="0" anchor="t"/>
          <a:lstStyle/>
          <a:p>
            <a:pPr indent="0" marL="0">
              <a:buNone/>
            </a:pPr>
            <a:r>
              <a:rPr lang="en-US" sz="2000" b="1" dirty="0">
                <a:solidFill>
                  <a:srgbClr val="4DA3E0"/>
                </a:solidFill>
                <a:latin typeface="Calibri" pitchFamily="34" charset="0"/>
                <a:ea typeface="Calibri" pitchFamily="34" charset="-122"/>
                <a:cs typeface="Calibri" pitchFamily="34" charset="-120"/>
              </a:rPr>
              <a:t>Pictures from others</a:t>
            </a:r>
            <a:endParaRPr lang="en-US" sz="2000" dirty="0"/>
          </a:p>
        </p:txBody>
      </p:sp>
      <p:sp>
        <p:nvSpPr>
          <p:cNvPr id="18" name="Text 895"/>
          <p:cNvSpPr txBox="1"/>
          <p:nvPr/>
        </p:nvSpPr>
        <p:spPr>
          <a:xfrm>
            <a:off x="6217920" y="2103120"/>
            <a:ext cx="2286000" cy="868680"/>
          </a:xfrm>
          <a:prstGeom prst="rect">
            <a:avLst/>
          </a:prstGeom>
          <a:noFill/>
          <a:ln/>
        </p:spPr>
        <p:txBody>
          <a:bodyPr wrap="square" lIns="0" tIns="0" rIns="0" bIns="0" rtlCol="0" anchor="t"/>
          <a:lstStyle/>
          <a:p>
            <a:pPr indent="0" marL="0">
              <a:buNone/>
            </a:pPr>
            <a:r>
              <a:rPr lang="en-US" sz="1700" dirty="0">
                <a:solidFill>
                  <a:schemeClr val="tx1"/>
                </a:solidFill>
                <a:latin typeface="Calibri" pitchFamily="34" charset="0"/>
                <a:ea typeface="Calibri" pitchFamily="34" charset="-122"/>
                <a:cs typeface="Calibri" pitchFamily="34" charset="-120"/>
              </a:rPr>
              <a:t>Credits show who gave permission, like NASA</a:t>
            </a:r>
            <a:endParaRPr lang="en-US" sz="17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Accent 896"/>
          <p:cNvSpPr/>
          <p:nvPr/>
        </p:nvSpPr>
        <p:spPr>
          <a:xfrm>
            <a:off x="0" y="274320"/>
            <a:ext cx="164592" cy="685800"/>
          </a:xfrm>
          <a:prstGeom prst="rect">
            <a:avLst/>
          </a:prstGeom>
          <a:solidFill>
            <a:srgbClr val="FF5C8A"/>
          </a:solidFill>
          <a:ln w="12700">
            <a:solidFill>
              <a:srgbClr val="FF5C8A"/>
            </a:solidFill>
            <a:prstDash val="solid"/>
          </a:ln>
        </p:spPr>
      </p:sp>
      <p:sp>
        <p:nvSpPr>
          <p:cNvPr id="3" name="Text 897"/>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Quick quiz</a:t>
            </a:r>
            <a:endParaRPr lang="en-US" sz="3000" dirty="0"/>
          </a:p>
        </p:txBody>
      </p:sp>
      <p:sp>
        <p:nvSpPr>
          <p:cNvPr id="4" name="Text 898"/>
          <p:cNvSpPr txBox="1"/>
          <p:nvPr/>
        </p:nvSpPr>
        <p:spPr>
          <a:xfrm>
            <a:off x="457200" y="1051560"/>
            <a:ext cx="8229600" cy="914400"/>
          </a:xfrm>
          <a:prstGeom prst="rect">
            <a:avLst/>
          </a:prstGeom>
          <a:noFill/>
          <a:ln/>
        </p:spPr>
        <p:txBody>
          <a:bodyPr wrap="square" lIns="0" tIns="0" rIns="0" bIns="0" rtlCol="0" anchor="ctr"/>
          <a:lstStyle/>
          <a:p>
            <a:pPr indent="0" marL="0">
              <a:buNone/>
            </a:pPr>
            <a:r>
              <a:rPr lang="en-US" sz="2600" b="1" dirty="0">
                <a:solidFill>
                  <a:schemeClr val="tx1"/>
                </a:solidFill>
                <a:latin typeface="Calibri" pitchFamily="34" charset="0"/>
                <a:ea typeface="Calibri" pitchFamily="34" charset="-122"/>
                <a:cs typeface="Calibri" pitchFamily="34" charset="-120"/>
              </a:rPr>
              <a:t>You find a picture online. What should you do before using it?</a:t>
            </a:r>
            <a:endParaRPr lang="en-US" sz="2600" dirty="0"/>
          </a:p>
        </p:txBody>
      </p:sp>
      <p:sp>
        <p:nvSpPr>
          <p:cNvPr id="5" name="Card 899"/>
          <p:cNvSpPr/>
          <p:nvPr/>
        </p:nvSpPr>
        <p:spPr>
          <a:xfrm>
            <a:off x="457200" y="219456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6" name="Dot 900"/>
          <p:cNvSpPr/>
          <p:nvPr/>
        </p:nvSpPr>
        <p:spPr>
          <a:xfrm>
            <a:off x="594360" y="2322576"/>
            <a:ext cx="457200" cy="457200"/>
          </a:xfrm>
          <a:prstGeom prst="ellipse">
            <a:avLst/>
          </a:prstGeom>
          <a:solidFill>
            <a:srgbClr val="FF5C8A"/>
          </a:solidFill>
          <a:ln w="12700">
            <a:solidFill>
              <a:srgbClr val="FFFFFF"/>
            </a:solidFill>
            <a:prstDash val="solid"/>
          </a:ln>
        </p:spPr>
      </p:sp>
      <p:sp>
        <p:nvSpPr>
          <p:cNvPr id="7" name="Text 901"/>
          <p:cNvSpPr txBox="1"/>
          <p:nvPr/>
        </p:nvSpPr>
        <p:spPr>
          <a:xfrm>
            <a:off x="594360" y="2322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8" name="Text 902"/>
          <p:cNvSpPr txBox="1"/>
          <p:nvPr/>
        </p:nvSpPr>
        <p:spPr>
          <a:xfrm>
            <a:off x="1188720" y="219456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Use it and say it is yours</a:t>
            </a:r>
            <a:endParaRPr lang="en-US" sz="2200" dirty="0"/>
          </a:p>
        </p:txBody>
      </p:sp>
      <p:sp>
        <p:nvSpPr>
          <p:cNvPr id="9" name="Card 903"/>
          <p:cNvSpPr/>
          <p:nvPr/>
        </p:nvSpPr>
        <p:spPr>
          <a:xfrm>
            <a:off x="457200" y="301752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10" name="Dot 904"/>
          <p:cNvSpPr/>
          <p:nvPr/>
        </p:nvSpPr>
        <p:spPr>
          <a:xfrm>
            <a:off x="594360" y="3145536"/>
            <a:ext cx="457200" cy="457200"/>
          </a:xfrm>
          <a:prstGeom prst="ellipse">
            <a:avLst/>
          </a:prstGeom>
          <a:solidFill>
            <a:srgbClr val="FF5C8A"/>
          </a:solidFill>
          <a:ln w="12700">
            <a:solidFill>
              <a:srgbClr val="FFFFFF"/>
            </a:solidFill>
            <a:prstDash val="solid"/>
          </a:ln>
        </p:spPr>
      </p:sp>
      <p:sp>
        <p:nvSpPr>
          <p:cNvPr id="11" name="Text 905"/>
          <p:cNvSpPr txBox="1"/>
          <p:nvPr/>
        </p:nvSpPr>
        <p:spPr>
          <a:xfrm>
            <a:off x="594360" y="314553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906"/>
          <p:cNvSpPr txBox="1"/>
          <p:nvPr/>
        </p:nvSpPr>
        <p:spPr>
          <a:xfrm>
            <a:off x="1188720" y="301752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Check who owns it and ask permission</a:t>
            </a:r>
            <a:endParaRPr lang="en-US" sz="2200" dirty="0"/>
          </a:p>
        </p:txBody>
      </p:sp>
      <p:sp>
        <p:nvSpPr>
          <p:cNvPr id="13" name="Card 907"/>
          <p:cNvSpPr/>
          <p:nvPr/>
        </p:nvSpPr>
        <p:spPr>
          <a:xfrm>
            <a:off x="457200" y="384048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14" name="Dot 908"/>
          <p:cNvSpPr/>
          <p:nvPr/>
        </p:nvSpPr>
        <p:spPr>
          <a:xfrm>
            <a:off x="594360" y="3968496"/>
            <a:ext cx="457200" cy="457200"/>
          </a:xfrm>
          <a:prstGeom prst="ellipse">
            <a:avLst/>
          </a:prstGeom>
          <a:solidFill>
            <a:srgbClr val="FF5C8A"/>
          </a:solidFill>
          <a:ln w="12700">
            <a:solidFill>
              <a:srgbClr val="FFFFFF"/>
            </a:solidFill>
            <a:prstDash val="solid"/>
          </a:ln>
        </p:spPr>
      </p:sp>
      <p:sp>
        <p:nvSpPr>
          <p:cNvPr id="15" name="Text 909"/>
          <p:cNvSpPr txBox="1"/>
          <p:nvPr/>
        </p:nvSpPr>
        <p:spPr>
          <a:xfrm>
            <a:off x="594360" y="39684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6" name="Text 910"/>
          <p:cNvSpPr txBox="1"/>
          <p:nvPr/>
        </p:nvSpPr>
        <p:spPr>
          <a:xfrm>
            <a:off x="1188720" y="384048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Delete the website</a:t>
            </a:r>
            <a:endParaRPr lang="en-US" sz="2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Accent 911"/>
          <p:cNvSpPr/>
          <p:nvPr/>
        </p:nvSpPr>
        <p:spPr>
          <a:xfrm>
            <a:off x="0" y="274320"/>
            <a:ext cx="164592" cy="685800"/>
          </a:xfrm>
          <a:prstGeom prst="rect">
            <a:avLst/>
          </a:prstGeom>
          <a:solidFill>
            <a:srgbClr val="2E9E5B"/>
          </a:solidFill>
          <a:ln w="12700">
            <a:solidFill>
              <a:srgbClr val="2E9E5B"/>
            </a:solidFill>
            <a:prstDash val="solid"/>
          </a:ln>
        </p:spPr>
      </p:sp>
      <p:sp>
        <p:nvSpPr>
          <p:cNvPr id="3" name="Text 91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 The answer</a:t>
            </a:r>
            <a:endParaRPr lang="en-US" sz="3000" dirty="0"/>
          </a:p>
        </p:txBody>
      </p:sp>
      <p:sp>
        <p:nvSpPr>
          <p:cNvPr id="4" name="Text 913"/>
          <p:cNvSpPr txBox="1"/>
          <p:nvPr/>
        </p:nvSpPr>
        <p:spPr>
          <a:xfrm>
            <a:off x="457200" y="1051560"/>
            <a:ext cx="8229600" cy="914400"/>
          </a:xfrm>
          <a:prstGeom prst="rect">
            <a:avLst/>
          </a:prstGeom>
          <a:noFill/>
          <a:ln/>
        </p:spPr>
        <p:txBody>
          <a:bodyPr wrap="square" lIns="0" tIns="0" rIns="0" bIns="0" rtlCol="0" anchor="ctr"/>
          <a:lstStyle/>
          <a:p>
            <a:pPr indent="0" marL="0">
              <a:buNone/>
            </a:pPr>
            <a:r>
              <a:rPr lang="en-US" sz="2600" b="1" dirty="0">
                <a:solidFill>
                  <a:schemeClr val="tx1"/>
                </a:solidFill>
                <a:latin typeface="Calibri" pitchFamily="34" charset="0"/>
                <a:ea typeface="Calibri" pitchFamily="34" charset="-122"/>
                <a:cs typeface="Calibri" pitchFamily="34" charset="-120"/>
              </a:rPr>
              <a:t>You find a picture online. What should you do before using it?</a:t>
            </a:r>
            <a:endParaRPr lang="en-US" sz="2600" dirty="0"/>
          </a:p>
        </p:txBody>
      </p:sp>
      <p:sp>
        <p:nvSpPr>
          <p:cNvPr id="5" name="Card 914"/>
          <p:cNvSpPr/>
          <p:nvPr/>
        </p:nvSpPr>
        <p:spPr>
          <a:xfrm>
            <a:off x="457200" y="2194560"/>
            <a:ext cx="8229600" cy="713232"/>
          </a:xfrm>
          <a:prstGeom prst="roundRect">
            <a:avLst>
              <a:gd name="adj" fmla="val 15385"/>
            </a:avLst>
          </a:prstGeom>
          <a:solidFill>
            <a:srgbClr val="FFFFFF"/>
          </a:solidFill>
          <a:ln w="19050">
            <a:solidFill>
              <a:srgbClr val="DDDAEA"/>
            </a:solidFill>
            <a:prstDash val="solid"/>
          </a:ln>
          <a:effectLst>
            <a:outerShdw sx="100000" sy="100000" kx="0" ky="0" algn="bl" rotWithShape="0" blurRad="76200" dist="25400" dir="5400000">
              <a:srgbClr val="2B2250">
                <a:alpha val="15000"/>
              </a:srgbClr>
            </a:outerShdw>
          </a:effectLst>
        </p:spPr>
      </p:sp>
      <p:sp>
        <p:nvSpPr>
          <p:cNvPr id="6" name="Dot 915"/>
          <p:cNvSpPr/>
          <p:nvPr/>
        </p:nvSpPr>
        <p:spPr>
          <a:xfrm>
            <a:off x="594360" y="2322576"/>
            <a:ext cx="457200" cy="457200"/>
          </a:xfrm>
          <a:prstGeom prst="ellipse">
            <a:avLst/>
          </a:prstGeom>
          <a:solidFill>
            <a:srgbClr val="CFCBE0"/>
          </a:solidFill>
          <a:ln w="12700">
            <a:solidFill>
              <a:srgbClr val="FFFFFF"/>
            </a:solidFill>
            <a:prstDash val="solid"/>
          </a:ln>
        </p:spPr>
      </p:sp>
      <p:sp>
        <p:nvSpPr>
          <p:cNvPr id="7" name="Text 916"/>
          <p:cNvSpPr txBox="1"/>
          <p:nvPr/>
        </p:nvSpPr>
        <p:spPr>
          <a:xfrm>
            <a:off x="594360" y="2322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8" name="Text 917"/>
          <p:cNvSpPr txBox="1"/>
          <p:nvPr/>
        </p:nvSpPr>
        <p:spPr>
          <a:xfrm>
            <a:off x="1188720" y="2194560"/>
            <a:ext cx="7406640" cy="713232"/>
          </a:xfrm>
          <a:prstGeom prst="rect">
            <a:avLst/>
          </a:prstGeom>
          <a:noFill/>
          <a:ln/>
        </p:spPr>
        <p:txBody>
          <a:bodyPr wrap="square" lIns="0" tIns="0" rIns="0" bIns="0" rtlCol="0" anchor="ctr"/>
          <a:lstStyle/>
          <a:p>
            <a:pPr indent="0" marL="0">
              <a:buNone/>
            </a:pPr>
            <a:r>
              <a:rPr lang="en-US" sz="2200" dirty="0">
                <a:solidFill>
                  <a:srgbClr val="8A86A3"/>
                </a:solidFill>
                <a:latin typeface="Calibri" pitchFamily="34" charset="0"/>
                <a:ea typeface="Calibri" pitchFamily="34" charset="-122"/>
                <a:cs typeface="Calibri" pitchFamily="34" charset="-120"/>
              </a:rPr>
              <a:t>Use it and say it is yours</a:t>
            </a:r>
            <a:endParaRPr lang="en-US" sz="2200" dirty="0"/>
          </a:p>
        </p:txBody>
      </p:sp>
      <p:sp>
        <p:nvSpPr>
          <p:cNvPr id="9" name="Card 918"/>
          <p:cNvSpPr/>
          <p:nvPr/>
        </p:nvSpPr>
        <p:spPr>
          <a:xfrm>
            <a:off x="457200" y="3017520"/>
            <a:ext cx="8229600" cy="713232"/>
          </a:xfrm>
          <a:prstGeom prst="roundRect">
            <a:avLst>
              <a:gd name="adj" fmla="val 15385"/>
            </a:avLst>
          </a:prstGeom>
          <a:solidFill>
            <a:srgbClr val="D9F5E6"/>
          </a:solidFill>
          <a:ln w="38100">
            <a:solidFill>
              <a:srgbClr val="2E9E5B"/>
            </a:solidFill>
            <a:prstDash val="solid"/>
          </a:ln>
          <a:effectLst>
            <a:outerShdw sx="100000" sy="100000" kx="0" ky="0" algn="bl" rotWithShape="0" blurRad="76200" dist="25400" dir="5400000">
              <a:srgbClr val="2B2250">
                <a:alpha val="15000"/>
              </a:srgbClr>
            </a:outerShdw>
          </a:effectLst>
        </p:spPr>
      </p:sp>
      <p:sp>
        <p:nvSpPr>
          <p:cNvPr id="10" name="Dot 919"/>
          <p:cNvSpPr/>
          <p:nvPr/>
        </p:nvSpPr>
        <p:spPr>
          <a:xfrm>
            <a:off x="594360" y="3145536"/>
            <a:ext cx="457200" cy="457200"/>
          </a:xfrm>
          <a:prstGeom prst="ellipse">
            <a:avLst/>
          </a:prstGeom>
          <a:solidFill>
            <a:srgbClr val="2E9E5B"/>
          </a:solidFill>
          <a:ln w="12700">
            <a:solidFill>
              <a:srgbClr val="FFFFFF"/>
            </a:solidFill>
            <a:prstDash val="solid"/>
          </a:ln>
        </p:spPr>
      </p:sp>
      <p:sp>
        <p:nvSpPr>
          <p:cNvPr id="11" name="Text 920"/>
          <p:cNvSpPr txBox="1"/>
          <p:nvPr/>
        </p:nvSpPr>
        <p:spPr>
          <a:xfrm>
            <a:off x="594360" y="314553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921"/>
          <p:cNvSpPr txBox="1"/>
          <p:nvPr/>
        </p:nvSpPr>
        <p:spPr>
          <a:xfrm>
            <a:off x="1188720" y="3017520"/>
            <a:ext cx="7406640" cy="713232"/>
          </a:xfrm>
          <a:prstGeom prst="rect">
            <a:avLst/>
          </a:prstGeom>
          <a:noFill/>
          <a:ln/>
        </p:spPr>
        <p:txBody>
          <a:bodyPr wrap="square" lIns="0" tIns="0" rIns="0" bIns="0" rtlCol="0" anchor="ctr"/>
          <a:lstStyle/>
          <a:p>
            <a:pPr indent="0" marL="0">
              <a:buNone/>
            </a:pPr>
            <a:r>
              <a:rPr lang="en-US" sz="2200" b="1" dirty="0">
                <a:solidFill>
                  <a:srgbClr val="2B2250"/>
                </a:solidFill>
                <a:latin typeface="Calibri" pitchFamily="34" charset="0"/>
                <a:ea typeface="Calibri" pitchFamily="34" charset="-122"/>
                <a:cs typeface="Calibri" pitchFamily="34" charset="-120"/>
              </a:rPr>
              <a:t>Check who owns it and ask permission</a:t>
            </a:r>
            <a:endParaRPr lang="en-US" sz="2200" dirty="0"/>
          </a:p>
        </p:txBody>
      </p:sp>
      <p:sp>
        <p:nvSpPr>
          <p:cNvPr id="13" name="Card 922"/>
          <p:cNvSpPr/>
          <p:nvPr/>
        </p:nvSpPr>
        <p:spPr>
          <a:xfrm>
            <a:off x="457200" y="3840480"/>
            <a:ext cx="8229600" cy="713232"/>
          </a:xfrm>
          <a:prstGeom prst="roundRect">
            <a:avLst>
              <a:gd name="adj" fmla="val 15385"/>
            </a:avLst>
          </a:prstGeom>
          <a:solidFill>
            <a:srgbClr val="FFFFFF"/>
          </a:solidFill>
          <a:ln w="19050">
            <a:solidFill>
              <a:srgbClr val="DDDAEA"/>
            </a:solidFill>
            <a:prstDash val="solid"/>
          </a:ln>
          <a:effectLst>
            <a:outerShdw sx="100000" sy="100000" kx="0" ky="0" algn="bl" rotWithShape="0" blurRad="76200" dist="25400" dir="5400000">
              <a:srgbClr val="2B2250">
                <a:alpha val="15000"/>
              </a:srgbClr>
            </a:outerShdw>
          </a:effectLst>
        </p:spPr>
      </p:sp>
      <p:sp>
        <p:nvSpPr>
          <p:cNvPr id="14" name="Dot 923"/>
          <p:cNvSpPr/>
          <p:nvPr/>
        </p:nvSpPr>
        <p:spPr>
          <a:xfrm>
            <a:off x="594360" y="3968496"/>
            <a:ext cx="457200" cy="457200"/>
          </a:xfrm>
          <a:prstGeom prst="ellipse">
            <a:avLst/>
          </a:prstGeom>
          <a:solidFill>
            <a:srgbClr val="CFCBE0"/>
          </a:solidFill>
          <a:ln w="12700">
            <a:solidFill>
              <a:srgbClr val="FFFFFF"/>
            </a:solidFill>
            <a:prstDash val="solid"/>
          </a:ln>
        </p:spPr>
      </p:sp>
      <p:sp>
        <p:nvSpPr>
          <p:cNvPr id="15" name="Text 924"/>
          <p:cNvSpPr txBox="1"/>
          <p:nvPr/>
        </p:nvSpPr>
        <p:spPr>
          <a:xfrm>
            <a:off x="594360" y="39684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6" name="Text 925"/>
          <p:cNvSpPr txBox="1"/>
          <p:nvPr/>
        </p:nvSpPr>
        <p:spPr>
          <a:xfrm>
            <a:off x="1188720" y="3840480"/>
            <a:ext cx="7406640" cy="713232"/>
          </a:xfrm>
          <a:prstGeom prst="rect">
            <a:avLst/>
          </a:prstGeom>
          <a:noFill/>
          <a:ln/>
        </p:spPr>
        <p:txBody>
          <a:bodyPr wrap="square" lIns="0" tIns="0" rIns="0" bIns="0" rtlCol="0" anchor="ctr"/>
          <a:lstStyle/>
          <a:p>
            <a:pPr indent="0" marL="0">
              <a:buNone/>
            </a:pPr>
            <a:r>
              <a:rPr lang="en-US" sz="2200" dirty="0">
                <a:solidFill>
                  <a:srgbClr val="8A86A3"/>
                </a:solidFill>
                <a:latin typeface="Calibri" pitchFamily="34" charset="0"/>
                <a:ea typeface="Calibri" pitchFamily="34" charset="-122"/>
                <a:cs typeface="Calibri" pitchFamily="34" charset="-120"/>
              </a:rPr>
              <a:t>Delete the website</a:t>
            </a:r>
            <a:endParaRPr lang="en-US" sz="2200" dirty="0"/>
          </a:p>
        </p:txBody>
      </p:sp>
      <p:sp>
        <p:nvSpPr>
          <p:cNvPr id="17" name="Text 926"/>
          <p:cNvSpPr txBox="1"/>
          <p:nvPr/>
        </p:nvSpPr>
        <p:spPr>
          <a:xfrm>
            <a:off x="457200" y="4572000"/>
            <a:ext cx="8229600" cy="457200"/>
          </a:xfrm>
          <a:prstGeom prst="rect">
            <a:avLst/>
          </a:prstGeom>
          <a:noFill/>
          <a:ln/>
        </p:spPr>
        <p:txBody>
          <a:bodyPr wrap="square" lIns="0" tIns="0" rIns="0" bIns="0" rtlCol="0" anchor="t"/>
          <a:lstStyle/>
          <a:p>
            <a:pPr algn="ctr" indent="0" marL="0">
              <a:buNone/>
            </a:pPr>
            <a:r>
              <a:rPr lang="en-US" sz="2000" b="1" dirty="0">
                <a:solidFill>
                  <a:srgbClr val="2E9E5B"/>
                </a:solidFill>
                <a:latin typeface="Calibri" pitchFamily="34" charset="0"/>
                <a:ea typeface="Calibri" pitchFamily="34" charset="-122"/>
                <a:cs typeface="Calibri" pitchFamily="34" charset="-120"/>
              </a:rPr>
              <a:t>Always check the owner and ask permission or give credit.</a:t>
            </a:r>
            <a:endParaRPr lang="en-US" sz="20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Accent 927"/>
          <p:cNvSpPr/>
          <p:nvPr/>
        </p:nvSpPr>
        <p:spPr>
          <a:xfrm>
            <a:off x="0" y="274320"/>
            <a:ext cx="164592" cy="685800"/>
          </a:xfrm>
          <a:prstGeom prst="rect">
            <a:avLst/>
          </a:prstGeom>
          <a:solidFill>
            <a:srgbClr val="FF5C8A"/>
          </a:solidFill>
          <a:ln w="12700">
            <a:solidFill>
              <a:srgbClr val="FF5C8A"/>
            </a:solidFill>
            <a:prstDash val="solid"/>
          </a:ln>
        </p:spPr>
      </p:sp>
      <p:sp>
        <p:nvSpPr>
          <p:cNvPr id="3" name="Text 928"/>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Before you share an image</a:t>
            </a:r>
            <a:endParaRPr lang="en-US" sz="3000" dirty="0"/>
          </a:p>
        </p:txBody>
      </p:sp>
      <p:sp>
        <p:nvSpPr>
          <p:cNvPr id="4" name="Card 929"/>
          <p:cNvSpPr/>
          <p:nvPr/>
        </p:nvSpPr>
        <p:spPr>
          <a:xfrm>
            <a:off x="457200" y="1188720"/>
            <a:ext cx="2651760" cy="1737360"/>
          </a:xfrm>
          <a:prstGeom prst="roundRect">
            <a:avLst>
              <a:gd name="adj" fmla="val 6316"/>
            </a:avLst>
          </a:prstGeom>
          <a:solidFill>
            <a:srgbClr val="FFFFFF"/>
          </a:solidFill>
          <a:ln/>
          <a:effectLst>
            <a:outerShdw sx="100000" sy="100000" kx="0" ky="0" algn="bl" rotWithShape="0" blurRad="76200" dist="25400" dir="5400000">
              <a:srgbClr val="2B2250">
                <a:alpha val="15000"/>
              </a:srgbClr>
            </a:outerShdw>
          </a:effectLst>
        </p:spPr>
      </p:sp>
      <p:sp>
        <p:nvSpPr>
          <p:cNvPr id="5" name="Dot 930"/>
          <p:cNvSpPr/>
          <p:nvPr/>
        </p:nvSpPr>
        <p:spPr>
          <a:xfrm>
            <a:off x="640080" y="1371600"/>
            <a:ext cx="640080" cy="640080"/>
          </a:xfrm>
          <a:prstGeom prst="ellipse">
            <a:avLst/>
          </a:prstGeom>
          <a:solidFill>
            <a:srgbClr val="FF9A3D"/>
          </a:solidFill>
          <a:ln w="12700">
            <a:solidFill>
              <a:srgbClr val="FFFFFF"/>
            </a:solidFill>
            <a:prstDash val="solid"/>
          </a:ln>
        </p:spPr>
      </p:sp>
      <p:pic>
        <p:nvPicPr>
          <p:cNvPr id="6" name="Icon 931" descr="FaPalette">    </p:cNvPr>
          <p:cNvPicPr>
            <a:picLocks noChangeAspect="1"/>
          </p:cNvPicPr>
          <p:nvPr/>
        </p:nvPicPr>
        <p:blipFill>
          <a:blip r:embed="rId1"/>
          <a:stretch>
            <a:fillRect/>
          </a:stretch>
        </p:blipFill>
        <p:spPr>
          <a:xfrm>
            <a:off x="795528" y="1527048"/>
            <a:ext cx="329184" cy="329184"/>
          </a:xfrm>
          <a:prstGeom prst="rect">
            <a:avLst/>
          </a:prstGeom>
        </p:spPr>
      </p:pic>
      <p:sp>
        <p:nvSpPr>
          <p:cNvPr id="7" name="Text 932"/>
          <p:cNvSpPr txBox="1"/>
          <p:nvPr/>
        </p:nvSpPr>
        <p:spPr>
          <a:xfrm>
            <a:off x="1417320" y="1325880"/>
            <a:ext cx="1554480" cy="457200"/>
          </a:xfrm>
          <a:prstGeom prst="rect">
            <a:avLst/>
          </a:prstGeom>
          <a:noFill/>
          <a:ln/>
        </p:spPr>
        <p:txBody>
          <a:bodyPr wrap="square" lIns="0" tIns="0" rIns="0" bIns="0" rtlCol="0" anchor="t"/>
          <a:lstStyle/>
          <a:p>
            <a:pPr indent="0" marL="0">
              <a:buNone/>
            </a:pPr>
            <a:r>
              <a:rPr lang="en-US" sz="2000" b="1" dirty="0">
                <a:solidFill>
                  <a:srgbClr val="FF9A3D"/>
                </a:solidFill>
                <a:latin typeface="Calibri" pitchFamily="34" charset="0"/>
                <a:ea typeface="Calibri" pitchFamily="34" charset="-122"/>
                <a:cs typeface="Calibri" pitchFamily="34" charset="-120"/>
              </a:rPr>
              <a:t>Who made it?</a:t>
            </a:r>
            <a:endParaRPr lang="en-US" sz="2000" dirty="0"/>
          </a:p>
        </p:txBody>
      </p:sp>
      <p:sp>
        <p:nvSpPr>
          <p:cNvPr id="8" name="Text 933"/>
          <p:cNvSpPr txBox="1"/>
          <p:nvPr/>
        </p:nvSpPr>
        <p:spPr>
          <a:xfrm>
            <a:off x="640080" y="2103120"/>
            <a:ext cx="2286000" cy="777240"/>
          </a:xfrm>
          <a:prstGeom prst="rect">
            <a:avLst/>
          </a:prstGeom>
          <a:noFill/>
          <a:ln/>
        </p:spPr>
        <p:txBody>
          <a:bodyPr wrap="square" lIns="0" tIns="0" rIns="0" bIns="0" rtlCol="0" anchor="t"/>
          <a:lstStyle/>
          <a:p>
            <a:pPr indent="0" marL="0">
              <a:buNone/>
            </a:pPr>
            <a:endParaRPr lang="en-US" sz="1700" dirty="0"/>
          </a:p>
        </p:txBody>
      </p:sp>
      <p:sp>
        <p:nvSpPr>
          <p:cNvPr id="9" name="Card 934"/>
          <p:cNvSpPr/>
          <p:nvPr/>
        </p:nvSpPr>
        <p:spPr>
          <a:xfrm>
            <a:off x="3246120" y="1188720"/>
            <a:ext cx="2651760" cy="1737360"/>
          </a:xfrm>
          <a:prstGeom prst="roundRect">
            <a:avLst>
              <a:gd name="adj" fmla="val 6316"/>
            </a:avLst>
          </a:prstGeom>
          <a:solidFill>
            <a:srgbClr val="FFFFFF"/>
          </a:solidFill>
          <a:ln/>
          <a:effectLst>
            <a:outerShdw sx="100000" sy="100000" kx="0" ky="0" algn="bl" rotWithShape="0" blurRad="76200" dist="25400" dir="5400000">
              <a:srgbClr val="2B2250">
                <a:alpha val="15000"/>
              </a:srgbClr>
            </a:outerShdw>
          </a:effectLst>
        </p:spPr>
      </p:sp>
      <p:sp>
        <p:nvSpPr>
          <p:cNvPr id="10" name="Dot 935"/>
          <p:cNvSpPr/>
          <p:nvPr/>
        </p:nvSpPr>
        <p:spPr>
          <a:xfrm>
            <a:off x="3429000" y="1371600"/>
            <a:ext cx="640080" cy="640080"/>
          </a:xfrm>
          <a:prstGeom prst="ellipse">
            <a:avLst/>
          </a:prstGeom>
          <a:solidFill>
            <a:srgbClr val="FF5C8A"/>
          </a:solidFill>
          <a:ln w="12700">
            <a:solidFill>
              <a:srgbClr val="FFFFFF"/>
            </a:solidFill>
            <a:prstDash val="solid"/>
          </a:ln>
        </p:spPr>
      </p:sp>
      <p:pic>
        <p:nvPicPr>
          <p:cNvPr id="11" name="Icon 936" descr="FaUserLock">    </p:cNvPr>
          <p:cNvPicPr>
            <a:picLocks noChangeAspect="1"/>
          </p:cNvPicPr>
          <p:nvPr/>
        </p:nvPicPr>
        <p:blipFill>
          <a:blip r:embed="rId2"/>
          <a:stretch>
            <a:fillRect/>
          </a:stretch>
        </p:blipFill>
        <p:spPr>
          <a:xfrm>
            <a:off x="3584448" y="1527048"/>
            <a:ext cx="329184" cy="329184"/>
          </a:xfrm>
          <a:prstGeom prst="rect">
            <a:avLst/>
          </a:prstGeom>
        </p:spPr>
      </p:pic>
      <p:sp>
        <p:nvSpPr>
          <p:cNvPr id="12" name="Text 937"/>
          <p:cNvSpPr txBox="1"/>
          <p:nvPr/>
        </p:nvSpPr>
        <p:spPr>
          <a:xfrm>
            <a:off x="4206240" y="1325880"/>
            <a:ext cx="1554480" cy="457200"/>
          </a:xfrm>
          <a:prstGeom prst="rect">
            <a:avLst/>
          </a:prstGeom>
          <a:noFill/>
          <a:ln/>
        </p:spPr>
        <p:txBody>
          <a:bodyPr wrap="square" lIns="0" tIns="0" rIns="0" bIns="0" rtlCol="0" anchor="t"/>
          <a:lstStyle/>
          <a:p>
            <a:pPr indent="0" marL="0">
              <a:buNone/>
            </a:pPr>
            <a:r>
              <a:rPr lang="en-US" sz="2000" b="1" dirty="0">
                <a:solidFill>
                  <a:srgbClr val="FF5C8A"/>
                </a:solidFill>
                <a:latin typeface="Calibri" pitchFamily="34" charset="0"/>
                <a:ea typeface="Calibri" pitchFamily="34" charset="-122"/>
                <a:cs typeface="Calibri" pitchFamily="34" charset="-120"/>
              </a:rPr>
              <a:t>Who owns it now?</a:t>
            </a:r>
            <a:endParaRPr lang="en-US" sz="2000" dirty="0"/>
          </a:p>
        </p:txBody>
      </p:sp>
      <p:sp>
        <p:nvSpPr>
          <p:cNvPr id="13" name="Text 938"/>
          <p:cNvSpPr txBox="1"/>
          <p:nvPr/>
        </p:nvSpPr>
        <p:spPr>
          <a:xfrm>
            <a:off x="3429000" y="2103120"/>
            <a:ext cx="2286000" cy="777240"/>
          </a:xfrm>
          <a:prstGeom prst="rect">
            <a:avLst/>
          </a:prstGeom>
          <a:noFill/>
          <a:ln/>
        </p:spPr>
        <p:txBody>
          <a:bodyPr wrap="square" lIns="0" tIns="0" rIns="0" bIns="0" rtlCol="0" anchor="t"/>
          <a:lstStyle/>
          <a:p>
            <a:pPr indent="0" marL="0">
              <a:buNone/>
            </a:pPr>
            <a:endParaRPr lang="en-US" sz="1700" dirty="0"/>
          </a:p>
        </p:txBody>
      </p:sp>
      <p:sp>
        <p:nvSpPr>
          <p:cNvPr id="14" name="Card 939"/>
          <p:cNvSpPr/>
          <p:nvPr/>
        </p:nvSpPr>
        <p:spPr>
          <a:xfrm>
            <a:off x="6035040" y="1188720"/>
            <a:ext cx="2651760" cy="1737360"/>
          </a:xfrm>
          <a:prstGeom prst="roundRect">
            <a:avLst>
              <a:gd name="adj" fmla="val 6316"/>
            </a:avLst>
          </a:prstGeom>
          <a:solidFill>
            <a:srgbClr val="FFFFFF"/>
          </a:solidFill>
          <a:ln/>
          <a:effectLst>
            <a:outerShdw sx="100000" sy="100000" kx="0" ky="0" algn="bl" rotWithShape="0" blurRad="76200" dist="25400" dir="5400000">
              <a:srgbClr val="2B2250">
                <a:alpha val="15000"/>
              </a:srgbClr>
            </a:outerShdw>
          </a:effectLst>
        </p:spPr>
      </p:sp>
      <p:sp>
        <p:nvSpPr>
          <p:cNvPr id="15" name="Dot 940"/>
          <p:cNvSpPr/>
          <p:nvPr/>
        </p:nvSpPr>
        <p:spPr>
          <a:xfrm>
            <a:off x="6217920" y="1371600"/>
            <a:ext cx="640080" cy="640080"/>
          </a:xfrm>
          <a:prstGeom prst="ellipse">
            <a:avLst/>
          </a:prstGeom>
          <a:solidFill>
            <a:srgbClr val="4DA3E0"/>
          </a:solidFill>
          <a:ln w="12700">
            <a:solidFill>
              <a:srgbClr val="FFFFFF"/>
            </a:solidFill>
            <a:prstDash val="solid"/>
          </a:ln>
        </p:spPr>
      </p:sp>
      <p:pic>
        <p:nvPicPr>
          <p:cNvPr id="16" name="Icon 941" descr="FaCheckDouble">    </p:cNvPr>
          <p:cNvPicPr>
            <a:picLocks noChangeAspect="1"/>
          </p:cNvPicPr>
          <p:nvPr/>
        </p:nvPicPr>
        <p:blipFill>
          <a:blip r:embed="rId3"/>
          <a:stretch>
            <a:fillRect/>
          </a:stretch>
        </p:blipFill>
        <p:spPr>
          <a:xfrm>
            <a:off x="6373368" y="1527048"/>
            <a:ext cx="329184" cy="329184"/>
          </a:xfrm>
          <a:prstGeom prst="rect">
            <a:avLst/>
          </a:prstGeom>
        </p:spPr>
      </p:pic>
      <p:sp>
        <p:nvSpPr>
          <p:cNvPr id="17" name="Text 942"/>
          <p:cNvSpPr txBox="1"/>
          <p:nvPr/>
        </p:nvSpPr>
        <p:spPr>
          <a:xfrm>
            <a:off x="6995160" y="1325880"/>
            <a:ext cx="1554480" cy="457200"/>
          </a:xfrm>
          <a:prstGeom prst="rect">
            <a:avLst/>
          </a:prstGeom>
          <a:noFill/>
          <a:ln/>
        </p:spPr>
        <p:txBody>
          <a:bodyPr wrap="square" lIns="0" tIns="0" rIns="0" bIns="0" rtlCol="0" anchor="t"/>
          <a:lstStyle/>
          <a:p>
            <a:pPr indent="0" marL="0">
              <a:buNone/>
            </a:pPr>
            <a:r>
              <a:rPr lang="en-US" sz="2000" b="1" dirty="0">
                <a:solidFill>
                  <a:srgbClr val="4DA3E0"/>
                </a:solidFill>
                <a:latin typeface="Calibri" pitchFamily="34" charset="0"/>
                <a:ea typeface="Calibri" pitchFamily="34" charset="-122"/>
                <a:cs typeface="Calibri" pitchFamily="34" charset="-120"/>
              </a:rPr>
              <a:t>Did they say yes?</a:t>
            </a:r>
            <a:endParaRPr lang="en-US" sz="2000" dirty="0"/>
          </a:p>
        </p:txBody>
      </p:sp>
      <p:sp>
        <p:nvSpPr>
          <p:cNvPr id="18" name="Text 943"/>
          <p:cNvSpPr txBox="1"/>
          <p:nvPr/>
        </p:nvSpPr>
        <p:spPr>
          <a:xfrm>
            <a:off x="6217920" y="2103120"/>
            <a:ext cx="2286000" cy="777240"/>
          </a:xfrm>
          <a:prstGeom prst="rect">
            <a:avLst/>
          </a:prstGeom>
          <a:noFill/>
          <a:ln/>
        </p:spPr>
        <p:txBody>
          <a:bodyPr wrap="square" lIns="0" tIns="0" rIns="0" bIns="0" rtlCol="0" anchor="t"/>
          <a:lstStyle/>
          <a:p>
            <a:pPr indent="0" marL="0">
              <a:buNone/>
            </a:pPr>
            <a:endParaRPr lang="en-US" sz="1700" dirty="0"/>
          </a:p>
        </p:txBody>
      </p:sp>
      <p:sp>
        <p:nvSpPr>
          <p:cNvPr id="19" name="Card 944"/>
          <p:cNvSpPr/>
          <p:nvPr/>
        </p:nvSpPr>
        <p:spPr>
          <a:xfrm>
            <a:off x="457200" y="3063240"/>
            <a:ext cx="2651760" cy="1737360"/>
          </a:xfrm>
          <a:prstGeom prst="roundRect">
            <a:avLst>
              <a:gd name="adj" fmla="val 6316"/>
            </a:avLst>
          </a:prstGeom>
          <a:solidFill>
            <a:srgbClr val="FFFFFF"/>
          </a:solidFill>
          <a:ln/>
          <a:effectLst>
            <a:outerShdw sx="100000" sy="100000" kx="0" ky="0" algn="bl" rotWithShape="0" blurRad="76200" dist="25400" dir="5400000">
              <a:srgbClr val="2B2250">
                <a:alpha val="15000"/>
              </a:srgbClr>
            </a:outerShdw>
          </a:effectLst>
        </p:spPr>
      </p:sp>
      <p:sp>
        <p:nvSpPr>
          <p:cNvPr id="20" name="Dot 945"/>
          <p:cNvSpPr/>
          <p:nvPr/>
        </p:nvSpPr>
        <p:spPr>
          <a:xfrm>
            <a:off x="640080" y="3246120"/>
            <a:ext cx="640080" cy="640080"/>
          </a:xfrm>
          <a:prstGeom prst="ellipse">
            <a:avLst/>
          </a:prstGeom>
          <a:solidFill>
            <a:srgbClr val="1FB89A"/>
          </a:solidFill>
          <a:ln w="12700">
            <a:solidFill>
              <a:srgbClr val="FFFFFF"/>
            </a:solidFill>
            <a:prstDash val="solid"/>
          </a:ln>
        </p:spPr>
      </p:sp>
      <p:pic>
        <p:nvPicPr>
          <p:cNvPr id="21" name="Icon 946" descr="FaAward">    </p:cNvPr>
          <p:cNvPicPr>
            <a:picLocks noChangeAspect="1"/>
          </p:cNvPicPr>
          <p:nvPr/>
        </p:nvPicPr>
        <p:blipFill>
          <a:blip r:embed="rId4"/>
          <a:stretch>
            <a:fillRect/>
          </a:stretch>
        </p:blipFill>
        <p:spPr>
          <a:xfrm>
            <a:off x="795528" y="3401568"/>
            <a:ext cx="329184" cy="329184"/>
          </a:xfrm>
          <a:prstGeom prst="rect">
            <a:avLst/>
          </a:prstGeom>
        </p:spPr>
      </p:pic>
      <p:sp>
        <p:nvSpPr>
          <p:cNvPr id="22" name="Text 947"/>
          <p:cNvSpPr txBox="1"/>
          <p:nvPr/>
        </p:nvSpPr>
        <p:spPr>
          <a:xfrm>
            <a:off x="1417320" y="3200400"/>
            <a:ext cx="1554480" cy="457200"/>
          </a:xfrm>
          <a:prstGeom prst="rect">
            <a:avLst/>
          </a:prstGeom>
          <a:noFill/>
          <a:ln/>
        </p:spPr>
        <p:txBody>
          <a:bodyPr wrap="square" lIns="0" tIns="0" rIns="0" bIns="0" rtlCol="0" anchor="t"/>
          <a:lstStyle/>
          <a:p>
            <a:pPr indent="0" marL="0">
              <a:buNone/>
            </a:pPr>
            <a:r>
              <a:rPr lang="en-US" sz="2000" b="1" dirty="0">
                <a:solidFill>
                  <a:srgbClr val="1FB89A"/>
                </a:solidFill>
                <a:latin typeface="Calibri" pitchFamily="34" charset="0"/>
                <a:ea typeface="Calibri" pitchFamily="34" charset="-122"/>
                <a:cs typeface="Calibri" pitchFamily="34" charset="-120"/>
              </a:rPr>
              <a:t>Should I give credit?</a:t>
            </a:r>
            <a:endParaRPr lang="en-US" sz="2000" dirty="0"/>
          </a:p>
        </p:txBody>
      </p:sp>
      <p:sp>
        <p:nvSpPr>
          <p:cNvPr id="23" name="Text 948"/>
          <p:cNvSpPr txBox="1"/>
          <p:nvPr/>
        </p:nvSpPr>
        <p:spPr>
          <a:xfrm>
            <a:off x="640080" y="3977640"/>
            <a:ext cx="2286000" cy="777240"/>
          </a:xfrm>
          <a:prstGeom prst="rect">
            <a:avLst/>
          </a:prstGeom>
          <a:noFill/>
          <a:ln/>
        </p:spPr>
        <p:txBody>
          <a:bodyPr wrap="square" lIns="0" tIns="0" rIns="0" bIns="0" rtlCol="0" anchor="t"/>
          <a:lstStyle/>
          <a:p>
            <a:pPr indent="0" marL="0">
              <a:buNone/>
            </a:pPr>
            <a:endParaRPr lang="en-US" sz="1700" dirty="0"/>
          </a:p>
        </p:txBody>
      </p:sp>
      <p:sp>
        <p:nvSpPr>
          <p:cNvPr id="24" name="Card 949"/>
          <p:cNvSpPr/>
          <p:nvPr/>
        </p:nvSpPr>
        <p:spPr>
          <a:xfrm>
            <a:off x="3246120" y="3063240"/>
            <a:ext cx="2651760" cy="1737360"/>
          </a:xfrm>
          <a:prstGeom prst="roundRect">
            <a:avLst>
              <a:gd name="adj" fmla="val 6316"/>
            </a:avLst>
          </a:prstGeom>
          <a:solidFill>
            <a:srgbClr val="FFFFFF"/>
          </a:solidFill>
          <a:ln/>
          <a:effectLst>
            <a:outerShdw sx="100000" sy="100000" kx="0" ky="0" algn="bl" rotWithShape="0" blurRad="76200" dist="25400" dir="5400000">
              <a:srgbClr val="2B2250">
                <a:alpha val="15000"/>
              </a:srgbClr>
            </a:outerShdw>
          </a:effectLst>
        </p:spPr>
      </p:sp>
      <p:sp>
        <p:nvSpPr>
          <p:cNvPr id="25" name="Dot 950"/>
          <p:cNvSpPr/>
          <p:nvPr/>
        </p:nvSpPr>
        <p:spPr>
          <a:xfrm>
            <a:off x="3429000" y="3246120"/>
            <a:ext cx="640080" cy="640080"/>
          </a:xfrm>
          <a:prstGeom prst="ellipse">
            <a:avLst/>
          </a:prstGeom>
          <a:solidFill>
            <a:srgbClr val="6C63FF"/>
          </a:solidFill>
          <a:ln w="12700">
            <a:solidFill>
              <a:srgbClr val="FFFFFF"/>
            </a:solidFill>
            <a:prstDash val="solid"/>
          </a:ln>
        </p:spPr>
      </p:sp>
      <p:pic>
        <p:nvPicPr>
          <p:cNvPr id="26" name="Icon 951" descr="FaEye">    </p:cNvPr>
          <p:cNvPicPr>
            <a:picLocks noChangeAspect="1"/>
          </p:cNvPicPr>
          <p:nvPr/>
        </p:nvPicPr>
        <p:blipFill>
          <a:blip r:embed="rId5"/>
          <a:stretch>
            <a:fillRect/>
          </a:stretch>
        </p:blipFill>
        <p:spPr>
          <a:xfrm>
            <a:off x="3584448" y="3401568"/>
            <a:ext cx="329184" cy="329184"/>
          </a:xfrm>
          <a:prstGeom prst="rect">
            <a:avLst/>
          </a:prstGeom>
        </p:spPr>
      </p:pic>
      <p:sp>
        <p:nvSpPr>
          <p:cNvPr id="27" name="Text 952"/>
          <p:cNvSpPr txBox="1"/>
          <p:nvPr/>
        </p:nvSpPr>
        <p:spPr>
          <a:xfrm>
            <a:off x="4206240" y="3200400"/>
            <a:ext cx="1554480" cy="457200"/>
          </a:xfrm>
          <a:prstGeom prst="rect">
            <a:avLst/>
          </a:prstGeom>
          <a:noFill/>
          <a:ln/>
        </p:spPr>
        <p:txBody>
          <a:bodyPr wrap="square" lIns="0" tIns="0" rIns="0" bIns="0" rtlCol="0" anchor="t"/>
          <a:lstStyle/>
          <a:p>
            <a:pPr indent="0" marL="0">
              <a:buNone/>
            </a:pPr>
            <a:r>
              <a:rPr lang="en-US" sz="2000" b="1" dirty="0">
                <a:solidFill>
                  <a:srgbClr val="6C63FF"/>
                </a:solidFill>
                <a:latin typeface="Calibri" pitchFamily="34" charset="0"/>
                <a:ea typeface="Calibri" pitchFamily="34" charset="-122"/>
                <a:cs typeface="Calibri" pitchFamily="34" charset="-120"/>
              </a:rPr>
              <a:t>Who will see it?</a:t>
            </a:r>
            <a:endParaRPr lang="en-US" sz="2000" dirty="0"/>
          </a:p>
        </p:txBody>
      </p:sp>
      <p:sp>
        <p:nvSpPr>
          <p:cNvPr id="28" name="Text 953"/>
          <p:cNvSpPr txBox="1"/>
          <p:nvPr/>
        </p:nvSpPr>
        <p:spPr>
          <a:xfrm>
            <a:off x="3429000" y="3977640"/>
            <a:ext cx="2286000" cy="777240"/>
          </a:xfrm>
          <a:prstGeom prst="rect">
            <a:avLst/>
          </a:prstGeom>
          <a:noFill/>
          <a:ln/>
        </p:spPr>
        <p:txBody>
          <a:bodyPr wrap="square" lIns="0" tIns="0" rIns="0" bIns="0" rtlCol="0" anchor="t"/>
          <a:lstStyle/>
          <a:p>
            <a:pPr indent="0" marL="0">
              <a:buNone/>
            </a:pPr>
            <a:endParaRPr lang="en-US" sz="1700" dirty="0"/>
          </a:p>
        </p:txBody>
      </p:sp>
      <p:sp>
        <p:nvSpPr>
          <p:cNvPr id="29" name="Card 954"/>
          <p:cNvSpPr/>
          <p:nvPr/>
        </p:nvSpPr>
        <p:spPr>
          <a:xfrm>
            <a:off x="6035040" y="3063240"/>
            <a:ext cx="2651760" cy="1737360"/>
          </a:xfrm>
          <a:prstGeom prst="roundRect">
            <a:avLst>
              <a:gd name="adj" fmla="val 6316"/>
            </a:avLst>
          </a:prstGeom>
          <a:solidFill>
            <a:srgbClr val="FFFFFF"/>
          </a:solidFill>
          <a:ln/>
          <a:effectLst>
            <a:outerShdw sx="100000" sy="100000" kx="0" ky="0" algn="bl" rotWithShape="0" blurRad="76200" dist="25400" dir="5400000">
              <a:srgbClr val="2B2250">
                <a:alpha val="15000"/>
              </a:srgbClr>
            </a:outerShdw>
          </a:effectLst>
        </p:spPr>
      </p:sp>
      <p:sp>
        <p:nvSpPr>
          <p:cNvPr id="30" name="Dot 955"/>
          <p:cNvSpPr/>
          <p:nvPr/>
        </p:nvSpPr>
        <p:spPr>
          <a:xfrm>
            <a:off x="6217920" y="3246120"/>
            <a:ext cx="640080" cy="640080"/>
          </a:xfrm>
          <a:prstGeom prst="ellipse">
            <a:avLst/>
          </a:prstGeom>
          <a:solidFill>
            <a:srgbClr val="2E9E5B"/>
          </a:solidFill>
          <a:ln w="12700">
            <a:solidFill>
              <a:srgbClr val="FFFFFF"/>
            </a:solidFill>
            <a:prstDash val="solid"/>
          </a:ln>
        </p:spPr>
      </p:sp>
      <p:pic>
        <p:nvPicPr>
          <p:cNvPr id="31" name="Icon 956" descr="FaSmile">    </p:cNvPr>
          <p:cNvPicPr>
            <a:picLocks noChangeAspect="1"/>
          </p:cNvPicPr>
          <p:nvPr/>
        </p:nvPicPr>
        <p:blipFill>
          <a:blip r:embed="rId6"/>
          <a:stretch>
            <a:fillRect/>
          </a:stretch>
        </p:blipFill>
        <p:spPr>
          <a:xfrm>
            <a:off x="6373368" y="3401568"/>
            <a:ext cx="329184" cy="329184"/>
          </a:xfrm>
          <a:prstGeom prst="rect">
            <a:avLst/>
          </a:prstGeom>
        </p:spPr>
      </p:pic>
      <p:sp>
        <p:nvSpPr>
          <p:cNvPr id="32" name="Text 957"/>
          <p:cNvSpPr txBox="1"/>
          <p:nvPr/>
        </p:nvSpPr>
        <p:spPr>
          <a:xfrm>
            <a:off x="6995160" y="3200400"/>
            <a:ext cx="1554480" cy="457200"/>
          </a:xfrm>
          <a:prstGeom prst="rect">
            <a:avLst/>
          </a:prstGeom>
          <a:noFill/>
          <a:ln/>
        </p:spPr>
        <p:txBody>
          <a:bodyPr wrap="square" lIns="0" tIns="0" rIns="0" bIns="0" rtlCol="0" anchor="t"/>
          <a:lstStyle/>
          <a:p>
            <a:pPr indent="0" marL="0">
              <a:buNone/>
            </a:pPr>
            <a:r>
              <a:rPr lang="en-US" sz="2000" b="1" dirty="0">
                <a:solidFill>
                  <a:srgbClr val="2E9E5B"/>
                </a:solidFill>
                <a:latin typeface="Calibri" pitchFamily="34" charset="0"/>
                <a:ea typeface="Calibri" pitchFamily="34" charset="-122"/>
                <a:cs typeface="Calibri" pitchFamily="34" charset="-120"/>
              </a:rPr>
              <a:t>Is it kind and appropriate?</a:t>
            </a:r>
            <a:endParaRPr lang="en-US" sz="2000" dirty="0"/>
          </a:p>
        </p:txBody>
      </p:sp>
      <p:sp>
        <p:nvSpPr>
          <p:cNvPr id="33" name="Text 958"/>
          <p:cNvSpPr txBox="1"/>
          <p:nvPr/>
        </p:nvSpPr>
        <p:spPr>
          <a:xfrm>
            <a:off x="6217920" y="3977640"/>
            <a:ext cx="2286000" cy="777240"/>
          </a:xfrm>
          <a:prstGeom prst="rect">
            <a:avLst/>
          </a:prstGeom>
          <a:noFill/>
          <a:ln/>
        </p:spPr>
        <p:txBody>
          <a:bodyPr wrap="square" lIns="0" tIns="0" rIns="0" bIns="0" rtlCol="0" anchor="t"/>
          <a:lstStyle/>
          <a:p>
            <a:pPr indent="0" marL="0">
              <a:buNone/>
            </a:pPr>
            <a:endParaRPr lang="en-US" sz="17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Accent 959"/>
          <p:cNvSpPr/>
          <p:nvPr/>
        </p:nvSpPr>
        <p:spPr>
          <a:xfrm>
            <a:off x="0" y="0"/>
            <a:ext cx="457200" cy="5143500"/>
          </a:xfrm>
          <a:prstGeom prst="rect">
            <a:avLst/>
          </a:prstGeom>
          <a:solidFill>
            <a:srgbClr val="2E9E5B"/>
          </a:solidFill>
          <a:ln w="12700">
            <a:solidFill>
              <a:srgbClr val="2E9E5B"/>
            </a:solidFill>
            <a:prstDash val="solid"/>
          </a:ln>
        </p:spPr>
      </p:sp>
      <p:sp>
        <p:nvSpPr>
          <p:cNvPr id="3" name="Text 960"/>
          <p:cNvSpPr txBox="1"/>
          <p:nvPr/>
        </p:nvSpPr>
        <p:spPr>
          <a:xfrm>
            <a:off x="914400" y="822960"/>
            <a:ext cx="5486400" cy="457200"/>
          </a:xfrm>
          <a:prstGeom prst="rect">
            <a:avLst/>
          </a:prstGeom>
          <a:noFill/>
          <a:ln/>
        </p:spPr>
        <p:txBody>
          <a:bodyPr wrap="square" lIns="0" tIns="0" rIns="0" bIns="0" rtlCol="0" anchor="t"/>
          <a:lstStyle/>
          <a:p>
            <a:pPr indent="0" marL="0">
              <a:buNone/>
            </a:pPr>
            <a:r>
              <a:rPr lang="en-US" sz="2000" b="1" spc="400" kern="0" dirty="0">
                <a:solidFill>
                  <a:srgbClr val="FFD23F"/>
                </a:solidFill>
                <a:latin typeface="Calibri" pitchFamily="34" charset="0"/>
                <a:ea typeface="Calibri" pitchFamily="34" charset="-122"/>
                <a:cs typeface="Calibri" pitchFamily="34" charset="-120"/>
              </a:rPr>
              <a:t>LESSON 6</a:t>
            </a:r>
            <a:endParaRPr lang="en-US" sz="2000" dirty="0"/>
          </a:p>
        </p:txBody>
      </p:sp>
      <p:sp>
        <p:nvSpPr>
          <p:cNvPr id="4" name="Text 961"/>
          <p:cNvSpPr txBox="1"/>
          <p:nvPr/>
        </p:nvSpPr>
        <p:spPr>
          <a:xfrm>
            <a:off x="914400" y="1371600"/>
            <a:ext cx="5760720" cy="173736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Can I believe what I read?</a:t>
            </a:r>
            <a:endParaRPr lang="en-US" sz="3800" dirty="0"/>
          </a:p>
        </p:txBody>
      </p:sp>
      <p:sp>
        <p:nvSpPr>
          <p:cNvPr id="5" name="Text 962"/>
          <p:cNvSpPr txBox="1"/>
          <p:nvPr/>
        </p:nvSpPr>
        <p:spPr>
          <a:xfrm>
            <a:off x="914400" y="3383280"/>
            <a:ext cx="5760720" cy="1005840"/>
          </a:xfrm>
          <a:prstGeom prst="rect">
            <a:avLst/>
          </a:prstGeom>
          <a:noFill/>
          <a:ln/>
        </p:spPr>
        <p:txBody>
          <a:bodyPr wrap="square" lIns="0" tIns="0" rIns="0" bIns="0" rtlCol="0" anchor="t"/>
          <a:lstStyle/>
          <a:p>
            <a:pPr indent="0" marL="0">
              <a:buNone/>
            </a:pPr>
            <a:r>
              <a:rPr lang="en-US" sz="2000" i="1" dirty="0">
                <a:solidFill>
                  <a:srgbClr val="D9D4F5"/>
                </a:solidFill>
                <a:latin typeface="Calibri" pitchFamily="34" charset="0"/>
                <a:ea typeface="Calibri" pitchFamily="34" charset="-122"/>
                <a:cs typeface="Calibri" pitchFamily="34" charset="-120"/>
              </a:rPr>
              <a:t>Is everything online true?</a:t>
            </a:r>
            <a:endParaRPr lang="en-US" sz="2000" dirty="0"/>
          </a:p>
        </p:txBody>
      </p:sp>
      <p:sp>
        <p:nvSpPr>
          <p:cNvPr id="6" name="Blob 963"/>
          <p:cNvSpPr/>
          <p:nvPr/>
        </p:nvSpPr>
        <p:spPr>
          <a:xfrm>
            <a:off x="6766560" y="1188720"/>
            <a:ext cx="2011680" cy="2011680"/>
          </a:xfrm>
          <a:prstGeom prst="ellipse">
            <a:avLst/>
          </a:prstGeom>
          <a:solidFill>
            <a:srgbClr val="2E9E5B"/>
          </a:solidFill>
          <a:ln w="12700">
            <a:solidFill>
              <a:srgbClr val="2E9E5B"/>
            </a:solidFill>
            <a:prstDash val="solid"/>
          </a:ln>
        </p:spPr>
      </p:sp>
      <p:pic>
        <p:nvPicPr>
          <p:cNvPr id="7" name="Icon 964" descr="FaSearch">    </p:cNvPr>
          <p:cNvPicPr>
            <a:picLocks noChangeAspect="1"/>
          </p:cNvPicPr>
          <p:nvPr/>
        </p:nvPicPr>
        <p:blipFill>
          <a:blip r:embed="rId1"/>
          <a:stretch>
            <a:fillRect/>
          </a:stretch>
        </p:blipFill>
        <p:spPr>
          <a:xfrm>
            <a:off x="7269480" y="1691640"/>
            <a:ext cx="1005840" cy="100584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Accent 965"/>
          <p:cNvSpPr/>
          <p:nvPr/>
        </p:nvSpPr>
        <p:spPr>
          <a:xfrm>
            <a:off x="0" y="274320"/>
            <a:ext cx="164592" cy="685800"/>
          </a:xfrm>
          <a:prstGeom prst="rect">
            <a:avLst/>
          </a:prstGeom>
          <a:solidFill>
            <a:srgbClr val="2E9E5B"/>
          </a:solidFill>
          <a:ln w="12700">
            <a:solidFill>
              <a:srgbClr val="2E9E5B"/>
            </a:solidFill>
            <a:prstDash val="solid"/>
          </a:ln>
        </p:spPr>
      </p:sp>
      <p:sp>
        <p:nvSpPr>
          <p:cNvPr id="3" name="Text 966"/>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Today I can…</a:t>
            </a:r>
            <a:endParaRPr lang="en-US" sz="3000" dirty="0"/>
          </a:p>
        </p:txBody>
      </p:sp>
      <p:sp>
        <p:nvSpPr>
          <p:cNvPr id="4" name="Card 967"/>
          <p:cNvSpPr/>
          <p:nvPr/>
        </p:nvSpPr>
        <p:spPr>
          <a:xfrm>
            <a:off x="457200" y="1234440"/>
            <a:ext cx="8229600" cy="914400"/>
          </a:xfrm>
          <a:prstGeom prst="roundRect">
            <a:avLst>
              <a:gd name="adj" fmla="val 12000"/>
            </a:avLst>
          </a:prstGeom>
          <a:solidFill>
            <a:srgbClr val="FFFFFF"/>
          </a:solidFill>
          <a:ln/>
          <a:effectLst>
            <a:outerShdw sx="100000" sy="100000" kx="0" ky="0" algn="bl" rotWithShape="0" blurRad="76200" dist="25400" dir="5400000">
              <a:srgbClr val="2B2250">
                <a:alpha val="15000"/>
              </a:srgbClr>
            </a:outerShdw>
          </a:effectLst>
        </p:spPr>
      </p:sp>
      <p:sp>
        <p:nvSpPr>
          <p:cNvPr id="5" name="Dot 968"/>
          <p:cNvSpPr/>
          <p:nvPr/>
        </p:nvSpPr>
        <p:spPr>
          <a:xfrm>
            <a:off x="640080" y="1389888"/>
            <a:ext cx="603504" cy="603504"/>
          </a:xfrm>
          <a:prstGeom prst="ellipse">
            <a:avLst/>
          </a:prstGeom>
          <a:solidFill>
            <a:srgbClr val="FF9A3D"/>
          </a:solidFill>
          <a:ln w="12700">
            <a:solidFill>
              <a:srgbClr val="FFFFFF"/>
            </a:solidFill>
            <a:prstDash val="solid"/>
          </a:ln>
        </p:spPr>
      </p:sp>
      <p:pic>
        <p:nvPicPr>
          <p:cNvPr id="6" name="Icon 969" descr="FaBalanceScale">    </p:cNvPr>
          <p:cNvPicPr>
            <a:picLocks noChangeAspect="1"/>
          </p:cNvPicPr>
          <p:nvPr/>
        </p:nvPicPr>
        <p:blipFill>
          <a:blip r:embed="rId1"/>
          <a:stretch>
            <a:fillRect/>
          </a:stretch>
        </p:blipFill>
        <p:spPr>
          <a:xfrm>
            <a:off x="786384" y="1536192"/>
            <a:ext cx="310896" cy="310896"/>
          </a:xfrm>
          <a:prstGeom prst="rect">
            <a:avLst/>
          </a:prstGeom>
        </p:spPr>
      </p:pic>
      <p:sp>
        <p:nvSpPr>
          <p:cNvPr id="7" name="Text 970"/>
          <p:cNvSpPr txBox="1"/>
          <p:nvPr/>
        </p:nvSpPr>
        <p:spPr>
          <a:xfrm>
            <a:off x="1463040" y="1234440"/>
            <a:ext cx="7040880" cy="91440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I can explain that not everything on the web is true</a:t>
            </a:r>
            <a:endParaRPr lang="en-US" sz="2000" dirty="0"/>
          </a:p>
        </p:txBody>
      </p:sp>
      <p:sp>
        <p:nvSpPr>
          <p:cNvPr id="8" name="Card 971"/>
          <p:cNvSpPr/>
          <p:nvPr/>
        </p:nvSpPr>
        <p:spPr>
          <a:xfrm>
            <a:off x="457200" y="2286000"/>
            <a:ext cx="8229600" cy="914400"/>
          </a:xfrm>
          <a:prstGeom prst="roundRect">
            <a:avLst>
              <a:gd name="adj" fmla="val 12000"/>
            </a:avLst>
          </a:prstGeom>
          <a:solidFill>
            <a:srgbClr val="FFFFFF"/>
          </a:solidFill>
          <a:ln/>
          <a:effectLst>
            <a:outerShdw sx="100000" sy="100000" kx="0" ky="0" algn="bl" rotWithShape="0" blurRad="76200" dist="25400" dir="5400000">
              <a:srgbClr val="2B2250">
                <a:alpha val="15000"/>
              </a:srgbClr>
            </a:outerShdw>
          </a:effectLst>
        </p:spPr>
      </p:sp>
      <p:sp>
        <p:nvSpPr>
          <p:cNvPr id="9" name="Dot 972"/>
          <p:cNvSpPr/>
          <p:nvPr/>
        </p:nvSpPr>
        <p:spPr>
          <a:xfrm>
            <a:off x="640080" y="2441448"/>
            <a:ext cx="603504" cy="603504"/>
          </a:xfrm>
          <a:prstGeom prst="ellipse">
            <a:avLst/>
          </a:prstGeom>
          <a:solidFill>
            <a:srgbClr val="FF5C8A"/>
          </a:solidFill>
          <a:ln w="12700">
            <a:solidFill>
              <a:srgbClr val="FFFFFF"/>
            </a:solidFill>
            <a:prstDash val="solid"/>
          </a:ln>
        </p:spPr>
      </p:sp>
      <p:pic>
        <p:nvPicPr>
          <p:cNvPr id="10" name="Icon 973" descr="FaAd">    </p:cNvPr>
          <p:cNvPicPr>
            <a:picLocks noChangeAspect="1"/>
          </p:cNvPicPr>
          <p:nvPr/>
        </p:nvPicPr>
        <p:blipFill>
          <a:blip r:embed="rId2"/>
          <a:stretch>
            <a:fillRect/>
          </a:stretch>
        </p:blipFill>
        <p:spPr>
          <a:xfrm>
            <a:off x="786384" y="2587752"/>
            <a:ext cx="310896" cy="310896"/>
          </a:xfrm>
          <a:prstGeom prst="rect">
            <a:avLst/>
          </a:prstGeom>
        </p:spPr>
      </p:pic>
      <p:sp>
        <p:nvSpPr>
          <p:cNvPr id="11" name="Text 974"/>
          <p:cNvSpPr txBox="1"/>
          <p:nvPr/>
        </p:nvSpPr>
        <p:spPr>
          <a:xfrm>
            <a:off x="1463040" y="2286000"/>
            <a:ext cx="7040880" cy="91440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I can explain why some information may not be honest or accurate</a:t>
            </a:r>
            <a:endParaRPr lang="en-US" sz="2000" dirty="0"/>
          </a:p>
        </p:txBody>
      </p:sp>
      <p:sp>
        <p:nvSpPr>
          <p:cNvPr id="12" name="Card 975"/>
          <p:cNvSpPr/>
          <p:nvPr/>
        </p:nvSpPr>
        <p:spPr>
          <a:xfrm>
            <a:off x="457200" y="3337560"/>
            <a:ext cx="8229600" cy="914400"/>
          </a:xfrm>
          <a:prstGeom prst="roundRect">
            <a:avLst>
              <a:gd name="adj" fmla="val 12000"/>
            </a:avLst>
          </a:prstGeom>
          <a:solidFill>
            <a:srgbClr val="FFFFFF"/>
          </a:solidFill>
          <a:ln/>
          <a:effectLst>
            <a:outerShdw sx="100000" sy="100000" kx="0" ky="0" algn="bl" rotWithShape="0" blurRad="76200" dist="25400" dir="5400000">
              <a:srgbClr val="2B2250">
                <a:alpha val="15000"/>
              </a:srgbClr>
            </a:outerShdw>
          </a:effectLst>
        </p:spPr>
      </p:sp>
      <p:sp>
        <p:nvSpPr>
          <p:cNvPr id="13" name="Dot 976"/>
          <p:cNvSpPr/>
          <p:nvPr/>
        </p:nvSpPr>
        <p:spPr>
          <a:xfrm>
            <a:off x="640080" y="3493008"/>
            <a:ext cx="603504" cy="603504"/>
          </a:xfrm>
          <a:prstGeom prst="ellipse">
            <a:avLst/>
          </a:prstGeom>
          <a:solidFill>
            <a:srgbClr val="4DA3E0"/>
          </a:solidFill>
          <a:ln w="12700">
            <a:solidFill>
              <a:srgbClr val="FFFFFF"/>
            </a:solidFill>
            <a:prstDash val="solid"/>
          </a:ln>
        </p:spPr>
      </p:sp>
      <p:pic>
        <p:nvPicPr>
          <p:cNvPr id="14" name="Icon 977" descr="FaShareSquare">    </p:cNvPr>
          <p:cNvPicPr>
            <a:picLocks noChangeAspect="1"/>
          </p:cNvPicPr>
          <p:nvPr/>
        </p:nvPicPr>
        <p:blipFill>
          <a:blip r:embed="rId3"/>
          <a:stretch>
            <a:fillRect/>
          </a:stretch>
        </p:blipFill>
        <p:spPr>
          <a:xfrm>
            <a:off x="786384" y="3639312"/>
            <a:ext cx="310896" cy="310896"/>
          </a:xfrm>
          <a:prstGeom prst="rect">
            <a:avLst/>
          </a:prstGeom>
        </p:spPr>
      </p:pic>
      <p:sp>
        <p:nvSpPr>
          <p:cNvPr id="15" name="Text 978"/>
          <p:cNvSpPr txBox="1"/>
          <p:nvPr/>
        </p:nvSpPr>
        <p:spPr>
          <a:xfrm>
            <a:off x="1463040" y="3337560"/>
            <a:ext cx="7040880" cy="914400"/>
          </a:xfrm>
          <a:prstGeom prst="rect">
            <a:avLst/>
          </a:prstGeom>
          <a:noFill/>
          <a:ln/>
        </p:spPr>
        <p:txBody>
          <a:bodyPr wrap="square" lIns="0" tIns="0" rIns="0" bIns="0" rtlCol="0" anchor="ctr"/>
          <a:lstStyle/>
          <a:p>
            <a:pPr indent="0" marL="0">
              <a:buNone/>
            </a:pPr>
            <a:r>
              <a:rPr lang="en-US" sz="2000" b="1" dirty="0">
                <a:solidFill>
                  <a:schemeClr val="tx1"/>
                </a:solidFill>
                <a:latin typeface="Calibri" pitchFamily="34" charset="0"/>
                <a:ea typeface="Calibri" pitchFamily="34" charset="-122"/>
                <a:cs typeface="Calibri" pitchFamily="34" charset="-120"/>
              </a:rPr>
              <a:t>I can explain why I must think before I share</a:t>
            </a:r>
            <a:endParaRPr lang="en-US" sz="20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Accent 979"/>
          <p:cNvSpPr/>
          <p:nvPr/>
        </p:nvSpPr>
        <p:spPr>
          <a:xfrm>
            <a:off x="0" y="274320"/>
            <a:ext cx="164592" cy="685800"/>
          </a:xfrm>
          <a:prstGeom prst="rect">
            <a:avLst/>
          </a:prstGeom>
          <a:solidFill>
            <a:srgbClr val="2E9E5B"/>
          </a:solidFill>
          <a:ln w="12700">
            <a:solidFill>
              <a:srgbClr val="2E9E5B"/>
            </a:solidFill>
            <a:prstDash val="solid"/>
          </a:ln>
        </p:spPr>
      </p:sp>
      <p:sp>
        <p:nvSpPr>
          <p:cNvPr id="3" name="Text 98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Key words</a:t>
            </a:r>
            <a:endParaRPr lang="en-US" sz="3000" dirty="0"/>
          </a:p>
        </p:txBody>
      </p:sp>
      <p:sp>
        <p:nvSpPr>
          <p:cNvPr id="4" name="Card 981"/>
          <p:cNvSpPr/>
          <p:nvPr/>
        </p:nvSpPr>
        <p:spPr>
          <a:xfrm>
            <a:off x="457200" y="1188720"/>
            <a:ext cx="4114800" cy="1783080"/>
          </a:xfrm>
          <a:prstGeom prst="roundRect">
            <a:avLst>
              <a:gd name="adj" fmla="val 6154"/>
            </a:avLst>
          </a:prstGeom>
          <a:solidFill>
            <a:srgbClr val="FFFFFF"/>
          </a:solidFill>
          <a:ln/>
          <a:effectLst>
            <a:outerShdw sx="100000" sy="100000" kx="0" ky="0" algn="bl" rotWithShape="0" blurRad="76200" dist="25400" dir="5400000">
              <a:srgbClr val="2B2250">
                <a:alpha val="15000"/>
              </a:srgbClr>
            </a:outerShdw>
          </a:effectLst>
        </p:spPr>
      </p:sp>
      <p:sp>
        <p:nvSpPr>
          <p:cNvPr id="5" name="Dot 982"/>
          <p:cNvSpPr/>
          <p:nvPr/>
        </p:nvSpPr>
        <p:spPr>
          <a:xfrm>
            <a:off x="640080" y="1371600"/>
            <a:ext cx="731520" cy="731520"/>
          </a:xfrm>
          <a:prstGeom prst="ellipse">
            <a:avLst/>
          </a:prstGeom>
          <a:solidFill>
            <a:srgbClr val="FF9A3D"/>
          </a:solidFill>
          <a:ln w="12700">
            <a:solidFill>
              <a:srgbClr val="FFFFFF"/>
            </a:solidFill>
            <a:prstDash val="solid"/>
          </a:ln>
        </p:spPr>
      </p:sp>
      <p:pic>
        <p:nvPicPr>
          <p:cNvPr id="6" name="Icon 983" descr="FaCheckCircle">    </p:cNvPr>
          <p:cNvPicPr>
            <a:picLocks noChangeAspect="1"/>
          </p:cNvPicPr>
          <p:nvPr/>
        </p:nvPicPr>
        <p:blipFill>
          <a:blip r:embed="rId1"/>
          <a:stretch>
            <a:fillRect/>
          </a:stretch>
        </p:blipFill>
        <p:spPr>
          <a:xfrm>
            <a:off x="813816" y="1545336"/>
            <a:ext cx="384048" cy="384048"/>
          </a:xfrm>
          <a:prstGeom prst="rect">
            <a:avLst/>
          </a:prstGeom>
        </p:spPr>
      </p:pic>
      <p:sp>
        <p:nvSpPr>
          <p:cNvPr id="7" name="Text 984"/>
          <p:cNvSpPr txBox="1"/>
          <p:nvPr/>
        </p:nvSpPr>
        <p:spPr>
          <a:xfrm>
            <a:off x="1554480" y="1325880"/>
            <a:ext cx="2926080" cy="457200"/>
          </a:xfrm>
          <a:prstGeom prst="rect">
            <a:avLst/>
          </a:prstGeom>
          <a:noFill/>
          <a:ln/>
        </p:spPr>
        <p:txBody>
          <a:bodyPr wrap="square" lIns="0" tIns="0" rIns="0" bIns="0" rtlCol="0" anchor="t"/>
          <a:lstStyle/>
          <a:p>
            <a:pPr indent="0" marL="0">
              <a:buNone/>
            </a:pPr>
            <a:r>
              <a:rPr lang="en-US" sz="2400" b="1" dirty="0">
                <a:solidFill>
                  <a:srgbClr val="FF9A3D"/>
                </a:solidFill>
                <a:latin typeface="Calibri" pitchFamily="34" charset="0"/>
                <a:ea typeface="Calibri" pitchFamily="34" charset="-122"/>
                <a:cs typeface="Calibri" pitchFamily="34" charset="-120"/>
              </a:rPr>
              <a:t>Accurate</a:t>
            </a:r>
            <a:endParaRPr lang="en-US" sz="2400" dirty="0"/>
          </a:p>
        </p:txBody>
      </p:sp>
      <p:sp>
        <p:nvSpPr>
          <p:cNvPr id="8" name="Text 985"/>
          <p:cNvSpPr txBox="1"/>
          <p:nvPr/>
        </p:nvSpPr>
        <p:spPr>
          <a:xfrm>
            <a:off x="1554480" y="1828800"/>
            <a:ext cx="2926080" cy="105156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Correct and true</a:t>
            </a:r>
            <a:endParaRPr lang="en-US" sz="1800" dirty="0"/>
          </a:p>
        </p:txBody>
      </p:sp>
      <p:sp>
        <p:nvSpPr>
          <p:cNvPr id="9" name="Card 986"/>
          <p:cNvSpPr/>
          <p:nvPr/>
        </p:nvSpPr>
        <p:spPr>
          <a:xfrm>
            <a:off x="4663440" y="1188720"/>
            <a:ext cx="4114800" cy="1783080"/>
          </a:xfrm>
          <a:prstGeom prst="roundRect">
            <a:avLst>
              <a:gd name="adj" fmla="val 6154"/>
            </a:avLst>
          </a:prstGeom>
          <a:solidFill>
            <a:srgbClr val="FFFFFF"/>
          </a:solidFill>
          <a:ln/>
          <a:effectLst>
            <a:outerShdw sx="100000" sy="100000" kx="0" ky="0" algn="bl" rotWithShape="0" blurRad="76200" dist="25400" dir="5400000">
              <a:srgbClr val="2B2250">
                <a:alpha val="15000"/>
              </a:srgbClr>
            </a:outerShdw>
          </a:effectLst>
        </p:spPr>
      </p:sp>
      <p:sp>
        <p:nvSpPr>
          <p:cNvPr id="10" name="Dot 987"/>
          <p:cNvSpPr/>
          <p:nvPr/>
        </p:nvSpPr>
        <p:spPr>
          <a:xfrm>
            <a:off x="4846320" y="1371600"/>
            <a:ext cx="731520" cy="731520"/>
          </a:xfrm>
          <a:prstGeom prst="ellipse">
            <a:avLst/>
          </a:prstGeom>
          <a:solidFill>
            <a:srgbClr val="FF5C8A"/>
          </a:solidFill>
          <a:ln w="12700">
            <a:solidFill>
              <a:srgbClr val="FFFFFF"/>
            </a:solidFill>
            <a:prstDash val="solid"/>
          </a:ln>
        </p:spPr>
      </p:sp>
      <p:pic>
        <p:nvPicPr>
          <p:cNvPr id="11" name="Icon 988" descr="FaHandHoldingHeart">    </p:cNvPr>
          <p:cNvPicPr>
            <a:picLocks noChangeAspect="1"/>
          </p:cNvPicPr>
          <p:nvPr/>
        </p:nvPicPr>
        <p:blipFill>
          <a:blip r:embed="rId2"/>
          <a:stretch>
            <a:fillRect/>
          </a:stretch>
        </p:blipFill>
        <p:spPr>
          <a:xfrm>
            <a:off x="5020056" y="1545336"/>
            <a:ext cx="384048" cy="384048"/>
          </a:xfrm>
          <a:prstGeom prst="rect">
            <a:avLst/>
          </a:prstGeom>
        </p:spPr>
      </p:pic>
      <p:sp>
        <p:nvSpPr>
          <p:cNvPr id="12" name="Text 989"/>
          <p:cNvSpPr txBox="1"/>
          <p:nvPr/>
        </p:nvSpPr>
        <p:spPr>
          <a:xfrm>
            <a:off x="5760720" y="1325880"/>
            <a:ext cx="2926080" cy="457200"/>
          </a:xfrm>
          <a:prstGeom prst="rect">
            <a:avLst/>
          </a:prstGeom>
          <a:noFill/>
          <a:ln/>
        </p:spPr>
        <p:txBody>
          <a:bodyPr wrap="square" lIns="0" tIns="0" rIns="0" bIns="0" rtlCol="0" anchor="t"/>
          <a:lstStyle/>
          <a:p>
            <a:pPr indent="0" marL="0">
              <a:buNone/>
            </a:pPr>
            <a:r>
              <a:rPr lang="en-US" sz="2400" b="1" dirty="0">
                <a:solidFill>
                  <a:srgbClr val="FF5C8A"/>
                </a:solidFill>
                <a:latin typeface="Calibri" pitchFamily="34" charset="0"/>
                <a:ea typeface="Calibri" pitchFamily="34" charset="-122"/>
                <a:cs typeface="Calibri" pitchFamily="34" charset="-120"/>
              </a:rPr>
              <a:t>Honest</a:t>
            </a:r>
            <a:endParaRPr lang="en-US" sz="2400" dirty="0"/>
          </a:p>
        </p:txBody>
      </p:sp>
      <p:sp>
        <p:nvSpPr>
          <p:cNvPr id="13" name="Text 990"/>
          <p:cNvSpPr txBox="1"/>
          <p:nvPr/>
        </p:nvSpPr>
        <p:spPr>
          <a:xfrm>
            <a:off x="5760720" y="1828800"/>
            <a:ext cx="2926080" cy="105156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Telling the truth</a:t>
            </a:r>
            <a:endParaRPr lang="en-US" sz="1800" dirty="0"/>
          </a:p>
        </p:txBody>
      </p:sp>
      <p:sp>
        <p:nvSpPr>
          <p:cNvPr id="14" name="Card 991"/>
          <p:cNvSpPr/>
          <p:nvPr/>
        </p:nvSpPr>
        <p:spPr>
          <a:xfrm>
            <a:off x="457200" y="3108960"/>
            <a:ext cx="4114800" cy="1783080"/>
          </a:xfrm>
          <a:prstGeom prst="roundRect">
            <a:avLst>
              <a:gd name="adj" fmla="val 6154"/>
            </a:avLst>
          </a:prstGeom>
          <a:solidFill>
            <a:srgbClr val="FFFFFF"/>
          </a:solidFill>
          <a:ln/>
          <a:effectLst>
            <a:outerShdw sx="100000" sy="100000" kx="0" ky="0" algn="bl" rotWithShape="0" blurRad="76200" dist="25400" dir="5400000">
              <a:srgbClr val="2B2250">
                <a:alpha val="15000"/>
              </a:srgbClr>
            </a:outerShdw>
          </a:effectLst>
        </p:spPr>
      </p:sp>
      <p:sp>
        <p:nvSpPr>
          <p:cNvPr id="15" name="Dot 992"/>
          <p:cNvSpPr/>
          <p:nvPr/>
        </p:nvSpPr>
        <p:spPr>
          <a:xfrm>
            <a:off x="640080" y="3291840"/>
            <a:ext cx="731520" cy="731520"/>
          </a:xfrm>
          <a:prstGeom prst="ellipse">
            <a:avLst/>
          </a:prstGeom>
          <a:solidFill>
            <a:srgbClr val="4DA3E0"/>
          </a:solidFill>
          <a:ln w="12700">
            <a:solidFill>
              <a:srgbClr val="FFFFFF"/>
            </a:solidFill>
            <a:prstDash val="solid"/>
          </a:ln>
        </p:spPr>
      </p:sp>
      <p:pic>
        <p:nvPicPr>
          <p:cNvPr id="16" name="Icon 993" descr="FaAd">    </p:cNvPr>
          <p:cNvPicPr>
            <a:picLocks noChangeAspect="1"/>
          </p:cNvPicPr>
          <p:nvPr/>
        </p:nvPicPr>
        <p:blipFill>
          <a:blip r:embed="rId3"/>
          <a:stretch>
            <a:fillRect/>
          </a:stretch>
        </p:blipFill>
        <p:spPr>
          <a:xfrm>
            <a:off x="813816" y="3465576"/>
            <a:ext cx="384048" cy="384048"/>
          </a:xfrm>
          <a:prstGeom prst="rect">
            <a:avLst/>
          </a:prstGeom>
        </p:spPr>
      </p:pic>
      <p:sp>
        <p:nvSpPr>
          <p:cNvPr id="17" name="Text 994"/>
          <p:cNvSpPr txBox="1"/>
          <p:nvPr/>
        </p:nvSpPr>
        <p:spPr>
          <a:xfrm>
            <a:off x="1554480" y="3246120"/>
            <a:ext cx="2926080" cy="457200"/>
          </a:xfrm>
          <a:prstGeom prst="rect">
            <a:avLst/>
          </a:prstGeom>
          <a:noFill/>
          <a:ln/>
        </p:spPr>
        <p:txBody>
          <a:bodyPr wrap="square" lIns="0" tIns="0" rIns="0" bIns="0" rtlCol="0" anchor="t"/>
          <a:lstStyle/>
          <a:p>
            <a:pPr indent="0" marL="0">
              <a:buNone/>
            </a:pPr>
            <a:r>
              <a:rPr lang="en-US" sz="2400" b="1" dirty="0">
                <a:solidFill>
                  <a:srgbClr val="4DA3E0"/>
                </a:solidFill>
                <a:latin typeface="Calibri" pitchFamily="34" charset="0"/>
                <a:ea typeface="Calibri" pitchFamily="34" charset="-122"/>
                <a:cs typeface="Calibri" pitchFamily="34" charset="-120"/>
              </a:rPr>
              <a:t>Adverts</a:t>
            </a:r>
            <a:endParaRPr lang="en-US" sz="2400" dirty="0"/>
          </a:p>
        </p:txBody>
      </p:sp>
      <p:sp>
        <p:nvSpPr>
          <p:cNvPr id="18" name="Text 995"/>
          <p:cNvSpPr txBox="1"/>
          <p:nvPr/>
        </p:nvSpPr>
        <p:spPr>
          <a:xfrm>
            <a:off x="1554480" y="3749040"/>
            <a:ext cx="2926080" cy="105156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Messages that try to make you buy things</a:t>
            </a:r>
            <a:endParaRPr lang="en-US" sz="1800" dirty="0"/>
          </a:p>
        </p:txBody>
      </p:sp>
      <p:sp>
        <p:nvSpPr>
          <p:cNvPr id="19" name="Card 996"/>
          <p:cNvSpPr/>
          <p:nvPr/>
        </p:nvSpPr>
        <p:spPr>
          <a:xfrm>
            <a:off x="4663440" y="3108960"/>
            <a:ext cx="4114800" cy="1783080"/>
          </a:xfrm>
          <a:prstGeom prst="roundRect">
            <a:avLst>
              <a:gd name="adj" fmla="val 6154"/>
            </a:avLst>
          </a:prstGeom>
          <a:solidFill>
            <a:srgbClr val="FFFFFF"/>
          </a:solidFill>
          <a:ln/>
          <a:effectLst>
            <a:outerShdw sx="100000" sy="100000" kx="0" ky="0" algn="bl" rotWithShape="0" blurRad="76200" dist="25400" dir="5400000">
              <a:srgbClr val="2B2250">
                <a:alpha val="15000"/>
              </a:srgbClr>
            </a:outerShdw>
          </a:effectLst>
        </p:spPr>
      </p:sp>
      <p:sp>
        <p:nvSpPr>
          <p:cNvPr id="20" name="Dot 997"/>
          <p:cNvSpPr/>
          <p:nvPr/>
        </p:nvSpPr>
        <p:spPr>
          <a:xfrm>
            <a:off x="4846320" y="3291840"/>
            <a:ext cx="731520" cy="731520"/>
          </a:xfrm>
          <a:prstGeom prst="ellipse">
            <a:avLst/>
          </a:prstGeom>
          <a:solidFill>
            <a:srgbClr val="1FB89A"/>
          </a:solidFill>
          <a:ln w="12700">
            <a:solidFill>
              <a:srgbClr val="FFFFFF"/>
            </a:solidFill>
            <a:prstDash val="solid"/>
          </a:ln>
        </p:spPr>
      </p:sp>
      <p:pic>
        <p:nvPicPr>
          <p:cNvPr id="21" name="Icon 998" descr="FaShareAlt">    </p:cNvPr>
          <p:cNvPicPr>
            <a:picLocks noChangeAspect="1"/>
          </p:cNvPicPr>
          <p:nvPr/>
        </p:nvPicPr>
        <p:blipFill>
          <a:blip r:embed="rId4"/>
          <a:stretch>
            <a:fillRect/>
          </a:stretch>
        </p:blipFill>
        <p:spPr>
          <a:xfrm>
            <a:off x="5020056" y="3465576"/>
            <a:ext cx="384048" cy="384048"/>
          </a:xfrm>
          <a:prstGeom prst="rect">
            <a:avLst/>
          </a:prstGeom>
        </p:spPr>
      </p:pic>
      <p:sp>
        <p:nvSpPr>
          <p:cNvPr id="22" name="Text 999"/>
          <p:cNvSpPr txBox="1"/>
          <p:nvPr/>
        </p:nvSpPr>
        <p:spPr>
          <a:xfrm>
            <a:off x="5760720" y="3246120"/>
            <a:ext cx="2926080" cy="457200"/>
          </a:xfrm>
          <a:prstGeom prst="rect">
            <a:avLst/>
          </a:prstGeom>
          <a:noFill/>
          <a:ln/>
        </p:spPr>
        <p:txBody>
          <a:bodyPr wrap="square" lIns="0" tIns="0" rIns="0" bIns="0" rtlCol="0" anchor="t"/>
          <a:lstStyle/>
          <a:p>
            <a:pPr indent="0" marL="0">
              <a:buNone/>
            </a:pPr>
            <a:r>
              <a:rPr lang="en-US" sz="2400" b="1" dirty="0">
                <a:solidFill>
                  <a:srgbClr val="1FB89A"/>
                </a:solidFill>
                <a:latin typeface="Calibri" pitchFamily="34" charset="0"/>
                <a:ea typeface="Calibri" pitchFamily="34" charset="-122"/>
                <a:cs typeface="Calibri" pitchFamily="34" charset="-120"/>
              </a:rPr>
              <a:t>Sharing</a:t>
            </a:r>
            <a:endParaRPr lang="en-US" sz="2400" dirty="0"/>
          </a:p>
        </p:txBody>
      </p:sp>
      <p:sp>
        <p:nvSpPr>
          <p:cNvPr id="23" name="Text 1000"/>
          <p:cNvSpPr txBox="1"/>
          <p:nvPr/>
        </p:nvSpPr>
        <p:spPr>
          <a:xfrm>
            <a:off x="5760720" y="3749040"/>
            <a:ext cx="2926080" cy="105156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Sending content on to other people</a:t>
            </a:r>
            <a:endParaRPr lang="en-US" sz="18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Accent 1001"/>
          <p:cNvSpPr/>
          <p:nvPr/>
        </p:nvSpPr>
        <p:spPr>
          <a:xfrm>
            <a:off x="0" y="274320"/>
            <a:ext cx="164592" cy="685800"/>
          </a:xfrm>
          <a:prstGeom prst="rect">
            <a:avLst/>
          </a:prstGeom>
          <a:solidFill>
            <a:srgbClr val="2E9E5B"/>
          </a:solidFill>
          <a:ln w="12700">
            <a:solidFill>
              <a:srgbClr val="2E9E5B"/>
            </a:solidFill>
            <a:prstDash val="solid"/>
          </a:ln>
        </p:spPr>
      </p:sp>
      <p:sp>
        <p:nvSpPr>
          <p:cNvPr id="3" name="Text 100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Is it real?</a:t>
            </a:r>
            <a:endParaRPr lang="en-US" sz="3000" dirty="0"/>
          </a:p>
        </p:txBody>
      </p:sp>
      <p:sp>
        <p:nvSpPr>
          <p:cNvPr id="4" name="Card 1003"/>
          <p:cNvSpPr/>
          <p:nvPr/>
        </p:nvSpPr>
        <p:spPr>
          <a:xfrm>
            <a:off x="548640" y="1051560"/>
            <a:ext cx="5120640" cy="3639312"/>
          </a:xfrm>
          <a:prstGeom prst="roundRect">
            <a:avLst>
              <a:gd name="adj" fmla="val 3015"/>
            </a:avLst>
          </a:prstGeom>
          <a:solidFill>
            <a:srgbClr val="FFFFFF"/>
          </a:solidFill>
          <a:ln/>
          <a:effectLst>
            <a:outerShdw sx="100000" sy="100000" kx="0" ky="0" algn="bl" rotWithShape="0" blurRad="76200" dist="25400" dir="5400000">
              <a:srgbClr val="2B2250">
                <a:alpha val="15000"/>
              </a:srgbClr>
            </a:outerShdw>
          </a:effectLst>
        </p:spPr>
      </p:sp>
      <p:pic>
        <p:nvPicPr>
          <p:cNvPr id="5" name="Picture 1004" descr="Two cat pictures, one edited">    </p:cNvPr>
          <p:cNvPicPr>
            <a:picLocks noChangeAspect="1"/>
          </p:cNvPicPr>
          <p:nvPr/>
        </p:nvPicPr>
        <p:blipFill>
          <a:blip r:embed="rId1"/>
          <a:stretch>
            <a:fillRect/>
          </a:stretch>
        </p:blipFill>
        <p:spPr>
          <a:xfrm>
            <a:off x="640080" y="1143000"/>
            <a:ext cx="4937760" cy="3456432"/>
          </a:xfrm>
          <a:prstGeom prst="rect">
            <a:avLst/>
          </a:prstGeom>
        </p:spPr>
      </p:pic>
      <p:sp>
        <p:nvSpPr>
          <p:cNvPr id="6" name="Text 1005"/>
          <p:cNvSpPr txBox="1"/>
          <p:nvPr/>
        </p:nvSpPr>
        <p:spPr>
          <a:xfrm>
            <a:off x="5897880" y="1234440"/>
            <a:ext cx="2834640" cy="3566160"/>
          </a:xfrm>
          <a:prstGeom prst="rect">
            <a:avLst/>
          </a:prstGeom>
          <a:noFill/>
          <a:ln/>
        </p:spPr>
        <p:txBody>
          <a:bodyPr wrap="square" lIns="0" tIns="0" rIns="0" bIns="0" rtlCol="0" anchor="t"/>
          <a:lstStyle/>
          <a:p>
            <a:pPr indent="0" marL="0">
              <a:buNone/>
            </a:pPr>
            <a:r>
              <a:rPr lang="en-US" sz="2000" dirty="0">
                <a:solidFill>
                  <a:schemeClr val="tx1"/>
                </a:solidFill>
                <a:latin typeface="Calibri" pitchFamily="34" charset="0"/>
                <a:ea typeface="Calibri" pitchFamily="34" charset="-122"/>
                <a:cs typeface="Calibri" pitchFamily="34" charset="-120"/>
              </a:rPr>
              <a:t>Pictures can be edited to look real. Which of these is real and which is edited? How could you tell?</a:t>
            </a:r>
            <a:endParaRPr lang="en-US" sz="20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Accent 1006"/>
          <p:cNvSpPr/>
          <p:nvPr/>
        </p:nvSpPr>
        <p:spPr>
          <a:xfrm>
            <a:off x="0" y="274320"/>
            <a:ext cx="164592" cy="685800"/>
          </a:xfrm>
          <a:prstGeom prst="rect">
            <a:avLst/>
          </a:prstGeom>
          <a:solidFill>
            <a:srgbClr val="2E9E5B"/>
          </a:solidFill>
          <a:ln w="12700">
            <a:solidFill>
              <a:srgbClr val="2E9E5B"/>
            </a:solidFill>
            <a:prstDash val="solid"/>
          </a:ln>
        </p:spPr>
      </p:sp>
      <p:sp>
        <p:nvSpPr>
          <p:cNvPr id="3" name="Text 1007"/>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Quick quiz</a:t>
            </a:r>
            <a:endParaRPr lang="en-US" sz="3000" dirty="0"/>
          </a:p>
        </p:txBody>
      </p:sp>
      <p:sp>
        <p:nvSpPr>
          <p:cNvPr id="4" name="Text 1008"/>
          <p:cNvSpPr txBox="1"/>
          <p:nvPr/>
        </p:nvSpPr>
        <p:spPr>
          <a:xfrm>
            <a:off x="457200" y="1051560"/>
            <a:ext cx="8229600" cy="914400"/>
          </a:xfrm>
          <a:prstGeom prst="rect">
            <a:avLst/>
          </a:prstGeom>
          <a:noFill/>
          <a:ln/>
        </p:spPr>
        <p:txBody>
          <a:bodyPr wrap="square" lIns="0" tIns="0" rIns="0" bIns="0" rtlCol="0" anchor="ctr"/>
          <a:lstStyle/>
          <a:p>
            <a:pPr indent="0" marL="0">
              <a:buNone/>
            </a:pPr>
            <a:r>
              <a:rPr lang="en-US" sz="2600" b="1" dirty="0">
                <a:solidFill>
                  <a:schemeClr val="tx1"/>
                </a:solidFill>
                <a:latin typeface="Calibri" pitchFamily="34" charset="0"/>
                <a:ea typeface="Calibri" pitchFamily="34" charset="-122"/>
                <a:cs typeface="Calibri" pitchFamily="34" charset="-120"/>
              </a:rPr>
              <a:t>Can we believe EVERYTHING we see on the web?</a:t>
            </a:r>
            <a:endParaRPr lang="en-US" sz="2600" dirty="0"/>
          </a:p>
        </p:txBody>
      </p:sp>
      <p:sp>
        <p:nvSpPr>
          <p:cNvPr id="5" name="Card 1009"/>
          <p:cNvSpPr/>
          <p:nvPr/>
        </p:nvSpPr>
        <p:spPr>
          <a:xfrm>
            <a:off x="457200" y="219456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6" name="Dot 1010"/>
          <p:cNvSpPr/>
          <p:nvPr/>
        </p:nvSpPr>
        <p:spPr>
          <a:xfrm>
            <a:off x="594360" y="2322576"/>
            <a:ext cx="457200" cy="457200"/>
          </a:xfrm>
          <a:prstGeom prst="ellipse">
            <a:avLst/>
          </a:prstGeom>
          <a:solidFill>
            <a:srgbClr val="2E9E5B"/>
          </a:solidFill>
          <a:ln w="12700">
            <a:solidFill>
              <a:srgbClr val="FFFFFF"/>
            </a:solidFill>
            <a:prstDash val="solid"/>
          </a:ln>
        </p:spPr>
      </p:sp>
      <p:sp>
        <p:nvSpPr>
          <p:cNvPr id="7" name="Text 1011"/>
          <p:cNvSpPr txBox="1"/>
          <p:nvPr/>
        </p:nvSpPr>
        <p:spPr>
          <a:xfrm>
            <a:off x="594360" y="2322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8" name="Text 1012"/>
          <p:cNvSpPr txBox="1"/>
          <p:nvPr/>
        </p:nvSpPr>
        <p:spPr>
          <a:xfrm>
            <a:off x="1188720" y="219456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Yes, always</a:t>
            </a:r>
            <a:endParaRPr lang="en-US" sz="2200" dirty="0"/>
          </a:p>
        </p:txBody>
      </p:sp>
      <p:sp>
        <p:nvSpPr>
          <p:cNvPr id="9" name="Card 1013"/>
          <p:cNvSpPr/>
          <p:nvPr/>
        </p:nvSpPr>
        <p:spPr>
          <a:xfrm>
            <a:off x="457200" y="301752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10" name="Dot 1014"/>
          <p:cNvSpPr/>
          <p:nvPr/>
        </p:nvSpPr>
        <p:spPr>
          <a:xfrm>
            <a:off x="594360" y="3145536"/>
            <a:ext cx="457200" cy="457200"/>
          </a:xfrm>
          <a:prstGeom prst="ellipse">
            <a:avLst/>
          </a:prstGeom>
          <a:solidFill>
            <a:srgbClr val="2E9E5B"/>
          </a:solidFill>
          <a:ln w="12700">
            <a:solidFill>
              <a:srgbClr val="FFFFFF"/>
            </a:solidFill>
            <a:prstDash val="solid"/>
          </a:ln>
        </p:spPr>
      </p:sp>
      <p:sp>
        <p:nvSpPr>
          <p:cNvPr id="11" name="Text 1015"/>
          <p:cNvSpPr txBox="1"/>
          <p:nvPr/>
        </p:nvSpPr>
        <p:spPr>
          <a:xfrm>
            <a:off x="594360" y="314553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16"/>
          <p:cNvSpPr txBox="1"/>
          <p:nvPr/>
        </p:nvSpPr>
        <p:spPr>
          <a:xfrm>
            <a:off x="1188720" y="301752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No, we must check</a:t>
            </a:r>
            <a:endParaRPr lang="en-US" sz="2200" dirty="0"/>
          </a:p>
        </p:txBody>
      </p:sp>
      <p:sp>
        <p:nvSpPr>
          <p:cNvPr id="13" name="Card 1017"/>
          <p:cNvSpPr/>
          <p:nvPr/>
        </p:nvSpPr>
        <p:spPr>
          <a:xfrm>
            <a:off x="457200" y="384048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14" name="Dot 1018"/>
          <p:cNvSpPr/>
          <p:nvPr/>
        </p:nvSpPr>
        <p:spPr>
          <a:xfrm>
            <a:off x="594360" y="3968496"/>
            <a:ext cx="457200" cy="457200"/>
          </a:xfrm>
          <a:prstGeom prst="ellipse">
            <a:avLst/>
          </a:prstGeom>
          <a:solidFill>
            <a:srgbClr val="2E9E5B"/>
          </a:solidFill>
          <a:ln w="12700">
            <a:solidFill>
              <a:srgbClr val="FFFFFF"/>
            </a:solidFill>
            <a:prstDash val="solid"/>
          </a:ln>
        </p:spPr>
      </p:sp>
      <p:sp>
        <p:nvSpPr>
          <p:cNvPr id="15" name="Text 1019"/>
          <p:cNvSpPr txBox="1"/>
          <p:nvPr/>
        </p:nvSpPr>
        <p:spPr>
          <a:xfrm>
            <a:off x="594360" y="39684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6" name="Text 1020"/>
          <p:cNvSpPr txBox="1"/>
          <p:nvPr/>
        </p:nvSpPr>
        <p:spPr>
          <a:xfrm>
            <a:off x="1188720" y="384048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Only on Fridays</a:t>
            </a:r>
            <a:endParaRPr lang="en-US" sz="22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Accent 1021"/>
          <p:cNvSpPr/>
          <p:nvPr/>
        </p:nvSpPr>
        <p:spPr>
          <a:xfrm>
            <a:off x="0" y="274320"/>
            <a:ext cx="164592" cy="685800"/>
          </a:xfrm>
          <a:prstGeom prst="rect">
            <a:avLst/>
          </a:prstGeom>
          <a:solidFill>
            <a:srgbClr val="2E9E5B"/>
          </a:solidFill>
          <a:ln w="12700">
            <a:solidFill>
              <a:srgbClr val="2E9E5B"/>
            </a:solidFill>
            <a:prstDash val="solid"/>
          </a:ln>
        </p:spPr>
      </p:sp>
      <p:sp>
        <p:nvSpPr>
          <p:cNvPr id="3" name="Text 102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 The answer</a:t>
            </a:r>
            <a:endParaRPr lang="en-US" sz="3000" dirty="0"/>
          </a:p>
        </p:txBody>
      </p:sp>
      <p:sp>
        <p:nvSpPr>
          <p:cNvPr id="4" name="Text 1023"/>
          <p:cNvSpPr txBox="1"/>
          <p:nvPr/>
        </p:nvSpPr>
        <p:spPr>
          <a:xfrm>
            <a:off x="457200" y="1051560"/>
            <a:ext cx="8229600" cy="914400"/>
          </a:xfrm>
          <a:prstGeom prst="rect">
            <a:avLst/>
          </a:prstGeom>
          <a:noFill/>
          <a:ln/>
        </p:spPr>
        <p:txBody>
          <a:bodyPr wrap="square" lIns="0" tIns="0" rIns="0" bIns="0" rtlCol="0" anchor="ctr"/>
          <a:lstStyle/>
          <a:p>
            <a:pPr indent="0" marL="0">
              <a:buNone/>
            </a:pPr>
            <a:r>
              <a:rPr lang="en-US" sz="2600" b="1" dirty="0">
                <a:solidFill>
                  <a:schemeClr val="tx1"/>
                </a:solidFill>
                <a:latin typeface="Calibri" pitchFamily="34" charset="0"/>
                <a:ea typeface="Calibri" pitchFamily="34" charset="-122"/>
                <a:cs typeface="Calibri" pitchFamily="34" charset="-120"/>
              </a:rPr>
              <a:t>Can we believe EVERYTHING we see on the web?</a:t>
            </a:r>
            <a:endParaRPr lang="en-US" sz="2600" dirty="0"/>
          </a:p>
        </p:txBody>
      </p:sp>
      <p:sp>
        <p:nvSpPr>
          <p:cNvPr id="5" name="Card 1024"/>
          <p:cNvSpPr/>
          <p:nvPr/>
        </p:nvSpPr>
        <p:spPr>
          <a:xfrm>
            <a:off x="457200" y="2194560"/>
            <a:ext cx="8229600" cy="713232"/>
          </a:xfrm>
          <a:prstGeom prst="roundRect">
            <a:avLst>
              <a:gd name="adj" fmla="val 15385"/>
            </a:avLst>
          </a:prstGeom>
          <a:solidFill>
            <a:srgbClr val="FFFFFF"/>
          </a:solidFill>
          <a:ln w="19050">
            <a:solidFill>
              <a:srgbClr val="DDDAEA"/>
            </a:solidFill>
            <a:prstDash val="solid"/>
          </a:ln>
          <a:effectLst>
            <a:outerShdw sx="100000" sy="100000" kx="0" ky="0" algn="bl" rotWithShape="0" blurRad="76200" dist="25400" dir="5400000">
              <a:srgbClr val="2B2250">
                <a:alpha val="15000"/>
              </a:srgbClr>
            </a:outerShdw>
          </a:effectLst>
        </p:spPr>
      </p:sp>
      <p:sp>
        <p:nvSpPr>
          <p:cNvPr id="6" name="Dot 1025"/>
          <p:cNvSpPr/>
          <p:nvPr/>
        </p:nvSpPr>
        <p:spPr>
          <a:xfrm>
            <a:off x="594360" y="2322576"/>
            <a:ext cx="457200" cy="457200"/>
          </a:xfrm>
          <a:prstGeom prst="ellipse">
            <a:avLst/>
          </a:prstGeom>
          <a:solidFill>
            <a:srgbClr val="CFCBE0"/>
          </a:solidFill>
          <a:ln w="12700">
            <a:solidFill>
              <a:srgbClr val="FFFFFF"/>
            </a:solidFill>
            <a:prstDash val="solid"/>
          </a:ln>
        </p:spPr>
      </p:sp>
      <p:sp>
        <p:nvSpPr>
          <p:cNvPr id="7" name="Text 1026"/>
          <p:cNvSpPr txBox="1"/>
          <p:nvPr/>
        </p:nvSpPr>
        <p:spPr>
          <a:xfrm>
            <a:off x="594360" y="2322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8" name="Text 1027"/>
          <p:cNvSpPr txBox="1"/>
          <p:nvPr/>
        </p:nvSpPr>
        <p:spPr>
          <a:xfrm>
            <a:off x="1188720" y="2194560"/>
            <a:ext cx="7406640" cy="713232"/>
          </a:xfrm>
          <a:prstGeom prst="rect">
            <a:avLst/>
          </a:prstGeom>
          <a:noFill/>
          <a:ln/>
        </p:spPr>
        <p:txBody>
          <a:bodyPr wrap="square" lIns="0" tIns="0" rIns="0" bIns="0" rtlCol="0" anchor="ctr"/>
          <a:lstStyle/>
          <a:p>
            <a:pPr indent="0" marL="0">
              <a:buNone/>
            </a:pPr>
            <a:r>
              <a:rPr lang="en-US" sz="2200" dirty="0">
                <a:solidFill>
                  <a:srgbClr val="8A86A3"/>
                </a:solidFill>
                <a:latin typeface="Calibri" pitchFamily="34" charset="0"/>
                <a:ea typeface="Calibri" pitchFamily="34" charset="-122"/>
                <a:cs typeface="Calibri" pitchFamily="34" charset="-120"/>
              </a:rPr>
              <a:t>Yes, always</a:t>
            </a:r>
            <a:endParaRPr lang="en-US" sz="2200" dirty="0"/>
          </a:p>
        </p:txBody>
      </p:sp>
      <p:sp>
        <p:nvSpPr>
          <p:cNvPr id="9" name="Card 1028"/>
          <p:cNvSpPr/>
          <p:nvPr/>
        </p:nvSpPr>
        <p:spPr>
          <a:xfrm>
            <a:off x="457200" y="3017520"/>
            <a:ext cx="8229600" cy="713232"/>
          </a:xfrm>
          <a:prstGeom prst="roundRect">
            <a:avLst>
              <a:gd name="adj" fmla="val 15385"/>
            </a:avLst>
          </a:prstGeom>
          <a:solidFill>
            <a:srgbClr val="D9F5E6"/>
          </a:solidFill>
          <a:ln w="38100">
            <a:solidFill>
              <a:srgbClr val="2E9E5B"/>
            </a:solidFill>
            <a:prstDash val="solid"/>
          </a:ln>
          <a:effectLst>
            <a:outerShdw sx="100000" sy="100000" kx="0" ky="0" algn="bl" rotWithShape="0" blurRad="76200" dist="25400" dir="5400000">
              <a:srgbClr val="2B2250">
                <a:alpha val="15000"/>
              </a:srgbClr>
            </a:outerShdw>
          </a:effectLst>
        </p:spPr>
      </p:sp>
      <p:sp>
        <p:nvSpPr>
          <p:cNvPr id="10" name="Dot 1029"/>
          <p:cNvSpPr/>
          <p:nvPr/>
        </p:nvSpPr>
        <p:spPr>
          <a:xfrm>
            <a:off x="594360" y="3145536"/>
            <a:ext cx="457200" cy="457200"/>
          </a:xfrm>
          <a:prstGeom prst="ellipse">
            <a:avLst/>
          </a:prstGeom>
          <a:solidFill>
            <a:srgbClr val="2E9E5B"/>
          </a:solidFill>
          <a:ln w="12700">
            <a:solidFill>
              <a:srgbClr val="FFFFFF"/>
            </a:solidFill>
            <a:prstDash val="solid"/>
          </a:ln>
        </p:spPr>
      </p:sp>
      <p:sp>
        <p:nvSpPr>
          <p:cNvPr id="11" name="Text 1030"/>
          <p:cNvSpPr txBox="1"/>
          <p:nvPr/>
        </p:nvSpPr>
        <p:spPr>
          <a:xfrm>
            <a:off x="594360" y="314553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31"/>
          <p:cNvSpPr txBox="1"/>
          <p:nvPr/>
        </p:nvSpPr>
        <p:spPr>
          <a:xfrm>
            <a:off x="1188720" y="3017520"/>
            <a:ext cx="7406640" cy="713232"/>
          </a:xfrm>
          <a:prstGeom prst="rect">
            <a:avLst/>
          </a:prstGeom>
          <a:noFill/>
          <a:ln/>
        </p:spPr>
        <p:txBody>
          <a:bodyPr wrap="square" lIns="0" tIns="0" rIns="0" bIns="0" rtlCol="0" anchor="ctr"/>
          <a:lstStyle/>
          <a:p>
            <a:pPr indent="0" marL="0">
              <a:buNone/>
            </a:pPr>
            <a:r>
              <a:rPr lang="en-US" sz="2200" b="1" dirty="0">
                <a:solidFill>
                  <a:srgbClr val="2B2250"/>
                </a:solidFill>
                <a:latin typeface="Calibri" pitchFamily="34" charset="0"/>
                <a:ea typeface="Calibri" pitchFamily="34" charset="-122"/>
                <a:cs typeface="Calibri" pitchFamily="34" charset="-120"/>
              </a:rPr>
              <a:t>No, we must check</a:t>
            </a:r>
            <a:endParaRPr lang="en-US" sz="2200" dirty="0"/>
          </a:p>
        </p:txBody>
      </p:sp>
      <p:sp>
        <p:nvSpPr>
          <p:cNvPr id="13" name="Card 1032"/>
          <p:cNvSpPr/>
          <p:nvPr/>
        </p:nvSpPr>
        <p:spPr>
          <a:xfrm>
            <a:off x="457200" y="3840480"/>
            <a:ext cx="8229600" cy="713232"/>
          </a:xfrm>
          <a:prstGeom prst="roundRect">
            <a:avLst>
              <a:gd name="adj" fmla="val 15385"/>
            </a:avLst>
          </a:prstGeom>
          <a:solidFill>
            <a:srgbClr val="FFFFFF"/>
          </a:solidFill>
          <a:ln w="19050">
            <a:solidFill>
              <a:srgbClr val="DDDAEA"/>
            </a:solidFill>
            <a:prstDash val="solid"/>
          </a:ln>
          <a:effectLst>
            <a:outerShdw sx="100000" sy="100000" kx="0" ky="0" algn="bl" rotWithShape="0" blurRad="76200" dist="25400" dir="5400000">
              <a:srgbClr val="2B2250">
                <a:alpha val="15000"/>
              </a:srgbClr>
            </a:outerShdw>
          </a:effectLst>
        </p:spPr>
      </p:sp>
      <p:sp>
        <p:nvSpPr>
          <p:cNvPr id="14" name="Dot 1033"/>
          <p:cNvSpPr/>
          <p:nvPr/>
        </p:nvSpPr>
        <p:spPr>
          <a:xfrm>
            <a:off x="594360" y="3968496"/>
            <a:ext cx="457200" cy="457200"/>
          </a:xfrm>
          <a:prstGeom prst="ellipse">
            <a:avLst/>
          </a:prstGeom>
          <a:solidFill>
            <a:srgbClr val="CFCBE0"/>
          </a:solidFill>
          <a:ln w="12700">
            <a:solidFill>
              <a:srgbClr val="FFFFFF"/>
            </a:solidFill>
            <a:prstDash val="solid"/>
          </a:ln>
        </p:spPr>
      </p:sp>
      <p:sp>
        <p:nvSpPr>
          <p:cNvPr id="15" name="Text 1034"/>
          <p:cNvSpPr txBox="1"/>
          <p:nvPr/>
        </p:nvSpPr>
        <p:spPr>
          <a:xfrm>
            <a:off x="594360" y="39684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6" name="Text 1035"/>
          <p:cNvSpPr txBox="1"/>
          <p:nvPr/>
        </p:nvSpPr>
        <p:spPr>
          <a:xfrm>
            <a:off x="1188720" y="3840480"/>
            <a:ext cx="7406640" cy="713232"/>
          </a:xfrm>
          <a:prstGeom prst="rect">
            <a:avLst/>
          </a:prstGeom>
          <a:noFill/>
          <a:ln/>
        </p:spPr>
        <p:txBody>
          <a:bodyPr wrap="square" lIns="0" tIns="0" rIns="0" bIns="0" rtlCol="0" anchor="ctr"/>
          <a:lstStyle/>
          <a:p>
            <a:pPr indent="0" marL="0">
              <a:buNone/>
            </a:pPr>
            <a:r>
              <a:rPr lang="en-US" sz="2200" dirty="0">
                <a:solidFill>
                  <a:srgbClr val="8A86A3"/>
                </a:solidFill>
                <a:latin typeface="Calibri" pitchFamily="34" charset="0"/>
                <a:ea typeface="Calibri" pitchFamily="34" charset="-122"/>
                <a:cs typeface="Calibri" pitchFamily="34" charset="-120"/>
              </a:rPr>
              <a:t>Only on Fridays</a:t>
            </a:r>
            <a:endParaRPr lang="en-US" sz="2200" dirty="0"/>
          </a:p>
        </p:txBody>
      </p:sp>
      <p:sp>
        <p:nvSpPr>
          <p:cNvPr id="17" name="Text 1036"/>
          <p:cNvSpPr txBox="1"/>
          <p:nvPr/>
        </p:nvSpPr>
        <p:spPr>
          <a:xfrm>
            <a:off x="457200" y="4572000"/>
            <a:ext cx="8229600" cy="457200"/>
          </a:xfrm>
          <a:prstGeom prst="rect">
            <a:avLst/>
          </a:prstGeom>
          <a:noFill/>
          <a:ln/>
        </p:spPr>
        <p:txBody>
          <a:bodyPr wrap="square" lIns="0" tIns="0" rIns="0" bIns="0" rtlCol="0" anchor="t"/>
          <a:lstStyle/>
          <a:p>
            <a:pPr algn="ctr" indent="0" marL="0">
              <a:buNone/>
            </a:pPr>
            <a:r>
              <a:rPr lang="en-US" sz="2000" b="1" dirty="0">
                <a:solidFill>
                  <a:srgbClr val="2E9E5B"/>
                </a:solidFill>
                <a:latin typeface="Calibri" pitchFamily="34" charset="0"/>
                <a:ea typeface="Calibri" pitchFamily="34" charset="-122"/>
                <a:cs typeface="Calibri" pitchFamily="34" charset="-120"/>
              </a:rPr>
              <a:t>Not everything online is true!</a:t>
            </a:r>
            <a:endParaRPr lang="en-US" sz="20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Accent 1037"/>
          <p:cNvSpPr/>
          <p:nvPr/>
        </p:nvSpPr>
        <p:spPr>
          <a:xfrm>
            <a:off x="0" y="274320"/>
            <a:ext cx="164592" cy="685800"/>
          </a:xfrm>
          <a:prstGeom prst="rect">
            <a:avLst/>
          </a:prstGeom>
          <a:solidFill>
            <a:srgbClr val="2E9E5B"/>
          </a:solidFill>
          <a:ln w="12700">
            <a:solidFill>
              <a:srgbClr val="2E9E5B"/>
            </a:solidFill>
            <a:prstDash val="solid"/>
          </a:ln>
        </p:spPr>
      </p:sp>
      <p:sp>
        <p:nvSpPr>
          <p:cNvPr id="3" name="Text 1038"/>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Is this the best?</a:t>
            </a:r>
            <a:endParaRPr lang="en-US" sz="3000" dirty="0"/>
          </a:p>
        </p:txBody>
      </p:sp>
      <p:sp>
        <p:nvSpPr>
          <p:cNvPr id="4" name="Card 1039"/>
          <p:cNvSpPr/>
          <p:nvPr/>
        </p:nvSpPr>
        <p:spPr>
          <a:xfrm>
            <a:off x="548640" y="1051560"/>
            <a:ext cx="5120640" cy="3639312"/>
          </a:xfrm>
          <a:prstGeom prst="roundRect">
            <a:avLst>
              <a:gd name="adj" fmla="val 3015"/>
            </a:avLst>
          </a:prstGeom>
          <a:solidFill>
            <a:srgbClr val="FFFFFF"/>
          </a:solidFill>
          <a:ln/>
          <a:effectLst>
            <a:outerShdw sx="100000" sy="100000" kx="0" ky="0" algn="bl" rotWithShape="0" blurRad="76200" dist="25400" dir="5400000">
              <a:srgbClr val="2B2250">
                <a:alpha val="15000"/>
              </a:srgbClr>
            </a:outerShdw>
          </a:effectLst>
        </p:spPr>
      </p:sp>
      <p:pic>
        <p:nvPicPr>
          <p:cNvPr id="5" name="Picture 1040" descr="Search results with adverts">    </p:cNvPr>
          <p:cNvPicPr>
            <a:picLocks noChangeAspect="1"/>
          </p:cNvPicPr>
          <p:nvPr/>
        </p:nvPicPr>
        <p:blipFill>
          <a:blip r:embed="rId1"/>
          <a:stretch>
            <a:fillRect/>
          </a:stretch>
        </p:blipFill>
        <p:spPr>
          <a:xfrm>
            <a:off x="640080" y="1143000"/>
            <a:ext cx="4937760" cy="3456432"/>
          </a:xfrm>
          <a:prstGeom prst="rect">
            <a:avLst/>
          </a:prstGeom>
        </p:spPr>
      </p:pic>
      <p:sp>
        <p:nvSpPr>
          <p:cNvPr id="6" name="Text 1041"/>
          <p:cNvSpPr txBox="1"/>
          <p:nvPr/>
        </p:nvSpPr>
        <p:spPr>
          <a:xfrm>
            <a:off x="5897880" y="1234440"/>
            <a:ext cx="2834640" cy="3566160"/>
          </a:xfrm>
          <a:prstGeom prst="rect">
            <a:avLst/>
          </a:prstGeom>
          <a:noFill/>
          <a:ln/>
        </p:spPr>
        <p:txBody>
          <a:bodyPr wrap="square" lIns="0" tIns="0" rIns="0" bIns="0" rtlCol="0" anchor="t"/>
          <a:lstStyle/>
          <a:p>
            <a:pPr indent="0" marL="0">
              <a:buNone/>
            </a:pPr>
            <a:r>
              <a:rPr lang="en-US" sz="2000" dirty="0">
                <a:solidFill>
                  <a:schemeClr val="tx1"/>
                </a:solidFill>
                <a:latin typeface="Calibri" pitchFamily="34" charset="0"/>
                <a:ea typeface="Calibri" pitchFamily="34" charset="-122"/>
                <a:cs typeface="Calibri" pitchFamily="34" charset="-120"/>
              </a:rPr>
              <a:t>Search “best phone”. Some results are ADVERTS. Some are old. Different people have different opinions!</a:t>
            </a:r>
            <a:endParaRPr lang="en-US" sz="20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Accent 1042"/>
          <p:cNvSpPr/>
          <p:nvPr/>
        </p:nvSpPr>
        <p:spPr>
          <a:xfrm>
            <a:off x="0" y="274320"/>
            <a:ext cx="164592" cy="685800"/>
          </a:xfrm>
          <a:prstGeom prst="rect">
            <a:avLst/>
          </a:prstGeom>
          <a:solidFill>
            <a:srgbClr val="2E9E5B"/>
          </a:solidFill>
          <a:ln w="12700">
            <a:solidFill>
              <a:srgbClr val="2E9E5B"/>
            </a:solidFill>
            <a:prstDash val="solid"/>
          </a:ln>
        </p:spPr>
      </p:sp>
      <p:sp>
        <p:nvSpPr>
          <p:cNvPr id="3" name="Text 1043"/>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Why do people share false things?</a:t>
            </a:r>
            <a:endParaRPr lang="en-US" sz="3000" dirty="0"/>
          </a:p>
        </p:txBody>
      </p:sp>
      <p:sp>
        <p:nvSpPr>
          <p:cNvPr id="4" name="Card 1044"/>
          <p:cNvSpPr/>
          <p:nvPr/>
        </p:nvSpPr>
        <p:spPr>
          <a:xfrm>
            <a:off x="457200" y="1188720"/>
            <a:ext cx="4114800" cy="1737360"/>
          </a:xfrm>
          <a:prstGeom prst="roundRect">
            <a:avLst>
              <a:gd name="adj" fmla="val 6316"/>
            </a:avLst>
          </a:prstGeom>
          <a:solidFill>
            <a:srgbClr val="FFFFFF"/>
          </a:solidFill>
          <a:ln/>
          <a:effectLst>
            <a:outerShdw sx="100000" sy="100000" kx="0" ky="0" algn="bl" rotWithShape="0" blurRad="76200" dist="25400" dir="5400000">
              <a:srgbClr val="2B2250">
                <a:alpha val="15000"/>
              </a:srgbClr>
            </a:outerShdw>
          </a:effectLst>
        </p:spPr>
      </p:sp>
      <p:sp>
        <p:nvSpPr>
          <p:cNvPr id="5" name="Dot 1045"/>
          <p:cNvSpPr/>
          <p:nvPr/>
        </p:nvSpPr>
        <p:spPr>
          <a:xfrm>
            <a:off x="640080" y="1371600"/>
            <a:ext cx="640080" cy="640080"/>
          </a:xfrm>
          <a:prstGeom prst="ellipse">
            <a:avLst/>
          </a:prstGeom>
          <a:solidFill>
            <a:srgbClr val="FF9A3D"/>
          </a:solidFill>
          <a:ln w="12700">
            <a:solidFill>
              <a:srgbClr val="FFFFFF"/>
            </a:solidFill>
            <a:prstDash val="solid"/>
          </a:ln>
        </p:spPr>
      </p:sp>
      <p:pic>
        <p:nvPicPr>
          <p:cNvPr id="6" name="Icon 1046" descr="FaMoneyBillWave">    </p:cNvPr>
          <p:cNvPicPr>
            <a:picLocks noChangeAspect="1"/>
          </p:cNvPicPr>
          <p:nvPr/>
        </p:nvPicPr>
        <p:blipFill>
          <a:blip r:embed="rId1"/>
          <a:stretch>
            <a:fillRect/>
          </a:stretch>
        </p:blipFill>
        <p:spPr>
          <a:xfrm>
            <a:off x="795528" y="1527048"/>
            <a:ext cx="329184" cy="329184"/>
          </a:xfrm>
          <a:prstGeom prst="rect">
            <a:avLst/>
          </a:prstGeom>
        </p:spPr>
      </p:pic>
      <p:sp>
        <p:nvSpPr>
          <p:cNvPr id="7" name="Text 1047"/>
          <p:cNvSpPr txBox="1"/>
          <p:nvPr/>
        </p:nvSpPr>
        <p:spPr>
          <a:xfrm>
            <a:off x="1417320" y="1325880"/>
            <a:ext cx="3017520" cy="457200"/>
          </a:xfrm>
          <a:prstGeom prst="rect">
            <a:avLst/>
          </a:prstGeom>
          <a:noFill/>
          <a:ln/>
        </p:spPr>
        <p:txBody>
          <a:bodyPr wrap="square" lIns="0" tIns="0" rIns="0" bIns="0" rtlCol="0" anchor="t"/>
          <a:lstStyle/>
          <a:p>
            <a:pPr indent="0" marL="0">
              <a:buNone/>
            </a:pPr>
            <a:r>
              <a:rPr lang="en-US" sz="2200" b="1" dirty="0">
                <a:solidFill>
                  <a:srgbClr val="FF9A3D"/>
                </a:solidFill>
                <a:latin typeface="Calibri" pitchFamily="34" charset="0"/>
                <a:ea typeface="Calibri" pitchFamily="34" charset="-122"/>
                <a:cs typeface="Calibri" pitchFamily="34" charset="-120"/>
              </a:rPr>
              <a:t>To make money</a:t>
            </a:r>
            <a:endParaRPr lang="en-US" sz="2200" dirty="0"/>
          </a:p>
        </p:txBody>
      </p:sp>
      <p:sp>
        <p:nvSpPr>
          <p:cNvPr id="8" name="Text 1048"/>
          <p:cNvSpPr txBox="1"/>
          <p:nvPr/>
        </p:nvSpPr>
        <p:spPr>
          <a:xfrm>
            <a:off x="1417320" y="1783080"/>
            <a:ext cx="3017520" cy="109728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Fake reviews or claims to sell things</a:t>
            </a:r>
            <a:endParaRPr lang="en-US" sz="1800" dirty="0"/>
          </a:p>
        </p:txBody>
      </p:sp>
      <p:sp>
        <p:nvSpPr>
          <p:cNvPr id="9" name="Card 1049"/>
          <p:cNvSpPr/>
          <p:nvPr/>
        </p:nvSpPr>
        <p:spPr>
          <a:xfrm>
            <a:off x="4709160" y="1188720"/>
            <a:ext cx="4114800" cy="1737360"/>
          </a:xfrm>
          <a:prstGeom prst="roundRect">
            <a:avLst>
              <a:gd name="adj" fmla="val 6316"/>
            </a:avLst>
          </a:prstGeom>
          <a:solidFill>
            <a:srgbClr val="FFFFFF"/>
          </a:solidFill>
          <a:ln/>
          <a:effectLst>
            <a:outerShdw sx="100000" sy="100000" kx="0" ky="0" algn="bl" rotWithShape="0" blurRad="76200" dist="25400" dir="5400000">
              <a:srgbClr val="2B2250">
                <a:alpha val="15000"/>
              </a:srgbClr>
            </a:outerShdw>
          </a:effectLst>
        </p:spPr>
      </p:sp>
      <p:sp>
        <p:nvSpPr>
          <p:cNvPr id="10" name="Dot 1050"/>
          <p:cNvSpPr/>
          <p:nvPr/>
        </p:nvSpPr>
        <p:spPr>
          <a:xfrm>
            <a:off x="4892040" y="1371600"/>
            <a:ext cx="640080" cy="640080"/>
          </a:xfrm>
          <a:prstGeom prst="ellipse">
            <a:avLst/>
          </a:prstGeom>
          <a:solidFill>
            <a:srgbClr val="FF5C8A"/>
          </a:solidFill>
          <a:ln w="12700">
            <a:solidFill>
              <a:srgbClr val="FFFFFF"/>
            </a:solidFill>
            <a:prstDash val="solid"/>
          </a:ln>
        </p:spPr>
      </p:sp>
      <p:pic>
        <p:nvPicPr>
          <p:cNvPr id="11" name="Icon 1051" descr="FaHeart">    </p:cNvPr>
          <p:cNvPicPr>
            <a:picLocks noChangeAspect="1"/>
          </p:cNvPicPr>
          <p:nvPr/>
        </p:nvPicPr>
        <p:blipFill>
          <a:blip r:embed="rId2"/>
          <a:stretch>
            <a:fillRect/>
          </a:stretch>
        </p:blipFill>
        <p:spPr>
          <a:xfrm>
            <a:off x="5047488" y="1527048"/>
            <a:ext cx="329184" cy="329184"/>
          </a:xfrm>
          <a:prstGeom prst="rect">
            <a:avLst/>
          </a:prstGeom>
        </p:spPr>
      </p:pic>
      <p:sp>
        <p:nvSpPr>
          <p:cNvPr id="12" name="Text 1052"/>
          <p:cNvSpPr txBox="1"/>
          <p:nvPr/>
        </p:nvSpPr>
        <p:spPr>
          <a:xfrm>
            <a:off x="5669280" y="1325880"/>
            <a:ext cx="3017520" cy="457200"/>
          </a:xfrm>
          <a:prstGeom prst="rect">
            <a:avLst/>
          </a:prstGeom>
          <a:noFill/>
          <a:ln/>
        </p:spPr>
        <p:txBody>
          <a:bodyPr wrap="square" lIns="0" tIns="0" rIns="0" bIns="0" rtlCol="0" anchor="t"/>
          <a:lstStyle/>
          <a:p>
            <a:pPr indent="0" marL="0">
              <a:buNone/>
            </a:pPr>
            <a:r>
              <a:rPr lang="en-US" sz="2200" b="1" dirty="0">
                <a:solidFill>
                  <a:srgbClr val="FF5C8A"/>
                </a:solidFill>
                <a:latin typeface="Calibri" pitchFamily="34" charset="0"/>
                <a:ea typeface="Calibri" pitchFamily="34" charset="-122"/>
                <a:cs typeface="Calibri" pitchFamily="34" charset="-120"/>
              </a:rPr>
              <a:t>To be popular</a:t>
            </a:r>
            <a:endParaRPr lang="en-US" sz="2200" dirty="0"/>
          </a:p>
        </p:txBody>
      </p:sp>
      <p:sp>
        <p:nvSpPr>
          <p:cNvPr id="13" name="Text 1053"/>
          <p:cNvSpPr txBox="1"/>
          <p:nvPr/>
        </p:nvSpPr>
        <p:spPr>
          <a:xfrm>
            <a:off x="5669280" y="1783080"/>
            <a:ext cx="3017520" cy="109728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More likes and shares</a:t>
            </a:r>
            <a:endParaRPr lang="en-US" sz="1800" dirty="0"/>
          </a:p>
        </p:txBody>
      </p:sp>
      <p:sp>
        <p:nvSpPr>
          <p:cNvPr id="14" name="Card 1054"/>
          <p:cNvSpPr/>
          <p:nvPr/>
        </p:nvSpPr>
        <p:spPr>
          <a:xfrm>
            <a:off x="457200" y="3063240"/>
            <a:ext cx="4114800" cy="1737360"/>
          </a:xfrm>
          <a:prstGeom prst="roundRect">
            <a:avLst>
              <a:gd name="adj" fmla="val 6316"/>
            </a:avLst>
          </a:prstGeom>
          <a:solidFill>
            <a:srgbClr val="FFFFFF"/>
          </a:solidFill>
          <a:ln/>
          <a:effectLst>
            <a:outerShdw sx="100000" sy="100000" kx="0" ky="0" algn="bl" rotWithShape="0" blurRad="76200" dist="25400" dir="5400000">
              <a:srgbClr val="2B2250">
                <a:alpha val="15000"/>
              </a:srgbClr>
            </a:outerShdw>
          </a:effectLst>
        </p:spPr>
      </p:sp>
      <p:sp>
        <p:nvSpPr>
          <p:cNvPr id="15" name="Dot 1055"/>
          <p:cNvSpPr/>
          <p:nvPr/>
        </p:nvSpPr>
        <p:spPr>
          <a:xfrm>
            <a:off x="640080" y="3246120"/>
            <a:ext cx="640080" cy="640080"/>
          </a:xfrm>
          <a:prstGeom prst="ellipse">
            <a:avLst/>
          </a:prstGeom>
          <a:solidFill>
            <a:srgbClr val="4DA3E0"/>
          </a:solidFill>
          <a:ln w="12700">
            <a:solidFill>
              <a:srgbClr val="FFFFFF"/>
            </a:solidFill>
            <a:prstDash val="solid"/>
          </a:ln>
        </p:spPr>
      </p:sp>
      <p:pic>
        <p:nvPicPr>
          <p:cNvPr id="16" name="Icon 1056" descr="FaVoteYea">    </p:cNvPr>
          <p:cNvPicPr>
            <a:picLocks noChangeAspect="1"/>
          </p:cNvPicPr>
          <p:nvPr/>
        </p:nvPicPr>
        <p:blipFill>
          <a:blip r:embed="rId3"/>
          <a:stretch>
            <a:fillRect/>
          </a:stretch>
        </p:blipFill>
        <p:spPr>
          <a:xfrm>
            <a:off x="795528" y="3401568"/>
            <a:ext cx="329184" cy="329184"/>
          </a:xfrm>
          <a:prstGeom prst="rect">
            <a:avLst/>
          </a:prstGeom>
        </p:spPr>
      </p:pic>
      <p:sp>
        <p:nvSpPr>
          <p:cNvPr id="17" name="Text 1057"/>
          <p:cNvSpPr txBox="1"/>
          <p:nvPr/>
        </p:nvSpPr>
        <p:spPr>
          <a:xfrm>
            <a:off x="1417320" y="3200400"/>
            <a:ext cx="3017520" cy="457200"/>
          </a:xfrm>
          <a:prstGeom prst="rect">
            <a:avLst/>
          </a:prstGeom>
          <a:noFill/>
          <a:ln/>
        </p:spPr>
        <p:txBody>
          <a:bodyPr wrap="square" lIns="0" tIns="0" rIns="0" bIns="0" rtlCol="0" anchor="t"/>
          <a:lstStyle/>
          <a:p>
            <a:pPr indent="0" marL="0">
              <a:buNone/>
            </a:pPr>
            <a:r>
              <a:rPr lang="en-US" sz="2200" b="1" dirty="0">
                <a:solidFill>
                  <a:srgbClr val="4DA3E0"/>
                </a:solidFill>
                <a:latin typeface="Calibri" pitchFamily="34" charset="0"/>
                <a:ea typeface="Calibri" pitchFamily="34" charset="-122"/>
                <a:cs typeface="Calibri" pitchFamily="34" charset="-120"/>
              </a:rPr>
              <a:t>To gain power</a:t>
            </a:r>
            <a:endParaRPr lang="en-US" sz="2200" dirty="0"/>
          </a:p>
        </p:txBody>
      </p:sp>
      <p:sp>
        <p:nvSpPr>
          <p:cNvPr id="18" name="Text 1058"/>
          <p:cNvSpPr txBox="1"/>
          <p:nvPr/>
        </p:nvSpPr>
        <p:spPr>
          <a:xfrm>
            <a:off x="1417320" y="3657600"/>
            <a:ext cx="3017520" cy="109728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To win votes</a:t>
            </a:r>
            <a:endParaRPr lang="en-US" sz="1800" dirty="0"/>
          </a:p>
        </p:txBody>
      </p:sp>
      <p:sp>
        <p:nvSpPr>
          <p:cNvPr id="19" name="Card 1059"/>
          <p:cNvSpPr/>
          <p:nvPr/>
        </p:nvSpPr>
        <p:spPr>
          <a:xfrm>
            <a:off x="4709160" y="3063240"/>
            <a:ext cx="4114800" cy="1737360"/>
          </a:xfrm>
          <a:prstGeom prst="roundRect">
            <a:avLst>
              <a:gd name="adj" fmla="val 6316"/>
            </a:avLst>
          </a:prstGeom>
          <a:solidFill>
            <a:srgbClr val="FFFFFF"/>
          </a:solidFill>
          <a:ln/>
          <a:effectLst>
            <a:outerShdw sx="100000" sy="100000" kx="0" ky="0" algn="bl" rotWithShape="0" blurRad="76200" dist="25400" dir="5400000">
              <a:srgbClr val="2B2250">
                <a:alpha val="15000"/>
              </a:srgbClr>
            </a:outerShdw>
          </a:effectLst>
        </p:spPr>
      </p:sp>
      <p:sp>
        <p:nvSpPr>
          <p:cNvPr id="20" name="Dot 1060"/>
          <p:cNvSpPr/>
          <p:nvPr/>
        </p:nvSpPr>
        <p:spPr>
          <a:xfrm>
            <a:off x="4892040" y="3246120"/>
            <a:ext cx="640080" cy="640080"/>
          </a:xfrm>
          <a:prstGeom prst="ellipse">
            <a:avLst/>
          </a:prstGeom>
          <a:solidFill>
            <a:srgbClr val="1FB89A"/>
          </a:solidFill>
          <a:ln w="12700">
            <a:solidFill>
              <a:srgbClr val="FFFFFF"/>
            </a:solidFill>
            <a:prstDash val="solid"/>
          </a:ln>
        </p:spPr>
      </p:sp>
      <p:pic>
        <p:nvPicPr>
          <p:cNvPr id="21" name="Icon 1061" descr="FaExclamationTriangle">    </p:cNvPr>
          <p:cNvPicPr>
            <a:picLocks noChangeAspect="1"/>
          </p:cNvPicPr>
          <p:nvPr/>
        </p:nvPicPr>
        <p:blipFill>
          <a:blip r:embed="rId4"/>
          <a:stretch>
            <a:fillRect/>
          </a:stretch>
        </p:blipFill>
        <p:spPr>
          <a:xfrm>
            <a:off x="5047488" y="3401568"/>
            <a:ext cx="329184" cy="329184"/>
          </a:xfrm>
          <a:prstGeom prst="rect">
            <a:avLst/>
          </a:prstGeom>
        </p:spPr>
      </p:pic>
      <p:sp>
        <p:nvSpPr>
          <p:cNvPr id="22" name="Text 1062"/>
          <p:cNvSpPr txBox="1"/>
          <p:nvPr/>
        </p:nvSpPr>
        <p:spPr>
          <a:xfrm>
            <a:off x="5669280" y="3200400"/>
            <a:ext cx="3017520" cy="457200"/>
          </a:xfrm>
          <a:prstGeom prst="rect">
            <a:avLst/>
          </a:prstGeom>
          <a:noFill/>
          <a:ln/>
        </p:spPr>
        <p:txBody>
          <a:bodyPr wrap="square" lIns="0" tIns="0" rIns="0" bIns="0" rtlCol="0" anchor="t"/>
          <a:lstStyle/>
          <a:p>
            <a:pPr indent="0" marL="0">
              <a:buNone/>
            </a:pPr>
            <a:r>
              <a:rPr lang="en-US" sz="2200" b="1" dirty="0">
                <a:solidFill>
                  <a:srgbClr val="1FB89A"/>
                </a:solidFill>
                <a:latin typeface="Calibri" pitchFamily="34" charset="0"/>
                <a:ea typeface="Calibri" pitchFamily="34" charset="-122"/>
                <a:cs typeface="Calibri" pitchFamily="34" charset="-120"/>
              </a:rPr>
              <a:t>By mistake</a:t>
            </a:r>
            <a:endParaRPr lang="en-US" sz="2200" dirty="0"/>
          </a:p>
        </p:txBody>
      </p:sp>
      <p:sp>
        <p:nvSpPr>
          <p:cNvPr id="23" name="Text 1063"/>
          <p:cNvSpPr txBox="1"/>
          <p:nvPr/>
        </p:nvSpPr>
        <p:spPr>
          <a:xfrm>
            <a:off x="5669280" y="3657600"/>
            <a:ext cx="3017520" cy="109728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They did not know it was false</a:t>
            </a:r>
            <a:endParaRPr lang="en-US" sz="18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Accent 1064"/>
          <p:cNvSpPr/>
          <p:nvPr/>
        </p:nvSpPr>
        <p:spPr>
          <a:xfrm>
            <a:off x="0" y="274320"/>
            <a:ext cx="164592" cy="685800"/>
          </a:xfrm>
          <a:prstGeom prst="rect">
            <a:avLst/>
          </a:prstGeom>
          <a:solidFill>
            <a:srgbClr val="2E9E5B"/>
          </a:solidFill>
          <a:ln w="12700">
            <a:solidFill>
              <a:srgbClr val="2E9E5B"/>
            </a:solidFill>
            <a:prstDash val="solid"/>
          </a:ln>
        </p:spPr>
      </p:sp>
      <p:sp>
        <p:nvSpPr>
          <p:cNvPr id="3" name="Text 1065"/>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Activity: How does information spread?</a:t>
            </a:r>
            <a:endParaRPr lang="en-US" sz="3000" dirty="0"/>
          </a:p>
        </p:txBody>
      </p:sp>
      <p:sp>
        <p:nvSpPr>
          <p:cNvPr id="4" name="Tag 1066"/>
          <p:cNvSpPr/>
          <p:nvPr/>
        </p:nvSpPr>
        <p:spPr>
          <a:xfrm>
            <a:off x="7223760" y="384048"/>
            <a:ext cx="1463040" cy="457200"/>
          </a:xfrm>
          <a:prstGeom prst="roundRect">
            <a:avLst>
              <a:gd name="adj" fmla="val 50000"/>
            </a:avLst>
          </a:prstGeom>
          <a:solidFill>
            <a:srgbClr val="FF9A3D"/>
          </a:solidFill>
          <a:ln w="12700">
            <a:solidFill>
              <a:srgbClr val="FF9A3D"/>
            </a:solidFill>
            <a:prstDash val="solid"/>
          </a:ln>
        </p:spPr>
      </p:sp>
      <p:sp>
        <p:nvSpPr>
          <p:cNvPr id="5" name="Text 1067"/>
          <p:cNvSpPr txBox="1"/>
          <p:nvPr/>
        </p:nvSpPr>
        <p:spPr>
          <a:xfrm>
            <a:off x="7223760" y="384048"/>
            <a:ext cx="146304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ACTIVITY</a:t>
            </a:r>
            <a:endParaRPr lang="en-US" sz="1600" dirty="0"/>
          </a:p>
        </p:txBody>
      </p:sp>
      <p:sp>
        <p:nvSpPr>
          <p:cNvPr id="6" name="Card 1068"/>
          <p:cNvSpPr/>
          <p:nvPr/>
        </p:nvSpPr>
        <p:spPr>
          <a:xfrm>
            <a:off x="457200" y="1188720"/>
            <a:ext cx="4114800" cy="781812"/>
          </a:xfrm>
          <a:prstGeom prst="roundRect">
            <a:avLst>
              <a:gd name="adj" fmla="val 14035"/>
            </a:avLst>
          </a:prstGeom>
          <a:solidFill>
            <a:srgbClr val="FFFFFF"/>
          </a:solidFill>
          <a:ln/>
          <a:effectLst>
            <a:outerShdw sx="100000" sy="100000" kx="0" ky="0" algn="bl" rotWithShape="0" blurRad="76200" dist="25400" dir="5400000">
              <a:srgbClr val="2B2250">
                <a:alpha val="15000"/>
              </a:srgbClr>
            </a:outerShdw>
          </a:effectLst>
        </p:spPr>
      </p:sp>
      <p:sp>
        <p:nvSpPr>
          <p:cNvPr id="7" name="Dot 1069"/>
          <p:cNvSpPr/>
          <p:nvPr/>
        </p:nvSpPr>
        <p:spPr>
          <a:xfrm>
            <a:off x="594360" y="1351026"/>
            <a:ext cx="457200" cy="457200"/>
          </a:xfrm>
          <a:prstGeom prst="ellipse">
            <a:avLst/>
          </a:prstGeom>
          <a:solidFill>
            <a:srgbClr val="FF9A3D"/>
          </a:solidFill>
          <a:ln w="12700">
            <a:solidFill>
              <a:srgbClr val="FFFFFF"/>
            </a:solidFill>
            <a:prstDash val="solid"/>
          </a:ln>
        </p:spPr>
      </p:sp>
      <p:sp>
        <p:nvSpPr>
          <p:cNvPr id="8" name="Text 1070"/>
          <p:cNvSpPr txBox="1"/>
          <p:nvPr/>
        </p:nvSpPr>
        <p:spPr>
          <a:xfrm>
            <a:off x="594360" y="135102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Text 1071"/>
          <p:cNvSpPr txBox="1"/>
          <p:nvPr/>
        </p:nvSpPr>
        <p:spPr>
          <a:xfrm>
            <a:off x="1188720" y="1188720"/>
            <a:ext cx="3200400" cy="781812"/>
          </a:xfrm>
          <a:prstGeom prst="rect">
            <a:avLst/>
          </a:prstGeom>
          <a:noFill/>
          <a:ln/>
        </p:spPr>
        <p:txBody>
          <a:bodyPr wrap="square" lIns="0" tIns="0" rIns="0" bIns="0" rtlCol="0" anchor="ctr"/>
          <a:lstStyle/>
          <a:p>
            <a:pPr indent="0" marL="0">
              <a:buNone/>
            </a:pPr>
            <a:r>
              <a:rPr lang="en-US" sz="1700" dirty="0">
                <a:solidFill>
                  <a:schemeClr val="tx1"/>
                </a:solidFill>
                <a:latin typeface="Calibri" pitchFamily="34" charset="0"/>
                <a:ea typeface="Calibri" pitchFamily="34" charset="-122"/>
                <a:cs typeface="Calibri" pitchFamily="34" charset="-120"/>
              </a:rPr>
              <a:t>Half the class writes a TRUE fact in each box. Half write a FALSE fact.</a:t>
            </a:r>
            <a:endParaRPr lang="en-US" sz="1700" dirty="0"/>
          </a:p>
        </p:txBody>
      </p:sp>
      <p:sp>
        <p:nvSpPr>
          <p:cNvPr id="10" name="Card 1072"/>
          <p:cNvSpPr/>
          <p:nvPr/>
        </p:nvSpPr>
        <p:spPr>
          <a:xfrm>
            <a:off x="457200" y="2080260"/>
            <a:ext cx="4114800" cy="781812"/>
          </a:xfrm>
          <a:prstGeom prst="roundRect">
            <a:avLst>
              <a:gd name="adj" fmla="val 14035"/>
            </a:avLst>
          </a:prstGeom>
          <a:solidFill>
            <a:srgbClr val="FFFFFF"/>
          </a:solidFill>
          <a:ln/>
          <a:effectLst>
            <a:outerShdw sx="100000" sy="100000" kx="0" ky="0" algn="bl" rotWithShape="0" blurRad="76200" dist="25400" dir="5400000">
              <a:srgbClr val="2B2250">
                <a:alpha val="15000"/>
              </a:srgbClr>
            </a:outerShdw>
          </a:effectLst>
        </p:spPr>
      </p:sp>
      <p:sp>
        <p:nvSpPr>
          <p:cNvPr id="11" name="Dot 1073"/>
          <p:cNvSpPr/>
          <p:nvPr/>
        </p:nvSpPr>
        <p:spPr>
          <a:xfrm>
            <a:off x="594360" y="2242566"/>
            <a:ext cx="457200" cy="457200"/>
          </a:xfrm>
          <a:prstGeom prst="ellipse">
            <a:avLst/>
          </a:prstGeom>
          <a:solidFill>
            <a:srgbClr val="FF9A3D"/>
          </a:solidFill>
          <a:ln w="12700">
            <a:solidFill>
              <a:srgbClr val="FFFFFF"/>
            </a:solidFill>
            <a:prstDash val="solid"/>
          </a:ln>
        </p:spPr>
      </p:sp>
      <p:sp>
        <p:nvSpPr>
          <p:cNvPr id="12" name="Text 1074"/>
          <p:cNvSpPr txBox="1"/>
          <p:nvPr/>
        </p:nvSpPr>
        <p:spPr>
          <a:xfrm>
            <a:off x="594360" y="224256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075"/>
          <p:cNvSpPr txBox="1"/>
          <p:nvPr/>
        </p:nvSpPr>
        <p:spPr>
          <a:xfrm>
            <a:off x="1188720" y="2080260"/>
            <a:ext cx="3200400" cy="781812"/>
          </a:xfrm>
          <a:prstGeom prst="rect">
            <a:avLst/>
          </a:prstGeom>
          <a:noFill/>
          <a:ln/>
        </p:spPr>
        <p:txBody>
          <a:bodyPr wrap="square" lIns="0" tIns="0" rIns="0" bIns="0" rtlCol="0" anchor="ctr"/>
          <a:lstStyle/>
          <a:p>
            <a:pPr indent="0" marL="0">
              <a:buNone/>
            </a:pPr>
            <a:r>
              <a:rPr lang="en-US" sz="1700" dirty="0">
                <a:solidFill>
                  <a:schemeClr val="tx1"/>
                </a:solidFill>
                <a:latin typeface="Calibri" pitchFamily="34" charset="0"/>
                <a:ea typeface="Calibri" pitchFamily="34" charset="-122"/>
                <a:cs typeface="Calibri" pitchFamily="34" charset="-120"/>
              </a:rPr>
              <a:t>Cut your sheet in half and pass both pieces on.</a:t>
            </a:r>
            <a:endParaRPr lang="en-US" sz="1700" dirty="0"/>
          </a:p>
        </p:txBody>
      </p:sp>
      <p:sp>
        <p:nvSpPr>
          <p:cNvPr id="14" name="Card 1076"/>
          <p:cNvSpPr/>
          <p:nvPr/>
        </p:nvSpPr>
        <p:spPr>
          <a:xfrm>
            <a:off x="457200" y="2971800"/>
            <a:ext cx="4114800" cy="781812"/>
          </a:xfrm>
          <a:prstGeom prst="roundRect">
            <a:avLst>
              <a:gd name="adj" fmla="val 14035"/>
            </a:avLst>
          </a:prstGeom>
          <a:solidFill>
            <a:srgbClr val="FFFFFF"/>
          </a:solidFill>
          <a:ln/>
          <a:effectLst>
            <a:outerShdw sx="100000" sy="100000" kx="0" ky="0" algn="bl" rotWithShape="0" blurRad="76200" dist="25400" dir="5400000">
              <a:srgbClr val="2B2250">
                <a:alpha val="15000"/>
              </a:srgbClr>
            </a:outerShdw>
          </a:effectLst>
        </p:spPr>
      </p:sp>
      <p:sp>
        <p:nvSpPr>
          <p:cNvPr id="15" name="Dot 1077"/>
          <p:cNvSpPr/>
          <p:nvPr/>
        </p:nvSpPr>
        <p:spPr>
          <a:xfrm>
            <a:off x="594360" y="3134106"/>
            <a:ext cx="457200" cy="457200"/>
          </a:xfrm>
          <a:prstGeom prst="ellipse">
            <a:avLst/>
          </a:prstGeom>
          <a:solidFill>
            <a:srgbClr val="FF9A3D"/>
          </a:solidFill>
          <a:ln w="12700">
            <a:solidFill>
              <a:srgbClr val="FFFFFF"/>
            </a:solidFill>
            <a:prstDash val="solid"/>
          </a:ln>
        </p:spPr>
      </p:sp>
      <p:sp>
        <p:nvSpPr>
          <p:cNvPr id="16" name="Text 1078"/>
          <p:cNvSpPr txBox="1"/>
          <p:nvPr/>
        </p:nvSpPr>
        <p:spPr>
          <a:xfrm>
            <a:off x="594360" y="313410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1079"/>
          <p:cNvSpPr txBox="1"/>
          <p:nvPr/>
        </p:nvSpPr>
        <p:spPr>
          <a:xfrm>
            <a:off x="1188720" y="2971800"/>
            <a:ext cx="3200400" cy="781812"/>
          </a:xfrm>
          <a:prstGeom prst="rect">
            <a:avLst/>
          </a:prstGeom>
          <a:noFill/>
          <a:ln/>
        </p:spPr>
        <p:txBody>
          <a:bodyPr wrap="square" lIns="0" tIns="0" rIns="0" bIns="0" rtlCol="0" anchor="ctr"/>
          <a:lstStyle/>
          <a:p>
            <a:pPr indent="0" marL="0">
              <a:buNone/>
            </a:pPr>
            <a:r>
              <a:rPr lang="en-US" sz="1700" dirty="0">
                <a:solidFill>
                  <a:schemeClr val="tx1"/>
                </a:solidFill>
                <a:latin typeface="Calibri" pitchFamily="34" charset="0"/>
                <a:ea typeface="Calibri" pitchFamily="34" charset="-122"/>
                <a:cs typeface="Calibri" pitchFamily="34" charset="-120"/>
              </a:rPr>
              <a:t>Cut again and pass on. Do it three times: 8 pieces each!</a:t>
            </a:r>
            <a:endParaRPr lang="en-US" sz="1700" dirty="0"/>
          </a:p>
        </p:txBody>
      </p:sp>
      <p:sp>
        <p:nvSpPr>
          <p:cNvPr id="18" name="Card 1080"/>
          <p:cNvSpPr/>
          <p:nvPr/>
        </p:nvSpPr>
        <p:spPr>
          <a:xfrm>
            <a:off x="457200" y="3863340"/>
            <a:ext cx="4114800" cy="781812"/>
          </a:xfrm>
          <a:prstGeom prst="roundRect">
            <a:avLst>
              <a:gd name="adj" fmla="val 14035"/>
            </a:avLst>
          </a:prstGeom>
          <a:solidFill>
            <a:srgbClr val="FFFFFF"/>
          </a:solidFill>
          <a:ln/>
          <a:effectLst>
            <a:outerShdw sx="100000" sy="100000" kx="0" ky="0" algn="bl" rotWithShape="0" blurRad="76200" dist="25400" dir="5400000">
              <a:srgbClr val="2B2250">
                <a:alpha val="15000"/>
              </a:srgbClr>
            </a:outerShdw>
          </a:effectLst>
        </p:spPr>
      </p:sp>
      <p:sp>
        <p:nvSpPr>
          <p:cNvPr id="19" name="Dot 1081"/>
          <p:cNvSpPr/>
          <p:nvPr/>
        </p:nvSpPr>
        <p:spPr>
          <a:xfrm>
            <a:off x="594360" y="4025646"/>
            <a:ext cx="457200" cy="457200"/>
          </a:xfrm>
          <a:prstGeom prst="ellipse">
            <a:avLst/>
          </a:prstGeom>
          <a:solidFill>
            <a:srgbClr val="FF9A3D"/>
          </a:solidFill>
          <a:ln w="12700">
            <a:solidFill>
              <a:srgbClr val="FFFFFF"/>
            </a:solidFill>
            <a:prstDash val="solid"/>
          </a:ln>
        </p:spPr>
      </p:sp>
      <p:sp>
        <p:nvSpPr>
          <p:cNvPr id="20" name="Text 1082"/>
          <p:cNvSpPr txBox="1"/>
          <p:nvPr/>
        </p:nvSpPr>
        <p:spPr>
          <a:xfrm>
            <a:off x="594360" y="402564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1" name="Text 1083"/>
          <p:cNvSpPr txBox="1"/>
          <p:nvPr/>
        </p:nvSpPr>
        <p:spPr>
          <a:xfrm>
            <a:off x="1188720" y="3863340"/>
            <a:ext cx="3200400" cy="781812"/>
          </a:xfrm>
          <a:prstGeom prst="rect">
            <a:avLst/>
          </a:prstGeom>
          <a:noFill/>
          <a:ln/>
        </p:spPr>
        <p:txBody>
          <a:bodyPr wrap="square" lIns="0" tIns="0" rIns="0" bIns="0" rtlCol="0" anchor="ctr"/>
          <a:lstStyle/>
          <a:p>
            <a:pPr indent="0" marL="0">
              <a:buNone/>
            </a:pPr>
            <a:r>
              <a:rPr lang="en-US" sz="1700" dirty="0">
                <a:solidFill>
                  <a:schemeClr val="tx1"/>
                </a:solidFill>
                <a:latin typeface="Calibri" pitchFamily="34" charset="0"/>
                <a:ea typeface="Calibri" pitchFamily="34" charset="-122"/>
                <a:cs typeface="Calibri" pitchFamily="34" charset="-120"/>
              </a:rPr>
              <a:t>Try to find all your pieces. Is it easy?</a:t>
            </a:r>
            <a:endParaRPr lang="en-US" sz="1700" dirty="0"/>
          </a:p>
        </p:txBody>
      </p:sp>
      <p:sp>
        <p:nvSpPr>
          <p:cNvPr id="22" name="Card 1084"/>
          <p:cNvSpPr/>
          <p:nvPr/>
        </p:nvSpPr>
        <p:spPr>
          <a:xfrm>
            <a:off x="4617720" y="1097280"/>
            <a:ext cx="4206240" cy="2999232"/>
          </a:xfrm>
          <a:prstGeom prst="roundRect">
            <a:avLst>
              <a:gd name="adj" fmla="val 3659"/>
            </a:avLst>
          </a:prstGeom>
          <a:solidFill>
            <a:srgbClr val="FFFFFF"/>
          </a:solidFill>
          <a:ln/>
          <a:effectLst>
            <a:outerShdw sx="100000" sy="100000" kx="0" ky="0" algn="bl" rotWithShape="0" blurRad="76200" dist="25400" dir="5400000">
              <a:srgbClr val="2B2250">
                <a:alpha val="15000"/>
              </a:srgbClr>
            </a:outerShdw>
          </a:effectLst>
        </p:spPr>
      </p:sp>
      <p:pic>
        <p:nvPicPr>
          <p:cNvPr id="23" name="Picture 1085" descr="Activity picture">    </p:cNvPr>
          <p:cNvPicPr>
            <a:picLocks noChangeAspect="1"/>
          </p:cNvPicPr>
          <p:nvPr/>
        </p:nvPicPr>
        <p:blipFill>
          <a:blip r:embed="rId1"/>
          <a:stretch>
            <a:fillRect/>
          </a:stretch>
        </p:blipFill>
        <p:spPr>
          <a:xfrm>
            <a:off x="4709160" y="1188720"/>
            <a:ext cx="4023360" cy="2816352"/>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Accent 1086"/>
          <p:cNvSpPr/>
          <p:nvPr/>
        </p:nvSpPr>
        <p:spPr>
          <a:xfrm>
            <a:off x="0" y="274320"/>
            <a:ext cx="164592" cy="685800"/>
          </a:xfrm>
          <a:prstGeom prst="rect">
            <a:avLst/>
          </a:prstGeom>
          <a:solidFill>
            <a:srgbClr val="2E9E5B"/>
          </a:solidFill>
          <a:ln w="12700">
            <a:solidFill>
              <a:srgbClr val="2E9E5B"/>
            </a:solidFill>
            <a:prstDash val="solid"/>
          </a:ln>
        </p:spPr>
      </p:sp>
      <p:sp>
        <p:nvSpPr>
          <p:cNvPr id="3" name="Text 1087"/>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Quick quiz</a:t>
            </a:r>
            <a:endParaRPr lang="en-US" sz="3000" dirty="0"/>
          </a:p>
        </p:txBody>
      </p:sp>
      <p:sp>
        <p:nvSpPr>
          <p:cNvPr id="4" name="Text 1088"/>
          <p:cNvSpPr txBox="1"/>
          <p:nvPr/>
        </p:nvSpPr>
        <p:spPr>
          <a:xfrm>
            <a:off x="457200" y="1051560"/>
            <a:ext cx="8229600" cy="914400"/>
          </a:xfrm>
          <a:prstGeom prst="rect">
            <a:avLst/>
          </a:prstGeom>
          <a:noFill/>
          <a:ln/>
        </p:spPr>
        <p:txBody>
          <a:bodyPr wrap="square" lIns="0" tIns="0" rIns="0" bIns="0" rtlCol="0" anchor="ctr"/>
          <a:lstStyle/>
          <a:p>
            <a:pPr indent="0" marL="0">
              <a:buNone/>
            </a:pPr>
            <a:r>
              <a:rPr lang="en-US" sz="2600" b="1" dirty="0">
                <a:solidFill>
                  <a:schemeClr val="tx1"/>
                </a:solidFill>
                <a:latin typeface="Calibri" pitchFamily="34" charset="0"/>
                <a:ea typeface="Calibri" pitchFamily="34" charset="-122"/>
                <a:cs typeface="Calibri" pitchFamily="34" charset="-120"/>
              </a:rPr>
              <a:t>Before you share something online you should…</a:t>
            </a:r>
            <a:endParaRPr lang="en-US" sz="2600" dirty="0"/>
          </a:p>
        </p:txBody>
      </p:sp>
      <p:sp>
        <p:nvSpPr>
          <p:cNvPr id="5" name="Card 1089"/>
          <p:cNvSpPr/>
          <p:nvPr/>
        </p:nvSpPr>
        <p:spPr>
          <a:xfrm>
            <a:off x="457200" y="219456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6" name="Dot 1090"/>
          <p:cNvSpPr/>
          <p:nvPr/>
        </p:nvSpPr>
        <p:spPr>
          <a:xfrm>
            <a:off x="594360" y="2322576"/>
            <a:ext cx="457200" cy="457200"/>
          </a:xfrm>
          <a:prstGeom prst="ellipse">
            <a:avLst/>
          </a:prstGeom>
          <a:solidFill>
            <a:srgbClr val="2E9E5B"/>
          </a:solidFill>
          <a:ln w="12700">
            <a:solidFill>
              <a:srgbClr val="FFFFFF"/>
            </a:solidFill>
            <a:prstDash val="solid"/>
          </a:ln>
        </p:spPr>
      </p:sp>
      <p:sp>
        <p:nvSpPr>
          <p:cNvPr id="7" name="Text 1091"/>
          <p:cNvSpPr txBox="1"/>
          <p:nvPr/>
        </p:nvSpPr>
        <p:spPr>
          <a:xfrm>
            <a:off x="594360" y="2322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8" name="Text 1092"/>
          <p:cNvSpPr txBox="1"/>
          <p:nvPr/>
        </p:nvSpPr>
        <p:spPr>
          <a:xfrm>
            <a:off x="1188720" y="219456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Think: is it true and kind?</a:t>
            </a:r>
            <a:endParaRPr lang="en-US" sz="2200" dirty="0"/>
          </a:p>
        </p:txBody>
      </p:sp>
      <p:sp>
        <p:nvSpPr>
          <p:cNvPr id="9" name="Card 1093"/>
          <p:cNvSpPr/>
          <p:nvPr/>
        </p:nvSpPr>
        <p:spPr>
          <a:xfrm>
            <a:off x="457200" y="301752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10" name="Dot 1094"/>
          <p:cNvSpPr/>
          <p:nvPr/>
        </p:nvSpPr>
        <p:spPr>
          <a:xfrm>
            <a:off x="594360" y="3145536"/>
            <a:ext cx="457200" cy="457200"/>
          </a:xfrm>
          <a:prstGeom prst="ellipse">
            <a:avLst/>
          </a:prstGeom>
          <a:solidFill>
            <a:srgbClr val="2E9E5B"/>
          </a:solidFill>
          <a:ln w="12700">
            <a:solidFill>
              <a:srgbClr val="FFFFFF"/>
            </a:solidFill>
            <a:prstDash val="solid"/>
          </a:ln>
        </p:spPr>
      </p:sp>
      <p:sp>
        <p:nvSpPr>
          <p:cNvPr id="11" name="Text 1095"/>
          <p:cNvSpPr txBox="1"/>
          <p:nvPr/>
        </p:nvSpPr>
        <p:spPr>
          <a:xfrm>
            <a:off x="594360" y="314553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096"/>
          <p:cNvSpPr txBox="1"/>
          <p:nvPr/>
        </p:nvSpPr>
        <p:spPr>
          <a:xfrm>
            <a:off x="1188720" y="301752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Share it quickly before anyone else</a:t>
            </a:r>
            <a:endParaRPr lang="en-US" sz="2200" dirty="0"/>
          </a:p>
        </p:txBody>
      </p:sp>
      <p:sp>
        <p:nvSpPr>
          <p:cNvPr id="13" name="Card 1097"/>
          <p:cNvSpPr/>
          <p:nvPr/>
        </p:nvSpPr>
        <p:spPr>
          <a:xfrm>
            <a:off x="457200" y="384048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14" name="Dot 1098"/>
          <p:cNvSpPr/>
          <p:nvPr/>
        </p:nvSpPr>
        <p:spPr>
          <a:xfrm>
            <a:off x="594360" y="3968496"/>
            <a:ext cx="457200" cy="457200"/>
          </a:xfrm>
          <a:prstGeom prst="ellipse">
            <a:avLst/>
          </a:prstGeom>
          <a:solidFill>
            <a:srgbClr val="2E9E5B"/>
          </a:solidFill>
          <a:ln w="12700">
            <a:solidFill>
              <a:srgbClr val="FFFFFF"/>
            </a:solidFill>
            <a:prstDash val="solid"/>
          </a:ln>
        </p:spPr>
      </p:sp>
      <p:sp>
        <p:nvSpPr>
          <p:cNvPr id="15" name="Text 1099"/>
          <p:cNvSpPr txBox="1"/>
          <p:nvPr/>
        </p:nvSpPr>
        <p:spPr>
          <a:xfrm>
            <a:off x="594360" y="39684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6" name="Text 1100"/>
          <p:cNvSpPr txBox="1"/>
          <p:nvPr/>
        </p:nvSpPr>
        <p:spPr>
          <a:xfrm>
            <a:off x="1188720" y="384048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Share it with everyone you know</a:t>
            </a:r>
            <a:endParaRPr lang="en-US" sz="22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Accent 1101"/>
          <p:cNvSpPr/>
          <p:nvPr/>
        </p:nvSpPr>
        <p:spPr>
          <a:xfrm>
            <a:off x="0" y="274320"/>
            <a:ext cx="164592" cy="685800"/>
          </a:xfrm>
          <a:prstGeom prst="rect">
            <a:avLst/>
          </a:prstGeom>
          <a:solidFill>
            <a:srgbClr val="2E9E5B"/>
          </a:solidFill>
          <a:ln w="12700">
            <a:solidFill>
              <a:srgbClr val="2E9E5B"/>
            </a:solidFill>
            <a:prstDash val="solid"/>
          </a:ln>
        </p:spPr>
      </p:sp>
      <p:sp>
        <p:nvSpPr>
          <p:cNvPr id="3" name="Text 110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 The answer</a:t>
            </a:r>
            <a:endParaRPr lang="en-US" sz="3000" dirty="0"/>
          </a:p>
        </p:txBody>
      </p:sp>
      <p:sp>
        <p:nvSpPr>
          <p:cNvPr id="4" name="Text 1103"/>
          <p:cNvSpPr txBox="1"/>
          <p:nvPr/>
        </p:nvSpPr>
        <p:spPr>
          <a:xfrm>
            <a:off x="457200" y="1051560"/>
            <a:ext cx="8229600" cy="914400"/>
          </a:xfrm>
          <a:prstGeom prst="rect">
            <a:avLst/>
          </a:prstGeom>
          <a:noFill/>
          <a:ln/>
        </p:spPr>
        <p:txBody>
          <a:bodyPr wrap="square" lIns="0" tIns="0" rIns="0" bIns="0" rtlCol="0" anchor="ctr"/>
          <a:lstStyle/>
          <a:p>
            <a:pPr indent="0" marL="0">
              <a:buNone/>
            </a:pPr>
            <a:r>
              <a:rPr lang="en-US" sz="2600" b="1" dirty="0">
                <a:solidFill>
                  <a:schemeClr val="tx1"/>
                </a:solidFill>
                <a:latin typeface="Calibri" pitchFamily="34" charset="0"/>
                <a:ea typeface="Calibri" pitchFamily="34" charset="-122"/>
                <a:cs typeface="Calibri" pitchFamily="34" charset="-120"/>
              </a:rPr>
              <a:t>Before you share something online you should…</a:t>
            </a:r>
            <a:endParaRPr lang="en-US" sz="2600" dirty="0"/>
          </a:p>
        </p:txBody>
      </p:sp>
      <p:sp>
        <p:nvSpPr>
          <p:cNvPr id="5" name="Card 1104"/>
          <p:cNvSpPr/>
          <p:nvPr/>
        </p:nvSpPr>
        <p:spPr>
          <a:xfrm>
            <a:off x="457200" y="2194560"/>
            <a:ext cx="8229600" cy="713232"/>
          </a:xfrm>
          <a:prstGeom prst="roundRect">
            <a:avLst>
              <a:gd name="adj" fmla="val 15385"/>
            </a:avLst>
          </a:prstGeom>
          <a:solidFill>
            <a:srgbClr val="D9F5E6"/>
          </a:solidFill>
          <a:ln w="38100">
            <a:solidFill>
              <a:srgbClr val="2E9E5B"/>
            </a:solidFill>
            <a:prstDash val="solid"/>
          </a:ln>
          <a:effectLst>
            <a:outerShdw sx="100000" sy="100000" kx="0" ky="0" algn="bl" rotWithShape="0" blurRad="76200" dist="25400" dir="5400000">
              <a:srgbClr val="2B2250">
                <a:alpha val="15000"/>
              </a:srgbClr>
            </a:outerShdw>
          </a:effectLst>
        </p:spPr>
      </p:sp>
      <p:sp>
        <p:nvSpPr>
          <p:cNvPr id="6" name="Dot 1105"/>
          <p:cNvSpPr/>
          <p:nvPr/>
        </p:nvSpPr>
        <p:spPr>
          <a:xfrm>
            <a:off x="594360" y="2322576"/>
            <a:ext cx="457200" cy="457200"/>
          </a:xfrm>
          <a:prstGeom prst="ellipse">
            <a:avLst/>
          </a:prstGeom>
          <a:solidFill>
            <a:srgbClr val="2E9E5B"/>
          </a:solidFill>
          <a:ln w="12700">
            <a:solidFill>
              <a:srgbClr val="FFFFFF"/>
            </a:solidFill>
            <a:prstDash val="solid"/>
          </a:ln>
        </p:spPr>
      </p:sp>
      <p:sp>
        <p:nvSpPr>
          <p:cNvPr id="7" name="Text 1106"/>
          <p:cNvSpPr txBox="1"/>
          <p:nvPr/>
        </p:nvSpPr>
        <p:spPr>
          <a:xfrm>
            <a:off x="594360" y="2322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8" name="Text 1107"/>
          <p:cNvSpPr txBox="1"/>
          <p:nvPr/>
        </p:nvSpPr>
        <p:spPr>
          <a:xfrm>
            <a:off x="1188720" y="2194560"/>
            <a:ext cx="7406640" cy="713232"/>
          </a:xfrm>
          <a:prstGeom prst="rect">
            <a:avLst/>
          </a:prstGeom>
          <a:noFill/>
          <a:ln/>
        </p:spPr>
        <p:txBody>
          <a:bodyPr wrap="square" lIns="0" tIns="0" rIns="0" bIns="0" rtlCol="0" anchor="ctr"/>
          <a:lstStyle/>
          <a:p>
            <a:pPr indent="0" marL="0">
              <a:buNone/>
            </a:pPr>
            <a:r>
              <a:rPr lang="en-US" sz="2200" b="1" dirty="0">
                <a:solidFill>
                  <a:srgbClr val="2B2250"/>
                </a:solidFill>
                <a:latin typeface="Calibri" pitchFamily="34" charset="0"/>
                <a:ea typeface="Calibri" pitchFamily="34" charset="-122"/>
                <a:cs typeface="Calibri" pitchFamily="34" charset="-120"/>
              </a:rPr>
              <a:t>Think: is it true and kind?</a:t>
            </a:r>
            <a:endParaRPr lang="en-US" sz="2200" dirty="0"/>
          </a:p>
        </p:txBody>
      </p:sp>
      <p:sp>
        <p:nvSpPr>
          <p:cNvPr id="9" name="Card 1108"/>
          <p:cNvSpPr/>
          <p:nvPr/>
        </p:nvSpPr>
        <p:spPr>
          <a:xfrm>
            <a:off x="457200" y="3017520"/>
            <a:ext cx="8229600" cy="713232"/>
          </a:xfrm>
          <a:prstGeom prst="roundRect">
            <a:avLst>
              <a:gd name="adj" fmla="val 15385"/>
            </a:avLst>
          </a:prstGeom>
          <a:solidFill>
            <a:srgbClr val="FFFFFF"/>
          </a:solidFill>
          <a:ln w="19050">
            <a:solidFill>
              <a:srgbClr val="DDDAEA"/>
            </a:solidFill>
            <a:prstDash val="solid"/>
          </a:ln>
          <a:effectLst>
            <a:outerShdw sx="100000" sy="100000" kx="0" ky="0" algn="bl" rotWithShape="0" blurRad="76200" dist="25400" dir="5400000">
              <a:srgbClr val="2B2250">
                <a:alpha val="15000"/>
              </a:srgbClr>
            </a:outerShdw>
          </a:effectLst>
        </p:spPr>
      </p:sp>
      <p:sp>
        <p:nvSpPr>
          <p:cNvPr id="10" name="Dot 1109"/>
          <p:cNvSpPr/>
          <p:nvPr/>
        </p:nvSpPr>
        <p:spPr>
          <a:xfrm>
            <a:off x="594360" y="3145536"/>
            <a:ext cx="457200" cy="457200"/>
          </a:xfrm>
          <a:prstGeom prst="ellipse">
            <a:avLst/>
          </a:prstGeom>
          <a:solidFill>
            <a:srgbClr val="CFCBE0"/>
          </a:solidFill>
          <a:ln w="12700">
            <a:solidFill>
              <a:srgbClr val="FFFFFF"/>
            </a:solidFill>
            <a:prstDash val="solid"/>
          </a:ln>
        </p:spPr>
      </p:sp>
      <p:sp>
        <p:nvSpPr>
          <p:cNvPr id="11" name="Text 1110"/>
          <p:cNvSpPr txBox="1"/>
          <p:nvPr/>
        </p:nvSpPr>
        <p:spPr>
          <a:xfrm>
            <a:off x="594360" y="314553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111"/>
          <p:cNvSpPr txBox="1"/>
          <p:nvPr/>
        </p:nvSpPr>
        <p:spPr>
          <a:xfrm>
            <a:off x="1188720" y="3017520"/>
            <a:ext cx="7406640" cy="713232"/>
          </a:xfrm>
          <a:prstGeom prst="rect">
            <a:avLst/>
          </a:prstGeom>
          <a:noFill/>
          <a:ln/>
        </p:spPr>
        <p:txBody>
          <a:bodyPr wrap="square" lIns="0" tIns="0" rIns="0" bIns="0" rtlCol="0" anchor="ctr"/>
          <a:lstStyle/>
          <a:p>
            <a:pPr indent="0" marL="0">
              <a:buNone/>
            </a:pPr>
            <a:r>
              <a:rPr lang="en-US" sz="2200" dirty="0">
                <a:solidFill>
                  <a:srgbClr val="8A86A3"/>
                </a:solidFill>
                <a:latin typeface="Calibri" pitchFamily="34" charset="0"/>
                <a:ea typeface="Calibri" pitchFamily="34" charset="-122"/>
                <a:cs typeface="Calibri" pitchFamily="34" charset="-120"/>
              </a:rPr>
              <a:t>Share it quickly before anyone else</a:t>
            </a:r>
            <a:endParaRPr lang="en-US" sz="2200" dirty="0"/>
          </a:p>
        </p:txBody>
      </p:sp>
      <p:sp>
        <p:nvSpPr>
          <p:cNvPr id="13" name="Card 1112"/>
          <p:cNvSpPr/>
          <p:nvPr/>
        </p:nvSpPr>
        <p:spPr>
          <a:xfrm>
            <a:off x="457200" y="3840480"/>
            <a:ext cx="8229600" cy="713232"/>
          </a:xfrm>
          <a:prstGeom prst="roundRect">
            <a:avLst>
              <a:gd name="adj" fmla="val 15385"/>
            </a:avLst>
          </a:prstGeom>
          <a:solidFill>
            <a:srgbClr val="FFFFFF"/>
          </a:solidFill>
          <a:ln w="19050">
            <a:solidFill>
              <a:srgbClr val="DDDAEA"/>
            </a:solidFill>
            <a:prstDash val="solid"/>
          </a:ln>
          <a:effectLst>
            <a:outerShdw sx="100000" sy="100000" kx="0" ky="0" algn="bl" rotWithShape="0" blurRad="76200" dist="25400" dir="5400000">
              <a:srgbClr val="2B2250">
                <a:alpha val="15000"/>
              </a:srgbClr>
            </a:outerShdw>
          </a:effectLst>
        </p:spPr>
      </p:sp>
      <p:sp>
        <p:nvSpPr>
          <p:cNvPr id="14" name="Dot 1113"/>
          <p:cNvSpPr/>
          <p:nvPr/>
        </p:nvSpPr>
        <p:spPr>
          <a:xfrm>
            <a:off x="594360" y="3968496"/>
            <a:ext cx="457200" cy="457200"/>
          </a:xfrm>
          <a:prstGeom prst="ellipse">
            <a:avLst/>
          </a:prstGeom>
          <a:solidFill>
            <a:srgbClr val="CFCBE0"/>
          </a:solidFill>
          <a:ln w="12700">
            <a:solidFill>
              <a:srgbClr val="FFFFFF"/>
            </a:solidFill>
            <a:prstDash val="solid"/>
          </a:ln>
        </p:spPr>
      </p:sp>
      <p:sp>
        <p:nvSpPr>
          <p:cNvPr id="15" name="Text 1114"/>
          <p:cNvSpPr txBox="1"/>
          <p:nvPr/>
        </p:nvSpPr>
        <p:spPr>
          <a:xfrm>
            <a:off x="594360" y="39684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6" name="Text 1115"/>
          <p:cNvSpPr txBox="1"/>
          <p:nvPr/>
        </p:nvSpPr>
        <p:spPr>
          <a:xfrm>
            <a:off x="1188720" y="3840480"/>
            <a:ext cx="7406640" cy="713232"/>
          </a:xfrm>
          <a:prstGeom prst="rect">
            <a:avLst/>
          </a:prstGeom>
          <a:noFill/>
          <a:ln/>
        </p:spPr>
        <p:txBody>
          <a:bodyPr wrap="square" lIns="0" tIns="0" rIns="0" bIns="0" rtlCol="0" anchor="ctr"/>
          <a:lstStyle/>
          <a:p>
            <a:pPr indent="0" marL="0">
              <a:buNone/>
            </a:pPr>
            <a:r>
              <a:rPr lang="en-US" sz="2200" dirty="0">
                <a:solidFill>
                  <a:srgbClr val="8A86A3"/>
                </a:solidFill>
                <a:latin typeface="Calibri" pitchFamily="34" charset="0"/>
                <a:ea typeface="Calibri" pitchFamily="34" charset="-122"/>
                <a:cs typeface="Calibri" pitchFamily="34" charset="-120"/>
              </a:rPr>
              <a:t>Share it with everyone you know</a:t>
            </a:r>
            <a:endParaRPr lang="en-US" sz="2200" dirty="0"/>
          </a:p>
        </p:txBody>
      </p:sp>
      <p:sp>
        <p:nvSpPr>
          <p:cNvPr id="17" name="Text 1116"/>
          <p:cNvSpPr txBox="1"/>
          <p:nvPr/>
        </p:nvSpPr>
        <p:spPr>
          <a:xfrm>
            <a:off x="457200" y="4572000"/>
            <a:ext cx="8229600" cy="457200"/>
          </a:xfrm>
          <a:prstGeom prst="rect">
            <a:avLst/>
          </a:prstGeom>
          <a:noFill/>
          <a:ln/>
        </p:spPr>
        <p:txBody>
          <a:bodyPr wrap="square" lIns="0" tIns="0" rIns="0" bIns="0" rtlCol="0" anchor="t"/>
          <a:lstStyle/>
          <a:p>
            <a:pPr algn="ctr" indent="0" marL="0">
              <a:buNone/>
            </a:pPr>
            <a:r>
              <a:rPr lang="en-US" sz="2000" b="1" dirty="0">
                <a:solidFill>
                  <a:srgbClr val="2E9E5B"/>
                </a:solidFill>
                <a:latin typeface="Calibri" pitchFamily="34" charset="0"/>
                <a:ea typeface="Calibri" pitchFamily="34" charset="-122"/>
                <a:cs typeface="Calibri" pitchFamily="34" charset="-120"/>
              </a:rPr>
              <a:t>Think before you share!</a:t>
            </a:r>
            <a:endParaRPr lang="en-US" sz="20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Accent 1117"/>
          <p:cNvSpPr/>
          <p:nvPr/>
        </p:nvSpPr>
        <p:spPr>
          <a:xfrm>
            <a:off x="0" y="274320"/>
            <a:ext cx="164592" cy="685800"/>
          </a:xfrm>
          <a:prstGeom prst="rect">
            <a:avLst/>
          </a:prstGeom>
          <a:solidFill>
            <a:srgbClr val="2E9E5B"/>
          </a:solidFill>
          <a:ln w="12700">
            <a:solidFill>
              <a:srgbClr val="2E9E5B"/>
            </a:solidFill>
            <a:prstDash val="solid"/>
          </a:ln>
        </p:spPr>
      </p:sp>
      <p:sp>
        <p:nvSpPr>
          <p:cNvPr id="3" name="Text 1118"/>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My sharing checklist</a:t>
            </a:r>
            <a:endParaRPr lang="en-US" sz="3000" dirty="0"/>
          </a:p>
        </p:txBody>
      </p:sp>
      <p:sp>
        <p:nvSpPr>
          <p:cNvPr id="4" name="Card 1119"/>
          <p:cNvSpPr/>
          <p:nvPr/>
        </p:nvSpPr>
        <p:spPr>
          <a:xfrm>
            <a:off x="457200" y="1188720"/>
            <a:ext cx="2651760" cy="1828800"/>
          </a:xfrm>
          <a:prstGeom prst="roundRect">
            <a:avLst>
              <a:gd name="adj" fmla="val 6000"/>
            </a:avLst>
          </a:prstGeom>
          <a:solidFill>
            <a:srgbClr val="FFFFFF"/>
          </a:solidFill>
          <a:ln/>
          <a:effectLst>
            <a:outerShdw sx="100000" sy="100000" kx="0" ky="0" algn="bl" rotWithShape="0" blurRad="76200" dist="25400" dir="5400000">
              <a:srgbClr val="2B2250">
                <a:alpha val="15000"/>
              </a:srgbClr>
            </a:outerShdw>
          </a:effectLst>
        </p:spPr>
      </p:sp>
      <p:sp>
        <p:nvSpPr>
          <p:cNvPr id="5" name="Dot 1120"/>
          <p:cNvSpPr/>
          <p:nvPr/>
        </p:nvSpPr>
        <p:spPr>
          <a:xfrm>
            <a:off x="640080" y="1371600"/>
            <a:ext cx="640080" cy="640080"/>
          </a:xfrm>
          <a:prstGeom prst="ellipse">
            <a:avLst/>
          </a:prstGeom>
          <a:solidFill>
            <a:srgbClr val="FF9A3D"/>
          </a:solidFill>
          <a:ln w="12700">
            <a:solidFill>
              <a:srgbClr val="FFFFFF"/>
            </a:solidFill>
            <a:prstDash val="solid"/>
          </a:ln>
        </p:spPr>
      </p:sp>
      <p:pic>
        <p:nvPicPr>
          <p:cNvPr id="6" name="Icon 1121" descr="FaQuestionCircle">    </p:cNvPr>
          <p:cNvPicPr>
            <a:picLocks noChangeAspect="1"/>
          </p:cNvPicPr>
          <p:nvPr/>
        </p:nvPicPr>
        <p:blipFill>
          <a:blip r:embed="rId1"/>
          <a:stretch>
            <a:fillRect/>
          </a:stretch>
        </p:blipFill>
        <p:spPr>
          <a:xfrm>
            <a:off x="795528" y="1527048"/>
            <a:ext cx="329184" cy="329184"/>
          </a:xfrm>
          <a:prstGeom prst="rect">
            <a:avLst/>
          </a:prstGeom>
        </p:spPr>
      </p:pic>
      <p:sp>
        <p:nvSpPr>
          <p:cNvPr id="7" name="Text 1122"/>
          <p:cNvSpPr txBox="1"/>
          <p:nvPr/>
        </p:nvSpPr>
        <p:spPr>
          <a:xfrm>
            <a:off x="1417320" y="1325880"/>
            <a:ext cx="1554480" cy="457200"/>
          </a:xfrm>
          <a:prstGeom prst="rect">
            <a:avLst/>
          </a:prstGeom>
          <a:noFill/>
          <a:ln/>
        </p:spPr>
        <p:txBody>
          <a:bodyPr wrap="square" lIns="0" tIns="0" rIns="0" bIns="0" rtlCol="0" anchor="t"/>
          <a:lstStyle/>
          <a:p>
            <a:pPr indent="0" marL="0">
              <a:buNone/>
            </a:pPr>
            <a:r>
              <a:rPr lang="en-US" sz="2000" b="1" dirty="0">
                <a:solidFill>
                  <a:srgbClr val="FF9A3D"/>
                </a:solidFill>
                <a:latin typeface="Calibri" pitchFamily="34" charset="0"/>
                <a:ea typeface="Calibri" pitchFamily="34" charset="-122"/>
                <a:cs typeface="Calibri" pitchFamily="34" charset="-120"/>
              </a:rPr>
              <a:t>Is it true?</a:t>
            </a:r>
            <a:endParaRPr lang="en-US" sz="2000" dirty="0"/>
          </a:p>
        </p:txBody>
      </p:sp>
      <p:sp>
        <p:nvSpPr>
          <p:cNvPr id="8" name="Text 1123"/>
          <p:cNvSpPr txBox="1"/>
          <p:nvPr/>
        </p:nvSpPr>
        <p:spPr>
          <a:xfrm>
            <a:off x="640080" y="2103120"/>
            <a:ext cx="2286000" cy="868680"/>
          </a:xfrm>
          <a:prstGeom prst="rect">
            <a:avLst/>
          </a:prstGeom>
          <a:noFill/>
          <a:ln/>
        </p:spPr>
        <p:txBody>
          <a:bodyPr wrap="square" lIns="0" tIns="0" rIns="0" bIns="0" rtlCol="0" anchor="t"/>
          <a:lstStyle/>
          <a:p>
            <a:pPr indent="0" marL="0">
              <a:buNone/>
            </a:pPr>
            <a:r>
              <a:rPr lang="en-US" sz="1700" dirty="0">
                <a:solidFill>
                  <a:schemeClr val="tx1"/>
                </a:solidFill>
                <a:latin typeface="Calibri" pitchFamily="34" charset="0"/>
                <a:ea typeface="Calibri" pitchFamily="34" charset="-122"/>
                <a:cs typeface="Calibri" pitchFamily="34" charset="-120"/>
              </a:rPr>
              <a:t>Can I check it somewhere else?</a:t>
            </a:r>
            <a:endParaRPr lang="en-US" sz="1700" dirty="0"/>
          </a:p>
        </p:txBody>
      </p:sp>
      <p:sp>
        <p:nvSpPr>
          <p:cNvPr id="9" name="Card 1124"/>
          <p:cNvSpPr/>
          <p:nvPr/>
        </p:nvSpPr>
        <p:spPr>
          <a:xfrm>
            <a:off x="3246120" y="1188720"/>
            <a:ext cx="2651760" cy="1828800"/>
          </a:xfrm>
          <a:prstGeom prst="roundRect">
            <a:avLst>
              <a:gd name="adj" fmla="val 6000"/>
            </a:avLst>
          </a:prstGeom>
          <a:solidFill>
            <a:srgbClr val="FFFFFF"/>
          </a:solidFill>
          <a:ln/>
          <a:effectLst>
            <a:outerShdw sx="100000" sy="100000" kx="0" ky="0" algn="bl" rotWithShape="0" blurRad="76200" dist="25400" dir="5400000">
              <a:srgbClr val="2B2250">
                <a:alpha val="15000"/>
              </a:srgbClr>
            </a:outerShdw>
          </a:effectLst>
        </p:spPr>
      </p:sp>
      <p:sp>
        <p:nvSpPr>
          <p:cNvPr id="10" name="Dot 1125"/>
          <p:cNvSpPr/>
          <p:nvPr/>
        </p:nvSpPr>
        <p:spPr>
          <a:xfrm>
            <a:off x="3429000" y="1371600"/>
            <a:ext cx="640080" cy="640080"/>
          </a:xfrm>
          <a:prstGeom prst="ellipse">
            <a:avLst/>
          </a:prstGeom>
          <a:solidFill>
            <a:srgbClr val="FF5C8A"/>
          </a:solidFill>
          <a:ln w="12700">
            <a:solidFill>
              <a:srgbClr val="FFFFFF"/>
            </a:solidFill>
            <a:prstDash val="solid"/>
          </a:ln>
        </p:spPr>
      </p:sp>
      <p:pic>
        <p:nvPicPr>
          <p:cNvPr id="11" name="Icon 1126" descr="FaUserCheck">    </p:cNvPr>
          <p:cNvPicPr>
            <a:picLocks noChangeAspect="1"/>
          </p:cNvPicPr>
          <p:nvPr/>
        </p:nvPicPr>
        <p:blipFill>
          <a:blip r:embed="rId2"/>
          <a:stretch>
            <a:fillRect/>
          </a:stretch>
        </p:blipFill>
        <p:spPr>
          <a:xfrm>
            <a:off x="3584448" y="1527048"/>
            <a:ext cx="329184" cy="329184"/>
          </a:xfrm>
          <a:prstGeom prst="rect">
            <a:avLst/>
          </a:prstGeom>
        </p:spPr>
      </p:pic>
      <p:sp>
        <p:nvSpPr>
          <p:cNvPr id="12" name="Text 1127"/>
          <p:cNvSpPr txBox="1"/>
          <p:nvPr/>
        </p:nvSpPr>
        <p:spPr>
          <a:xfrm>
            <a:off x="4206240" y="1325880"/>
            <a:ext cx="1554480" cy="457200"/>
          </a:xfrm>
          <a:prstGeom prst="rect">
            <a:avLst/>
          </a:prstGeom>
          <a:noFill/>
          <a:ln/>
        </p:spPr>
        <p:txBody>
          <a:bodyPr wrap="square" lIns="0" tIns="0" rIns="0" bIns="0" rtlCol="0" anchor="t"/>
          <a:lstStyle/>
          <a:p>
            <a:pPr indent="0" marL="0">
              <a:buNone/>
            </a:pPr>
            <a:r>
              <a:rPr lang="en-US" sz="2000" b="1" dirty="0">
                <a:solidFill>
                  <a:srgbClr val="FF5C8A"/>
                </a:solidFill>
                <a:latin typeface="Calibri" pitchFamily="34" charset="0"/>
                <a:ea typeface="Calibri" pitchFamily="34" charset="-122"/>
                <a:cs typeface="Calibri" pitchFamily="34" charset="-120"/>
              </a:rPr>
              <a:t>Who made it?</a:t>
            </a:r>
            <a:endParaRPr lang="en-US" sz="2000" dirty="0"/>
          </a:p>
        </p:txBody>
      </p:sp>
      <p:sp>
        <p:nvSpPr>
          <p:cNvPr id="13" name="Text 1128"/>
          <p:cNvSpPr txBox="1"/>
          <p:nvPr/>
        </p:nvSpPr>
        <p:spPr>
          <a:xfrm>
            <a:off x="3429000" y="2103120"/>
            <a:ext cx="2286000" cy="868680"/>
          </a:xfrm>
          <a:prstGeom prst="rect">
            <a:avLst/>
          </a:prstGeom>
          <a:noFill/>
          <a:ln/>
        </p:spPr>
        <p:txBody>
          <a:bodyPr wrap="square" lIns="0" tIns="0" rIns="0" bIns="0" rtlCol="0" anchor="t"/>
          <a:lstStyle/>
          <a:p>
            <a:pPr indent="0" marL="0">
              <a:buNone/>
            </a:pPr>
            <a:r>
              <a:rPr lang="en-US" sz="1700" dirty="0">
                <a:solidFill>
                  <a:schemeClr val="tx1"/>
                </a:solidFill>
                <a:latin typeface="Calibri" pitchFamily="34" charset="0"/>
                <a:ea typeface="Calibri" pitchFamily="34" charset="-122"/>
                <a:cs typeface="Calibri" pitchFamily="34" charset="-120"/>
              </a:rPr>
              <a:t>Do I trust them?</a:t>
            </a:r>
            <a:endParaRPr lang="en-US" sz="1700" dirty="0"/>
          </a:p>
        </p:txBody>
      </p:sp>
      <p:sp>
        <p:nvSpPr>
          <p:cNvPr id="14" name="Card 1129"/>
          <p:cNvSpPr/>
          <p:nvPr/>
        </p:nvSpPr>
        <p:spPr>
          <a:xfrm>
            <a:off x="6035040" y="1188720"/>
            <a:ext cx="2651760" cy="1828800"/>
          </a:xfrm>
          <a:prstGeom prst="roundRect">
            <a:avLst>
              <a:gd name="adj" fmla="val 6000"/>
            </a:avLst>
          </a:prstGeom>
          <a:solidFill>
            <a:srgbClr val="FFFFFF"/>
          </a:solidFill>
          <a:ln/>
          <a:effectLst>
            <a:outerShdw sx="100000" sy="100000" kx="0" ky="0" algn="bl" rotWithShape="0" blurRad="76200" dist="25400" dir="5400000">
              <a:srgbClr val="2B2250">
                <a:alpha val="15000"/>
              </a:srgbClr>
            </a:outerShdw>
          </a:effectLst>
        </p:spPr>
      </p:sp>
      <p:sp>
        <p:nvSpPr>
          <p:cNvPr id="15" name="Dot 1130"/>
          <p:cNvSpPr/>
          <p:nvPr/>
        </p:nvSpPr>
        <p:spPr>
          <a:xfrm>
            <a:off x="6217920" y="1371600"/>
            <a:ext cx="640080" cy="640080"/>
          </a:xfrm>
          <a:prstGeom prst="ellipse">
            <a:avLst/>
          </a:prstGeom>
          <a:solidFill>
            <a:srgbClr val="4DA3E0"/>
          </a:solidFill>
          <a:ln w="12700">
            <a:solidFill>
              <a:srgbClr val="FFFFFF"/>
            </a:solidFill>
            <a:prstDash val="solid"/>
          </a:ln>
        </p:spPr>
      </p:sp>
      <p:pic>
        <p:nvPicPr>
          <p:cNvPr id="16" name="Icon 1131" descr="FaHeart">    </p:cNvPr>
          <p:cNvPicPr>
            <a:picLocks noChangeAspect="1"/>
          </p:cNvPicPr>
          <p:nvPr/>
        </p:nvPicPr>
        <p:blipFill>
          <a:blip r:embed="rId3"/>
          <a:stretch>
            <a:fillRect/>
          </a:stretch>
        </p:blipFill>
        <p:spPr>
          <a:xfrm>
            <a:off x="6373368" y="1527048"/>
            <a:ext cx="329184" cy="329184"/>
          </a:xfrm>
          <a:prstGeom prst="rect">
            <a:avLst/>
          </a:prstGeom>
        </p:spPr>
      </p:pic>
      <p:sp>
        <p:nvSpPr>
          <p:cNvPr id="17" name="Text 1132"/>
          <p:cNvSpPr txBox="1"/>
          <p:nvPr/>
        </p:nvSpPr>
        <p:spPr>
          <a:xfrm>
            <a:off x="6995160" y="1325880"/>
            <a:ext cx="1554480" cy="457200"/>
          </a:xfrm>
          <a:prstGeom prst="rect">
            <a:avLst/>
          </a:prstGeom>
          <a:noFill/>
          <a:ln/>
        </p:spPr>
        <p:txBody>
          <a:bodyPr wrap="square" lIns="0" tIns="0" rIns="0" bIns="0" rtlCol="0" anchor="t"/>
          <a:lstStyle/>
          <a:p>
            <a:pPr indent="0" marL="0">
              <a:buNone/>
            </a:pPr>
            <a:r>
              <a:rPr lang="en-US" sz="2000" b="1" dirty="0">
                <a:solidFill>
                  <a:srgbClr val="4DA3E0"/>
                </a:solidFill>
                <a:latin typeface="Calibri" pitchFamily="34" charset="0"/>
                <a:ea typeface="Calibri" pitchFamily="34" charset="-122"/>
                <a:cs typeface="Calibri" pitchFamily="34" charset="-120"/>
              </a:rPr>
              <a:t>Is it kind?</a:t>
            </a:r>
            <a:endParaRPr lang="en-US" sz="2000" dirty="0"/>
          </a:p>
        </p:txBody>
      </p:sp>
      <p:sp>
        <p:nvSpPr>
          <p:cNvPr id="18" name="Text 1133"/>
          <p:cNvSpPr txBox="1"/>
          <p:nvPr/>
        </p:nvSpPr>
        <p:spPr>
          <a:xfrm>
            <a:off x="6217920" y="2103120"/>
            <a:ext cx="2286000" cy="868680"/>
          </a:xfrm>
          <a:prstGeom prst="rect">
            <a:avLst/>
          </a:prstGeom>
          <a:noFill/>
          <a:ln/>
        </p:spPr>
        <p:txBody>
          <a:bodyPr wrap="square" lIns="0" tIns="0" rIns="0" bIns="0" rtlCol="0" anchor="t"/>
          <a:lstStyle/>
          <a:p>
            <a:pPr indent="0" marL="0">
              <a:buNone/>
            </a:pPr>
            <a:r>
              <a:rPr lang="en-US" sz="1700" dirty="0">
                <a:solidFill>
                  <a:schemeClr val="tx1"/>
                </a:solidFill>
                <a:latin typeface="Calibri" pitchFamily="34" charset="0"/>
                <a:ea typeface="Calibri" pitchFamily="34" charset="-122"/>
                <a:cs typeface="Calibri" pitchFamily="34" charset="-120"/>
              </a:rPr>
              <a:t>Could it hurt someone?</a:t>
            </a:r>
            <a:endParaRPr lang="en-US" sz="17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Accent 1134"/>
          <p:cNvSpPr/>
          <p:nvPr/>
        </p:nvSpPr>
        <p:spPr>
          <a:xfrm>
            <a:off x="0" y="0"/>
            <a:ext cx="457200" cy="5143500"/>
          </a:xfrm>
          <a:prstGeom prst="rect">
            <a:avLst/>
          </a:prstGeom>
          <a:solidFill>
            <a:srgbClr val="FFD23F"/>
          </a:solidFill>
          <a:ln w="12700">
            <a:solidFill>
              <a:srgbClr val="FFD23F"/>
            </a:solidFill>
            <a:prstDash val="solid"/>
          </a:ln>
        </p:spPr>
      </p:sp>
      <p:sp>
        <p:nvSpPr>
          <p:cNvPr id="3" name="Text 1135"/>
          <p:cNvSpPr txBox="1"/>
          <p:nvPr/>
        </p:nvSpPr>
        <p:spPr>
          <a:xfrm>
            <a:off x="914400" y="822960"/>
            <a:ext cx="5486400" cy="457200"/>
          </a:xfrm>
          <a:prstGeom prst="rect">
            <a:avLst/>
          </a:prstGeom>
          <a:noFill/>
          <a:ln/>
        </p:spPr>
        <p:txBody>
          <a:bodyPr wrap="square" lIns="0" tIns="0" rIns="0" bIns="0" rtlCol="0" anchor="t"/>
          <a:lstStyle/>
          <a:p>
            <a:pPr indent="0" marL="0">
              <a:buNone/>
            </a:pPr>
            <a:r>
              <a:rPr lang="en-US" sz="2000" b="1" spc="400" kern="0" dirty="0">
                <a:solidFill>
                  <a:srgbClr val="FFD23F"/>
                </a:solidFill>
                <a:latin typeface="Calibri" pitchFamily="34" charset="0"/>
                <a:ea typeface="Calibri" pitchFamily="34" charset="-122"/>
                <a:cs typeface="Calibri" pitchFamily="34" charset="-120"/>
              </a:rPr>
              <a:t>FINAL CHALLENGE</a:t>
            </a:r>
            <a:endParaRPr lang="en-US" sz="2000" dirty="0"/>
          </a:p>
        </p:txBody>
      </p:sp>
      <p:sp>
        <p:nvSpPr>
          <p:cNvPr id="4" name="Text 1136"/>
          <p:cNvSpPr txBox="1"/>
          <p:nvPr/>
        </p:nvSpPr>
        <p:spPr>
          <a:xfrm>
            <a:off x="914400" y="1371600"/>
            <a:ext cx="5760720" cy="1737360"/>
          </a:xfrm>
          <a:prstGeom prst="rect">
            <a:avLst/>
          </a:prstGeom>
          <a:noFill/>
          <a:ln/>
        </p:spPr>
        <p:txBody>
          <a:bodyPr wrap="square" lIns="0" tIns="0" rIns="0" bIns="0" rtlCol="0" anchor="t"/>
          <a:lstStyle/>
          <a:p>
            <a:pPr indent="0" marL="0">
              <a:buNone/>
            </a:pPr>
            <a:r>
              <a:rPr lang="en-US" sz="3800" b="1" dirty="0">
                <a:solidFill>
                  <a:srgbClr val="FFFFFF"/>
                </a:solidFill>
                <a:latin typeface="Calibri" pitchFamily="34" charset="0"/>
                <a:ea typeface="Calibri" pitchFamily="34" charset="-122"/>
                <a:cs typeface="Calibri" pitchFamily="34" charset="-120"/>
              </a:rPr>
              <a:t>Unit review</a:t>
            </a:r>
            <a:endParaRPr lang="en-US" sz="3800" dirty="0"/>
          </a:p>
        </p:txBody>
      </p:sp>
      <p:sp>
        <p:nvSpPr>
          <p:cNvPr id="5" name="Text 1137"/>
          <p:cNvSpPr txBox="1"/>
          <p:nvPr/>
        </p:nvSpPr>
        <p:spPr>
          <a:xfrm>
            <a:off x="914400" y="3383280"/>
            <a:ext cx="5760720" cy="1005840"/>
          </a:xfrm>
          <a:prstGeom prst="rect">
            <a:avLst/>
          </a:prstGeom>
          <a:noFill/>
          <a:ln/>
        </p:spPr>
        <p:txBody>
          <a:bodyPr wrap="square" lIns="0" tIns="0" rIns="0" bIns="0" rtlCol="0" anchor="t"/>
          <a:lstStyle/>
          <a:p>
            <a:pPr indent="0" marL="0">
              <a:buNone/>
            </a:pPr>
            <a:r>
              <a:rPr lang="en-US" sz="2000" i="1" dirty="0">
                <a:solidFill>
                  <a:srgbClr val="D9D4F5"/>
                </a:solidFill>
                <a:latin typeface="Calibri" pitchFamily="34" charset="0"/>
                <a:ea typeface="Calibri" pitchFamily="34" charset="-122"/>
                <a:cs typeface="Calibri" pitchFamily="34" charset="-120"/>
              </a:rPr>
              <a:t>Show what you know!</a:t>
            </a:r>
            <a:endParaRPr lang="en-US" sz="2000" dirty="0"/>
          </a:p>
        </p:txBody>
      </p:sp>
      <p:sp>
        <p:nvSpPr>
          <p:cNvPr id="6" name="Blob 1138"/>
          <p:cNvSpPr/>
          <p:nvPr/>
        </p:nvSpPr>
        <p:spPr>
          <a:xfrm>
            <a:off x="6766560" y="1188720"/>
            <a:ext cx="2011680" cy="2011680"/>
          </a:xfrm>
          <a:prstGeom prst="ellipse">
            <a:avLst/>
          </a:prstGeom>
          <a:solidFill>
            <a:srgbClr val="FFD23F"/>
          </a:solidFill>
          <a:ln w="12700">
            <a:solidFill>
              <a:srgbClr val="FFD23F"/>
            </a:solidFill>
            <a:prstDash val="solid"/>
          </a:ln>
        </p:spPr>
      </p:sp>
      <p:pic>
        <p:nvPicPr>
          <p:cNvPr id="7" name="Icon 1139" descr="FaTrophy">    </p:cNvPr>
          <p:cNvPicPr>
            <a:picLocks noChangeAspect="1"/>
          </p:cNvPicPr>
          <p:nvPr/>
        </p:nvPicPr>
        <p:blipFill>
          <a:blip r:embed="rId1"/>
          <a:stretch>
            <a:fillRect/>
          </a:stretch>
        </p:blipFill>
        <p:spPr>
          <a:xfrm>
            <a:off x="7269480" y="1691640"/>
            <a:ext cx="1005840" cy="1005840"/>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Accent 1140"/>
          <p:cNvSpPr/>
          <p:nvPr/>
        </p:nvSpPr>
        <p:spPr>
          <a:xfrm>
            <a:off x="0" y="274320"/>
            <a:ext cx="164592" cy="685800"/>
          </a:xfrm>
          <a:prstGeom prst="rect">
            <a:avLst/>
          </a:prstGeom>
          <a:solidFill>
            <a:srgbClr val="4DA3E0"/>
          </a:solidFill>
          <a:ln w="12700">
            <a:solidFill>
              <a:srgbClr val="4DA3E0"/>
            </a:solidFill>
            <a:prstDash val="solid"/>
          </a:ln>
        </p:spPr>
      </p:sp>
      <p:sp>
        <p:nvSpPr>
          <p:cNvPr id="3" name="Text 1141"/>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Quick quiz</a:t>
            </a:r>
            <a:endParaRPr lang="en-US" sz="3000" dirty="0"/>
          </a:p>
        </p:txBody>
      </p:sp>
      <p:sp>
        <p:nvSpPr>
          <p:cNvPr id="4" name="Text 1142"/>
          <p:cNvSpPr txBox="1"/>
          <p:nvPr/>
        </p:nvSpPr>
        <p:spPr>
          <a:xfrm>
            <a:off x="457200" y="1051560"/>
            <a:ext cx="8229600" cy="914400"/>
          </a:xfrm>
          <a:prstGeom prst="rect">
            <a:avLst/>
          </a:prstGeom>
          <a:noFill/>
          <a:ln/>
        </p:spPr>
        <p:txBody>
          <a:bodyPr wrap="square" lIns="0" tIns="0" rIns="0" bIns="0" rtlCol="0" anchor="ctr"/>
          <a:lstStyle/>
          <a:p>
            <a:pPr indent="0" marL="0">
              <a:buNone/>
            </a:pPr>
            <a:r>
              <a:rPr lang="en-US" sz="2600" b="1" dirty="0">
                <a:solidFill>
                  <a:schemeClr val="tx1"/>
                </a:solidFill>
                <a:latin typeface="Calibri" pitchFamily="34" charset="0"/>
                <a:ea typeface="Calibri" pitchFamily="34" charset="-122"/>
                <a:cs typeface="Calibri" pitchFamily="34" charset="-120"/>
              </a:rPr>
              <a:t>The internet is…</a:t>
            </a:r>
            <a:endParaRPr lang="en-US" sz="2600" dirty="0"/>
          </a:p>
        </p:txBody>
      </p:sp>
      <p:sp>
        <p:nvSpPr>
          <p:cNvPr id="5" name="Card 1143"/>
          <p:cNvSpPr/>
          <p:nvPr/>
        </p:nvSpPr>
        <p:spPr>
          <a:xfrm>
            <a:off x="457200" y="219456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6" name="Dot 1144"/>
          <p:cNvSpPr/>
          <p:nvPr/>
        </p:nvSpPr>
        <p:spPr>
          <a:xfrm>
            <a:off x="594360" y="2322576"/>
            <a:ext cx="457200" cy="457200"/>
          </a:xfrm>
          <a:prstGeom prst="ellipse">
            <a:avLst/>
          </a:prstGeom>
          <a:solidFill>
            <a:srgbClr val="4DA3E0"/>
          </a:solidFill>
          <a:ln w="12700">
            <a:solidFill>
              <a:srgbClr val="FFFFFF"/>
            </a:solidFill>
            <a:prstDash val="solid"/>
          </a:ln>
        </p:spPr>
      </p:sp>
      <p:sp>
        <p:nvSpPr>
          <p:cNvPr id="7" name="Text 1145"/>
          <p:cNvSpPr txBox="1"/>
          <p:nvPr/>
        </p:nvSpPr>
        <p:spPr>
          <a:xfrm>
            <a:off x="594360" y="2322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8" name="Text 1146"/>
          <p:cNvSpPr txBox="1"/>
          <p:nvPr/>
        </p:nvSpPr>
        <p:spPr>
          <a:xfrm>
            <a:off x="1188720" y="219456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A network of networks</a:t>
            </a:r>
            <a:endParaRPr lang="en-US" sz="2200" dirty="0"/>
          </a:p>
        </p:txBody>
      </p:sp>
      <p:sp>
        <p:nvSpPr>
          <p:cNvPr id="9" name="Card 1147"/>
          <p:cNvSpPr/>
          <p:nvPr/>
        </p:nvSpPr>
        <p:spPr>
          <a:xfrm>
            <a:off x="457200" y="301752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10" name="Dot 1148"/>
          <p:cNvSpPr/>
          <p:nvPr/>
        </p:nvSpPr>
        <p:spPr>
          <a:xfrm>
            <a:off x="594360" y="3145536"/>
            <a:ext cx="457200" cy="457200"/>
          </a:xfrm>
          <a:prstGeom prst="ellipse">
            <a:avLst/>
          </a:prstGeom>
          <a:solidFill>
            <a:srgbClr val="4DA3E0"/>
          </a:solidFill>
          <a:ln w="12700">
            <a:solidFill>
              <a:srgbClr val="FFFFFF"/>
            </a:solidFill>
            <a:prstDash val="solid"/>
          </a:ln>
        </p:spPr>
      </p:sp>
      <p:sp>
        <p:nvSpPr>
          <p:cNvPr id="11" name="Text 1149"/>
          <p:cNvSpPr txBox="1"/>
          <p:nvPr/>
        </p:nvSpPr>
        <p:spPr>
          <a:xfrm>
            <a:off x="594360" y="314553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150"/>
          <p:cNvSpPr txBox="1"/>
          <p:nvPr/>
        </p:nvSpPr>
        <p:spPr>
          <a:xfrm>
            <a:off x="1188720" y="301752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One giant computer</a:t>
            </a:r>
            <a:endParaRPr lang="en-US" sz="2200" dirty="0"/>
          </a:p>
        </p:txBody>
      </p:sp>
      <p:sp>
        <p:nvSpPr>
          <p:cNvPr id="13" name="Card 1151"/>
          <p:cNvSpPr/>
          <p:nvPr/>
        </p:nvSpPr>
        <p:spPr>
          <a:xfrm>
            <a:off x="457200" y="384048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14" name="Dot 1152"/>
          <p:cNvSpPr/>
          <p:nvPr/>
        </p:nvSpPr>
        <p:spPr>
          <a:xfrm>
            <a:off x="594360" y="3968496"/>
            <a:ext cx="457200" cy="457200"/>
          </a:xfrm>
          <a:prstGeom prst="ellipse">
            <a:avLst/>
          </a:prstGeom>
          <a:solidFill>
            <a:srgbClr val="4DA3E0"/>
          </a:solidFill>
          <a:ln w="12700">
            <a:solidFill>
              <a:srgbClr val="FFFFFF"/>
            </a:solidFill>
            <a:prstDash val="solid"/>
          </a:ln>
        </p:spPr>
      </p:sp>
      <p:sp>
        <p:nvSpPr>
          <p:cNvPr id="15" name="Text 1153"/>
          <p:cNvSpPr txBox="1"/>
          <p:nvPr/>
        </p:nvSpPr>
        <p:spPr>
          <a:xfrm>
            <a:off x="594360" y="39684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6" name="Text 1154"/>
          <p:cNvSpPr txBox="1"/>
          <p:nvPr/>
        </p:nvSpPr>
        <p:spPr>
          <a:xfrm>
            <a:off x="1188720" y="384048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A kind of website</a:t>
            </a:r>
            <a:endParaRPr lang="en-US" sz="22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Accent 1155"/>
          <p:cNvSpPr/>
          <p:nvPr/>
        </p:nvSpPr>
        <p:spPr>
          <a:xfrm>
            <a:off x="0" y="274320"/>
            <a:ext cx="164592" cy="685800"/>
          </a:xfrm>
          <a:prstGeom prst="rect">
            <a:avLst/>
          </a:prstGeom>
          <a:solidFill>
            <a:srgbClr val="2E9E5B"/>
          </a:solidFill>
          <a:ln w="12700">
            <a:solidFill>
              <a:srgbClr val="2E9E5B"/>
            </a:solidFill>
            <a:prstDash val="solid"/>
          </a:ln>
        </p:spPr>
      </p:sp>
      <p:sp>
        <p:nvSpPr>
          <p:cNvPr id="3" name="Text 1156"/>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 The answer</a:t>
            </a:r>
            <a:endParaRPr lang="en-US" sz="3000" dirty="0"/>
          </a:p>
        </p:txBody>
      </p:sp>
      <p:sp>
        <p:nvSpPr>
          <p:cNvPr id="4" name="Text 1157"/>
          <p:cNvSpPr txBox="1"/>
          <p:nvPr/>
        </p:nvSpPr>
        <p:spPr>
          <a:xfrm>
            <a:off x="457200" y="1051560"/>
            <a:ext cx="8229600" cy="914400"/>
          </a:xfrm>
          <a:prstGeom prst="rect">
            <a:avLst/>
          </a:prstGeom>
          <a:noFill/>
          <a:ln/>
        </p:spPr>
        <p:txBody>
          <a:bodyPr wrap="square" lIns="0" tIns="0" rIns="0" bIns="0" rtlCol="0" anchor="ctr"/>
          <a:lstStyle/>
          <a:p>
            <a:pPr indent="0" marL="0">
              <a:buNone/>
            </a:pPr>
            <a:r>
              <a:rPr lang="en-US" sz="2600" b="1" dirty="0">
                <a:solidFill>
                  <a:schemeClr val="tx1"/>
                </a:solidFill>
                <a:latin typeface="Calibri" pitchFamily="34" charset="0"/>
                <a:ea typeface="Calibri" pitchFamily="34" charset="-122"/>
                <a:cs typeface="Calibri" pitchFamily="34" charset="-120"/>
              </a:rPr>
              <a:t>The internet is…</a:t>
            </a:r>
            <a:endParaRPr lang="en-US" sz="2600" dirty="0"/>
          </a:p>
        </p:txBody>
      </p:sp>
      <p:sp>
        <p:nvSpPr>
          <p:cNvPr id="5" name="Card 1158"/>
          <p:cNvSpPr/>
          <p:nvPr/>
        </p:nvSpPr>
        <p:spPr>
          <a:xfrm>
            <a:off x="457200" y="2194560"/>
            <a:ext cx="8229600" cy="713232"/>
          </a:xfrm>
          <a:prstGeom prst="roundRect">
            <a:avLst>
              <a:gd name="adj" fmla="val 15385"/>
            </a:avLst>
          </a:prstGeom>
          <a:solidFill>
            <a:srgbClr val="D9F5E6"/>
          </a:solidFill>
          <a:ln w="38100">
            <a:solidFill>
              <a:srgbClr val="2E9E5B"/>
            </a:solidFill>
            <a:prstDash val="solid"/>
          </a:ln>
          <a:effectLst>
            <a:outerShdw sx="100000" sy="100000" kx="0" ky="0" algn="bl" rotWithShape="0" blurRad="76200" dist="25400" dir="5400000">
              <a:srgbClr val="2B2250">
                <a:alpha val="15000"/>
              </a:srgbClr>
            </a:outerShdw>
          </a:effectLst>
        </p:spPr>
      </p:sp>
      <p:sp>
        <p:nvSpPr>
          <p:cNvPr id="6" name="Dot 1159"/>
          <p:cNvSpPr/>
          <p:nvPr/>
        </p:nvSpPr>
        <p:spPr>
          <a:xfrm>
            <a:off x="594360" y="2322576"/>
            <a:ext cx="457200" cy="457200"/>
          </a:xfrm>
          <a:prstGeom prst="ellipse">
            <a:avLst/>
          </a:prstGeom>
          <a:solidFill>
            <a:srgbClr val="2E9E5B"/>
          </a:solidFill>
          <a:ln w="12700">
            <a:solidFill>
              <a:srgbClr val="FFFFFF"/>
            </a:solidFill>
            <a:prstDash val="solid"/>
          </a:ln>
        </p:spPr>
      </p:sp>
      <p:sp>
        <p:nvSpPr>
          <p:cNvPr id="7" name="Text 1160"/>
          <p:cNvSpPr txBox="1"/>
          <p:nvPr/>
        </p:nvSpPr>
        <p:spPr>
          <a:xfrm>
            <a:off x="594360" y="2322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8" name="Text 1161"/>
          <p:cNvSpPr txBox="1"/>
          <p:nvPr/>
        </p:nvSpPr>
        <p:spPr>
          <a:xfrm>
            <a:off x="1188720" y="2194560"/>
            <a:ext cx="7406640" cy="713232"/>
          </a:xfrm>
          <a:prstGeom prst="rect">
            <a:avLst/>
          </a:prstGeom>
          <a:noFill/>
          <a:ln/>
        </p:spPr>
        <p:txBody>
          <a:bodyPr wrap="square" lIns="0" tIns="0" rIns="0" bIns="0" rtlCol="0" anchor="ctr"/>
          <a:lstStyle/>
          <a:p>
            <a:pPr indent="0" marL="0">
              <a:buNone/>
            </a:pPr>
            <a:r>
              <a:rPr lang="en-US" sz="2200" b="1" dirty="0">
                <a:solidFill>
                  <a:srgbClr val="2B2250"/>
                </a:solidFill>
                <a:latin typeface="Calibri" pitchFamily="34" charset="0"/>
                <a:ea typeface="Calibri" pitchFamily="34" charset="-122"/>
                <a:cs typeface="Calibri" pitchFamily="34" charset="-120"/>
              </a:rPr>
              <a:t>A network of networks</a:t>
            </a:r>
            <a:endParaRPr lang="en-US" sz="2200" dirty="0"/>
          </a:p>
        </p:txBody>
      </p:sp>
      <p:sp>
        <p:nvSpPr>
          <p:cNvPr id="9" name="Card 1162"/>
          <p:cNvSpPr/>
          <p:nvPr/>
        </p:nvSpPr>
        <p:spPr>
          <a:xfrm>
            <a:off x="457200" y="3017520"/>
            <a:ext cx="8229600" cy="713232"/>
          </a:xfrm>
          <a:prstGeom prst="roundRect">
            <a:avLst>
              <a:gd name="adj" fmla="val 15385"/>
            </a:avLst>
          </a:prstGeom>
          <a:solidFill>
            <a:srgbClr val="FFFFFF"/>
          </a:solidFill>
          <a:ln w="19050">
            <a:solidFill>
              <a:srgbClr val="DDDAEA"/>
            </a:solidFill>
            <a:prstDash val="solid"/>
          </a:ln>
          <a:effectLst>
            <a:outerShdw sx="100000" sy="100000" kx="0" ky="0" algn="bl" rotWithShape="0" blurRad="76200" dist="25400" dir="5400000">
              <a:srgbClr val="2B2250">
                <a:alpha val="15000"/>
              </a:srgbClr>
            </a:outerShdw>
          </a:effectLst>
        </p:spPr>
      </p:sp>
      <p:sp>
        <p:nvSpPr>
          <p:cNvPr id="10" name="Dot 1163"/>
          <p:cNvSpPr/>
          <p:nvPr/>
        </p:nvSpPr>
        <p:spPr>
          <a:xfrm>
            <a:off x="594360" y="3145536"/>
            <a:ext cx="457200" cy="457200"/>
          </a:xfrm>
          <a:prstGeom prst="ellipse">
            <a:avLst/>
          </a:prstGeom>
          <a:solidFill>
            <a:srgbClr val="CFCBE0"/>
          </a:solidFill>
          <a:ln w="12700">
            <a:solidFill>
              <a:srgbClr val="FFFFFF"/>
            </a:solidFill>
            <a:prstDash val="solid"/>
          </a:ln>
        </p:spPr>
      </p:sp>
      <p:sp>
        <p:nvSpPr>
          <p:cNvPr id="11" name="Text 1164"/>
          <p:cNvSpPr txBox="1"/>
          <p:nvPr/>
        </p:nvSpPr>
        <p:spPr>
          <a:xfrm>
            <a:off x="594360" y="314553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165"/>
          <p:cNvSpPr txBox="1"/>
          <p:nvPr/>
        </p:nvSpPr>
        <p:spPr>
          <a:xfrm>
            <a:off x="1188720" y="3017520"/>
            <a:ext cx="7406640" cy="713232"/>
          </a:xfrm>
          <a:prstGeom prst="rect">
            <a:avLst/>
          </a:prstGeom>
          <a:noFill/>
          <a:ln/>
        </p:spPr>
        <p:txBody>
          <a:bodyPr wrap="square" lIns="0" tIns="0" rIns="0" bIns="0" rtlCol="0" anchor="ctr"/>
          <a:lstStyle/>
          <a:p>
            <a:pPr indent="0" marL="0">
              <a:buNone/>
            </a:pPr>
            <a:r>
              <a:rPr lang="en-US" sz="2200" dirty="0">
                <a:solidFill>
                  <a:srgbClr val="8A86A3"/>
                </a:solidFill>
                <a:latin typeface="Calibri" pitchFamily="34" charset="0"/>
                <a:ea typeface="Calibri" pitchFamily="34" charset="-122"/>
                <a:cs typeface="Calibri" pitchFamily="34" charset="-120"/>
              </a:rPr>
              <a:t>One giant computer</a:t>
            </a:r>
            <a:endParaRPr lang="en-US" sz="2200" dirty="0"/>
          </a:p>
        </p:txBody>
      </p:sp>
      <p:sp>
        <p:nvSpPr>
          <p:cNvPr id="13" name="Card 1166"/>
          <p:cNvSpPr/>
          <p:nvPr/>
        </p:nvSpPr>
        <p:spPr>
          <a:xfrm>
            <a:off x="457200" y="3840480"/>
            <a:ext cx="8229600" cy="713232"/>
          </a:xfrm>
          <a:prstGeom prst="roundRect">
            <a:avLst>
              <a:gd name="adj" fmla="val 15385"/>
            </a:avLst>
          </a:prstGeom>
          <a:solidFill>
            <a:srgbClr val="FFFFFF"/>
          </a:solidFill>
          <a:ln w="19050">
            <a:solidFill>
              <a:srgbClr val="DDDAEA"/>
            </a:solidFill>
            <a:prstDash val="solid"/>
          </a:ln>
          <a:effectLst>
            <a:outerShdw sx="100000" sy="100000" kx="0" ky="0" algn="bl" rotWithShape="0" blurRad="76200" dist="25400" dir="5400000">
              <a:srgbClr val="2B2250">
                <a:alpha val="15000"/>
              </a:srgbClr>
            </a:outerShdw>
          </a:effectLst>
        </p:spPr>
      </p:sp>
      <p:sp>
        <p:nvSpPr>
          <p:cNvPr id="14" name="Dot 1167"/>
          <p:cNvSpPr/>
          <p:nvPr/>
        </p:nvSpPr>
        <p:spPr>
          <a:xfrm>
            <a:off x="594360" y="3968496"/>
            <a:ext cx="457200" cy="457200"/>
          </a:xfrm>
          <a:prstGeom prst="ellipse">
            <a:avLst/>
          </a:prstGeom>
          <a:solidFill>
            <a:srgbClr val="CFCBE0"/>
          </a:solidFill>
          <a:ln w="12700">
            <a:solidFill>
              <a:srgbClr val="FFFFFF"/>
            </a:solidFill>
            <a:prstDash val="solid"/>
          </a:ln>
        </p:spPr>
      </p:sp>
      <p:sp>
        <p:nvSpPr>
          <p:cNvPr id="15" name="Text 1168"/>
          <p:cNvSpPr txBox="1"/>
          <p:nvPr/>
        </p:nvSpPr>
        <p:spPr>
          <a:xfrm>
            <a:off x="594360" y="39684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6" name="Text 1169"/>
          <p:cNvSpPr txBox="1"/>
          <p:nvPr/>
        </p:nvSpPr>
        <p:spPr>
          <a:xfrm>
            <a:off x="1188720" y="3840480"/>
            <a:ext cx="7406640" cy="713232"/>
          </a:xfrm>
          <a:prstGeom prst="rect">
            <a:avLst/>
          </a:prstGeom>
          <a:noFill/>
          <a:ln/>
        </p:spPr>
        <p:txBody>
          <a:bodyPr wrap="square" lIns="0" tIns="0" rIns="0" bIns="0" rtlCol="0" anchor="ctr"/>
          <a:lstStyle/>
          <a:p>
            <a:pPr indent="0" marL="0">
              <a:buNone/>
            </a:pPr>
            <a:r>
              <a:rPr lang="en-US" sz="2200" dirty="0">
                <a:solidFill>
                  <a:srgbClr val="8A86A3"/>
                </a:solidFill>
                <a:latin typeface="Calibri" pitchFamily="34" charset="0"/>
                <a:ea typeface="Calibri" pitchFamily="34" charset="-122"/>
                <a:cs typeface="Calibri" pitchFamily="34" charset="-120"/>
              </a:rPr>
              <a:t>A kind of website</a:t>
            </a:r>
            <a:endParaRPr lang="en-US" sz="2200" dirty="0"/>
          </a:p>
        </p:txBody>
      </p:sp>
      <p:sp>
        <p:nvSpPr>
          <p:cNvPr id="17" name="Text 1170"/>
          <p:cNvSpPr txBox="1"/>
          <p:nvPr/>
        </p:nvSpPr>
        <p:spPr>
          <a:xfrm>
            <a:off x="457200" y="4572000"/>
            <a:ext cx="8229600" cy="457200"/>
          </a:xfrm>
          <a:prstGeom prst="rect">
            <a:avLst/>
          </a:prstGeom>
          <a:noFill/>
          <a:ln/>
        </p:spPr>
        <p:txBody>
          <a:bodyPr wrap="square" lIns="0" tIns="0" rIns="0" bIns="0" rtlCol="0" anchor="t"/>
          <a:lstStyle/>
          <a:p>
            <a:pPr algn="ctr" indent="0" marL="0">
              <a:buNone/>
            </a:pPr>
            <a:r>
              <a:rPr lang="en-US" sz="2000" b="1" dirty="0">
                <a:solidFill>
                  <a:srgbClr val="2E9E5B"/>
                </a:solidFill>
                <a:latin typeface="Calibri" pitchFamily="34" charset="0"/>
                <a:ea typeface="Calibri" pitchFamily="34" charset="-122"/>
                <a:cs typeface="Calibri" pitchFamily="34" charset="-120"/>
              </a:rPr>
              <a:t>A global network of networks.</a:t>
            </a:r>
            <a:endParaRPr lang="en-US" sz="20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Accent 1171"/>
          <p:cNvSpPr/>
          <p:nvPr/>
        </p:nvSpPr>
        <p:spPr>
          <a:xfrm>
            <a:off x="0" y="274320"/>
            <a:ext cx="164592" cy="685800"/>
          </a:xfrm>
          <a:prstGeom prst="rect">
            <a:avLst/>
          </a:prstGeom>
          <a:solidFill>
            <a:srgbClr val="4DA3E0"/>
          </a:solidFill>
          <a:ln w="12700">
            <a:solidFill>
              <a:srgbClr val="4DA3E0"/>
            </a:solidFill>
            <a:prstDash val="solid"/>
          </a:ln>
        </p:spPr>
      </p:sp>
      <p:sp>
        <p:nvSpPr>
          <p:cNvPr id="3" name="Text 1172"/>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Quick quiz</a:t>
            </a:r>
            <a:endParaRPr lang="en-US" sz="3000" dirty="0"/>
          </a:p>
        </p:txBody>
      </p:sp>
      <p:sp>
        <p:nvSpPr>
          <p:cNvPr id="4" name="Text 1173"/>
          <p:cNvSpPr txBox="1"/>
          <p:nvPr/>
        </p:nvSpPr>
        <p:spPr>
          <a:xfrm>
            <a:off x="457200" y="1051560"/>
            <a:ext cx="8229600" cy="914400"/>
          </a:xfrm>
          <a:prstGeom prst="rect">
            <a:avLst/>
          </a:prstGeom>
          <a:noFill/>
          <a:ln/>
        </p:spPr>
        <p:txBody>
          <a:bodyPr wrap="square" lIns="0" tIns="0" rIns="0" bIns="0" rtlCol="0" anchor="ctr"/>
          <a:lstStyle/>
          <a:p>
            <a:pPr indent="0" marL="0">
              <a:buNone/>
            </a:pPr>
            <a:r>
              <a:rPr lang="en-US" sz="2600" b="1" dirty="0">
                <a:solidFill>
                  <a:schemeClr val="tx1"/>
                </a:solidFill>
                <a:latin typeface="Calibri" pitchFamily="34" charset="0"/>
                <a:ea typeface="Calibri" pitchFamily="34" charset="-122"/>
                <a:cs typeface="Calibri" pitchFamily="34" charset="-120"/>
              </a:rPr>
              <a:t>Which device sends information between networks?</a:t>
            </a:r>
            <a:endParaRPr lang="en-US" sz="2600" dirty="0"/>
          </a:p>
        </p:txBody>
      </p:sp>
      <p:sp>
        <p:nvSpPr>
          <p:cNvPr id="5" name="Card 1174"/>
          <p:cNvSpPr/>
          <p:nvPr/>
        </p:nvSpPr>
        <p:spPr>
          <a:xfrm>
            <a:off x="457200" y="219456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6" name="Dot 1175"/>
          <p:cNvSpPr/>
          <p:nvPr/>
        </p:nvSpPr>
        <p:spPr>
          <a:xfrm>
            <a:off x="594360" y="2322576"/>
            <a:ext cx="457200" cy="457200"/>
          </a:xfrm>
          <a:prstGeom prst="ellipse">
            <a:avLst/>
          </a:prstGeom>
          <a:solidFill>
            <a:srgbClr val="4DA3E0"/>
          </a:solidFill>
          <a:ln w="12700">
            <a:solidFill>
              <a:srgbClr val="FFFFFF"/>
            </a:solidFill>
            <a:prstDash val="solid"/>
          </a:ln>
        </p:spPr>
      </p:sp>
      <p:sp>
        <p:nvSpPr>
          <p:cNvPr id="7" name="Text 1176"/>
          <p:cNvSpPr txBox="1"/>
          <p:nvPr/>
        </p:nvSpPr>
        <p:spPr>
          <a:xfrm>
            <a:off x="594360" y="2322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8" name="Text 1177"/>
          <p:cNvSpPr txBox="1"/>
          <p:nvPr/>
        </p:nvSpPr>
        <p:spPr>
          <a:xfrm>
            <a:off x="1188720" y="219456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Router</a:t>
            </a:r>
            <a:endParaRPr lang="en-US" sz="2200" dirty="0"/>
          </a:p>
        </p:txBody>
      </p:sp>
      <p:sp>
        <p:nvSpPr>
          <p:cNvPr id="9" name="Card 1178"/>
          <p:cNvSpPr/>
          <p:nvPr/>
        </p:nvSpPr>
        <p:spPr>
          <a:xfrm>
            <a:off x="457200" y="301752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10" name="Dot 1179"/>
          <p:cNvSpPr/>
          <p:nvPr/>
        </p:nvSpPr>
        <p:spPr>
          <a:xfrm>
            <a:off x="594360" y="3145536"/>
            <a:ext cx="457200" cy="457200"/>
          </a:xfrm>
          <a:prstGeom prst="ellipse">
            <a:avLst/>
          </a:prstGeom>
          <a:solidFill>
            <a:srgbClr val="4DA3E0"/>
          </a:solidFill>
          <a:ln w="12700">
            <a:solidFill>
              <a:srgbClr val="FFFFFF"/>
            </a:solidFill>
            <a:prstDash val="solid"/>
          </a:ln>
        </p:spPr>
      </p:sp>
      <p:sp>
        <p:nvSpPr>
          <p:cNvPr id="11" name="Text 1180"/>
          <p:cNvSpPr txBox="1"/>
          <p:nvPr/>
        </p:nvSpPr>
        <p:spPr>
          <a:xfrm>
            <a:off x="594360" y="314553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181"/>
          <p:cNvSpPr txBox="1"/>
          <p:nvPr/>
        </p:nvSpPr>
        <p:spPr>
          <a:xfrm>
            <a:off x="1188720" y="301752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Mouse</a:t>
            </a:r>
            <a:endParaRPr lang="en-US" sz="2200" dirty="0"/>
          </a:p>
        </p:txBody>
      </p:sp>
      <p:sp>
        <p:nvSpPr>
          <p:cNvPr id="13" name="Card 1182"/>
          <p:cNvSpPr/>
          <p:nvPr/>
        </p:nvSpPr>
        <p:spPr>
          <a:xfrm>
            <a:off x="457200" y="384048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14" name="Dot 1183"/>
          <p:cNvSpPr/>
          <p:nvPr/>
        </p:nvSpPr>
        <p:spPr>
          <a:xfrm>
            <a:off x="594360" y="3968496"/>
            <a:ext cx="457200" cy="457200"/>
          </a:xfrm>
          <a:prstGeom prst="ellipse">
            <a:avLst/>
          </a:prstGeom>
          <a:solidFill>
            <a:srgbClr val="4DA3E0"/>
          </a:solidFill>
          <a:ln w="12700">
            <a:solidFill>
              <a:srgbClr val="FFFFFF"/>
            </a:solidFill>
            <a:prstDash val="solid"/>
          </a:ln>
        </p:spPr>
      </p:sp>
      <p:sp>
        <p:nvSpPr>
          <p:cNvPr id="15" name="Text 1184"/>
          <p:cNvSpPr txBox="1"/>
          <p:nvPr/>
        </p:nvSpPr>
        <p:spPr>
          <a:xfrm>
            <a:off x="594360" y="39684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6" name="Text 1185"/>
          <p:cNvSpPr txBox="1"/>
          <p:nvPr/>
        </p:nvSpPr>
        <p:spPr>
          <a:xfrm>
            <a:off x="1188720" y="384048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Printer</a:t>
            </a:r>
            <a:endParaRPr lang="en-US" sz="22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Accent 1186"/>
          <p:cNvSpPr/>
          <p:nvPr/>
        </p:nvSpPr>
        <p:spPr>
          <a:xfrm>
            <a:off x="0" y="274320"/>
            <a:ext cx="164592" cy="685800"/>
          </a:xfrm>
          <a:prstGeom prst="rect">
            <a:avLst/>
          </a:prstGeom>
          <a:solidFill>
            <a:srgbClr val="2E9E5B"/>
          </a:solidFill>
          <a:ln w="12700">
            <a:solidFill>
              <a:srgbClr val="2E9E5B"/>
            </a:solidFill>
            <a:prstDash val="solid"/>
          </a:ln>
        </p:spPr>
      </p:sp>
      <p:sp>
        <p:nvSpPr>
          <p:cNvPr id="3" name="Text 1187"/>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 The answer</a:t>
            </a:r>
            <a:endParaRPr lang="en-US" sz="3000" dirty="0"/>
          </a:p>
        </p:txBody>
      </p:sp>
      <p:sp>
        <p:nvSpPr>
          <p:cNvPr id="4" name="Text 1188"/>
          <p:cNvSpPr txBox="1"/>
          <p:nvPr/>
        </p:nvSpPr>
        <p:spPr>
          <a:xfrm>
            <a:off x="457200" y="1051560"/>
            <a:ext cx="8229600" cy="914400"/>
          </a:xfrm>
          <a:prstGeom prst="rect">
            <a:avLst/>
          </a:prstGeom>
          <a:noFill/>
          <a:ln/>
        </p:spPr>
        <p:txBody>
          <a:bodyPr wrap="square" lIns="0" tIns="0" rIns="0" bIns="0" rtlCol="0" anchor="ctr"/>
          <a:lstStyle/>
          <a:p>
            <a:pPr indent="0" marL="0">
              <a:buNone/>
            </a:pPr>
            <a:r>
              <a:rPr lang="en-US" sz="2600" b="1" dirty="0">
                <a:solidFill>
                  <a:schemeClr val="tx1"/>
                </a:solidFill>
                <a:latin typeface="Calibri" pitchFamily="34" charset="0"/>
                <a:ea typeface="Calibri" pitchFamily="34" charset="-122"/>
                <a:cs typeface="Calibri" pitchFamily="34" charset="-120"/>
              </a:rPr>
              <a:t>Which device sends information between networks?</a:t>
            </a:r>
            <a:endParaRPr lang="en-US" sz="2600" dirty="0"/>
          </a:p>
        </p:txBody>
      </p:sp>
      <p:sp>
        <p:nvSpPr>
          <p:cNvPr id="5" name="Card 1189"/>
          <p:cNvSpPr/>
          <p:nvPr/>
        </p:nvSpPr>
        <p:spPr>
          <a:xfrm>
            <a:off x="457200" y="2194560"/>
            <a:ext cx="8229600" cy="713232"/>
          </a:xfrm>
          <a:prstGeom prst="roundRect">
            <a:avLst>
              <a:gd name="adj" fmla="val 15385"/>
            </a:avLst>
          </a:prstGeom>
          <a:solidFill>
            <a:srgbClr val="D9F5E6"/>
          </a:solidFill>
          <a:ln w="38100">
            <a:solidFill>
              <a:srgbClr val="2E9E5B"/>
            </a:solidFill>
            <a:prstDash val="solid"/>
          </a:ln>
          <a:effectLst>
            <a:outerShdw sx="100000" sy="100000" kx="0" ky="0" algn="bl" rotWithShape="0" blurRad="76200" dist="25400" dir="5400000">
              <a:srgbClr val="2B2250">
                <a:alpha val="15000"/>
              </a:srgbClr>
            </a:outerShdw>
          </a:effectLst>
        </p:spPr>
      </p:sp>
      <p:sp>
        <p:nvSpPr>
          <p:cNvPr id="6" name="Dot 1190"/>
          <p:cNvSpPr/>
          <p:nvPr/>
        </p:nvSpPr>
        <p:spPr>
          <a:xfrm>
            <a:off x="594360" y="2322576"/>
            <a:ext cx="457200" cy="457200"/>
          </a:xfrm>
          <a:prstGeom prst="ellipse">
            <a:avLst/>
          </a:prstGeom>
          <a:solidFill>
            <a:srgbClr val="2E9E5B"/>
          </a:solidFill>
          <a:ln w="12700">
            <a:solidFill>
              <a:srgbClr val="FFFFFF"/>
            </a:solidFill>
            <a:prstDash val="solid"/>
          </a:ln>
        </p:spPr>
      </p:sp>
      <p:sp>
        <p:nvSpPr>
          <p:cNvPr id="7" name="Text 1191"/>
          <p:cNvSpPr txBox="1"/>
          <p:nvPr/>
        </p:nvSpPr>
        <p:spPr>
          <a:xfrm>
            <a:off x="594360" y="2322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8" name="Text 1192"/>
          <p:cNvSpPr txBox="1"/>
          <p:nvPr/>
        </p:nvSpPr>
        <p:spPr>
          <a:xfrm>
            <a:off x="1188720" y="2194560"/>
            <a:ext cx="7406640" cy="713232"/>
          </a:xfrm>
          <a:prstGeom prst="rect">
            <a:avLst/>
          </a:prstGeom>
          <a:noFill/>
          <a:ln/>
        </p:spPr>
        <p:txBody>
          <a:bodyPr wrap="square" lIns="0" tIns="0" rIns="0" bIns="0" rtlCol="0" anchor="ctr"/>
          <a:lstStyle/>
          <a:p>
            <a:pPr indent="0" marL="0">
              <a:buNone/>
            </a:pPr>
            <a:r>
              <a:rPr lang="en-US" sz="2200" b="1" dirty="0">
                <a:solidFill>
                  <a:srgbClr val="2B2250"/>
                </a:solidFill>
                <a:latin typeface="Calibri" pitchFamily="34" charset="0"/>
                <a:ea typeface="Calibri" pitchFamily="34" charset="-122"/>
                <a:cs typeface="Calibri" pitchFamily="34" charset="-120"/>
              </a:rPr>
              <a:t>Router</a:t>
            </a:r>
            <a:endParaRPr lang="en-US" sz="2200" dirty="0"/>
          </a:p>
        </p:txBody>
      </p:sp>
      <p:sp>
        <p:nvSpPr>
          <p:cNvPr id="9" name="Card 1193"/>
          <p:cNvSpPr/>
          <p:nvPr/>
        </p:nvSpPr>
        <p:spPr>
          <a:xfrm>
            <a:off x="457200" y="3017520"/>
            <a:ext cx="8229600" cy="713232"/>
          </a:xfrm>
          <a:prstGeom prst="roundRect">
            <a:avLst>
              <a:gd name="adj" fmla="val 15385"/>
            </a:avLst>
          </a:prstGeom>
          <a:solidFill>
            <a:srgbClr val="FFFFFF"/>
          </a:solidFill>
          <a:ln w="19050">
            <a:solidFill>
              <a:srgbClr val="DDDAEA"/>
            </a:solidFill>
            <a:prstDash val="solid"/>
          </a:ln>
          <a:effectLst>
            <a:outerShdw sx="100000" sy="100000" kx="0" ky="0" algn="bl" rotWithShape="0" blurRad="76200" dist="25400" dir="5400000">
              <a:srgbClr val="2B2250">
                <a:alpha val="15000"/>
              </a:srgbClr>
            </a:outerShdw>
          </a:effectLst>
        </p:spPr>
      </p:sp>
      <p:sp>
        <p:nvSpPr>
          <p:cNvPr id="10" name="Dot 1194"/>
          <p:cNvSpPr/>
          <p:nvPr/>
        </p:nvSpPr>
        <p:spPr>
          <a:xfrm>
            <a:off x="594360" y="3145536"/>
            <a:ext cx="457200" cy="457200"/>
          </a:xfrm>
          <a:prstGeom prst="ellipse">
            <a:avLst/>
          </a:prstGeom>
          <a:solidFill>
            <a:srgbClr val="CFCBE0"/>
          </a:solidFill>
          <a:ln w="12700">
            <a:solidFill>
              <a:srgbClr val="FFFFFF"/>
            </a:solidFill>
            <a:prstDash val="solid"/>
          </a:ln>
        </p:spPr>
      </p:sp>
      <p:sp>
        <p:nvSpPr>
          <p:cNvPr id="11" name="Text 1195"/>
          <p:cNvSpPr txBox="1"/>
          <p:nvPr/>
        </p:nvSpPr>
        <p:spPr>
          <a:xfrm>
            <a:off x="594360" y="314553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196"/>
          <p:cNvSpPr txBox="1"/>
          <p:nvPr/>
        </p:nvSpPr>
        <p:spPr>
          <a:xfrm>
            <a:off x="1188720" y="3017520"/>
            <a:ext cx="7406640" cy="713232"/>
          </a:xfrm>
          <a:prstGeom prst="rect">
            <a:avLst/>
          </a:prstGeom>
          <a:noFill/>
          <a:ln/>
        </p:spPr>
        <p:txBody>
          <a:bodyPr wrap="square" lIns="0" tIns="0" rIns="0" bIns="0" rtlCol="0" anchor="ctr"/>
          <a:lstStyle/>
          <a:p>
            <a:pPr indent="0" marL="0">
              <a:buNone/>
            </a:pPr>
            <a:r>
              <a:rPr lang="en-US" sz="2200" dirty="0">
                <a:solidFill>
                  <a:srgbClr val="8A86A3"/>
                </a:solidFill>
                <a:latin typeface="Calibri" pitchFamily="34" charset="0"/>
                <a:ea typeface="Calibri" pitchFamily="34" charset="-122"/>
                <a:cs typeface="Calibri" pitchFamily="34" charset="-120"/>
              </a:rPr>
              <a:t>Mouse</a:t>
            </a:r>
            <a:endParaRPr lang="en-US" sz="2200" dirty="0"/>
          </a:p>
        </p:txBody>
      </p:sp>
      <p:sp>
        <p:nvSpPr>
          <p:cNvPr id="13" name="Card 1197"/>
          <p:cNvSpPr/>
          <p:nvPr/>
        </p:nvSpPr>
        <p:spPr>
          <a:xfrm>
            <a:off x="457200" y="3840480"/>
            <a:ext cx="8229600" cy="713232"/>
          </a:xfrm>
          <a:prstGeom prst="roundRect">
            <a:avLst>
              <a:gd name="adj" fmla="val 15385"/>
            </a:avLst>
          </a:prstGeom>
          <a:solidFill>
            <a:srgbClr val="FFFFFF"/>
          </a:solidFill>
          <a:ln w="19050">
            <a:solidFill>
              <a:srgbClr val="DDDAEA"/>
            </a:solidFill>
            <a:prstDash val="solid"/>
          </a:ln>
          <a:effectLst>
            <a:outerShdw sx="100000" sy="100000" kx="0" ky="0" algn="bl" rotWithShape="0" blurRad="76200" dist="25400" dir="5400000">
              <a:srgbClr val="2B2250">
                <a:alpha val="15000"/>
              </a:srgbClr>
            </a:outerShdw>
          </a:effectLst>
        </p:spPr>
      </p:sp>
      <p:sp>
        <p:nvSpPr>
          <p:cNvPr id="14" name="Dot 1198"/>
          <p:cNvSpPr/>
          <p:nvPr/>
        </p:nvSpPr>
        <p:spPr>
          <a:xfrm>
            <a:off x="594360" y="3968496"/>
            <a:ext cx="457200" cy="457200"/>
          </a:xfrm>
          <a:prstGeom prst="ellipse">
            <a:avLst/>
          </a:prstGeom>
          <a:solidFill>
            <a:srgbClr val="CFCBE0"/>
          </a:solidFill>
          <a:ln w="12700">
            <a:solidFill>
              <a:srgbClr val="FFFFFF"/>
            </a:solidFill>
            <a:prstDash val="solid"/>
          </a:ln>
        </p:spPr>
      </p:sp>
      <p:sp>
        <p:nvSpPr>
          <p:cNvPr id="15" name="Text 1199"/>
          <p:cNvSpPr txBox="1"/>
          <p:nvPr/>
        </p:nvSpPr>
        <p:spPr>
          <a:xfrm>
            <a:off x="594360" y="39684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6" name="Text 1200"/>
          <p:cNvSpPr txBox="1"/>
          <p:nvPr/>
        </p:nvSpPr>
        <p:spPr>
          <a:xfrm>
            <a:off x="1188720" y="3840480"/>
            <a:ext cx="7406640" cy="713232"/>
          </a:xfrm>
          <a:prstGeom prst="rect">
            <a:avLst/>
          </a:prstGeom>
          <a:noFill/>
          <a:ln/>
        </p:spPr>
        <p:txBody>
          <a:bodyPr wrap="square" lIns="0" tIns="0" rIns="0" bIns="0" rtlCol="0" anchor="ctr"/>
          <a:lstStyle/>
          <a:p>
            <a:pPr indent="0" marL="0">
              <a:buNone/>
            </a:pPr>
            <a:r>
              <a:rPr lang="en-US" sz="2200" dirty="0">
                <a:solidFill>
                  <a:srgbClr val="8A86A3"/>
                </a:solidFill>
                <a:latin typeface="Calibri" pitchFamily="34" charset="0"/>
                <a:ea typeface="Calibri" pitchFamily="34" charset="-122"/>
                <a:cs typeface="Calibri" pitchFamily="34" charset="-120"/>
              </a:rPr>
              <a:t>Printer</a:t>
            </a:r>
            <a:endParaRPr lang="en-US" sz="2200" dirty="0"/>
          </a:p>
        </p:txBody>
      </p:sp>
      <p:sp>
        <p:nvSpPr>
          <p:cNvPr id="17" name="Text 1201"/>
          <p:cNvSpPr txBox="1"/>
          <p:nvPr/>
        </p:nvSpPr>
        <p:spPr>
          <a:xfrm>
            <a:off x="457200" y="4572000"/>
            <a:ext cx="8229600" cy="457200"/>
          </a:xfrm>
          <a:prstGeom prst="rect">
            <a:avLst/>
          </a:prstGeom>
          <a:noFill/>
          <a:ln/>
        </p:spPr>
        <p:txBody>
          <a:bodyPr wrap="square" lIns="0" tIns="0" rIns="0" bIns="0" rtlCol="0" anchor="t"/>
          <a:lstStyle/>
          <a:p>
            <a:pPr algn="ctr" indent="0" marL="0">
              <a:buNone/>
            </a:pPr>
            <a:r>
              <a:rPr lang="en-US" sz="2000" b="1" dirty="0">
                <a:solidFill>
                  <a:srgbClr val="2E9E5B"/>
                </a:solidFill>
                <a:latin typeface="Calibri" pitchFamily="34" charset="0"/>
                <a:ea typeface="Calibri" pitchFamily="34" charset="-122"/>
                <a:cs typeface="Calibri" pitchFamily="34" charset="-120"/>
              </a:rPr>
              <a:t>A router passes information between networks.</a:t>
            </a:r>
            <a:endParaRPr lang="en-US" sz="20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Accent 1202"/>
          <p:cNvSpPr/>
          <p:nvPr/>
        </p:nvSpPr>
        <p:spPr>
          <a:xfrm>
            <a:off x="0" y="274320"/>
            <a:ext cx="164592" cy="685800"/>
          </a:xfrm>
          <a:prstGeom prst="rect">
            <a:avLst/>
          </a:prstGeom>
          <a:solidFill>
            <a:srgbClr val="6C63FF"/>
          </a:solidFill>
          <a:ln w="12700">
            <a:solidFill>
              <a:srgbClr val="6C63FF"/>
            </a:solidFill>
            <a:prstDash val="solid"/>
          </a:ln>
        </p:spPr>
      </p:sp>
      <p:sp>
        <p:nvSpPr>
          <p:cNvPr id="3" name="Text 1203"/>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Quick quiz</a:t>
            </a:r>
            <a:endParaRPr lang="en-US" sz="3000" dirty="0"/>
          </a:p>
        </p:txBody>
      </p:sp>
      <p:sp>
        <p:nvSpPr>
          <p:cNvPr id="4" name="Text 1204"/>
          <p:cNvSpPr txBox="1"/>
          <p:nvPr/>
        </p:nvSpPr>
        <p:spPr>
          <a:xfrm>
            <a:off x="457200" y="1051560"/>
            <a:ext cx="8229600" cy="914400"/>
          </a:xfrm>
          <a:prstGeom prst="rect">
            <a:avLst/>
          </a:prstGeom>
          <a:noFill/>
          <a:ln/>
        </p:spPr>
        <p:txBody>
          <a:bodyPr wrap="square" lIns="0" tIns="0" rIns="0" bIns="0" rtlCol="0" anchor="ctr"/>
          <a:lstStyle/>
          <a:p>
            <a:pPr indent="0" marL="0">
              <a:buNone/>
            </a:pPr>
            <a:r>
              <a:rPr lang="en-US" sz="2600" b="1" dirty="0">
                <a:solidFill>
                  <a:schemeClr val="tx1"/>
                </a:solidFill>
                <a:latin typeface="Calibri" pitchFamily="34" charset="0"/>
                <a:ea typeface="Calibri" pitchFamily="34" charset="-122"/>
                <a:cs typeface="Calibri" pitchFamily="34" charset="-120"/>
              </a:rPr>
              <a:t>In www.lego.co.uk, what does “.co.uk” tell us?</a:t>
            </a:r>
            <a:endParaRPr lang="en-US" sz="2600" dirty="0"/>
          </a:p>
        </p:txBody>
      </p:sp>
      <p:sp>
        <p:nvSpPr>
          <p:cNvPr id="5" name="Card 1205"/>
          <p:cNvSpPr/>
          <p:nvPr/>
        </p:nvSpPr>
        <p:spPr>
          <a:xfrm>
            <a:off x="457200" y="219456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6" name="Dot 1206"/>
          <p:cNvSpPr/>
          <p:nvPr/>
        </p:nvSpPr>
        <p:spPr>
          <a:xfrm>
            <a:off x="594360" y="2322576"/>
            <a:ext cx="457200" cy="457200"/>
          </a:xfrm>
          <a:prstGeom prst="ellipse">
            <a:avLst/>
          </a:prstGeom>
          <a:solidFill>
            <a:srgbClr val="6C63FF"/>
          </a:solidFill>
          <a:ln w="12700">
            <a:solidFill>
              <a:srgbClr val="FFFFFF"/>
            </a:solidFill>
            <a:prstDash val="solid"/>
          </a:ln>
        </p:spPr>
      </p:sp>
      <p:sp>
        <p:nvSpPr>
          <p:cNvPr id="7" name="Text 1207"/>
          <p:cNvSpPr txBox="1"/>
          <p:nvPr/>
        </p:nvSpPr>
        <p:spPr>
          <a:xfrm>
            <a:off x="594360" y="2322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8" name="Text 1208"/>
          <p:cNvSpPr txBox="1"/>
          <p:nvPr/>
        </p:nvSpPr>
        <p:spPr>
          <a:xfrm>
            <a:off x="1188720" y="219456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The website is from the UK</a:t>
            </a:r>
            <a:endParaRPr lang="en-US" sz="2200" dirty="0"/>
          </a:p>
        </p:txBody>
      </p:sp>
      <p:sp>
        <p:nvSpPr>
          <p:cNvPr id="9" name="Card 1209"/>
          <p:cNvSpPr/>
          <p:nvPr/>
        </p:nvSpPr>
        <p:spPr>
          <a:xfrm>
            <a:off x="457200" y="301752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10" name="Dot 1210"/>
          <p:cNvSpPr/>
          <p:nvPr/>
        </p:nvSpPr>
        <p:spPr>
          <a:xfrm>
            <a:off x="594360" y="3145536"/>
            <a:ext cx="457200" cy="457200"/>
          </a:xfrm>
          <a:prstGeom prst="ellipse">
            <a:avLst/>
          </a:prstGeom>
          <a:solidFill>
            <a:srgbClr val="6C63FF"/>
          </a:solidFill>
          <a:ln w="12700">
            <a:solidFill>
              <a:srgbClr val="FFFFFF"/>
            </a:solidFill>
            <a:prstDash val="solid"/>
          </a:ln>
        </p:spPr>
      </p:sp>
      <p:sp>
        <p:nvSpPr>
          <p:cNvPr id="11" name="Text 1211"/>
          <p:cNvSpPr txBox="1"/>
          <p:nvPr/>
        </p:nvSpPr>
        <p:spPr>
          <a:xfrm>
            <a:off x="594360" y="314553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212"/>
          <p:cNvSpPr txBox="1"/>
          <p:nvPr/>
        </p:nvSpPr>
        <p:spPr>
          <a:xfrm>
            <a:off x="1188720" y="301752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It is a game</a:t>
            </a:r>
            <a:endParaRPr lang="en-US" sz="2200" dirty="0"/>
          </a:p>
        </p:txBody>
      </p:sp>
      <p:sp>
        <p:nvSpPr>
          <p:cNvPr id="13" name="Card 1213"/>
          <p:cNvSpPr/>
          <p:nvPr/>
        </p:nvSpPr>
        <p:spPr>
          <a:xfrm>
            <a:off x="457200" y="384048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14" name="Dot 1214"/>
          <p:cNvSpPr/>
          <p:nvPr/>
        </p:nvSpPr>
        <p:spPr>
          <a:xfrm>
            <a:off x="594360" y="3968496"/>
            <a:ext cx="457200" cy="457200"/>
          </a:xfrm>
          <a:prstGeom prst="ellipse">
            <a:avLst/>
          </a:prstGeom>
          <a:solidFill>
            <a:srgbClr val="6C63FF"/>
          </a:solidFill>
          <a:ln w="12700">
            <a:solidFill>
              <a:srgbClr val="FFFFFF"/>
            </a:solidFill>
            <a:prstDash val="solid"/>
          </a:ln>
        </p:spPr>
      </p:sp>
      <p:sp>
        <p:nvSpPr>
          <p:cNvPr id="15" name="Text 1215"/>
          <p:cNvSpPr txBox="1"/>
          <p:nvPr/>
        </p:nvSpPr>
        <p:spPr>
          <a:xfrm>
            <a:off x="594360" y="39684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6" name="Text 1216"/>
          <p:cNvSpPr txBox="1"/>
          <p:nvPr/>
        </p:nvSpPr>
        <p:spPr>
          <a:xfrm>
            <a:off x="1188720" y="384048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It is about LEGO</a:t>
            </a:r>
            <a:endParaRPr lang="en-US" sz="22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Accent 1217"/>
          <p:cNvSpPr/>
          <p:nvPr/>
        </p:nvSpPr>
        <p:spPr>
          <a:xfrm>
            <a:off x="0" y="274320"/>
            <a:ext cx="164592" cy="685800"/>
          </a:xfrm>
          <a:prstGeom prst="rect">
            <a:avLst/>
          </a:prstGeom>
          <a:solidFill>
            <a:srgbClr val="2E9E5B"/>
          </a:solidFill>
          <a:ln w="12700">
            <a:solidFill>
              <a:srgbClr val="2E9E5B"/>
            </a:solidFill>
            <a:prstDash val="solid"/>
          </a:ln>
        </p:spPr>
      </p:sp>
      <p:sp>
        <p:nvSpPr>
          <p:cNvPr id="3" name="Text 1218"/>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 The answer</a:t>
            </a:r>
            <a:endParaRPr lang="en-US" sz="3000" dirty="0"/>
          </a:p>
        </p:txBody>
      </p:sp>
      <p:sp>
        <p:nvSpPr>
          <p:cNvPr id="4" name="Text 1219"/>
          <p:cNvSpPr txBox="1"/>
          <p:nvPr/>
        </p:nvSpPr>
        <p:spPr>
          <a:xfrm>
            <a:off x="457200" y="1051560"/>
            <a:ext cx="8229600" cy="914400"/>
          </a:xfrm>
          <a:prstGeom prst="rect">
            <a:avLst/>
          </a:prstGeom>
          <a:noFill/>
          <a:ln/>
        </p:spPr>
        <p:txBody>
          <a:bodyPr wrap="square" lIns="0" tIns="0" rIns="0" bIns="0" rtlCol="0" anchor="ctr"/>
          <a:lstStyle/>
          <a:p>
            <a:pPr indent="0" marL="0">
              <a:buNone/>
            </a:pPr>
            <a:r>
              <a:rPr lang="en-US" sz="2600" b="1" dirty="0">
                <a:solidFill>
                  <a:schemeClr val="tx1"/>
                </a:solidFill>
                <a:latin typeface="Calibri" pitchFamily="34" charset="0"/>
                <a:ea typeface="Calibri" pitchFamily="34" charset="-122"/>
                <a:cs typeface="Calibri" pitchFamily="34" charset="-120"/>
              </a:rPr>
              <a:t>In www.lego.co.uk, what does “.co.uk” tell us?</a:t>
            </a:r>
            <a:endParaRPr lang="en-US" sz="2600" dirty="0"/>
          </a:p>
        </p:txBody>
      </p:sp>
      <p:sp>
        <p:nvSpPr>
          <p:cNvPr id="5" name="Card 1220"/>
          <p:cNvSpPr/>
          <p:nvPr/>
        </p:nvSpPr>
        <p:spPr>
          <a:xfrm>
            <a:off x="457200" y="2194560"/>
            <a:ext cx="8229600" cy="713232"/>
          </a:xfrm>
          <a:prstGeom prst="roundRect">
            <a:avLst>
              <a:gd name="adj" fmla="val 15385"/>
            </a:avLst>
          </a:prstGeom>
          <a:solidFill>
            <a:srgbClr val="D9F5E6"/>
          </a:solidFill>
          <a:ln w="38100">
            <a:solidFill>
              <a:srgbClr val="2E9E5B"/>
            </a:solidFill>
            <a:prstDash val="solid"/>
          </a:ln>
          <a:effectLst>
            <a:outerShdw sx="100000" sy="100000" kx="0" ky="0" algn="bl" rotWithShape="0" blurRad="76200" dist="25400" dir="5400000">
              <a:srgbClr val="2B2250">
                <a:alpha val="15000"/>
              </a:srgbClr>
            </a:outerShdw>
          </a:effectLst>
        </p:spPr>
      </p:sp>
      <p:sp>
        <p:nvSpPr>
          <p:cNvPr id="6" name="Dot 1221"/>
          <p:cNvSpPr/>
          <p:nvPr/>
        </p:nvSpPr>
        <p:spPr>
          <a:xfrm>
            <a:off x="594360" y="2322576"/>
            <a:ext cx="457200" cy="457200"/>
          </a:xfrm>
          <a:prstGeom prst="ellipse">
            <a:avLst/>
          </a:prstGeom>
          <a:solidFill>
            <a:srgbClr val="2E9E5B"/>
          </a:solidFill>
          <a:ln w="12700">
            <a:solidFill>
              <a:srgbClr val="FFFFFF"/>
            </a:solidFill>
            <a:prstDash val="solid"/>
          </a:ln>
        </p:spPr>
      </p:sp>
      <p:sp>
        <p:nvSpPr>
          <p:cNvPr id="7" name="Text 1222"/>
          <p:cNvSpPr txBox="1"/>
          <p:nvPr/>
        </p:nvSpPr>
        <p:spPr>
          <a:xfrm>
            <a:off x="594360" y="2322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8" name="Text 1223"/>
          <p:cNvSpPr txBox="1"/>
          <p:nvPr/>
        </p:nvSpPr>
        <p:spPr>
          <a:xfrm>
            <a:off x="1188720" y="2194560"/>
            <a:ext cx="7406640" cy="713232"/>
          </a:xfrm>
          <a:prstGeom prst="rect">
            <a:avLst/>
          </a:prstGeom>
          <a:noFill/>
          <a:ln/>
        </p:spPr>
        <p:txBody>
          <a:bodyPr wrap="square" lIns="0" tIns="0" rIns="0" bIns="0" rtlCol="0" anchor="ctr"/>
          <a:lstStyle/>
          <a:p>
            <a:pPr indent="0" marL="0">
              <a:buNone/>
            </a:pPr>
            <a:r>
              <a:rPr lang="en-US" sz="2200" b="1" dirty="0">
                <a:solidFill>
                  <a:srgbClr val="2B2250"/>
                </a:solidFill>
                <a:latin typeface="Calibri" pitchFamily="34" charset="0"/>
                <a:ea typeface="Calibri" pitchFamily="34" charset="-122"/>
                <a:cs typeface="Calibri" pitchFamily="34" charset="-120"/>
              </a:rPr>
              <a:t>The website is from the UK</a:t>
            </a:r>
            <a:endParaRPr lang="en-US" sz="2200" dirty="0"/>
          </a:p>
        </p:txBody>
      </p:sp>
      <p:sp>
        <p:nvSpPr>
          <p:cNvPr id="9" name="Card 1224"/>
          <p:cNvSpPr/>
          <p:nvPr/>
        </p:nvSpPr>
        <p:spPr>
          <a:xfrm>
            <a:off x="457200" y="3017520"/>
            <a:ext cx="8229600" cy="713232"/>
          </a:xfrm>
          <a:prstGeom prst="roundRect">
            <a:avLst>
              <a:gd name="adj" fmla="val 15385"/>
            </a:avLst>
          </a:prstGeom>
          <a:solidFill>
            <a:srgbClr val="FFFFFF"/>
          </a:solidFill>
          <a:ln w="19050">
            <a:solidFill>
              <a:srgbClr val="DDDAEA"/>
            </a:solidFill>
            <a:prstDash val="solid"/>
          </a:ln>
          <a:effectLst>
            <a:outerShdw sx="100000" sy="100000" kx="0" ky="0" algn="bl" rotWithShape="0" blurRad="76200" dist="25400" dir="5400000">
              <a:srgbClr val="2B2250">
                <a:alpha val="15000"/>
              </a:srgbClr>
            </a:outerShdw>
          </a:effectLst>
        </p:spPr>
      </p:sp>
      <p:sp>
        <p:nvSpPr>
          <p:cNvPr id="10" name="Dot 1225"/>
          <p:cNvSpPr/>
          <p:nvPr/>
        </p:nvSpPr>
        <p:spPr>
          <a:xfrm>
            <a:off x="594360" y="3145536"/>
            <a:ext cx="457200" cy="457200"/>
          </a:xfrm>
          <a:prstGeom prst="ellipse">
            <a:avLst/>
          </a:prstGeom>
          <a:solidFill>
            <a:srgbClr val="CFCBE0"/>
          </a:solidFill>
          <a:ln w="12700">
            <a:solidFill>
              <a:srgbClr val="FFFFFF"/>
            </a:solidFill>
            <a:prstDash val="solid"/>
          </a:ln>
        </p:spPr>
      </p:sp>
      <p:sp>
        <p:nvSpPr>
          <p:cNvPr id="11" name="Text 1226"/>
          <p:cNvSpPr txBox="1"/>
          <p:nvPr/>
        </p:nvSpPr>
        <p:spPr>
          <a:xfrm>
            <a:off x="594360" y="314553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227"/>
          <p:cNvSpPr txBox="1"/>
          <p:nvPr/>
        </p:nvSpPr>
        <p:spPr>
          <a:xfrm>
            <a:off x="1188720" y="3017520"/>
            <a:ext cx="7406640" cy="713232"/>
          </a:xfrm>
          <a:prstGeom prst="rect">
            <a:avLst/>
          </a:prstGeom>
          <a:noFill/>
          <a:ln/>
        </p:spPr>
        <p:txBody>
          <a:bodyPr wrap="square" lIns="0" tIns="0" rIns="0" bIns="0" rtlCol="0" anchor="ctr"/>
          <a:lstStyle/>
          <a:p>
            <a:pPr indent="0" marL="0">
              <a:buNone/>
            </a:pPr>
            <a:r>
              <a:rPr lang="en-US" sz="2200" dirty="0">
                <a:solidFill>
                  <a:srgbClr val="8A86A3"/>
                </a:solidFill>
                <a:latin typeface="Calibri" pitchFamily="34" charset="0"/>
                <a:ea typeface="Calibri" pitchFamily="34" charset="-122"/>
                <a:cs typeface="Calibri" pitchFamily="34" charset="-120"/>
              </a:rPr>
              <a:t>It is a game</a:t>
            </a:r>
            <a:endParaRPr lang="en-US" sz="2200" dirty="0"/>
          </a:p>
        </p:txBody>
      </p:sp>
      <p:sp>
        <p:nvSpPr>
          <p:cNvPr id="13" name="Card 1228"/>
          <p:cNvSpPr/>
          <p:nvPr/>
        </p:nvSpPr>
        <p:spPr>
          <a:xfrm>
            <a:off x="457200" y="3840480"/>
            <a:ext cx="8229600" cy="713232"/>
          </a:xfrm>
          <a:prstGeom prst="roundRect">
            <a:avLst>
              <a:gd name="adj" fmla="val 15385"/>
            </a:avLst>
          </a:prstGeom>
          <a:solidFill>
            <a:srgbClr val="FFFFFF"/>
          </a:solidFill>
          <a:ln w="19050">
            <a:solidFill>
              <a:srgbClr val="DDDAEA"/>
            </a:solidFill>
            <a:prstDash val="solid"/>
          </a:ln>
          <a:effectLst>
            <a:outerShdw sx="100000" sy="100000" kx="0" ky="0" algn="bl" rotWithShape="0" blurRad="76200" dist="25400" dir="5400000">
              <a:srgbClr val="2B2250">
                <a:alpha val="15000"/>
              </a:srgbClr>
            </a:outerShdw>
          </a:effectLst>
        </p:spPr>
      </p:sp>
      <p:sp>
        <p:nvSpPr>
          <p:cNvPr id="14" name="Dot 1229"/>
          <p:cNvSpPr/>
          <p:nvPr/>
        </p:nvSpPr>
        <p:spPr>
          <a:xfrm>
            <a:off x="594360" y="3968496"/>
            <a:ext cx="457200" cy="457200"/>
          </a:xfrm>
          <a:prstGeom prst="ellipse">
            <a:avLst/>
          </a:prstGeom>
          <a:solidFill>
            <a:srgbClr val="CFCBE0"/>
          </a:solidFill>
          <a:ln w="12700">
            <a:solidFill>
              <a:srgbClr val="FFFFFF"/>
            </a:solidFill>
            <a:prstDash val="solid"/>
          </a:ln>
        </p:spPr>
      </p:sp>
      <p:sp>
        <p:nvSpPr>
          <p:cNvPr id="15" name="Text 1230"/>
          <p:cNvSpPr txBox="1"/>
          <p:nvPr/>
        </p:nvSpPr>
        <p:spPr>
          <a:xfrm>
            <a:off x="594360" y="39684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6" name="Text 1231"/>
          <p:cNvSpPr txBox="1"/>
          <p:nvPr/>
        </p:nvSpPr>
        <p:spPr>
          <a:xfrm>
            <a:off x="1188720" y="3840480"/>
            <a:ext cx="7406640" cy="713232"/>
          </a:xfrm>
          <a:prstGeom prst="rect">
            <a:avLst/>
          </a:prstGeom>
          <a:noFill/>
          <a:ln/>
        </p:spPr>
        <p:txBody>
          <a:bodyPr wrap="square" lIns="0" tIns="0" rIns="0" bIns="0" rtlCol="0" anchor="ctr"/>
          <a:lstStyle/>
          <a:p>
            <a:pPr indent="0" marL="0">
              <a:buNone/>
            </a:pPr>
            <a:r>
              <a:rPr lang="en-US" sz="2200" dirty="0">
                <a:solidFill>
                  <a:srgbClr val="8A86A3"/>
                </a:solidFill>
                <a:latin typeface="Calibri" pitchFamily="34" charset="0"/>
                <a:ea typeface="Calibri" pitchFamily="34" charset="-122"/>
                <a:cs typeface="Calibri" pitchFamily="34" charset="-120"/>
              </a:rPr>
              <a:t>It is about LEGO</a:t>
            </a:r>
            <a:endParaRPr lang="en-US" sz="2200" dirty="0"/>
          </a:p>
        </p:txBody>
      </p:sp>
      <p:sp>
        <p:nvSpPr>
          <p:cNvPr id="17" name="Text 1232"/>
          <p:cNvSpPr txBox="1"/>
          <p:nvPr/>
        </p:nvSpPr>
        <p:spPr>
          <a:xfrm>
            <a:off x="457200" y="4572000"/>
            <a:ext cx="8229600" cy="457200"/>
          </a:xfrm>
          <a:prstGeom prst="rect">
            <a:avLst/>
          </a:prstGeom>
          <a:noFill/>
          <a:ln/>
        </p:spPr>
        <p:txBody>
          <a:bodyPr wrap="square" lIns="0" tIns="0" rIns="0" bIns="0" rtlCol="0" anchor="t"/>
          <a:lstStyle/>
          <a:p>
            <a:pPr algn="ctr" indent="0" marL="0">
              <a:buNone/>
            </a:pPr>
            <a:r>
              <a:rPr lang="en-US" sz="2000" b="1" dirty="0">
                <a:solidFill>
                  <a:srgbClr val="2E9E5B"/>
                </a:solidFill>
                <a:latin typeface="Calibri" pitchFamily="34" charset="0"/>
                <a:ea typeface="Calibri" pitchFamily="34" charset="-122"/>
                <a:cs typeface="Calibri" pitchFamily="34" charset="-120"/>
              </a:rPr>
              <a:t>The ending shows the place or type.</a:t>
            </a:r>
            <a:endParaRPr lang="en-US" sz="20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Accent 1233"/>
          <p:cNvSpPr/>
          <p:nvPr/>
        </p:nvSpPr>
        <p:spPr>
          <a:xfrm>
            <a:off x="0" y="274320"/>
            <a:ext cx="164592" cy="685800"/>
          </a:xfrm>
          <a:prstGeom prst="rect">
            <a:avLst/>
          </a:prstGeom>
          <a:solidFill>
            <a:srgbClr val="FF5C8A"/>
          </a:solidFill>
          <a:ln w="12700">
            <a:solidFill>
              <a:srgbClr val="FF5C8A"/>
            </a:solidFill>
            <a:prstDash val="solid"/>
          </a:ln>
        </p:spPr>
      </p:sp>
      <p:sp>
        <p:nvSpPr>
          <p:cNvPr id="3" name="Text 1234"/>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Quick quiz</a:t>
            </a:r>
            <a:endParaRPr lang="en-US" sz="3000" dirty="0"/>
          </a:p>
        </p:txBody>
      </p:sp>
      <p:sp>
        <p:nvSpPr>
          <p:cNvPr id="4" name="Text 1235"/>
          <p:cNvSpPr txBox="1"/>
          <p:nvPr/>
        </p:nvSpPr>
        <p:spPr>
          <a:xfrm>
            <a:off x="457200" y="1051560"/>
            <a:ext cx="8229600" cy="914400"/>
          </a:xfrm>
          <a:prstGeom prst="rect">
            <a:avLst/>
          </a:prstGeom>
          <a:noFill/>
          <a:ln/>
        </p:spPr>
        <p:txBody>
          <a:bodyPr wrap="square" lIns="0" tIns="0" rIns="0" bIns="0" rtlCol="0" anchor="ctr"/>
          <a:lstStyle/>
          <a:p>
            <a:pPr indent="0" marL="0">
              <a:buNone/>
            </a:pPr>
            <a:r>
              <a:rPr lang="en-US" sz="2600" b="1" dirty="0">
                <a:solidFill>
                  <a:schemeClr val="tx1"/>
                </a:solidFill>
                <a:latin typeface="Calibri" pitchFamily="34" charset="0"/>
                <a:ea typeface="Calibri" pitchFamily="34" charset="-122"/>
                <a:cs typeface="Calibri" pitchFamily="34" charset="-120"/>
              </a:rPr>
              <a:t>Who owns the content on a website?</a:t>
            </a:r>
            <a:endParaRPr lang="en-US" sz="2600" dirty="0"/>
          </a:p>
        </p:txBody>
      </p:sp>
      <p:sp>
        <p:nvSpPr>
          <p:cNvPr id="5" name="Card 1236"/>
          <p:cNvSpPr/>
          <p:nvPr/>
        </p:nvSpPr>
        <p:spPr>
          <a:xfrm>
            <a:off x="457200" y="219456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6" name="Dot 1237"/>
          <p:cNvSpPr/>
          <p:nvPr/>
        </p:nvSpPr>
        <p:spPr>
          <a:xfrm>
            <a:off x="594360" y="2322576"/>
            <a:ext cx="457200" cy="457200"/>
          </a:xfrm>
          <a:prstGeom prst="ellipse">
            <a:avLst/>
          </a:prstGeom>
          <a:solidFill>
            <a:srgbClr val="FF5C8A"/>
          </a:solidFill>
          <a:ln w="12700">
            <a:solidFill>
              <a:srgbClr val="FFFFFF"/>
            </a:solidFill>
            <a:prstDash val="solid"/>
          </a:ln>
        </p:spPr>
      </p:sp>
      <p:sp>
        <p:nvSpPr>
          <p:cNvPr id="7" name="Text 1238"/>
          <p:cNvSpPr txBox="1"/>
          <p:nvPr/>
        </p:nvSpPr>
        <p:spPr>
          <a:xfrm>
            <a:off x="594360" y="2322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8" name="Text 1239"/>
          <p:cNvSpPr txBox="1"/>
          <p:nvPr/>
        </p:nvSpPr>
        <p:spPr>
          <a:xfrm>
            <a:off x="1188720" y="219456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Whoever made it</a:t>
            </a:r>
            <a:endParaRPr lang="en-US" sz="2200" dirty="0"/>
          </a:p>
        </p:txBody>
      </p:sp>
      <p:sp>
        <p:nvSpPr>
          <p:cNvPr id="9" name="Card 1240"/>
          <p:cNvSpPr/>
          <p:nvPr/>
        </p:nvSpPr>
        <p:spPr>
          <a:xfrm>
            <a:off x="457200" y="301752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10" name="Dot 1241"/>
          <p:cNvSpPr/>
          <p:nvPr/>
        </p:nvSpPr>
        <p:spPr>
          <a:xfrm>
            <a:off x="594360" y="3145536"/>
            <a:ext cx="457200" cy="457200"/>
          </a:xfrm>
          <a:prstGeom prst="ellipse">
            <a:avLst/>
          </a:prstGeom>
          <a:solidFill>
            <a:srgbClr val="FF5C8A"/>
          </a:solidFill>
          <a:ln w="12700">
            <a:solidFill>
              <a:srgbClr val="FFFFFF"/>
            </a:solidFill>
            <a:prstDash val="solid"/>
          </a:ln>
        </p:spPr>
      </p:sp>
      <p:sp>
        <p:nvSpPr>
          <p:cNvPr id="11" name="Text 1242"/>
          <p:cNvSpPr txBox="1"/>
          <p:nvPr/>
        </p:nvSpPr>
        <p:spPr>
          <a:xfrm>
            <a:off x="594360" y="314553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243"/>
          <p:cNvSpPr txBox="1"/>
          <p:nvPr/>
        </p:nvSpPr>
        <p:spPr>
          <a:xfrm>
            <a:off x="1188720" y="301752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Anyone who views it</a:t>
            </a:r>
            <a:endParaRPr lang="en-US" sz="2200" dirty="0"/>
          </a:p>
        </p:txBody>
      </p:sp>
      <p:sp>
        <p:nvSpPr>
          <p:cNvPr id="13" name="Card 1244"/>
          <p:cNvSpPr/>
          <p:nvPr/>
        </p:nvSpPr>
        <p:spPr>
          <a:xfrm>
            <a:off x="457200" y="384048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14" name="Dot 1245"/>
          <p:cNvSpPr/>
          <p:nvPr/>
        </p:nvSpPr>
        <p:spPr>
          <a:xfrm>
            <a:off x="594360" y="3968496"/>
            <a:ext cx="457200" cy="457200"/>
          </a:xfrm>
          <a:prstGeom prst="ellipse">
            <a:avLst/>
          </a:prstGeom>
          <a:solidFill>
            <a:srgbClr val="FF5C8A"/>
          </a:solidFill>
          <a:ln w="12700">
            <a:solidFill>
              <a:srgbClr val="FFFFFF"/>
            </a:solidFill>
            <a:prstDash val="solid"/>
          </a:ln>
        </p:spPr>
      </p:sp>
      <p:sp>
        <p:nvSpPr>
          <p:cNvPr id="15" name="Text 1246"/>
          <p:cNvSpPr txBox="1"/>
          <p:nvPr/>
        </p:nvSpPr>
        <p:spPr>
          <a:xfrm>
            <a:off x="594360" y="39684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6" name="Text 1247"/>
          <p:cNvSpPr txBox="1"/>
          <p:nvPr/>
        </p:nvSpPr>
        <p:spPr>
          <a:xfrm>
            <a:off x="1188720" y="384048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Nobody</a:t>
            </a:r>
            <a:endParaRPr lang="en-US" sz="22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Accent 1248"/>
          <p:cNvSpPr/>
          <p:nvPr/>
        </p:nvSpPr>
        <p:spPr>
          <a:xfrm>
            <a:off x="0" y="274320"/>
            <a:ext cx="164592" cy="685800"/>
          </a:xfrm>
          <a:prstGeom prst="rect">
            <a:avLst/>
          </a:prstGeom>
          <a:solidFill>
            <a:srgbClr val="2E9E5B"/>
          </a:solidFill>
          <a:ln w="12700">
            <a:solidFill>
              <a:srgbClr val="2E9E5B"/>
            </a:solidFill>
            <a:prstDash val="solid"/>
          </a:ln>
        </p:spPr>
      </p:sp>
      <p:sp>
        <p:nvSpPr>
          <p:cNvPr id="3" name="Text 1249"/>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 The answer</a:t>
            </a:r>
            <a:endParaRPr lang="en-US" sz="3000" dirty="0"/>
          </a:p>
        </p:txBody>
      </p:sp>
      <p:sp>
        <p:nvSpPr>
          <p:cNvPr id="4" name="Text 1250"/>
          <p:cNvSpPr txBox="1"/>
          <p:nvPr/>
        </p:nvSpPr>
        <p:spPr>
          <a:xfrm>
            <a:off x="457200" y="1051560"/>
            <a:ext cx="8229600" cy="914400"/>
          </a:xfrm>
          <a:prstGeom prst="rect">
            <a:avLst/>
          </a:prstGeom>
          <a:noFill/>
          <a:ln/>
        </p:spPr>
        <p:txBody>
          <a:bodyPr wrap="square" lIns="0" tIns="0" rIns="0" bIns="0" rtlCol="0" anchor="ctr"/>
          <a:lstStyle/>
          <a:p>
            <a:pPr indent="0" marL="0">
              <a:buNone/>
            </a:pPr>
            <a:r>
              <a:rPr lang="en-US" sz="2600" b="1" dirty="0">
                <a:solidFill>
                  <a:schemeClr val="tx1"/>
                </a:solidFill>
                <a:latin typeface="Calibri" pitchFamily="34" charset="0"/>
                <a:ea typeface="Calibri" pitchFamily="34" charset="-122"/>
                <a:cs typeface="Calibri" pitchFamily="34" charset="-120"/>
              </a:rPr>
              <a:t>Who owns the content on a website?</a:t>
            </a:r>
            <a:endParaRPr lang="en-US" sz="2600" dirty="0"/>
          </a:p>
        </p:txBody>
      </p:sp>
      <p:sp>
        <p:nvSpPr>
          <p:cNvPr id="5" name="Card 1251"/>
          <p:cNvSpPr/>
          <p:nvPr/>
        </p:nvSpPr>
        <p:spPr>
          <a:xfrm>
            <a:off x="457200" y="2194560"/>
            <a:ext cx="8229600" cy="713232"/>
          </a:xfrm>
          <a:prstGeom prst="roundRect">
            <a:avLst>
              <a:gd name="adj" fmla="val 15385"/>
            </a:avLst>
          </a:prstGeom>
          <a:solidFill>
            <a:srgbClr val="D9F5E6"/>
          </a:solidFill>
          <a:ln w="38100">
            <a:solidFill>
              <a:srgbClr val="2E9E5B"/>
            </a:solidFill>
            <a:prstDash val="solid"/>
          </a:ln>
          <a:effectLst>
            <a:outerShdw sx="100000" sy="100000" kx="0" ky="0" algn="bl" rotWithShape="0" blurRad="76200" dist="25400" dir="5400000">
              <a:srgbClr val="2B2250">
                <a:alpha val="15000"/>
              </a:srgbClr>
            </a:outerShdw>
          </a:effectLst>
        </p:spPr>
      </p:sp>
      <p:sp>
        <p:nvSpPr>
          <p:cNvPr id="6" name="Dot 1252"/>
          <p:cNvSpPr/>
          <p:nvPr/>
        </p:nvSpPr>
        <p:spPr>
          <a:xfrm>
            <a:off x="594360" y="2322576"/>
            <a:ext cx="457200" cy="457200"/>
          </a:xfrm>
          <a:prstGeom prst="ellipse">
            <a:avLst/>
          </a:prstGeom>
          <a:solidFill>
            <a:srgbClr val="2E9E5B"/>
          </a:solidFill>
          <a:ln w="12700">
            <a:solidFill>
              <a:srgbClr val="FFFFFF"/>
            </a:solidFill>
            <a:prstDash val="solid"/>
          </a:ln>
        </p:spPr>
      </p:sp>
      <p:sp>
        <p:nvSpPr>
          <p:cNvPr id="7" name="Text 1253"/>
          <p:cNvSpPr txBox="1"/>
          <p:nvPr/>
        </p:nvSpPr>
        <p:spPr>
          <a:xfrm>
            <a:off x="594360" y="2322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8" name="Text 1254"/>
          <p:cNvSpPr txBox="1"/>
          <p:nvPr/>
        </p:nvSpPr>
        <p:spPr>
          <a:xfrm>
            <a:off x="1188720" y="2194560"/>
            <a:ext cx="7406640" cy="713232"/>
          </a:xfrm>
          <a:prstGeom prst="rect">
            <a:avLst/>
          </a:prstGeom>
          <a:noFill/>
          <a:ln/>
        </p:spPr>
        <p:txBody>
          <a:bodyPr wrap="square" lIns="0" tIns="0" rIns="0" bIns="0" rtlCol="0" anchor="ctr"/>
          <a:lstStyle/>
          <a:p>
            <a:pPr indent="0" marL="0">
              <a:buNone/>
            </a:pPr>
            <a:r>
              <a:rPr lang="en-US" sz="2200" b="1" dirty="0">
                <a:solidFill>
                  <a:srgbClr val="2B2250"/>
                </a:solidFill>
                <a:latin typeface="Calibri" pitchFamily="34" charset="0"/>
                <a:ea typeface="Calibri" pitchFamily="34" charset="-122"/>
                <a:cs typeface="Calibri" pitchFamily="34" charset="-120"/>
              </a:rPr>
              <a:t>Whoever made it</a:t>
            </a:r>
            <a:endParaRPr lang="en-US" sz="2200" dirty="0"/>
          </a:p>
        </p:txBody>
      </p:sp>
      <p:sp>
        <p:nvSpPr>
          <p:cNvPr id="9" name="Card 1255"/>
          <p:cNvSpPr/>
          <p:nvPr/>
        </p:nvSpPr>
        <p:spPr>
          <a:xfrm>
            <a:off x="457200" y="3017520"/>
            <a:ext cx="8229600" cy="713232"/>
          </a:xfrm>
          <a:prstGeom prst="roundRect">
            <a:avLst>
              <a:gd name="adj" fmla="val 15385"/>
            </a:avLst>
          </a:prstGeom>
          <a:solidFill>
            <a:srgbClr val="FFFFFF"/>
          </a:solidFill>
          <a:ln w="19050">
            <a:solidFill>
              <a:srgbClr val="DDDAEA"/>
            </a:solidFill>
            <a:prstDash val="solid"/>
          </a:ln>
          <a:effectLst>
            <a:outerShdw sx="100000" sy="100000" kx="0" ky="0" algn="bl" rotWithShape="0" blurRad="76200" dist="25400" dir="5400000">
              <a:srgbClr val="2B2250">
                <a:alpha val="15000"/>
              </a:srgbClr>
            </a:outerShdw>
          </a:effectLst>
        </p:spPr>
      </p:sp>
      <p:sp>
        <p:nvSpPr>
          <p:cNvPr id="10" name="Dot 1256"/>
          <p:cNvSpPr/>
          <p:nvPr/>
        </p:nvSpPr>
        <p:spPr>
          <a:xfrm>
            <a:off x="594360" y="3145536"/>
            <a:ext cx="457200" cy="457200"/>
          </a:xfrm>
          <a:prstGeom prst="ellipse">
            <a:avLst/>
          </a:prstGeom>
          <a:solidFill>
            <a:srgbClr val="CFCBE0"/>
          </a:solidFill>
          <a:ln w="12700">
            <a:solidFill>
              <a:srgbClr val="FFFFFF"/>
            </a:solidFill>
            <a:prstDash val="solid"/>
          </a:ln>
        </p:spPr>
      </p:sp>
      <p:sp>
        <p:nvSpPr>
          <p:cNvPr id="11" name="Text 1257"/>
          <p:cNvSpPr txBox="1"/>
          <p:nvPr/>
        </p:nvSpPr>
        <p:spPr>
          <a:xfrm>
            <a:off x="594360" y="314553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258"/>
          <p:cNvSpPr txBox="1"/>
          <p:nvPr/>
        </p:nvSpPr>
        <p:spPr>
          <a:xfrm>
            <a:off x="1188720" y="3017520"/>
            <a:ext cx="7406640" cy="713232"/>
          </a:xfrm>
          <a:prstGeom prst="rect">
            <a:avLst/>
          </a:prstGeom>
          <a:noFill/>
          <a:ln/>
        </p:spPr>
        <p:txBody>
          <a:bodyPr wrap="square" lIns="0" tIns="0" rIns="0" bIns="0" rtlCol="0" anchor="ctr"/>
          <a:lstStyle/>
          <a:p>
            <a:pPr indent="0" marL="0">
              <a:buNone/>
            </a:pPr>
            <a:r>
              <a:rPr lang="en-US" sz="2200" dirty="0">
                <a:solidFill>
                  <a:srgbClr val="8A86A3"/>
                </a:solidFill>
                <a:latin typeface="Calibri" pitchFamily="34" charset="0"/>
                <a:ea typeface="Calibri" pitchFamily="34" charset="-122"/>
                <a:cs typeface="Calibri" pitchFamily="34" charset="-120"/>
              </a:rPr>
              <a:t>Anyone who views it</a:t>
            </a:r>
            <a:endParaRPr lang="en-US" sz="2200" dirty="0"/>
          </a:p>
        </p:txBody>
      </p:sp>
      <p:sp>
        <p:nvSpPr>
          <p:cNvPr id="13" name="Card 1259"/>
          <p:cNvSpPr/>
          <p:nvPr/>
        </p:nvSpPr>
        <p:spPr>
          <a:xfrm>
            <a:off x="457200" y="3840480"/>
            <a:ext cx="8229600" cy="713232"/>
          </a:xfrm>
          <a:prstGeom prst="roundRect">
            <a:avLst>
              <a:gd name="adj" fmla="val 15385"/>
            </a:avLst>
          </a:prstGeom>
          <a:solidFill>
            <a:srgbClr val="FFFFFF"/>
          </a:solidFill>
          <a:ln w="19050">
            <a:solidFill>
              <a:srgbClr val="DDDAEA"/>
            </a:solidFill>
            <a:prstDash val="solid"/>
          </a:ln>
          <a:effectLst>
            <a:outerShdw sx="100000" sy="100000" kx="0" ky="0" algn="bl" rotWithShape="0" blurRad="76200" dist="25400" dir="5400000">
              <a:srgbClr val="2B2250">
                <a:alpha val="15000"/>
              </a:srgbClr>
            </a:outerShdw>
          </a:effectLst>
        </p:spPr>
      </p:sp>
      <p:sp>
        <p:nvSpPr>
          <p:cNvPr id="14" name="Dot 1260"/>
          <p:cNvSpPr/>
          <p:nvPr/>
        </p:nvSpPr>
        <p:spPr>
          <a:xfrm>
            <a:off x="594360" y="3968496"/>
            <a:ext cx="457200" cy="457200"/>
          </a:xfrm>
          <a:prstGeom prst="ellipse">
            <a:avLst/>
          </a:prstGeom>
          <a:solidFill>
            <a:srgbClr val="CFCBE0"/>
          </a:solidFill>
          <a:ln w="12700">
            <a:solidFill>
              <a:srgbClr val="FFFFFF"/>
            </a:solidFill>
            <a:prstDash val="solid"/>
          </a:ln>
        </p:spPr>
      </p:sp>
      <p:sp>
        <p:nvSpPr>
          <p:cNvPr id="15" name="Text 1261"/>
          <p:cNvSpPr txBox="1"/>
          <p:nvPr/>
        </p:nvSpPr>
        <p:spPr>
          <a:xfrm>
            <a:off x="594360" y="39684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6" name="Text 1262"/>
          <p:cNvSpPr txBox="1"/>
          <p:nvPr/>
        </p:nvSpPr>
        <p:spPr>
          <a:xfrm>
            <a:off x="1188720" y="3840480"/>
            <a:ext cx="7406640" cy="713232"/>
          </a:xfrm>
          <a:prstGeom prst="rect">
            <a:avLst/>
          </a:prstGeom>
          <a:noFill/>
          <a:ln/>
        </p:spPr>
        <p:txBody>
          <a:bodyPr wrap="square" lIns="0" tIns="0" rIns="0" bIns="0" rtlCol="0" anchor="ctr"/>
          <a:lstStyle/>
          <a:p>
            <a:pPr indent="0" marL="0">
              <a:buNone/>
            </a:pPr>
            <a:r>
              <a:rPr lang="en-US" sz="2200" dirty="0">
                <a:solidFill>
                  <a:srgbClr val="8A86A3"/>
                </a:solidFill>
                <a:latin typeface="Calibri" pitchFamily="34" charset="0"/>
                <a:ea typeface="Calibri" pitchFamily="34" charset="-122"/>
                <a:cs typeface="Calibri" pitchFamily="34" charset="-120"/>
              </a:rPr>
              <a:t>Nobody</a:t>
            </a:r>
            <a:endParaRPr lang="en-US" sz="2200" dirty="0"/>
          </a:p>
        </p:txBody>
      </p:sp>
      <p:sp>
        <p:nvSpPr>
          <p:cNvPr id="17" name="Text 1263"/>
          <p:cNvSpPr txBox="1"/>
          <p:nvPr/>
        </p:nvSpPr>
        <p:spPr>
          <a:xfrm>
            <a:off x="457200" y="4572000"/>
            <a:ext cx="8229600" cy="457200"/>
          </a:xfrm>
          <a:prstGeom prst="rect">
            <a:avLst/>
          </a:prstGeom>
          <a:noFill/>
          <a:ln/>
        </p:spPr>
        <p:txBody>
          <a:bodyPr wrap="square" lIns="0" tIns="0" rIns="0" bIns="0" rtlCol="0" anchor="t"/>
          <a:lstStyle/>
          <a:p>
            <a:pPr algn="ctr" indent="0" marL="0">
              <a:buNone/>
            </a:pPr>
            <a:r>
              <a:rPr lang="en-US" sz="2000" b="1" dirty="0">
                <a:solidFill>
                  <a:srgbClr val="2E9E5B"/>
                </a:solidFill>
                <a:latin typeface="Calibri" pitchFamily="34" charset="0"/>
                <a:ea typeface="Calibri" pitchFamily="34" charset="-122"/>
                <a:cs typeface="Calibri" pitchFamily="34" charset="-120"/>
              </a:rPr>
              <a:t>The creator or owner. Always ask permission or give credit.</a:t>
            </a:r>
            <a:endParaRPr lang="en-US" sz="20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Accent 1264"/>
          <p:cNvSpPr/>
          <p:nvPr/>
        </p:nvSpPr>
        <p:spPr>
          <a:xfrm>
            <a:off x="0" y="274320"/>
            <a:ext cx="164592" cy="685800"/>
          </a:xfrm>
          <a:prstGeom prst="rect">
            <a:avLst/>
          </a:prstGeom>
          <a:solidFill>
            <a:srgbClr val="2E9E5B"/>
          </a:solidFill>
          <a:ln w="12700">
            <a:solidFill>
              <a:srgbClr val="2E9E5B"/>
            </a:solidFill>
            <a:prstDash val="solid"/>
          </a:ln>
        </p:spPr>
      </p:sp>
      <p:sp>
        <p:nvSpPr>
          <p:cNvPr id="3" name="Text 1265"/>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Quick quiz</a:t>
            </a:r>
            <a:endParaRPr lang="en-US" sz="3000" dirty="0"/>
          </a:p>
        </p:txBody>
      </p:sp>
      <p:sp>
        <p:nvSpPr>
          <p:cNvPr id="4" name="Text 1266"/>
          <p:cNvSpPr txBox="1"/>
          <p:nvPr/>
        </p:nvSpPr>
        <p:spPr>
          <a:xfrm>
            <a:off x="457200" y="1051560"/>
            <a:ext cx="8229600" cy="914400"/>
          </a:xfrm>
          <a:prstGeom prst="rect">
            <a:avLst/>
          </a:prstGeom>
          <a:noFill/>
          <a:ln/>
        </p:spPr>
        <p:txBody>
          <a:bodyPr wrap="square" lIns="0" tIns="0" rIns="0" bIns="0" rtlCol="0" anchor="ctr"/>
          <a:lstStyle/>
          <a:p>
            <a:pPr indent="0" marL="0">
              <a:buNone/>
            </a:pPr>
            <a:r>
              <a:rPr lang="en-US" sz="2600" b="1" dirty="0">
                <a:solidFill>
                  <a:schemeClr val="tx1"/>
                </a:solidFill>
                <a:latin typeface="Calibri" pitchFamily="34" charset="0"/>
                <a:ea typeface="Calibri" pitchFamily="34" charset="-122"/>
                <a:cs typeface="Calibri" pitchFamily="34" charset="-120"/>
              </a:rPr>
              <a:t>You see a shocking story online. What do you do first?</a:t>
            </a:r>
            <a:endParaRPr lang="en-US" sz="2600" dirty="0"/>
          </a:p>
        </p:txBody>
      </p:sp>
      <p:sp>
        <p:nvSpPr>
          <p:cNvPr id="5" name="Card 1267"/>
          <p:cNvSpPr/>
          <p:nvPr/>
        </p:nvSpPr>
        <p:spPr>
          <a:xfrm>
            <a:off x="457200" y="219456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6" name="Dot 1268"/>
          <p:cNvSpPr/>
          <p:nvPr/>
        </p:nvSpPr>
        <p:spPr>
          <a:xfrm>
            <a:off x="594360" y="2322576"/>
            <a:ext cx="457200" cy="457200"/>
          </a:xfrm>
          <a:prstGeom prst="ellipse">
            <a:avLst/>
          </a:prstGeom>
          <a:solidFill>
            <a:srgbClr val="2E9E5B"/>
          </a:solidFill>
          <a:ln w="12700">
            <a:solidFill>
              <a:srgbClr val="FFFFFF"/>
            </a:solidFill>
            <a:prstDash val="solid"/>
          </a:ln>
        </p:spPr>
      </p:sp>
      <p:sp>
        <p:nvSpPr>
          <p:cNvPr id="7" name="Text 1269"/>
          <p:cNvSpPr txBox="1"/>
          <p:nvPr/>
        </p:nvSpPr>
        <p:spPr>
          <a:xfrm>
            <a:off x="594360" y="2322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8" name="Text 1270"/>
          <p:cNvSpPr txBox="1"/>
          <p:nvPr/>
        </p:nvSpPr>
        <p:spPr>
          <a:xfrm>
            <a:off x="1188720" y="219456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Share it with everyone</a:t>
            </a:r>
            <a:endParaRPr lang="en-US" sz="2200" dirty="0"/>
          </a:p>
        </p:txBody>
      </p:sp>
      <p:sp>
        <p:nvSpPr>
          <p:cNvPr id="9" name="Card 1271"/>
          <p:cNvSpPr/>
          <p:nvPr/>
        </p:nvSpPr>
        <p:spPr>
          <a:xfrm>
            <a:off x="457200" y="301752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10" name="Dot 1272"/>
          <p:cNvSpPr/>
          <p:nvPr/>
        </p:nvSpPr>
        <p:spPr>
          <a:xfrm>
            <a:off x="594360" y="3145536"/>
            <a:ext cx="457200" cy="457200"/>
          </a:xfrm>
          <a:prstGeom prst="ellipse">
            <a:avLst/>
          </a:prstGeom>
          <a:solidFill>
            <a:srgbClr val="2E9E5B"/>
          </a:solidFill>
          <a:ln w="12700">
            <a:solidFill>
              <a:srgbClr val="FFFFFF"/>
            </a:solidFill>
            <a:prstDash val="solid"/>
          </a:ln>
        </p:spPr>
      </p:sp>
      <p:sp>
        <p:nvSpPr>
          <p:cNvPr id="11" name="Text 1273"/>
          <p:cNvSpPr txBox="1"/>
          <p:nvPr/>
        </p:nvSpPr>
        <p:spPr>
          <a:xfrm>
            <a:off x="594360" y="314553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274"/>
          <p:cNvSpPr txBox="1"/>
          <p:nvPr/>
        </p:nvSpPr>
        <p:spPr>
          <a:xfrm>
            <a:off x="1188720" y="301752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Check if it is true</a:t>
            </a:r>
            <a:endParaRPr lang="en-US" sz="2200" dirty="0"/>
          </a:p>
        </p:txBody>
      </p:sp>
      <p:sp>
        <p:nvSpPr>
          <p:cNvPr id="13" name="Card 1275"/>
          <p:cNvSpPr/>
          <p:nvPr/>
        </p:nvSpPr>
        <p:spPr>
          <a:xfrm>
            <a:off x="457200" y="3840480"/>
            <a:ext cx="8229600" cy="713232"/>
          </a:xfrm>
          <a:prstGeom prst="roundRect">
            <a:avLst>
              <a:gd name="adj" fmla="val 15385"/>
            </a:avLst>
          </a:prstGeom>
          <a:solidFill>
            <a:srgbClr val="FFFFFF"/>
          </a:solidFill>
          <a:ln w="19050">
            <a:solidFill>
              <a:srgbClr val="C9C3EA"/>
            </a:solidFill>
            <a:prstDash val="solid"/>
          </a:ln>
          <a:effectLst>
            <a:outerShdw sx="100000" sy="100000" kx="0" ky="0" algn="bl" rotWithShape="0" blurRad="76200" dist="25400" dir="5400000">
              <a:srgbClr val="2B2250">
                <a:alpha val="15000"/>
              </a:srgbClr>
            </a:outerShdw>
          </a:effectLst>
        </p:spPr>
      </p:sp>
      <p:sp>
        <p:nvSpPr>
          <p:cNvPr id="14" name="Dot 1276"/>
          <p:cNvSpPr/>
          <p:nvPr/>
        </p:nvSpPr>
        <p:spPr>
          <a:xfrm>
            <a:off x="594360" y="3968496"/>
            <a:ext cx="457200" cy="457200"/>
          </a:xfrm>
          <a:prstGeom prst="ellipse">
            <a:avLst/>
          </a:prstGeom>
          <a:solidFill>
            <a:srgbClr val="2E9E5B"/>
          </a:solidFill>
          <a:ln w="12700">
            <a:solidFill>
              <a:srgbClr val="FFFFFF"/>
            </a:solidFill>
            <a:prstDash val="solid"/>
          </a:ln>
        </p:spPr>
      </p:sp>
      <p:sp>
        <p:nvSpPr>
          <p:cNvPr id="15" name="Text 1277"/>
          <p:cNvSpPr txBox="1"/>
          <p:nvPr/>
        </p:nvSpPr>
        <p:spPr>
          <a:xfrm>
            <a:off x="594360" y="39684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6" name="Text 1278"/>
          <p:cNvSpPr txBox="1"/>
          <p:nvPr/>
        </p:nvSpPr>
        <p:spPr>
          <a:xfrm>
            <a:off x="1188720" y="3840480"/>
            <a:ext cx="7406640" cy="713232"/>
          </a:xfrm>
          <a:prstGeom prst="rect">
            <a:avLst/>
          </a:prstGeom>
          <a:noFill/>
          <a:ln/>
        </p:spPr>
        <p:txBody>
          <a:bodyPr wrap="square" lIns="0" tIns="0" rIns="0" bIns="0" rtlCol="0" anchor="ctr"/>
          <a:lstStyle/>
          <a:p>
            <a:pPr indent="0" marL="0">
              <a:buNone/>
            </a:pPr>
            <a:r>
              <a:rPr lang="en-US" sz="2200" dirty="0">
                <a:solidFill>
                  <a:srgbClr val="2B2250"/>
                </a:solidFill>
                <a:latin typeface="Calibri" pitchFamily="34" charset="0"/>
                <a:ea typeface="Calibri" pitchFamily="34" charset="-122"/>
                <a:cs typeface="Calibri" pitchFamily="34" charset="-120"/>
              </a:rPr>
              <a:t>Believe it</a:t>
            </a:r>
            <a:endParaRPr lang="en-US" sz="22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Accent 1279"/>
          <p:cNvSpPr/>
          <p:nvPr/>
        </p:nvSpPr>
        <p:spPr>
          <a:xfrm>
            <a:off x="0" y="274320"/>
            <a:ext cx="164592" cy="685800"/>
          </a:xfrm>
          <a:prstGeom prst="rect">
            <a:avLst/>
          </a:prstGeom>
          <a:solidFill>
            <a:srgbClr val="2E9E5B"/>
          </a:solidFill>
          <a:ln w="12700">
            <a:solidFill>
              <a:srgbClr val="2E9E5B"/>
            </a:solidFill>
            <a:prstDash val="solid"/>
          </a:ln>
        </p:spPr>
      </p:sp>
      <p:sp>
        <p:nvSpPr>
          <p:cNvPr id="3" name="Text 1280"/>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 The answer</a:t>
            </a:r>
            <a:endParaRPr lang="en-US" sz="3000" dirty="0"/>
          </a:p>
        </p:txBody>
      </p:sp>
      <p:sp>
        <p:nvSpPr>
          <p:cNvPr id="4" name="Text 1281"/>
          <p:cNvSpPr txBox="1"/>
          <p:nvPr/>
        </p:nvSpPr>
        <p:spPr>
          <a:xfrm>
            <a:off x="457200" y="1051560"/>
            <a:ext cx="8229600" cy="914400"/>
          </a:xfrm>
          <a:prstGeom prst="rect">
            <a:avLst/>
          </a:prstGeom>
          <a:noFill/>
          <a:ln/>
        </p:spPr>
        <p:txBody>
          <a:bodyPr wrap="square" lIns="0" tIns="0" rIns="0" bIns="0" rtlCol="0" anchor="ctr"/>
          <a:lstStyle/>
          <a:p>
            <a:pPr indent="0" marL="0">
              <a:buNone/>
            </a:pPr>
            <a:r>
              <a:rPr lang="en-US" sz="2600" b="1" dirty="0">
                <a:solidFill>
                  <a:schemeClr val="tx1"/>
                </a:solidFill>
                <a:latin typeface="Calibri" pitchFamily="34" charset="0"/>
                <a:ea typeface="Calibri" pitchFamily="34" charset="-122"/>
                <a:cs typeface="Calibri" pitchFamily="34" charset="-120"/>
              </a:rPr>
              <a:t>You see a shocking story online. What do you do first?</a:t>
            </a:r>
            <a:endParaRPr lang="en-US" sz="2600" dirty="0"/>
          </a:p>
        </p:txBody>
      </p:sp>
      <p:sp>
        <p:nvSpPr>
          <p:cNvPr id="5" name="Card 1282"/>
          <p:cNvSpPr/>
          <p:nvPr/>
        </p:nvSpPr>
        <p:spPr>
          <a:xfrm>
            <a:off x="457200" y="2194560"/>
            <a:ext cx="8229600" cy="713232"/>
          </a:xfrm>
          <a:prstGeom prst="roundRect">
            <a:avLst>
              <a:gd name="adj" fmla="val 15385"/>
            </a:avLst>
          </a:prstGeom>
          <a:solidFill>
            <a:srgbClr val="FFFFFF"/>
          </a:solidFill>
          <a:ln w="19050">
            <a:solidFill>
              <a:srgbClr val="DDDAEA"/>
            </a:solidFill>
            <a:prstDash val="solid"/>
          </a:ln>
          <a:effectLst>
            <a:outerShdw sx="100000" sy="100000" kx="0" ky="0" algn="bl" rotWithShape="0" blurRad="76200" dist="25400" dir="5400000">
              <a:srgbClr val="2B2250">
                <a:alpha val="15000"/>
              </a:srgbClr>
            </a:outerShdw>
          </a:effectLst>
        </p:spPr>
      </p:sp>
      <p:sp>
        <p:nvSpPr>
          <p:cNvPr id="6" name="Dot 1283"/>
          <p:cNvSpPr/>
          <p:nvPr/>
        </p:nvSpPr>
        <p:spPr>
          <a:xfrm>
            <a:off x="594360" y="2322576"/>
            <a:ext cx="457200" cy="457200"/>
          </a:xfrm>
          <a:prstGeom prst="ellipse">
            <a:avLst/>
          </a:prstGeom>
          <a:solidFill>
            <a:srgbClr val="CFCBE0"/>
          </a:solidFill>
          <a:ln w="12700">
            <a:solidFill>
              <a:srgbClr val="FFFFFF"/>
            </a:solidFill>
            <a:prstDash val="solid"/>
          </a:ln>
        </p:spPr>
      </p:sp>
      <p:sp>
        <p:nvSpPr>
          <p:cNvPr id="7" name="Text 1284"/>
          <p:cNvSpPr txBox="1"/>
          <p:nvPr/>
        </p:nvSpPr>
        <p:spPr>
          <a:xfrm>
            <a:off x="594360" y="2322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a:t>
            </a:r>
            <a:endParaRPr lang="en-US" sz="2000" dirty="0"/>
          </a:p>
        </p:txBody>
      </p:sp>
      <p:sp>
        <p:nvSpPr>
          <p:cNvPr id="8" name="Text 1285"/>
          <p:cNvSpPr txBox="1"/>
          <p:nvPr/>
        </p:nvSpPr>
        <p:spPr>
          <a:xfrm>
            <a:off x="1188720" y="2194560"/>
            <a:ext cx="7406640" cy="713232"/>
          </a:xfrm>
          <a:prstGeom prst="rect">
            <a:avLst/>
          </a:prstGeom>
          <a:noFill/>
          <a:ln/>
        </p:spPr>
        <p:txBody>
          <a:bodyPr wrap="square" lIns="0" tIns="0" rIns="0" bIns="0" rtlCol="0" anchor="ctr"/>
          <a:lstStyle/>
          <a:p>
            <a:pPr indent="0" marL="0">
              <a:buNone/>
            </a:pPr>
            <a:r>
              <a:rPr lang="en-US" sz="2200" dirty="0">
                <a:solidFill>
                  <a:srgbClr val="8A86A3"/>
                </a:solidFill>
                <a:latin typeface="Calibri" pitchFamily="34" charset="0"/>
                <a:ea typeface="Calibri" pitchFamily="34" charset="-122"/>
                <a:cs typeface="Calibri" pitchFamily="34" charset="-120"/>
              </a:rPr>
              <a:t>Share it with everyone</a:t>
            </a:r>
            <a:endParaRPr lang="en-US" sz="2200" dirty="0"/>
          </a:p>
        </p:txBody>
      </p:sp>
      <p:sp>
        <p:nvSpPr>
          <p:cNvPr id="9" name="Card 1286"/>
          <p:cNvSpPr/>
          <p:nvPr/>
        </p:nvSpPr>
        <p:spPr>
          <a:xfrm>
            <a:off x="457200" y="3017520"/>
            <a:ext cx="8229600" cy="713232"/>
          </a:xfrm>
          <a:prstGeom prst="roundRect">
            <a:avLst>
              <a:gd name="adj" fmla="val 15385"/>
            </a:avLst>
          </a:prstGeom>
          <a:solidFill>
            <a:srgbClr val="D9F5E6"/>
          </a:solidFill>
          <a:ln w="38100">
            <a:solidFill>
              <a:srgbClr val="2E9E5B"/>
            </a:solidFill>
            <a:prstDash val="solid"/>
          </a:ln>
          <a:effectLst>
            <a:outerShdw sx="100000" sy="100000" kx="0" ky="0" algn="bl" rotWithShape="0" blurRad="76200" dist="25400" dir="5400000">
              <a:srgbClr val="2B2250">
                <a:alpha val="15000"/>
              </a:srgbClr>
            </a:outerShdw>
          </a:effectLst>
        </p:spPr>
      </p:sp>
      <p:sp>
        <p:nvSpPr>
          <p:cNvPr id="10" name="Dot 1287"/>
          <p:cNvSpPr/>
          <p:nvPr/>
        </p:nvSpPr>
        <p:spPr>
          <a:xfrm>
            <a:off x="594360" y="3145536"/>
            <a:ext cx="457200" cy="457200"/>
          </a:xfrm>
          <a:prstGeom prst="ellipse">
            <a:avLst/>
          </a:prstGeom>
          <a:solidFill>
            <a:srgbClr val="2E9E5B"/>
          </a:solidFill>
          <a:ln w="12700">
            <a:solidFill>
              <a:srgbClr val="FFFFFF"/>
            </a:solidFill>
            <a:prstDash val="solid"/>
          </a:ln>
        </p:spPr>
      </p:sp>
      <p:sp>
        <p:nvSpPr>
          <p:cNvPr id="11" name="Text 1288"/>
          <p:cNvSpPr txBox="1"/>
          <p:nvPr/>
        </p:nvSpPr>
        <p:spPr>
          <a:xfrm>
            <a:off x="594360" y="314553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B</a:t>
            </a:r>
            <a:endParaRPr lang="en-US" sz="2000" dirty="0"/>
          </a:p>
        </p:txBody>
      </p:sp>
      <p:sp>
        <p:nvSpPr>
          <p:cNvPr id="12" name="Text 1289"/>
          <p:cNvSpPr txBox="1"/>
          <p:nvPr/>
        </p:nvSpPr>
        <p:spPr>
          <a:xfrm>
            <a:off x="1188720" y="3017520"/>
            <a:ext cx="7406640" cy="713232"/>
          </a:xfrm>
          <a:prstGeom prst="rect">
            <a:avLst/>
          </a:prstGeom>
          <a:noFill/>
          <a:ln/>
        </p:spPr>
        <p:txBody>
          <a:bodyPr wrap="square" lIns="0" tIns="0" rIns="0" bIns="0" rtlCol="0" anchor="ctr"/>
          <a:lstStyle/>
          <a:p>
            <a:pPr indent="0" marL="0">
              <a:buNone/>
            </a:pPr>
            <a:r>
              <a:rPr lang="en-US" sz="2200" b="1" dirty="0">
                <a:solidFill>
                  <a:srgbClr val="2B2250"/>
                </a:solidFill>
                <a:latin typeface="Calibri" pitchFamily="34" charset="0"/>
                <a:ea typeface="Calibri" pitchFamily="34" charset="-122"/>
                <a:cs typeface="Calibri" pitchFamily="34" charset="-120"/>
              </a:rPr>
              <a:t>Check if it is true</a:t>
            </a:r>
            <a:endParaRPr lang="en-US" sz="2200" dirty="0"/>
          </a:p>
        </p:txBody>
      </p:sp>
      <p:sp>
        <p:nvSpPr>
          <p:cNvPr id="13" name="Card 1290"/>
          <p:cNvSpPr/>
          <p:nvPr/>
        </p:nvSpPr>
        <p:spPr>
          <a:xfrm>
            <a:off x="457200" y="3840480"/>
            <a:ext cx="8229600" cy="713232"/>
          </a:xfrm>
          <a:prstGeom prst="roundRect">
            <a:avLst>
              <a:gd name="adj" fmla="val 15385"/>
            </a:avLst>
          </a:prstGeom>
          <a:solidFill>
            <a:srgbClr val="FFFFFF"/>
          </a:solidFill>
          <a:ln w="19050">
            <a:solidFill>
              <a:srgbClr val="DDDAEA"/>
            </a:solidFill>
            <a:prstDash val="solid"/>
          </a:ln>
          <a:effectLst>
            <a:outerShdw sx="100000" sy="100000" kx="0" ky="0" algn="bl" rotWithShape="0" blurRad="76200" dist="25400" dir="5400000">
              <a:srgbClr val="2B2250">
                <a:alpha val="15000"/>
              </a:srgbClr>
            </a:outerShdw>
          </a:effectLst>
        </p:spPr>
      </p:sp>
      <p:sp>
        <p:nvSpPr>
          <p:cNvPr id="14" name="Dot 1291"/>
          <p:cNvSpPr/>
          <p:nvPr/>
        </p:nvSpPr>
        <p:spPr>
          <a:xfrm>
            <a:off x="594360" y="3968496"/>
            <a:ext cx="457200" cy="457200"/>
          </a:xfrm>
          <a:prstGeom prst="ellipse">
            <a:avLst/>
          </a:prstGeom>
          <a:solidFill>
            <a:srgbClr val="CFCBE0"/>
          </a:solidFill>
          <a:ln w="12700">
            <a:solidFill>
              <a:srgbClr val="FFFFFF"/>
            </a:solidFill>
            <a:prstDash val="solid"/>
          </a:ln>
        </p:spPr>
      </p:sp>
      <p:sp>
        <p:nvSpPr>
          <p:cNvPr id="15" name="Text 1292"/>
          <p:cNvSpPr txBox="1"/>
          <p:nvPr/>
        </p:nvSpPr>
        <p:spPr>
          <a:xfrm>
            <a:off x="594360" y="39684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a:t>
            </a:r>
            <a:endParaRPr lang="en-US" sz="2000" dirty="0"/>
          </a:p>
        </p:txBody>
      </p:sp>
      <p:sp>
        <p:nvSpPr>
          <p:cNvPr id="16" name="Text 1293"/>
          <p:cNvSpPr txBox="1"/>
          <p:nvPr/>
        </p:nvSpPr>
        <p:spPr>
          <a:xfrm>
            <a:off x="1188720" y="3840480"/>
            <a:ext cx="7406640" cy="713232"/>
          </a:xfrm>
          <a:prstGeom prst="rect">
            <a:avLst/>
          </a:prstGeom>
          <a:noFill/>
          <a:ln/>
        </p:spPr>
        <p:txBody>
          <a:bodyPr wrap="square" lIns="0" tIns="0" rIns="0" bIns="0" rtlCol="0" anchor="ctr"/>
          <a:lstStyle/>
          <a:p>
            <a:pPr indent="0" marL="0">
              <a:buNone/>
            </a:pPr>
            <a:r>
              <a:rPr lang="en-US" sz="2200" dirty="0">
                <a:solidFill>
                  <a:srgbClr val="8A86A3"/>
                </a:solidFill>
                <a:latin typeface="Calibri" pitchFamily="34" charset="0"/>
                <a:ea typeface="Calibri" pitchFamily="34" charset="-122"/>
                <a:cs typeface="Calibri" pitchFamily="34" charset="-120"/>
              </a:rPr>
              <a:t>Believe it</a:t>
            </a:r>
            <a:endParaRPr lang="en-US" sz="2200" dirty="0"/>
          </a:p>
        </p:txBody>
      </p:sp>
      <p:sp>
        <p:nvSpPr>
          <p:cNvPr id="17" name="Text 1294"/>
          <p:cNvSpPr txBox="1"/>
          <p:nvPr/>
        </p:nvSpPr>
        <p:spPr>
          <a:xfrm>
            <a:off x="457200" y="4572000"/>
            <a:ext cx="8229600" cy="457200"/>
          </a:xfrm>
          <a:prstGeom prst="rect">
            <a:avLst/>
          </a:prstGeom>
          <a:noFill/>
          <a:ln/>
        </p:spPr>
        <p:txBody>
          <a:bodyPr wrap="square" lIns="0" tIns="0" rIns="0" bIns="0" rtlCol="0" anchor="t"/>
          <a:lstStyle/>
          <a:p>
            <a:pPr algn="ctr" indent="0" marL="0">
              <a:buNone/>
            </a:pPr>
            <a:r>
              <a:rPr lang="en-US" sz="2000" b="1" dirty="0">
                <a:solidFill>
                  <a:srgbClr val="2E9E5B"/>
                </a:solidFill>
                <a:latin typeface="Calibri" pitchFamily="34" charset="0"/>
                <a:ea typeface="Calibri" pitchFamily="34" charset="-122"/>
                <a:cs typeface="Calibri" pitchFamily="34" charset="-120"/>
              </a:rPr>
              <a:t>Check before you share.</a:t>
            </a:r>
            <a:endParaRPr lang="en-US" sz="20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Accent 1295"/>
          <p:cNvSpPr/>
          <p:nvPr/>
        </p:nvSpPr>
        <p:spPr>
          <a:xfrm>
            <a:off x="0" y="274320"/>
            <a:ext cx="164592" cy="685800"/>
          </a:xfrm>
          <a:prstGeom prst="rect">
            <a:avLst/>
          </a:prstGeom>
          <a:solidFill>
            <a:srgbClr val="1FB89A"/>
          </a:solidFill>
          <a:ln w="12700">
            <a:solidFill>
              <a:srgbClr val="1FB89A"/>
            </a:solidFill>
            <a:prstDash val="solid"/>
          </a:ln>
        </p:spPr>
      </p:sp>
      <p:sp>
        <p:nvSpPr>
          <p:cNvPr id="3" name="Text 1296"/>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1"/>
                </a:solidFill>
                <a:latin typeface="Calibri" pitchFamily="34" charset="0"/>
                <a:ea typeface="Calibri" pitchFamily="34" charset="-122"/>
                <a:cs typeface="Calibri" pitchFamily="34" charset="-120"/>
              </a:rPr>
              <a:t>How confident are you?</a:t>
            </a:r>
            <a:endParaRPr lang="en-US" sz="3000" dirty="0"/>
          </a:p>
        </p:txBody>
      </p:sp>
      <p:sp>
        <p:nvSpPr>
          <p:cNvPr id="4" name="Card 1297"/>
          <p:cNvSpPr/>
          <p:nvPr/>
        </p:nvSpPr>
        <p:spPr>
          <a:xfrm>
            <a:off x="457200" y="1188720"/>
            <a:ext cx="8229600" cy="749808"/>
          </a:xfrm>
          <a:prstGeom prst="roundRect">
            <a:avLst>
              <a:gd name="adj" fmla="val 14634"/>
            </a:avLst>
          </a:prstGeom>
          <a:solidFill>
            <a:srgbClr val="FFFFFF"/>
          </a:solidFill>
          <a:ln/>
          <a:effectLst>
            <a:outerShdw sx="100000" sy="100000" kx="0" ky="0" algn="bl" rotWithShape="0" blurRad="76200" dist="25400" dir="5400000">
              <a:srgbClr val="2B2250">
                <a:alpha val="15000"/>
              </a:srgbClr>
            </a:outerShdw>
          </a:effectLst>
        </p:spPr>
      </p:sp>
      <p:sp>
        <p:nvSpPr>
          <p:cNvPr id="5" name="Text 1298"/>
          <p:cNvSpPr txBox="1"/>
          <p:nvPr/>
        </p:nvSpPr>
        <p:spPr>
          <a:xfrm>
            <a:off x="640080" y="1188720"/>
            <a:ext cx="5760720" cy="749808"/>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I can describe the internet as a network of networks</a:t>
            </a:r>
            <a:endParaRPr lang="en-US" sz="1800" dirty="0"/>
          </a:p>
        </p:txBody>
      </p:sp>
      <p:pic>
        <p:nvPicPr>
          <p:cNvPr id="6" name="Icon 1299" descr="FaRegSadTear">    </p:cNvPr>
          <p:cNvPicPr>
            <a:picLocks noChangeAspect="1"/>
          </p:cNvPicPr>
          <p:nvPr/>
        </p:nvPicPr>
        <p:blipFill>
          <a:blip r:embed="rId1"/>
          <a:stretch>
            <a:fillRect/>
          </a:stretch>
        </p:blipFill>
        <p:spPr>
          <a:xfrm>
            <a:off x="6629400" y="1335024"/>
            <a:ext cx="457200" cy="457200"/>
          </a:xfrm>
          <a:prstGeom prst="rect">
            <a:avLst/>
          </a:prstGeom>
        </p:spPr>
      </p:pic>
      <p:pic>
        <p:nvPicPr>
          <p:cNvPr id="7" name="Icon 1300" descr="FaRegMeh">    </p:cNvPr>
          <p:cNvPicPr>
            <a:picLocks noChangeAspect="1"/>
          </p:cNvPicPr>
          <p:nvPr/>
        </p:nvPicPr>
        <p:blipFill>
          <a:blip r:embed="rId2"/>
          <a:stretch>
            <a:fillRect/>
          </a:stretch>
        </p:blipFill>
        <p:spPr>
          <a:xfrm>
            <a:off x="7269480" y="1335024"/>
            <a:ext cx="457200" cy="457200"/>
          </a:xfrm>
          <a:prstGeom prst="rect">
            <a:avLst/>
          </a:prstGeom>
        </p:spPr>
      </p:pic>
      <p:pic>
        <p:nvPicPr>
          <p:cNvPr id="8" name="Icon 1301" descr="FaRegGrinStars">    </p:cNvPr>
          <p:cNvPicPr>
            <a:picLocks noChangeAspect="1"/>
          </p:cNvPicPr>
          <p:nvPr/>
        </p:nvPicPr>
        <p:blipFill>
          <a:blip r:embed="rId3"/>
          <a:stretch>
            <a:fillRect/>
          </a:stretch>
        </p:blipFill>
        <p:spPr>
          <a:xfrm>
            <a:off x="7909560" y="1335024"/>
            <a:ext cx="457200" cy="457200"/>
          </a:xfrm>
          <a:prstGeom prst="rect">
            <a:avLst/>
          </a:prstGeom>
        </p:spPr>
      </p:pic>
      <p:sp>
        <p:nvSpPr>
          <p:cNvPr id="9" name="Card 1302"/>
          <p:cNvSpPr/>
          <p:nvPr/>
        </p:nvSpPr>
        <p:spPr>
          <a:xfrm>
            <a:off x="457200" y="2057400"/>
            <a:ext cx="8229600" cy="749808"/>
          </a:xfrm>
          <a:prstGeom prst="roundRect">
            <a:avLst>
              <a:gd name="adj" fmla="val 14634"/>
            </a:avLst>
          </a:prstGeom>
          <a:solidFill>
            <a:srgbClr val="FFFFFF"/>
          </a:solidFill>
          <a:ln/>
          <a:effectLst>
            <a:outerShdw sx="100000" sy="100000" kx="0" ky="0" algn="bl" rotWithShape="0" blurRad="76200" dist="25400" dir="5400000">
              <a:srgbClr val="2B2250">
                <a:alpha val="15000"/>
              </a:srgbClr>
            </a:outerShdw>
          </a:effectLst>
        </p:spPr>
      </p:sp>
      <p:sp>
        <p:nvSpPr>
          <p:cNvPr id="10" name="Text 1303"/>
          <p:cNvSpPr txBox="1"/>
          <p:nvPr/>
        </p:nvSpPr>
        <p:spPr>
          <a:xfrm>
            <a:off x="640080" y="2057400"/>
            <a:ext cx="5760720" cy="749808"/>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I can explain parts of the internet and the World Wide Web</a:t>
            </a:r>
            <a:endParaRPr lang="en-US" sz="1800" dirty="0"/>
          </a:p>
        </p:txBody>
      </p:sp>
      <p:pic>
        <p:nvPicPr>
          <p:cNvPr id="11" name="Icon 1304" descr="FaRegSadTear">    </p:cNvPr>
          <p:cNvPicPr>
            <a:picLocks noChangeAspect="1"/>
          </p:cNvPicPr>
          <p:nvPr/>
        </p:nvPicPr>
        <p:blipFill>
          <a:blip r:embed="rId4"/>
          <a:stretch>
            <a:fillRect/>
          </a:stretch>
        </p:blipFill>
        <p:spPr>
          <a:xfrm>
            <a:off x="6629400" y="2203704"/>
            <a:ext cx="457200" cy="457200"/>
          </a:xfrm>
          <a:prstGeom prst="rect">
            <a:avLst/>
          </a:prstGeom>
        </p:spPr>
      </p:pic>
      <p:pic>
        <p:nvPicPr>
          <p:cNvPr id="12" name="Icon 1305" descr="FaRegMeh">    </p:cNvPr>
          <p:cNvPicPr>
            <a:picLocks noChangeAspect="1"/>
          </p:cNvPicPr>
          <p:nvPr/>
        </p:nvPicPr>
        <p:blipFill>
          <a:blip r:embed="rId5"/>
          <a:stretch>
            <a:fillRect/>
          </a:stretch>
        </p:blipFill>
        <p:spPr>
          <a:xfrm>
            <a:off x="7269480" y="2203704"/>
            <a:ext cx="457200" cy="457200"/>
          </a:xfrm>
          <a:prstGeom prst="rect">
            <a:avLst/>
          </a:prstGeom>
        </p:spPr>
      </p:pic>
      <p:pic>
        <p:nvPicPr>
          <p:cNvPr id="13" name="Icon 1306" descr="FaRegGrinStars">    </p:cNvPr>
          <p:cNvPicPr>
            <a:picLocks noChangeAspect="1"/>
          </p:cNvPicPr>
          <p:nvPr/>
        </p:nvPicPr>
        <p:blipFill>
          <a:blip r:embed="rId6"/>
          <a:stretch>
            <a:fillRect/>
          </a:stretch>
        </p:blipFill>
        <p:spPr>
          <a:xfrm>
            <a:off x="7909560" y="2203704"/>
            <a:ext cx="457200" cy="457200"/>
          </a:xfrm>
          <a:prstGeom prst="rect">
            <a:avLst/>
          </a:prstGeom>
        </p:spPr>
      </p:pic>
      <p:sp>
        <p:nvSpPr>
          <p:cNvPr id="14" name="Card 1307"/>
          <p:cNvSpPr/>
          <p:nvPr/>
        </p:nvSpPr>
        <p:spPr>
          <a:xfrm>
            <a:off x="457200" y="2926080"/>
            <a:ext cx="8229600" cy="749808"/>
          </a:xfrm>
          <a:prstGeom prst="roundRect">
            <a:avLst>
              <a:gd name="adj" fmla="val 14634"/>
            </a:avLst>
          </a:prstGeom>
          <a:solidFill>
            <a:srgbClr val="FFFFFF"/>
          </a:solidFill>
          <a:ln/>
          <a:effectLst>
            <a:outerShdw sx="100000" sy="100000" kx="0" ky="0" algn="bl" rotWithShape="0" blurRad="76200" dist="25400" dir="5400000">
              <a:srgbClr val="2B2250">
                <a:alpha val="15000"/>
              </a:srgbClr>
            </a:outerShdw>
          </a:effectLst>
        </p:spPr>
      </p:sp>
      <p:sp>
        <p:nvSpPr>
          <p:cNvPr id="15" name="Text 1308"/>
          <p:cNvSpPr txBox="1"/>
          <p:nvPr/>
        </p:nvSpPr>
        <p:spPr>
          <a:xfrm>
            <a:off x="640080" y="2926080"/>
            <a:ext cx="5760720" cy="749808"/>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I can explain how websites are shared and found</a:t>
            </a:r>
            <a:endParaRPr lang="en-US" sz="1800" dirty="0"/>
          </a:p>
        </p:txBody>
      </p:sp>
      <p:pic>
        <p:nvPicPr>
          <p:cNvPr id="16" name="Icon 1309" descr="FaRegSadTear">    </p:cNvPr>
          <p:cNvPicPr>
            <a:picLocks noChangeAspect="1"/>
          </p:cNvPicPr>
          <p:nvPr/>
        </p:nvPicPr>
        <p:blipFill>
          <a:blip r:embed="rId7"/>
          <a:stretch>
            <a:fillRect/>
          </a:stretch>
        </p:blipFill>
        <p:spPr>
          <a:xfrm>
            <a:off x="6629400" y="3072384"/>
            <a:ext cx="457200" cy="457200"/>
          </a:xfrm>
          <a:prstGeom prst="rect">
            <a:avLst/>
          </a:prstGeom>
        </p:spPr>
      </p:pic>
      <p:pic>
        <p:nvPicPr>
          <p:cNvPr id="17" name="Icon 1310" descr="FaRegMeh">    </p:cNvPr>
          <p:cNvPicPr>
            <a:picLocks noChangeAspect="1"/>
          </p:cNvPicPr>
          <p:nvPr/>
        </p:nvPicPr>
        <p:blipFill>
          <a:blip r:embed="rId8"/>
          <a:stretch>
            <a:fillRect/>
          </a:stretch>
        </p:blipFill>
        <p:spPr>
          <a:xfrm>
            <a:off x="7269480" y="3072384"/>
            <a:ext cx="457200" cy="457200"/>
          </a:xfrm>
          <a:prstGeom prst="rect">
            <a:avLst/>
          </a:prstGeom>
        </p:spPr>
      </p:pic>
      <p:pic>
        <p:nvPicPr>
          <p:cNvPr id="18" name="Icon 1311" descr="FaRegGrinStars">    </p:cNvPr>
          <p:cNvPicPr>
            <a:picLocks noChangeAspect="1"/>
          </p:cNvPicPr>
          <p:nvPr/>
        </p:nvPicPr>
        <p:blipFill>
          <a:blip r:embed="rId9"/>
          <a:stretch>
            <a:fillRect/>
          </a:stretch>
        </p:blipFill>
        <p:spPr>
          <a:xfrm>
            <a:off x="7909560" y="3072384"/>
            <a:ext cx="457200" cy="457200"/>
          </a:xfrm>
          <a:prstGeom prst="rect">
            <a:avLst/>
          </a:prstGeom>
        </p:spPr>
      </p:pic>
      <p:sp>
        <p:nvSpPr>
          <p:cNvPr id="19" name="Card 1312"/>
          <p:cNvSpPr/>
          <p:nvPr/>
        </p:nvSpPr>
        <p:spPr>
          <a:xfrm>
            <a:off x="457200" y="3794760"/>
            <a:ext cx="8229600" cy="749808"/>
          </a:xfrm>
          <a:prstGeom prst="roundRect">
            <a:avLst>
              <a:gd name="adj" fmla="val 14634"/>
            </a:avLst>
          </a:prstGeom>
          <a:solidFill>
            <a:srgbClr val="FFFFFF"/>
          </a:solidFill>
          <a:ln/>
          <a:effectLst>
            <a:outerShdw sx="100000" sy="100000" kx="0" ky="0" algn="bl" rotWithShape="0" blurRad="76200" dist="25400" dir="5400000">
              <a:srgbClr val="2B2250">
                <a:alpha val="15000"/>
              </a:srgbClr>
            </a:outerShdw>
          </a:effectLst>
        </p:spPr>
      </p:sp>
      <p:sp>
        <p:nvSpPr>
          <p:cNvPr id="20" name="Text 1313"/>
          <p:cNvSpPr txBox="1"/>
          <p:nvPr/>
        </p:nvSpPr>
        <p:spPr>
          <a:xfrm>
            <a:off x="640080" y="3794760"/>
            <a:ext cx="5760720" cy="749808"/>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I can say who owns web content and why it matters</a:t>
            </a:r>
            <a:endParaRPr lang="en-US" sz="1800" dirty="0"/>
          </a:p>
        </p:txBody>
      </p:sp>
      <p:pic>
        <p:nvPicPr>
          <p:cNvPr id="21" name="Icon 1314" descr="FaRegSadTear">    </p:cNvPr>
          <p:cNvPicPr>
            <a:picLocks noChangeAspect="1"/>
          </p:cNvPicPr>
          <p:nvPr/>
        </p:nvPicPr>
        <p:blipFill>
          <a:blip r:embed="rId10"/>
          <a:stretch>
            <a:fillRect/>
          </a:stretch>
        </p:blipFill>
        <p:spPr>
          <a:xfrm>
            <a:off x="6629400" y="3941064"/>
            <a:ext cx="457200" cy="457200"/>
          </a:xfrm>
          <a:prstGeom prst="rect">
            <a:avLst/>
          </a:prstGeom>
        </p:spPr>
      </p:pic>
      <p:pic>
        <p:nvPicPr>
          <p:cNvPr id="22" name="Icon 1315" descr="FaRegMeh">    </p:cNvPr>
          <p:cNvPicPr>
            <a:picLocks noChangeAspect="1"/>
          </p:cNvPicPr>
          <p:nvPr/>
        </p:nvPicPr>
        <p:blipFill>
          <a:blip r:embed="rId11"/>
          <a:stretch>
            <a:fillRect/>
          </a:stretch>
        </p:blipFill>
        <p:spPr>
          <a:xfrm>
            <a:off x="7269480" y="3941064"/>
            <a:ext cx="457200" cy="457200"/>
          </a:xfrm>
          <a:prstGeom prst="rect">
            <a:avLst/>
          </a:prstGeom>
        </p:spPr>
      </p:pic>
      <p:pic>
        <p:nvPicPr>
          <p:cNvPr id="23" name="Icon 1316" descr="FaRegGrinStars">    </p:cNvPr>
          <p:cNvPicPr>
            <a:picLocks noChangeAspect="1"/>
          </p:cNvPicPr>
          <p:nvPr/>
        </p:nvPicPr>
        <p:blipFill>
          <a:blip r:embed="rId12"/>
          <a:stretch>
            <a:fillRect/>
          </a:stretch>
        </p:blipFill>
        <p:spPr>
          <a:xfrm>
            <a:off x="7909560" y="3941064"/>
            <a:ext cx="457200" cy="457200"/>
          </a:xfrm>
          <a:prstGeom prst="rect">
            <a:avLst/>
          </a:prstGeom>
        </p:spPr>
      </p:pic>
      <p:sp>
        <p:nvSpPr>
          <p:cNvPr id="24" name="Card 1317"/>
          <p:cNvSpPr/>
          <p:nvPr/>
        </p:nvSpPr>
        <p:spPr>
          <a:xfrm>
            <a:off x="457200" y="4663440"/>
            <a:ext cx="8229600" cy="749808"/>
          </a:xfrm>
          <a:prstGeom prst="roundRect">
            <a:avLst>
              <a:gd name="adj" fmla="val 14634"/>
            </a:avLst>
          </a:prstGeom>
          <a:solidFill>
            <a:srgbClr val="FFFFFF"/>
          </a:solidFill>
          <a:ln/>
          <a:effectLst>
            <a:outerShdw sx="100000" sy="100000" kx="0" ky="0" algn="bl" rotWithShape="0" blurRad="76200" dist="25400" dir="5400000">
              <a:srgbClr val="2B2250">
                <a:alpha val="15000"/>
              </a:srgbClr>
            </a:outerShdw>
          </a:effectLst>
        </p:spPr>
      </p:sp>
      <p:sp>
        <p:nvSpPr>
          <p:cNvPr id="25" name="Text 1318"/>
          <p:cNvSpPr txBox="1"/>
          <p:nvPr/>
        </p:nvSpPr>
        <p:spPr>
          <a:xfrm>
            <a:off x="640080" y="4663440"/>
            <a:ext cx="5760720" cy="749808"/>
          </a:xfrm>
          <a:prstGeom prst="rect">
            <a:avLst/>
          </a:prstGeom>
          <a:noFill/>
          <a:ln/>
        </p:spPr>
        <p:txBody>
          <a:bodyPr wrap="square" lIns="0" tIns="0" rIns="0" bIns="0" rtlCol="0" anchor="ctr"/>
          <a:lstStyle/>
          <a:p>
            <a:pPr indent="0" marL="0">
              <a:buNone/>
            </a:pPr>
            <a:r>
              <a:rPr lang="en-US" sz="1800" b="1" dirty="0">
                <a:solidFill>
                  <a:schemeClr val="tx1"/>
                </a:solidFill>
                <a:latin typeface="Calibri" pitchFamily="34" charset="0"/>
                <a:ea typeface="Calibri" pitchFamily="34" charset="-122"/>
                <a:cs typeface="Calibri" pitchFamily="34" charset="-120"/>
              </a:rPr>
              <a:t>I can say why I should check before I share</a:t>
            </a:r>
            <a:endParaRPr lang="en-US" sz="1800" dirty="0"/>
          </a:p>
        </p:txBody>
      </p:sp>
      <p:pic>
        <p:nvPicPr>
          <p:cNvPr id="26" name="Icon 1319" descr="FaRegSadTear">    </p:cNvPr>
          <p:cNvPicPr>
            <a:picLocks noChangeAspect="1"/>
          </p:cNvPicPr>
          <p:nvPr/>
        </p:nvPicPr>
        <p:blipFill>
          <a:blip r:embed="rId13"/>
          <a:stretch>
            <a:fillRect/>
          </a:stretch>
        </p:blipFill>
        <p:spPr>
          <a:xfrm>
            <a:off x="6629400" y="4809744"/>
            <a:ext cx="457200" cy="457200"/>
          </a:xfrm>
          <a:prstGeom prst="rect">
            <a:avLst/>
          </a:prstGeom>
        </p:spPr>
      </p:pic>
      <p:pic>
        <p:nvPicPr>
          <p:cNvPr id="27" name="Icon 1320" descr="FaRegMeh">    </p:cNvPr>
          <p:cNvPicPr>
            <a:picLocks noChangeAspect="1"/>
          </p:cNvPicPr>
          <p:nvPr/>
        </p:nvPicPr>
        <p:blipFill>
          <a:blip r:embed="rId14"/>
          <a:stretch>
            <a:fillRect/>
          </a:stretch>
        </p:blipFill>
        <p:spPr>
          <a:xfrm>
            <a:off x="7269480" y="4809744"/>
            <a:ext cx="457200" cy="457200"/>
          </a:xfrm>
          <a:prstGeom prst="rect">
            <a:avLst/>
          </a:prstGeom>
        </p:spPr>
      </p:pic>
      <p:pic>
        <p:nvPicPr>
          <p:cNvPr id="28" name="Icon 1321" descr="FaRegGrinStars">    </p:cNvPr>
          <p:cNvPicPr>
            <a:picLocks noChangeAspect="1"/>
          </p:cNvPicPr>
          <p:nvPr/>
        </p:nvPicPr>
        <p:blipFill>
          <a:blip r:embed="rId15"/>
          <a:stretch>
            <a:fillRect/>
          </a:stretch>
        </p:blipFill>
        <p:spPr>
          <a:xfrm>
            <a:off x="7909560" y="4809744"/>
            <a:ext cx="457200" cy="457200"/>
          </a:xfrm>
          <a:prstGeom prst="rect">
            <a:avLst/>
          </a:prstGeom>
        </p:spPr>
      </p:pic>
      <p:sp>
        <p:nvSpPr>
          <p:cNvPr id="29" name="Text 1322"/>
          <p:cNvSpPr txBox="1"/>
          <p:nvPr/>
        </p:nvSpPr>
        <p:spPr>
          <a:xfrm>
            <a:off x="457200" y="4572000"/>
            <a:ext cx="8229600" cy="365760"/>
          </a:xfrm>
          <a:prstGeom prst="rect">
            <a:avLst/>
          </a:prstGeom>
          <a:noFill/>
          <a:ln/>
        </p:spPr>
        <p:txBody>
          <a:bodyPr wrap="square" lIns="0" tIns="0" rIns="0" bIns="0" rtlCol="0" anchor="t"/>
          <a:lstStyle/>
          <a:p>
            <a:pPr algn="ctr" indent="0" marL="0">
              <a:buNone/>
            </a:pPr>
            <a:r>
              <a:rPr lang="en-US" sz="1600" dirty="0">
                <a:solidFill>
                  <a:srgbClr val="6B6685"/>
                </a:solidFill>
                <a:latin typeface="Calibri" pitchFamily="34" charset="0"/>
                <a:ea typeface="Calibri" pitchFamily="34" charset="-122"/>
                <a:cs typeface="Calibri" pitchFamily="34" charset="-120"/>
              </a:rPr>
              <a:t>1 = not sure     2 = getting there     3 = I can do it!</a:t>
            </a:r>
            <a:endParaRPr lang="en-US" sz="16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1323"/>
          <p:cNvSpPr txBox="1"/>
          <p:nvPr/>
        </p:nvSpPr>
        <p:spPr>
          <a:xfrm>
            <a:off x="731520" y="1371600"/>
            <a:ext cx="7680960" cy="1097280"/>
          </a:xfrm>
          <a:prstGeom prst="rect">
            <a:avLst/>
          </a:prstGeom>
          <a:noFill/>
          <a:ln/>
        </p:spPr>
        <p:txBody>
          <a:bodyPr wrap="square" lIns="0" tIns="0" rIns="0" bIns="0" rtlCol="0" anchor="t"/>
          <a:lstStyle/>
          <a:p>
            <a:pPr algn="ctr" indent="0" marL="0">
              <a:buNone/>
            </a:pPr>
            <a:r>
              <a:rPr lang="en-US" sz="4800" b="1" dirty="0">
                <a:solidFill>
                  <a:srgbClr val="FFFFFF"/>
                </a:solidFill>
                <a:latin typeface="Calibri" pitchFamily="34" charset="0"/>
                <a:ea typeface="Calibri" pitchFamily="34" charset="-122"/>
                <a:cs typeface="Calibri" pitchFamily="34" charset="-120"/>
              </a:rPr>
              <a:t>Brilliant work!</a:t>
            </a:r>
            <a:endParaRPr lang="en-US" sz="4800" dirty="0"/>
          </a:p>
        </p:txBody>
      </p:sp>
      <p:sp>
        <p:nvSpPr>
          <p:cNvPr id="3" name="Text 1324"/>
          <p:cNvSpPr txBox="1"/>
          <p:nvPr/>
        </p:nvSpPr>
        <p:spPr>
          <a:xfrm>
            <a:off x="731520" y="2651760"/>
            <a:ext cx="7680960" cy="731520"/>
          </a:xfrm>
          <a:prstGeom prst="rect">
            <a:avLst/>
          </a:prstGeom>
          <a:noFill/>
          <a:ln/>
        </p:spPr>
        <p:txBody>
          <a:bodyPr wrap="square" lIns="0" tIns="0" rIns="0" bIns="0" rtlCol="0" anchor="t"/>
          <a:lstStyle/>
          <a:p>
            <a:pPr algn="ctr" indent="0" marL="0">
              <a:buNone/>
            </a:pPr>
            <a:r>
              <a:rPr lang="en-US" sz="2400" dirty="0">
                <a:solidFill>
                  <a:srgbClr val="D9D4F5"/>
                </a:solidFill>
                <a:latin typeface="Calibri" pitchFamily="34" charset="0"/>
                <a:ea typeface="Calibri" pitchFamily="34" charset="-122"/>
                <a:cs typeface="Calibri" pitchFamily="34" charset="-120"/>
              </a:rPr>
              <a:t>You are now experts. Keep asking questions!</a:t>
            </a:r>
            <a:endParaRPr lang="en-US" sz="2400" dirty="0"/>
          </a:p>
        </p:txBody>
      </p:sp>
      <p:pic>
        <p:nvPicPr>
          <p:cNvPr id="4" name="Icon 1325" descr="FaGlobeEurope">    </p:cNvPr>
          <p:cNvPicPr>
            <a:picLocks noChangeAspect="1"/>
          </p:cNvPicPr>
          <p:nvPr/>
        </p:nvPicPr>
        <p:blipFill>
          <a:blip r:embed="rId1"/>
          <a:stretch>
            <a:fillRect/>
          </a:stretch>
        </p:blipFill>
        <p:spPr>
          <a:xfrm>
            <a:off x="2011680" y="3657600"/>
            <a:ext cx="731520" cy="731520"/>
          </a:xfrm>
          <a:prstGeom prst="rect">
            <a:avLst/>
          </a:prstGeom>
        </p:spPr>
      </p:pic>
      <p:pic>
        <p:nvPicPr>
          <p:cNvPr id="5" name="Icon 1326" descr="FaWifi">    </p:cNvPr>
          <p:cNvPicPr>
            <a:picLocks noChangeAspect="1"/>
          </p:cNvPicPr>
          <p:nvPr/>
        </p:nvPicPr>
        <p:blipFill>
          <a:blip r:embed="rId2"/>
          <a:stretch>
            <a:fillRect/>
          </a:stretch>
        </p:blipFill>
        <p:spPr>
          <a:xfrm>
            <a:off x="3474720" y="3657600"/>
            <a:ext cx="731520" cy="731520"/>
          </a:xfrm>
          <a:prstGeom prst="rect">
            <a:avLst/>
          </a:prstGeom>
        </p:spPr>
      </p:pic>
      <p:pic>
        <p:nvPicPr>
          <p:cNvPr id="6" name="Icon 1327" descr="FaLock">    </p:cNvPr>
          <p:cNvPicPr>
            <a:picLocks noChangeAspect="1"/>
          </p:cNvPicPr>
          <p:nvPr/>
        </p:nvPicPr>
        <p:blipFill>
          <a:blip r:embed="rId3"/>
          <a:stretch>
            <a:fillRect/>
          </a:stretch>
        </p:blipFill>
        <p:spPr>
          <a:xfrm>
            <a:off x="4937760" y="3657600"/>
            <a:ext cx="731520" cy="731520"/>
          </a:xfrm>
          <a:prstGeom prst="rect">
            <a:avLst/>
          </a:prstGeom>
        </p:spPr>
      </p:pic>
      <p:pic>
        <p:nvPicPr>
          <p:cNvPr id="7" name="Icon 1328" descr="FaStar">    </p:cNvPr>
          <p:cNvPicPr>
            <a:picLocks noChangeAspect="1"/>
          </p:cNvPicPr>
          <p:nvPr/>
        </p:nvPicPr>
        <p:blipFill>
          <a:blip r:embed="rId4"/>
          <a:stretch>
            <a:fillRect/>
          </a:stretch>
        </p:blipFill>
        <p:spPr>
          <a:xfrm>
            <a:off x="6400800" y="3657600"/>
            <a:ext cx="731520" cy="731520"/>
          </a:xfrm>
          <a:prstGeom prst="rect">
            <a:avLst/>
          </a:prstGeom>
        </p:spPr>
      </p:pic>
    </p:spTree>
  </p:cSld>
  <p:clrMapOvr>
    <a:masterClrMapping/>
  </p:clrMapOvr>
</p:sld>
</file>

<file path=ppt/theme/theme1.xml><?xml version="1.0" encoding="utf-8"?>
<a:theme xmlns:a="http://schemas.openxmlformats.org/drawingml/2006/main" name="Y4">
  <a:themeElements>
    <a:clrScheme name="Y4">
      <a:dk1>
        <a:srgbClr val="2B2250"/>
      </a:dk1>
      <a:lt1>
        <a:srgbClr val="FFFFFF"/>
      </a:lt1>
      <a:dk2>
        <a:srgbClr val="3D3470"/>
      </a:dk2>
      <a:lt2>
        <a:srgbClr val="FFF8FB"/>
      </a:lt2>
      <a:accent1>
        <a:srgbClr val="1FB89A"/>
      </a:accent1>
      <a:accent2>
        <a:srgbClr val="FF9A3D"/>
      </a:accent2>
      <a:accent3>
        <a:srgbClr val="FF5C8A"/>
      </a:accent3>
      <a:accent4>
        <a:srgbClr val="4DA3E0"/>
      </a:accent4>
      <a:accent5>
        <a:srgbClr val="FFD23F"/>
      </a:accent5>
      <a:accent6>
        <a:srgbClr val="6B6685"/>
      </a:accent6>
      <a:hlink>
        <a:srgbClr val="4DA3E0"/>
      </a:hlink>
      <a:folHlink>
        <a:srgbClr val="6B6685"/>
      </a:folHlink>
    </a:clrScheme>
    <a:fontScheme name="Y4">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94</Slides>
  <Notes>94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94</vt:i4>
      </vt:variant>
    </vt:vector>
  </HeadingPairs>
  <TitlesOfParts>
    <vt:vector size="9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Year 4 – The Internet: Unit Summary</dc:title>
  <dc:subject>PptxGenJS Presentation</dc:subject>
  <dc:creator>ICT</dc:creator>
  <cp:lastModifiedBy>ICT</cp:lastModifiedBy>
  <cp:revision>1</cp:revision>
  <dcterms:created xsi:type="dcterms:W3CDTF">2026-10-16T06:22:31Z</dcterms:created>
  <dcterms:modified xsi:type="dcterms:W3CDTF">2026-10-16T06:22:31Z</dcterms:modified>
</cp:coreProperties>
</file>